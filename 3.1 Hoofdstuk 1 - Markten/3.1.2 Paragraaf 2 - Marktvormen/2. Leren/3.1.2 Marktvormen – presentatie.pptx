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Paragraaf 3.1.2: de vijf marktvormen en hoe je ze herkent.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deze les kun je elke markt classificeren op basis van het aantal aanbieders, het producttype en de toetredingsdrempels.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Vijf marktvormen: volkomen concurrentie, monopolistische concurrentie, homogeen oligopolie, heterogeen oligopolie en monopolie. Ze verschillen in aantal aanbieders, producttype en toetredingsdrempels.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spectrum van veel naar weinig concurrentie. Volkomen concurrentie (veel aanbieders, homogeen) vs. monopolie (één aanbieder). Bespreek met leerlingen: waar zou je jouw favoriete merk plaatsen?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Twee vragen: 1) Hoeveel aanbieders? 2) Homogeen of heterogeen? Hiermee classificeer je elke markt. Oefen dit met concrete voorbeelden uit de praktijk.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Meer concurrentie leidt tot lagere prijzen, meer keuze en meer innovatie. Minder concurrentie leidt tot hogere prijzen, minder keuze en risico op kartels. Vraag leerlingen: welke markten kennen zij met weinig concurrentie?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Natuurlijk monopolie: soms is één aanbieder efficiënter (spoor, waterleidingen). Meerdere netwerken naast elkaar is verspilling. Bespreek: welke Nederlandse monopolies kennen leerlingen?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Samenvatting: vijf marktvormen, twee bepalende factoren, effect van concurrentie op welvaart. Loop deze punten na voordat leerlingen gaan oefenen.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1D4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527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Marktvormen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Paragraaf 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709160"/>
            <a:ext cx="786384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Hoofdstuk 1: Markten  |  Economie VWO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moet je kunnen?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Leerdoelen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vijf marktvormen benoemen en hun kenmerken beschrijven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marktvorm herkennen vanuit een beschrijving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Verband leggen tussen marktstructuur en concurrentie</a:t>
            </a:r>
            <a:pPr algn="l" marL="342900" indent="-342900">
              <a:lnSpc>
                <a:spcPct val="15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Voor- en nadelen van marktvormen benoemen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Vijf marktvormen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Marktvorm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Aanbieders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Toetreding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Volkomen concurrentie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Zeer veel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Homogeen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Vrij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Monopolistische concurrentie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Vrij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Homogeen oligopolie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Weinig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Homogeen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Beperkt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Heterogeen oligopolie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Weinig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Heterogeen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Beperkt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Monopolie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Eén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Geblokkeerd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monopolie tot volkomen concurrentie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97280"/>
            <a:ext cx="2011680" cy="2560320"/>
          </a:xfrm>
          <a:prstGeom prst="rect">
            <a:avLst>
              <a:gd name="adj" fmla="val 2273"/>
            </a:avLst>
          </a:prstGeom>
          <a:solidFill>
            <a:srgbClr val="1A527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97280"/>
            <a:ext cx="54864" cy="256032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5" name="Text 3"/>
          <p:cNvSpPr/>
          <p:nvPr/>
        </p:nvSpPr>
        <p:spPr>
          <a:xfrm>
            <a:off x="429768" y="12344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" y="173736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aanbieder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Geblokkeerd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prijsinvloed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1097280"/>
            <a:ext cx="2011680" cy="2560320"/>
          </a:xfrm>
          <a:prstGeom prst="rect">
            <a:avLst>
              <a:gd name="adj" fmla="val 227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0" y="1097280"/>
            <a:ext cx="54864" cy="256032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9" name="Text 7"/>
          <p:cNvSpPr/>
          <p:nvPr/>
        </p:nvSpPr>
        <p:spPr>
          <a:xfrm>
            <a:off x="2578608" y="12344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Oligopolie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78608" y="173736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Weinig aanbieders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 drempels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Enige prijsinvloed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097280"/>
            <a:ext cx="2011680" cy="2560320"/>
          </a:xfrm>
          <a:prstGeom prst="rect">
            <a:avLst>
              <a:gd name="adj" fmla="val 227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097280"/>
            <a:ext cx="54864" cy="256032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13" name="Text 11"/>
          <p:cNvSpPr/>
          <p:nvPr/>
        </p:nvSpPr>
        <p:spPr>
          <a:xfrm>
            <a:off x="4727448" y="12344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Mon. concurrentie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27448" y="173736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aanbieders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drempels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Weinig prijsinvloed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66560" y="1097280"/>
            <a:ext cx="2011680" cy="2560320"/>
          </a:xfrm>
          <a:prstGeom prst="rect">
            <a:avLst>
              <a:gd name="adj" fmla="val 227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1097280"/>
            <a:ext cx="54864" cy="2560320"/>
          </a:xfrm>
          <a:prstGeom prst="rect">
            <a:avLst/>
          </a:prstGeom>
          <a:solidFill>
            <a:srgbClr val="154360"/>
          </a:solidFill>
          <a:ln/>
        </p:spPr>
      </p:sp>
      <p:sp>
        <p:nvSpPr>
          <p:cNvPr id="17" name="Text 15"/>
          <p:cNvSpPr/>
          <p:nvPr/>
        </p:nvSpPr>
        <p:spPr>
          <a:xfrm>
            <a:off x="6876288" y="12344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Volk. concurrentie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76288" y="1737360"/>
            <a:ext cx="179222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Zeer veel aanbieders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drempels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prijsinvloed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 Minder concurrentie                                                              Meer concurrentie  →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Marktvorm herkennen: twee vragen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777240"/>
          </a:xfrm>
          <a:prstGeom prst="rect">
            <a:avLst>
              <a:gd name="adj" fmla="val 5882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7772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789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Hoeveel aanbieders zijn er?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657600" cy="777240"/>
          </a:xfrm>
          <a:prstGeom prst="rect">
            <a:avLst>
              <a:gd name="adj" fmla="val 5882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54864" cy="7772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Stap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3134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het product homogeen of heterogeen?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0584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Homogeen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Heterogeen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Zeer veel / veel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Volkomen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concurrentie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concurrentie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Weinig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Hom.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oligopolie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oligopolie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Eén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Monopolie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Effecten van concurrentie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29260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Voordelen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Lagere prijzen voor consumenten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Stimuleert innovatie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productkeuze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926080"/>
          </a:xfrm>
          <a:prstGeom prst="rect">
            <a:avLst>
              <a:gd name="adj" fmla="val 1563"/>
            </a:avLst>
          </a:prstGeom>
          <a:solidFill>
            <a:srgbClr val="FDE8E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05840"/>
            <a:ext cx="54864" cy="292608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953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Risico's bij weinig concurrentie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937760" y="1554480"/>
            <a:ext cx="36118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Hogere prijzen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Minder prikkel tot vernieuwing</a:t>
            </a:r>
            <a:pPr algn="l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algn="l"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Prijsafspraken (kartel)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Wanneer is een monopolie nuttig?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Niet elk monopolie is schadelijk. Soms biedt het voordelen: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560320"/>
          </a:xfrm>
          <a:prstGeom prst="rect">
            <a:avLst>
              <a:gd name="adj" fmla="val 178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54864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Seizoensgebonden vraag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Veerdienst naar Waddeneilanden: alleen rendabel als één aanbieder het hele jaar mag varen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560320"/>
          </a:xfrm>
          <a:prstGeom prst="rect">
            <a:avLst>
              <a:gd name="adj" fmla="val 178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371600"/>
            <a:ext cx="54864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Zeer hoge investeringen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Gasnetwerk, spoorwegen: alleen door één partij te financieren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2560320"/>
          </a:xfrm>
          <a:prstGeom prst="rect">
            <a:avLst>
              <a:gd name="adj" fmla="val 1786"/>
            </a:avLst>
          </a:prstGeom>
          <a:solidFill>
            <a:srgbClr val="F9F6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371600"/>
            <a:ext cx="54864" cy="25603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Universele toegang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Postbezorging: overheid wil dat iedereen het product kan gebruiken tegen redelijke prijs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Beheers je dit voordat je gaat oefenen?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Vijf marktvormen en hun kenmerken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sleutelvragen: hoeveel aanbieders? homogeen of heterogeen?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Spectrum: van monopolie tot volkomen concurrentie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Concurrentie stimuleert innovatie en drukt prijzen</a:t>
            </a:r>
            <a:pPr algn="l" marL="342900" indent="-342900">
              <a:lnSpc>
                <a:spcPct val="160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Monopolie kan soms nuttig zijn (natuurlijk monopolie)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2026-03-23T10:07:19Z</dcterms:created>
  <dcterms:modified xsi:type="dcterms:W3CDTF">2026-03-23T10:07:19Z</dcterms:modified>
</cp:coreProperties>
</file>