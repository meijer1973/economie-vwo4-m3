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Paragraaf 3.1.2: de vijf marktvormen en hoe je ze herkent.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deze les kun je elke markt classificeren op basis van het aantal aanbieders, het producttype en de toetredingsdrempels.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Vijf marktvormen: volkomen concurrentie, monopolistische concurrentie, homogeen oligopolie, heterogeen oligopolie en monopolie. Ze verschillen in aantal aanbieders, producttype en toetredingsdrempels.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Het spectrum van veel naar weinig concurrentie. Volkomen concurrentie (veel aanbieders, homogeen) vs. monopolie (één aanbieder). Bespreek met leerlingen: waar zou je jouw favoriete merk plaatsen?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Twee vragen: 1) Hoeveel aanbieders? 2) Homogeen of heterogeen? Hiermee classificeer je elke markt. Oefen dit met concrete voorbeelden uit de praktijk.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Meer concurrentie leidt tot lagere prijzen, meer keuze en meer innovatie. Minder concurrentie leidt tot hogere prijzen, minder keuze en risico op kartels. Vraag leerlingen: welke markten kennen zij met weinig concurrentie?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Natuurlijk monopolie: soms is één aanbieder efficiënter (spoor, waterleidingen). Meerdere netwerken naast elkaar is verspilling. Bespreek: welke Nederlandse monopolies kennen leerlingen?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Samenvatting: vijf marktvormen, twee bepalende factoren, effect van concurrentie op welvaart. Loop deze punten na voordat leerlingen gaan oefenen.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51D4A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5276"/>
          </a:solidFill>
          <a:ln/>
        </p:spPr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0"/>
            <a:ext cx="7863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Marktvormen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9260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Paragraaf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4709160"/>
            <a:ext cx="7863840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Hoofdstuk 1: Markten  |  Economie VWO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moet je kunnen?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Leerdoelen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vijf marktvormen benoemen en hun kenmerken beschrijven</a:t>
            </a:r>
          </a:p>
          <a:p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marktvorm herkennen vanuit een beschrijving</a:t>
            </a:r>
          </a:p>
          <a:p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Verband leggen tussen marktstructuur en concurrentie</a:t>
            </a:r>
          </a:p>
          <a:p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Voor- en nadelen van marktvormen benoemen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Vijf marktvormen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1828800"/>
                <a:gridCol w="18288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Marktvorm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Aanbieders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Toetreding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Volkomen concurrentie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Zeer veel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Homogeen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Vrij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Monopolistische concurrentie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Veel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Heterogeen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Vrij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Homogeen oligopolie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Weinig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Homogeen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Beperkt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Heterogeen oligopolie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Weinig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Heterogeen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Beperkt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Monopolie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Eén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Geblokkeerd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monopolie tot volkomen concurrentie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20040" y="1097280"/>
            <a:ext cx="2011680" cy="2560320"/>
          </a:xfrm>
          <a:prstGeom prst="rect">
            <a:avLst>
              <a:gd name="adj" fmla="val 2273"/>
            </a:avLst>
          </a:prstGeom>
          <a:solidFill>
            <a:srgbClr val="1A5276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320040" y="1097280"/>
            <a:ext cx="54864" cy="2560320"/>
          </a:xfrm>
          <a:prstGeom prst="rect">
            <a:avLst/>
          </a:prstGeom>
          <a:solidFill>
            <a:srgbClr val="154360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29768" y="1234440"/>
            <a:ext cx="179222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Monopolie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29768" y="1737360"/>
            <a:ext cx="1792224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Eén aanbieder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Geblokkeerd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prijsinvloed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68880" y="1097280"/>
            <a:ext cx="2011680" cy="2560320"/>
          </a:xfrm>
          <a:prstGeom prst="rect">
            <a:avLst>
              <a:gd name="adj" fmla="val 2273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468880" y="1097280"/>
            <a:ext cx="54864" cy="2560320"/>
          </a:xfrm>
          <a:prstGeom prst="rect">
            <a:avLst/>
          </a:prstGeom>
          <a:solidFill>
            <a:srgbClr val="154360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578608" y="1234440"/>
            <a:ext cx="179222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Oligopolie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578608" y="1737360"/>
            <a:ext cx="1792224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Weinig aanbieders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Hoge drempels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Enige prijsinvloed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097280"/>
            <a:ext cx="2011680" cy="2560320"/>
          </a:xfrm>
          <a:prstGeom prst="rect">
            <a:avLst>
              <a:gd name="adj" fmla="val 2273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617720" y="1097280"/>
            <a:ext cx="54864" cy="2560320"/>
          </a:xfrm>
          <a:prstGeom prst="rect">
            <a:avLst/>
          </a:prstGeom>
          <a:solidFill>
            <a:srgbClr val="15436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727448" y="1234440"/>
            <a:ext cx="179222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Mon. concurrentie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727448" y="1737360"/>
            <a:ext cx="1792224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aanbieders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drempels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Weinig prijsinvloed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66560" y="1097280"/>
            <a:ext cx="2011680" cy="2560320"/>
          </a:xfrm>
          <a:prstGeom prst="rect">
            <a:avLst>
              <a:gd name="adj" fmla="val 2273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766560" y="1097280"/>
            <a:ext cx="54864" cy="2560320"/>
          </a:xfrm>
          <a:prstGeom prst="rect">
            <a:avLst/>
          </a:prstGeom>
          <a:solidFill>
            <a:srgbClr val="154360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876288" y="1234440"/>
            <a:ext cx="179222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Volk. concurrentie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76288" y="1737360"/>
            <a:ext cx="1792224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Zeer veel aanbieders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drempels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prijsinvloed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 Minder concurrentie                                                              Meer concurrentie  →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Marktvorm herkennen: twee vragen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657600" cy="777240"/>
          </a:xfrm>
          <a:prstGeom prst="rect">
            <a:avLst>
              <a:gd name="adj" fmla="val 5882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" cy="77724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07899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Stap 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353312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Hoeveel aanbieders zijn er?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3657600" cy="777240"/>
          </a:xfrm>
          <a:prstGeom prst="rect">
            <a:avLst>
              <a:gd name="adj" fmla="val 5882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" y="1965960"/>
            <a:ext cx="54864" cy="77724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03911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Stap 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313432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het product homogeen of heterogeen?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005840"/>
          <a:ext cx="4114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Homogeen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Heterogeen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Zeer veel / veel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Volkomen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concurrentie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concurrentie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Weinig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oligopolie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Het.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oligopolie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Eén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D374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Monopolie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Effecten van concurrentie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2926080"/>
          </a:xfrm>
          <a:prstGeom prst="rect">
            <a:avLst>
              <a:gd name="adj" fmla="val 1563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" cy="292608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Voordelen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61188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Lagere prijzen voor consumenten</a:t>
            </a:r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Stimuleert innovatie</a:t>
            </a:r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productkeuze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2926080"/>
          </a:xfrm>
          <a:prstGeom prst="rect">
            <a:avLst>
              <a:gd name="adj" fmla="val 1563"/>
            </a:avLst>
          </a:prstGeom>
          <a:solidFill>
            <a:srgbClr val="FDE8E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754880" y="1005840"/>
            <a:ext cx="54864" cy="2926080"/>
          </a:xfrm>
          <a:prstGeom prst="rect">
            <a:avLst/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93776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Risico's bij weinig concurrentie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37760" y="1554480"/>
            <a:ext cx="361188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Hogere prijzen</a:t>
            </a:r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Minder prikkel tot vernieuwing</a:t>
            </a:r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Prijsafspraken (kartel)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Wanneer is een monopolie nuttig?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Niet elk monopolie is schadelijk. Soms biedt het voordelen: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560320" cy="2560320"/>
          </a:xfrm>
          <a:prstGeom prst="rect">
            <a:avLst>
              <a:gd name="adj" fmla="val 1786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371600"/>
            <a:ext cx="54864" cy="256032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94360" y="15087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Seizoensgebonden vraag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" y="2011680"/>
            <a:ext cx="22860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Veerdienst naar Waddeneilanden: alleen rendabel als één aanbieder het hele jaar mag varen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91840" y="1371600"/>
            <a:ext cx="2560320" cy="2560320"/>
          </a:xfrm>
          <a:prstGeom prst="rect">
            <a:avLst>
              <a:gd name="adj" fmla="val 1786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291840" y="1371600"/>
            <a:ext cx="54864" cy="256032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29000" y="15087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Zeer hoge investeringen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429000" y="2011680"/>
            <a:ext cx="22860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Gasnetwerk, spoorwegen: alleen door één partij te financieren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26480" y="1371600"/>
            <a:ext cx="2560320" cy="2560320"/>
          </a:xfrm>
          <a:prstGeom prst="rect">
            <a:avLst>
              <a:gd name="adj" fmla="val 1786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126480" y="1371600"/>
            <a:ext cx="54864" cy="256032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263640" y="15087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Universele toegang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263640" y="2011680"/>
            <a:ext cx="22860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Postbezorging: overheid wil dat iedereen het product kan gebruiken tegen redelijke prijs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Beheers je dit voordat je gaat oefenen?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Vijf marktvormen en hun kenmerken</a:t>
            </a:r>
          </a:p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sleutelvragen: hoeveel aanbieders? homogeen of heterogeen?</a:t>
            </a:r>
          </a:p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Spectrum: van monopolie tot volkomen concurrentie</a:t>
            </a:r>
          </a:p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Concurrentie stimuleert innovatie en drukt prijzen</a:t>
            </a:r>
          </a:p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Monopolie kan soms nuttig zijn (natuurlijk monopolie)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2026-03-23T10:07:19Z</dcterms:created>
  <dcterms:modified xsi:type="dcterms:W3CDTF">2026-03-23T10:07:19Z</dcterms:modified>
</cp:coreProperties>
</file>