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Deze paragraaf behandelt één specifieke vorm van marktfalen: goederen die de markt niet levert. Dijken, defensie, straatverlichting. Waarom niet? En wie lost het op?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Benadruk dat de 2×2 matrix (komt zo) de kern van deze paragraaf is: als je de matrix kunt invullen, ben je 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leerlingen zelf beide eigenschappen terugvinden in het voorbeeld dijk. Pas daarna volgt de matrix — eerst de twee 'assen' apart begrijpen.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DE kapstok voor deze paragraaf. Leg elke cel even uit. Benadruk: alleen rechtsonder — niet-uitsluitbaar ÉN niet-rivaliserend — is een collectief goed. De andere drie kan de markt wel leveren.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leerlingen eerst een minuut nadenken per voorbeeld: welke eigenschap ontbreekt? Dan pas de uitleg.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Twee vragen beslissen alles. Test met nieuwe voorbeelden: Wikipedia? Openbare bieb? Snelweg zonder tol? Vuurwerkshow?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Free-rider = meelifter. De denkfout die niemand maakt maar iedereen verzwijgt: als ik niet betaal, gebeurt het tóch — dus waarom zou ik?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precies waarom een markt zou falen. Anna bouwt een dijk met haar eigen geld; Bo, Cem en Dina profiteren gratis. Anna realiseert dat en stopt. Eindresultaat: geen dijk.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keten van marktfalen in 4 stappen. Dit is de klassieke redenering die op toetsen terugkomt.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het probleem, rechts de oplossing. De sleutel is VERPLICHTE belasting: de overheid kan iedereen laten meebetalen — een particuliere aanbieder kan dat niet.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Verplichte belasting is het sleutelmechanisme. Omdat niemand kan ontsnappen, verdwijnt het free-riderprobleem.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Valkuil 1 is de klassieker: leerlingen verwarren ‘door de overheid geleverd’ met ‘collectief goed’. Het is een eigenschap van het GOED, niet van de aanbieder.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Retrieval-opdracht: laat leerlingen de 2×2 matrix op een leeg blad natekenen en een eigen voorbeeld in elk vak schrijven. Die oefening legt beide eigenschappen tegelijk vast.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Collectieve goederen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3.3.3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3: Overheid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ga je leren?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twee eigenschappen van een collectief goed benoemen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Onderscheid maken tussen privégoed, clubgoed, gemeenschappelijk goed en collectief goed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Herkennen of iets een collectief goed is (beslisboom)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Uitleggen waarom de markt collectieve goederen niet levert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meeliftgedrag (free-riderprobleem) verklaren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eigenschappen definiëren een collectief goed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566160"/>
          </a:xfrm>
          <a:prstGeom prst="rect">
            <a:avLst>
              <a:gd name="adj" fmla="val 1282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35661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98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Niet-uitsluitbaar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kunt niemand uitsluiten van het gebruik.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Iedereen profiteert — ook wie niet betaalt.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een dijk beschermt het hele dorp — je kunt niet tegen één bewoner zeggen: “voor jou doet íe het niet”.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3566160"/>
          </a:xfrm>
          <a:prstGeom prst="rect">
            <a:avLst>
              <a:gd name="adj" fmla="val 1282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3566160"/>
          </a:xfrm>
          <a:prstGeom prst="rect">
            <a:avLst/>
          </a:prstGeom>
          <a:solidFill>
            <a:srgbClr val="186A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698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Niet-rivaliserend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door de één gaat niet ten koste van de ander.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gebruikers = geen extra kosten.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of er nu 100 of 10.000 mensen achter de dijk wonen, de kosten van de dijk veranderen niet.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2×2 matrix — vier soorten goederen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 of geen collectief goed?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566160"/>
          </a:xfrm>
          <a:prstGeom prst="rect">
            <a:avLst>
              <a:gd name="adj" fmla="val 1282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3566160"/>
          </a:xfrm>
          <a:prstGeom prst="rect">
            <a:avLst/>
          </a:prstGeom>
          <a:solidFill>
            <a:srgbClr val="186A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98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86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 collectief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buSzPct val="100000"/>
              <a:buChar char="■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Politiesurveillance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■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Straatverlichting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■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Dijken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■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Defensie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niet-uitsluitbaar én niet-rivaliserend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931920" cy="3566160"/>
          </a:xfrm>
          <a:prstGeom prst="rect">
            <a:avLst>
              <a:gd name="adj" fmla="val 1282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60120"/>
            <a:ext cx="54864" cy="356616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698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collectief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buSzPct val="100000"/>
              <a:buChar char="■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Beveiligingsdienst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uitsluitbaar: alleen klanten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■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Privéonderwijs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uitsluitbaar: collegegeld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■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Huisarts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rivaliserend: vol = vol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■"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uitsluitbaar: betaalmuur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Beslisboom: is het een collectief goed?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Meeliftgedrag (free-rider probleem)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88720" y="1005840"/>
            <a:ext cx="6766560" cy="548640"/>
          </a:xfrm>
          <a:prstGeom prst="rect">
            <a:avLst>
              <a:gd name="adj" fmla="val 6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collectief goed is beschikbaar voor iedereen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664208"/>
            <a:ext cx="6766560" cy="548640"/>
          </a:xfrm>
          <a:prstGeom prst="rect">
            <a:avLst>
              <a:gd name="adj" fmla="val 6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6642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Niet-uitsluitbaar: je kunt niet-betalers niet tegenhouden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322576"/>
            <a:ext cx="6766560" cy="548640"/>
          </a:xfrm>
          <a:prstGeom prst="rect">
            <a:avLst>
              <a:gd name="adj" fmla="val 6667"/>
            </a:avLst>
          </a:prstGeom>
          <a:solidFill>
            <a:srgbClr val="D9534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2257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Slim om NIET te betalen: je profiteert tóch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2980944"/>
            <a:ext cx="6766560" cy="548640"/>
          </a:xfrm>
          <a:prstGeom prst="rect">
            <a:avLst>
              <a:gd name="adj" fmla="val 6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9809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Niemand wil als enige betalen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3639312"/>
            <a:ext cx="6766560" cy="548640"/>
          </a:xfrm>
          <a:prstGeom prst="rect">
            <a:avLst>
              <a:gd name="adj" fmla="val 6667"/>
            </a:avLst>
          </a:prstGeom>
          <a:solidFill>
            <a:srgbClr val="D9534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363931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Betalingsbereidheid is veel lager dan de waarde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Meelifter: één betaalt, vier profiteren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faalt de markt?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88720" y="1005840"/>
            <a:ext cx="6766560" cy="548640"/>
          </a:xfrm>
          <a:prstGeom prst="rect">
            <a:avLst>
              <a:gd name="adj" fmla="val 6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Collectief goed is niet-uitsluitbaar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664208"/>
            <a:ext cx="6766560" cy="548640"/>
          </a:xfrm>
          <a:prstGeom prst="rect">
            <a:avLst>
              <a:gd name="adj" fmla="val 6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6642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Consumenten betalen niet vrijwillig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322576"/>
            <a:ext cx="6766560" cy="548640"/>
          </a:xfrm>
          <a:prstGeom prst="rect">
            <a:avLst>
              <a:gd name="adj" fmla="val 6667"/>
            </a:avLst>
          </a:prstGeom>
          <a:solidFill>
            <a:srgbClr val="D9534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2257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Particuliere aanbieder maakt geen winst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2980944"/>
            <a:ext cx="6766560" cy="548640"/>
          </a:xfrm>
          <a:prstGeom prst="rect">
            <a:avLst>
              <a:gd name="adj" fmla="val 6667"/>
            </a:avLst>
          </a:prstGeom>
          <a:solidFill>
            <a:srgbClr val="D9534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9809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Markt levert het goed niet — welvaartsverlies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faalt — overheid lost op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overheid als oplossing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88720" y="1005840"/>
            <a:ext cx="6766560" cy="548640"/>
          </a:xfrm>
          <a:prstGeom prst="rect">
            <a:avLst>
              <a:gd name="adj" fmla="val 6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 faalt: geen private aanbieder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664208"/>
            <a:ext cx="6766560" cy="548640"/>
          </a:xfrm>
          <a:prstGeom prst="rect">
            <a:avLst>
              <a:gd name="adj" fmla="val 6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6642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Overheid biedt collectief goed aan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322576"/>
            <a:ext cx="6766560" cy="548640"/>
          </a:xfrm>
          <a:prstGeom prst="rect">
            <a:avLst>
              <a:gd name="adj" fmla="val 6667"/>
            </a:avLst>
          </a:prstGeom>
          <a:solidFill>
            <a:srgbClr val="186A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32257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Betaling via VERPLICHTE belasting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2980944"/>
            <a:ext cx="6766560" cy="548640"/>
          </a:xfrm>
          <a:prstGeom prst="rect">
            <a:avLst>
              <a:gd name="adj" fmla="val 66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9809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Iedereen profiteert én betaalt mee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8046720" cy="868680"/>
          </a:xfrm>
          <a:prstGeom prst="rect">
            <a:avLst>
              <a:gd name="adj" fmla="val 4211"/>
            </a:avLst>
          </a:prstGeom>
          <a:solidFill>
            <a:srgbClr val="FFF8E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794760"/>
            <a:ext cx="54864" cy="86868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8679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Kernpunt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4160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overheid kan iedereen laten meebetalen via belastingheffing — dat kan een particuliere aanbieder niet.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Valkuilen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069848"/>
          </a:xfrm>
          <a:prstGeom prst="rect">
            <a:avLst>
              <a:gd name="adj" fmla="val 3419"/>
            </a:avLst>
          </a:prstGeom>
          <a:solidFill>
            <a:srgbClr val="FDE8E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60120"/>
            <a:ext cx="54864" cy="1069848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“Als de overheid het levert, is het een collectief goed”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399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Onjuist. Of iets collectief is hangt af van de EIGENSCHAPPEN (niet-uitsluitbaar + niet-rivaliserend), niet van wie het levert. Zwembaden worden door de overheid betaald maar zijn wél uitsluitbaar — géén collectief goed.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8046720" cy="1069848"/>
          </a:xfrm>
          <a:prstGeom prst="rect">
            <a:avLst>
              <a:gd name="adj" fmla="val 3419"/>
            </a:avLst>
          </a:prstGeom>
          <a:solidFill>
            <a:srgbClr val="FDE8E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57984"/>
            <a:ext cx="54864" cy="1069848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942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“Een collectief goed is gratis”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Onjuist. Het lijkt gratis bij gebruik, maar het wordt betaald via belasting. Iedereen betaalt dus mee, ongeacht gebruik.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55848"/>
            <a:ext cx="8046720" cy="1069848"/>
          </a:xfrm>
          <a:prstGeom prst="rect">
            <a:avLst>
              <a:gd name="adj" fmla="val 3419"/>
            </a:avLst>
          </a:prstGeom>
          <a:solidFill>
            <a:srgbClr val="FD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355848"/>
            <a:ext cx="54864" cy="1069848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47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“Een gemeenschappelijk goed is hetzelfde als een collectief goed”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Onjuist. Gemeenschappelijke goederen zijn RIVALISEREND (visgronden raken op), collectieve goederen niet. Alleen het tweede kwadrant rechtsonder in de matrix is écht collectief.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 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Collectief goed = niet-uitsluitbaar én niet-rivaliserend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soorten goederen: privé ↔ club ↔ gemeenschappelijk ↔ collectief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Particuliere aanbieder kan geen winst maken op een collectief goed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Meelifter / free-rider: niemand wil als enige betalen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overheid biedt collectieve goederen aan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Betaling via VERPLICHTE belasting — dat lost het free-riderprobleem op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3.3.3 Collectieve goederen</dc:title>
  <dc:subject>PptxGenJS Presentation</dc:subject>
  <dc:creator>Economie VWO</dc:creator>
  <cp:lastModifiedBy>Economie VWO</cp:lastModifiedBy>
  <cp:revision>1</cp:revision>
  <dcterms:created xsi:type="dcterms:W3CDTF">2026-04-18T08:19:07Z</dcterms:created>
  <dcterms:modified xsi:type="dcterms:W3CDTF">2026-04-18T08:19:07Z</dcterms:modified>
</cp:coreProperties>
</file>