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Welkom bij paragraaf 3.3.3 over collectieve goederen. Dit zijn goederen die de markt niet kan leveren vanwege twee bijzondere eigenschappen: niet-uitsluitbaarheid en niet-rivaliteit.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Vier leerdoelen. Het draait om twee eigenschappen, het herkennen van collectieve goederen, en het begrijpen waarom de markt ze niet levert.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Twee eigenschappen van collectieve goederen: niet-uitsluitbaar en niet-rivaliserend. Voorbeeld: straatverlichting, defensie, dijken.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Toets elk goed op beide eigenschappen. Links: collectieve goederen. Rechts: goederen die dat niet zijn.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markt faalt bij collectieve goederen omdat je niet kunt uitsluiten. Geen prijs = geen omzet = geen winst.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Het meeliftgedrag (free-rider problem): iedereen profiteert, niemand wil betalen. Daarom moet de overheid ingrijpen.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overheid dwingt iedereen mee te betalen via belastingen. Het verschil met de markt: de overheid kan belasting heffen, een bedrijf niet.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Samenvatting: collectieve goederen zijn niet-uitsluitbaar en niet-rivaliserend. De markt faalt door meeliftgedrag. De overheid springt in via belastingheffing.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51D4A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5276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7863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Collectieve goederen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9260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Paragraaf 3.3.3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4709160"/>
            <a:ext cx="786384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Hoofdstuk 3: Overheid  |  Economie VWO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ga je leren?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Leerdoelen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twee eigenschappen van een collectief goed benoemen</a:t>
            </a:r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Herkennen of iets een collectief goed is</a:t>
            </a:r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Uitleggen waarom de markt collectieve goederen niet levert</a:t>
            </a:r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meeliftgedrag verklaren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eigenschappen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2560320"/>
          </a:xfrm>
          <a:prstGeom prst="rect">
            <a:avLst>
              <a:gd name="adj" fmla="val 1786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256032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Niet-uitsluitbaar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1188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kunt niemand uitsluiten van het gebruik.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Iedereen profiteert, ook wie niet betaalt.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2560320"/>
          </a:xfrm>
          <a:prstGeom prst="rect">
            <a:avLst>
              <a:gd name="adj" fmla="val 1786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005840"/>
            <a:ext cx="54864" cy="256032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Niet-rivaliserend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37760" y="1554480"/>
            <a:ext cx="361188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gebruik door de één gaat niet ten koste van de ander.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gebruikers = geen extra kosten.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840480"/>
            <a:ext cx="8229600" cy="457200"/>
          </a:xfrm>
          <a:prstGeom prst="rect">
            <a:avLst>
              <a:gd name="adj" fmla="val 10000"/>
            </a:avLst>
          </a:prstGeom>
          <a:solidFill>
            <a:srgbClr val="EBF5FB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3840480"/>
            <a:ext cx="54864" cy="4572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840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543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Voorbeeld: de dijkbescherming beschermt iedereen, zonder dat je er iemand van kunt uitsluiten.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 of geen collectief goed?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3108960"/>
          </a:xfrm>
          <a:prstGeom prst="rect">
            <a:avLst>
              <a:gd name="adj" fmla="val 1471"/>
            </a:avLst>
          </a:prstGeom>
          <a:solidFill>
            <a:srgbClr val="E8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310896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 collectief goed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11880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Politiesurveillance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endParaRPr lang="en-US" sz="1400" dirty="0"/>
          </a:p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Straatverlichting</a:t>
            </a:r>
            <a:endParaRPr lang="en-US" sz="1400" dirty="0"/>
          </a:p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endParaRPr lang="en-US" sz="1400" dirty="0"/>
          </a:p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Dijkbescherming</a:t>
            </a:r>
            <a:endParaRPr lang="en-US" sz="1400" dirty="0"/>
          </a:p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endParaRPr lang="en-US" sz="1400" dirty="0"/>
          </a:p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Defensie (leger)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3108960"/>
          </a:xfrm>
          <a:prstGeom prst="rect">
            <a:avLst>
              <a:gd name="adj" fmla="val 1471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005840"/>
            <a:ext cx="54864" cy="310896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collectief goed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37760" y="1554480"/>
            <a:ext cx="3611880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Beveiligingsdienst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uitsluitbaar: alleen klanten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Privéonderwijs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uitsluitbaar: collegegeld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Huisarts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rivaliserend: vol = vol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Netflix-abonnement</a:t>
            </a:r>
            <a:pPr algn="l" indent="0" marL="0">
              <a:lnSpc>
                <a:spcPct val="115000"/>
              </a:lnSpc>
              <a:buNone/>
            </a:pP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uitsluitbaar: betaalmuur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Waarom faalt de markt?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097280"/>
            <a:ext cx="6400800" cy="502920"/>
          </a:xfrm>
          <a:prstGeom prst="rect">
            <a:avLst>
              <a:gd name="adj" fmla="val 909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554480" y="109728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Collectief goed is niet-uitsluitbaar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371600" y="1709928"/>
            <a:ext cx="6400800" cy="502920"/>
          </a:xfrm>
          <a:prstGeom prst="rect">
            <a:avLst>
              <a:gd name="adj" fmla="val 909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1709928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Consumenten betalen niet vrijwillig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371600" y="2322576"/>
            <a:ext cx="6400800" cy="502920"/>
          </a:xfrm>
          <a:prstGeom prst="rect">
            <a:avLst>
              <a:gd name="adj" fmla="val 909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2322576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Particuliere aanbieder maakt geen winst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371600" y="2935224"/>
            <a:ext cx="6400800" cy="502920"/>
          </a:xfrm>
          <a:prstGeom prst="rect">
            <a:avLst>
              <a:gd name="adj" fmla="val 9091"/>
            </a:avLst>
          </a:prstGeom>
          <a:solidFill>
            <a:srgbClr val="1A5276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554480" y="2935224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Markt levert het goed niet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3566160"/>
            <a:ext cx="8229600" cy="731520"/>
          </a:xfrm>
          <a:prstGeom prst="rect">
            <a:avLst>
              <a:gd name="adj" fmla="val 6250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3566160"/>
            <a:ext cx="54864" cy="73152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566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particuliere aanbieder kan geen winst maken, omdat niemand bereid is te betalen voor iets waar je toch gratis van meeprofiteert.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meeliftgedrag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005840"/>
            <a:ext cx="6400800" cy="502920"/>
          </a:xfrm>
          <a:prstGeom prst="rect">
            <a:avLst>
              <a:gd name="adj" fmla="val 909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554480" y="100584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collectief goed is beschikbaar voor iedereen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371600" y="1618488"/>
            <a:ext cx="6400800" cy="502920"/>
          </a:xfrm>
          <a:prstGeom prst="rect">
            <a:avLst>
              <a:gd name="adj" fmla="val 909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1618488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Anderen profiteren gratis mee (niet-uitsluitbaar)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371600" y="2231136"/>
            <a:ext cx="6400800" cy="502920"/>
          </a:xfrm>
          <a:prstGeom prst="rect">
            <a:avLst>
              <a:gd name="adj" fmla="val 909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2231136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Niemand wil als enige betalen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371600" y="2843784"/>
            <a:ext cx="6400800" cy="502920"/>
          </a:xfrm>
          <a:prstGeom prst="rect">
            <a:avLst>
              <a:gd name="adj" fmla="val 909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554480" y="2843784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Betalingsbereidheid is veel lager dan de waarde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371600" y="3456432"/>
            <a:ext cx="6400800" cy="502920"/>
          </a:xfrm>
          <a:prstGeom prst="rect">
            <a:avLst>
              <a:gd name="adj" fmla="val 9091"/>
            </a:avLst>
          </a:prstGeom>
          <a:solidFill>
            <a:srgbClr val="E67E22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554480" y="3456432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Dit heet: meeliftgedrag (free-rider gedrag)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overheid als oplossing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097280"/>
            <a:ext cx="6400800" cy="502920"/>
          </a:xfrm>
          <a:prstGeom prst="rect">
            <a:avLst>
              <a:gd name="adj" fmla="val 909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554480" y="109728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 faalt: geen aanbieder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371600" y="1709928"/>
            <a:ext cx="6400800" cy="502920"/>
          </a:xfrm>
          <a:prstGeom prst="rect">
            <a:avLst>
              <a:gd name="adj" fmla="val 909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1709928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Overheid biedt collectief goed aan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371600" y="2322576"/>
            <a:ext cx="6400800" cy="502920"/>
          </a:xfrm>
          <a:prstGeom prst="rect">
            <a:avLst>
              <a:gd name="adj" fmla="val 909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2322576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Betaling via verplichte belasting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371600" y="2935224"/>
            <a:ext cx="6400800" cy="502920"/>
          </a:xfrm>
          <a:prstGeom prst="rect">
            <a:avLst>
              <a:gd name="adj" fmla="val 9091"/>
            </a:avLst>
          </a:prstGeom>
          <a:solidFill>
            <a:srgbClr val="1E8449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554480" y="2935224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Iedereen profiteert en betaalt mee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3566160"/>
            <a:ext cx="8229600" cy="731520"/>
          </a:xfrm>
          <a:prstGeom prst="rect">
            <a:avLst>
              <a:gd name="adj" fmla="val 6250"/>
            </a:avLst>
          </a:prstGeom>
          <a:solidFill>
            <a:srgbClr val="E8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3566160"/>
            <a:ext cx="54864" cy="73152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566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Kernpunt: </a:t>
            </a:r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overheid kan iedereen laten meebetalen via belastingheffing — dat kan een particuliere aanbieder niet.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Beheers je dit voordat je gaat oefenen?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Collectief goed = niet-uitsluitbaar + niet-rivaliserend</a:t>
            </a:r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Particuliere aanbieder kan er geen winst mee maken</a:t>
            </a:r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Meeliftgedrag: niemand wil als enige betalen</a:t>
            </a:r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overheid biedt collectieve goederen aan</a:t>
            </a:r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Betaling gaat via verplichte belastingheffing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2026-03-23T19:02:10Z</dcterms:created>
  <dcterms:modified xsi:type="dcterms:W3CDTF">2026-03-23T19:02:10Z</dcterms:modified>
</cp:coreProperties>
</file>