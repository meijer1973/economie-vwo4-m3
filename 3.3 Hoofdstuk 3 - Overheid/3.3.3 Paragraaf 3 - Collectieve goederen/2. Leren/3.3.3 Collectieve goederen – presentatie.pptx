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5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91DF6E1-D31D-4F86-A668-57487F3F558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Voor Nederlanders is dit misschien wel de meest voelbare vorm van marktfalen: zonder dijken geen Amsterdam. We beginnen met die intuïtie en werken naar de theorie toe.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447EF5-9FE3-42E4-8353-B49E4D26FB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26% van Nederland ligt onder zeeniveau. Zonder dijken: onbewoonbaar. Wie betaalt eigenlijk die dijken? En waarom kunnen we niet gewoon aan de markt overlaten?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0C5A36-11BB-421A-81FF-2CBFF63B19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55720A-7EF3-4572-9249-9D29AD40B0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78EB09-8254-44CA-89B3-10B1486AA7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Allebei nodig — één alleen is niet genoeg. Leg nadruk op 'én'.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FB5A8D-4DE8-44ED-947E-C03073A570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dijk: perfect voorbeeld van een collectief goed. Niet-uitsluitbaar (beschermt iedereen), niet-rivaliserend (extra bewoner kost niks).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26D502-C4C8-4F94-B695-EE8B7C60E0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2×2 is de kern van deze paragraaf. Als je de matrix kent, is de rest afleiding.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8CC7D1-ECBB-4163-8AD9-EA3A822475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Alleen rechtsonder — niet-uitsluitbaar ÉN niet-rivaliserend — is echt collectief. De andere drie kan de markt wel leveren.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5C0270-598F-4A0B-9428-9F1A6A26BA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Laat leerlingen eerst zelf elke cel indelen. Dan pas antwoord geven.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F2FC08B-8C1F-4134-909B-CEFB5C3AB3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economische reden waarom particuliere aanbieders geen collectief goed kunnen leveren.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49ADF6-84C9-47DC-9874-0832BFD800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 buren. Anna zet €400 op tafel voor de dijk. Bo, Cem en Dina denken: waarom zou ik? Ik profiteer tóch. Anna realiseert dat en stopt. Eindresultaat: geen dijk.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932C08E-4C3C-4FEF-82D4-138F781070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Links: de keten van marktfalen. Rechts: de keten van overheidsoplossing. De sleutel is VERPLICHTE belasting — die is afdwingbaar.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58E8F7-A8A9-45FA-BC2E-2AA70C6FE8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Veelgemaakte fouten. Vraag: herken je ze?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711248-DD77-49EA-9601-1307372D3B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5F8EBAA-35EE-413F-8777-C679187E47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_HERO">
    <p:bg>
      <p:bgPr>
        <a:solidFill>
          <a:srgbClr val="050F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3640" cy="2700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7822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400" strike="noStrike">
                <a:solidFill>
                  <a:srgbClr val="3A4F7F"/>
                </a:solidFill>
                <a:effectLst/>
                <a:uFillTx/>
                <a:latin typeface="Segoe UI"/>
                <a:ea typeface="Segoe UI"/>
              </a:rPr>
              <a:t>PARAGRAAF  ·  §3.3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_ED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9143640" cy="1800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 1"/>
          <p:cNvSpPr/>
          <p:nvPr/>
        </p:nvSpPr>
        <p:spPr>
          <a:xfrm>
            <a:off x="365760" y="4827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§ 3.3  ·  OVERHEID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DEBAR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828440" cy="514332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82844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548640" y="4572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§ 3.3.3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548640" y="914400"/>
            <a:ext cx="80463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Collectieve goederen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548640" y="329184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De goederen die de markt niet kan leveren — en wat we er samen mee doen.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548640" y="4206240"/>
            <a:ext cx="73116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548640" y="429768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Hoofdstuk 3 · Overheid  ·  Praktische Economie VWO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548640" y="640080"/>
            <a:ext cx="18284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0" b="1" u="none" strike="noStrike">
                <a:solidFill>
                  <a:srgbClr val="FF6B5B"/>
                </a:solidFill>
                <a:effectLst/>
                <a:uFillTx/>
                <a:latin typeface="Georgia"/>
                <a:ea typeface="Georgia"/>
              </a:rPr>
              <a:t>“</a:t>
            </a:r>
            <a:endParaRPr lang="en-US" sz="2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1645920" y="1280160"/>
            <a:ext cx="73148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Sommige goederen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kan de markt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niet leveren.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1645920" y="41148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Dan gaan we ze sámen betalen.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0"/>
          <p:cNvSpPr/>
          <p:nvPr/>
        </p:nvSpPr>
        <p:spPr>
          <a:xfrm>
            <a:off x="137160" y="365760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3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LEERDOELEN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"/>
          <p:cNvSpPr/>
          <p:nvPr/>
        </p:nvSpPr>
        <p:spPr>
          <a:xfrm>
            <a:off x="137160" y="685800"/>
            <a:ext cx="15541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Vijf dingen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"/>
          <p:cNvSpPr/>
          <p:nvPr/>
        </p:nvSpPr>
        <p:spPr>
          <a:xfrm>
            <a:off x="137160" y="2286000"/>
            <a:ext cx="15541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Na vandaag kun je een collectief goed aanwijzen, en uitleggen waarom alleen de overheid het kan leveren.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3"/>
          <p:cNvSpPr/>
          <p:nvPr/>
        </p:nvSpPr>
        <p:spPr>
          <a:xfrm>
            <a:off x="2103120" y="64008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4"/>
          <p:cNvSpPr/>
          <p:nvPr/>
        </p:nvSpPr>
        <p:spPr>
          <a:xfrm>
            <a:off x="2926080" y="73152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 twee eigenschappen van een collectief goed benoemen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5"/>
          <p:cNvSpPr/>
          <p:nvPr/>
        </p:nvSpPr>
        <p:spPr>
          <a:xfrm>
            <a:off x="2103120" y="1325880"/>
            <a:ext cx="6766200" cy="6840"/>
          </a:xfrm>
          <a:prstGeom prst="rect">
            <a:avLst/>
          </a:prstGeom>
          <a:solidFill>
            <a:srgbClr val="D4D1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7800" rIns="90000" bIns="-37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6"/>
          <p:cNvSpPr/>
          <p:nvPr/>
        </p:nvSpPr>
        <p:spPr>
          <a:xfrm>
            <a:off x="2103120" y="141732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7"/>
          <p:cNvSpPr/>
          <p:nvPr/>
        </p:nvSpPr>
        <p:spPr>
          <a:xfrm>
            <a:off x="2926080" y="150876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Onderscheid maken tussen privé, club, gemeenschappelijk, collectief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8"/>
          <p:cNvSpPr/>
          <p:nvPr/>
        </p:nvSpPr>
        <p:spPr>
          <a:xfrm>
            <a:off x="2103120" y="2103120"/>
            <a:ext cx="6766200" cy="6840"/>
          </a:xfrm>
          <a:prstGeom prst="rect">
            <a:avLst/>
          </a:prstGeom>
          <a:solidFill>
            <a:srgbClr val="D4D1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7800" rIns="90000" bIns="-37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9"/>
          <p:cNvSpPr/>
          <p:nvPr/>
        </p:nvSpPr>
        <p:spPr>
          <a:xfrm>
            <a:off x="2103120" y="219456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0"/>
          <p:cNvSpPr/>
          <p:nvPr/>
        </p:nvSpPr>
        <p:spPr>
          <a:xfrm>
            <a:off x="2926080" y="228600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Collectief goed herkennen via beslisboom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1"/>
          <p:cNvSpPr/>
          <p:nvPr/>
        </p:nvSpPr>
        <p:spPr>
          <a:xfrm>
            <a:off x="2103120" y="2880360"/>
            <a:ext cx="6766200" cy="6840"/>
          </a:xfrm>
          <a:prstGeom prst="rect">
            <a:avLst/>
          </a:prstGeom>
          <a:solidFill>
            <a:srgbClr val="D4D1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7800" rIns="90000" bIns="-37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2"/>
          <p:cNvSpPr/>
          <p:nvPr/>
        </p:nvSpPr>
        <p:spPr>
          <a:xfrm>
            <a:off x="2103120" y="297180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3"/>
          <p:cNvSpPr/>
          <p:nvPr/>
        </p:nvSpPr>
        <p:spPr>
          <a:xfrm>
            <a:off x="2926080" y="306324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Uitleggen waarom de markt het niet levert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4"/>
          <p:cNvSpPr/>
          <p:nvPr/>
        </p:nvSpPr>
        <p:spPr>
          <a:xfrm>
            <a:off x="2103120" y="3657600"/>
            <a:ext cx="6766200" cy="6840"/>
          </a:xfrm>
          <a:prstGeom prst="rect">
            <a:avLst/>
          </a:prstGeom>
          <a:solidFill>
            <a:srgbClr val="D4D1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7800" rIns="90000" bIns="-37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5"/>
          <p:cNvSpPr/>
          <p:nvPr/>
        </p:nvSpPr>
        <p:spPr>
          <a:xfrm>
            <a:off x="2103120" y="374904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6"/>
          <p:cNvSpPr/>
          <p:nvPr/>
        </p:nvSpPr>
        <p:spPr>
          <a:xfrm>
            <a:off x="2926080" y="384048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Het free-rider probleem verklaren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DEFINITIE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Twee eigenschappen samen maken een goed ‘collectief’.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"/>
          <p:cNvSpPr/>
          <p:nvPr/>
        </p:nvSpPr>
        <p:spPr>
          <a:xfrm>
            <a:off x="457200" y="1828800"/>
            <a:ext cx="4023000" cy="2834280"/>
          </a:xfrm>
          <a:prstGeom prst="rect">
            <a:avLst/>
          </a:prstGeom>
          <a:solidFill>
            <a:srgbClr val="E8F0F7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40080" y="1965960"/>
            <a:ext cx="1051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pc="-99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1691640" y="2103120"/>
            <a:ext cx="2697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-3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Niet-uitsluitbaar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40080" y="2788920"/>
            <a:ext cx="3657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Je kunt niemand uitsluiten van het gebruik.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0A0E1A"/>
                </a:solidFill>
                <a:effectLst/>
                <a:uFillTx/>
                <a:latin typeface="Georgia"/>
                <a:ea typeface="Georgia"/>
              </a:rPr>
              <a:t>Een dijk beschermt heel Amsterdam — je kunt niet één bewoner zeggen: “voor jou doet ie het niet”.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6"/>
          <p:cNvSpPr/>
          <p:nvPr/>
        </p:nvSpPr>
        <p:spPr>
          <a:xfrm>
            <a:off x="4663440" y="1828800"/>
            <a:ext cx="4023000" cy="2834280"/>
          </a:xfrm>
          <a:prstGeom prst="rect">
            <a:avLst/>
          </a:prstGeom>
          <a:solidFill>
            <a:srgbClr val="E8F4EC"/>
          </a:solidFill>
          <a:ln w="1270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7"/>
          <p:cNvSpPr/>
          <p:nvPr/>
        </p:nvSpPr>
        <p:spPr>
          <a:xfrm>
            <a:off x="4846320" y="1965960"/>
            <a:ext cx="1051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pc="-99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8"/>
          <p:cNvSpPr/>
          <p:nvPr/>
        </p:nvSpPr>
        <p:spPr>
          <a:xfrm>
            <a:off x="5897880" y="2103120"/>
            <a:ext cx="2697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pc="-31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Niet-rivaliserend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9"/>
          <p:cNvSpPr/>
          <p:nvPr/>
        </p:nvSpPr>
        <p:spPr>
          <a:xfrm>
            <a:off x="4846320" y="2788920"/>
            <a:ext cx="3657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Gebruik door de één gaat niet ten koste van de ander.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0A0E1A"/>
                </a:solidFill>
                <a:effectLst/>
                <a:uFillTx/>
                <a:latin typeface="Georgia"/>
                <a:ea typeface="Georgia"/>
              </a:rPr>
              <a:t>Of er 100 of 10.000 mensen achter de dijk wonen — de kosten van de dijk veranderen niet.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548640" y="17373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DEEL 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548640" y="2148840"/>
            <a:ext cx="80463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De matrix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548640" y="352044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Vier typen goederen langs twee assen — waarom alleen het laatste ‘collectief’ís.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548640" y="32918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TEST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Wel of geen collectief goed?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"/>
          <p:cNvSpPr/>
          <p:nvPr/>
        </p:nvSpPr>
        <p:spPr>
          <a:xfrm>
            <a:off x="457200" y="1828800"/>
            <a:ext cx="4023000" cy="2834280"/>
          </a:xfrm>
          <a:prstGeom prst="rect">
            <a:avLst/>
          </a:prstGeom>
          <a:solidFill>
            <a:srgbClr val="E8F4EC"/>
          </a:solidFill>
          <a:ln w="1270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"/>
          <p:cNvSpPr/>
          <p:nvPr/>
        </p:nvSpPr>
        <p:spPr>
          <a:xfrm>
            <a:off x="640080" y="196596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WEL COLLECTIEF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4"/>
          <p:cNvSpPr/>
          <p:nvPr/>
        </p:nvSpPr>
        <p:spPr>
          <a:xfrm>
            <a:off x="731520" y="2496240"/>
            <a:ext cx="127800" cy="127800"/>
          </a:xfrm>
          <a:prstGeom prst="ellipse">
            <a:avLst/>
          </a:prstGeom>
          <a:solidFill>
            <a:srgbClr val="3E5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5"/>
          <p:cNvSpPr/>
          <p:nvPr/>
        </p:nvSpPr>
        <p:spPr>
          <a:xfrm>
            <a:off x="960120" y="237744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Politiesurveillance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960120" y="2606040"/>
            <a:ext cx="3382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niet uitsluitbaar, niet rivaliserend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7"/>
          <p:cNvSpPr/>
          <p:nvPr/>
        </p:nvSpPr>
        <p:spPr>
          <a:xfrm>
            <a:off x="731520" y="2999160"/>
            <a:ext cx="127800" cy="127800"/>
          </a:xfrm>
          <a:prstGeom prst="ellipse">
            <a:avLst/>
          </a:prstGeom>
          <a:solidFill>
            <a:srgbClr val="3E5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8"/>
          <p:cNvSpPr/>
          <p:nvPr/>
        </p:nvSpPr>
        <p:spPr>
          <a:xfrm>
            <a:off x="960120" y="288036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Straatverlichting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9"/>
          <p:cNvSpPr/>
          <p:nvPr/>
        </p:nvSpPr>
        <p:spPr>
          <a:xfrm>
            <a:off x="960120" y="3108960"/>
            <a:ext cx="3382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verlicht voor iedereen, kost niet extra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0"/>
          <p:cNvSpPr/>
          <p:nvPr/>
        </p:nvSpPr>
        <p:spPr>
          <a:xfrm>
            <a:off x="731520" y="3502080"/>
            <a:ext cx="127800" cy="127800"/>
          </a:xfrm>
          <a:prstGeom prst="ellipse">
            <a:avLst/>
          </a:prstGeom>
          <a:solidFill>
            <a:srgbClr val="3E5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1"/>
          <p:cNvSpPr/>
          <p:nvPr/>
        </p:nvSpPr>
        <p:spPr>
          <a:xfrm>
            <a:off x="960120" y="338328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Dijken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2"/>
          <p:cNvSpPr/>
          <p:nvPr/>
        </p:nvSpPr>
        <p:spPr>
          <a:xfrm>
            <a:off x="960120" y="3611880"/>
            <a:ext cx="3382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beschermt heel het dorp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3"/>
          <p:cNvSpPr/>
          <p:nvPr/>
        </p:nvSpPr>
        <p:spPr>
          <a:xfrm>
            <a:off x="731520" y="4005000"/>
            <a:ext cx="127800" cy="127800"/>
          </a:xfrm>
          <a:prstGeom prst="ellipse">
            <a:avLst/>
          </a:prstGeom>
          <a:solidFill>
            <a:srgbClr val="3E5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4"/>
          <p:cNvSpPr/>
          <p:nvPr/>
        </p:nvSpPr>
        <p:spPr>
          <a:xfrm>
            <a:off x="960120" y="38862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Defensie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5"/>
          <p:cNvSpPr/>
          <p:nvPr/>
        </p:nvSpPr>
        <p:spPr>
          <a:xfrm>
            <a:off x="960120" y="4114800"/>
            <a:ext cx="3382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beschermt alle burgers tegelijk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6"/>
          <p:cNvSpPr/>
          <p:nvPr/>
        </p:nvSpPr>
        <p:spPr>
          <a:xfrm>
            <a:off x="4663440" y="1828800"/>
            <a:ext cx="4023000" cy="2834280"/>
          </a:xfrm>
          <a:prstGeom prst="rect">
            <a:avLst/>
          </a:prstGeom>
          <a:solidFill>
            <a:srgbClr val="FBEAE6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7"/>
          <p:cNvSpPr/>
          <p:nvPr/>
        </p:nvSpPr>
        <p:spPr>
          <a:xfrm>
            <a:off x="4846320" y="196596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GEEN COLLECTIEF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8"/>
          <p:cNvSpPr/>
          <p:nvPr/>
        </p:nvSpPr>
        <p:spPr>
          <a:xfrm>
            <a:off x="4937760" y="2496240"/>
            <a:ext cx="127800" cy="127800"/>
          </a:xfrm>
          <a:prstGeom prst="ellipse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9"/>
          <p:cNvSpPr/>
          <p:nvPr/>
        </p:nvSpPr>
        <p:spPr>
          <a:xfrm>
            <a:off x="5166360" y="237744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Beveiligingsdienst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0"/>
          <p:cNvSpPr/>
          <p:nvPr/>
        </p:nvSpPr>
        <p:spPr>
          <a:xfrm>
            <a:off x="5166360" y="2606040"/>
            <a:ext cx="3382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uitsluitbaar: alleen klanten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1"/>
          <p:cNvSpPr/>
          <p:nvPr/>
        </p:nvSpPr>
        <p:spPr>
          <a:xfrm>
            <a:off x="4937760" y="2999160"/>
            <a:ext cx="127800" cy="127800"/>
          </a:xfrm>
          <a:prstGeom prst="ellipse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2"/>
          <p:cNvSpPr/>
          <p:nvPr/>
        </p:nvSpPr>
        <p:spPr>
          <a:xfrm>
            <a:off x="5166360" y="288036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Privéonderwijs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3"/>
          <p:cNvSpPr/>
          <p:nvPr/>
        </p:nvSpPr>
        <p:spPr>
          <a:xfrm>
            <a:off x="5166360" y="3108960"/>
            <a:ext cx="3382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uitsluitbaar: collegegeld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4"/>
          <p:cNvSpPr/>
          <p:nvPr/>
        </p:nvSpPr>
        <p:spPr>
          <a:xfrm>
            <a:off x="4937760" y="3502080"/>
            <a:ext cx="127800" cy="127800"/>
          </a:xfrm>
          <a:prstGeom prst="ellipse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5"/>
          <p:cNvSpPr/>
          <p:nvPr/>
        </p:nvSpPr>
        <p:spPr>
          <a:xfrm>
            <a:off x="5166360" y="338328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Huisarts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6"/>
          <p:cNvSpPr/>
          <p:nvPr/>
        </p:nvSpPr>
        <p:spPr>
          <a:xfrm>
            <a:off x="5166360" y="3611880"/>
            <a:ext cx="3382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rivaliserend: vol = vol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7"/>
          <p:cNvSpPr/>
          <p:nvPr/>
        </p:nvSpPr>
        <p:spPr>
          <a:xfrm>
            <a:off x="4937760" y="4005000"/>
            <a:ext cx="127800" cy="127800"/>
          </a:xfrm>
          <a:prstGeom prst="ellipse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8"/>
          <p:cNvSpPr/>
          <p:nvPr/>
        </p:nvSpPr>
        <p:spPr>
          <a:xfrm>
            <a:off x="5166360" y="38862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Netflix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9"/>
          <p:cNvSpPr/>
          <p:nvPr/>
        </p:nvSpPr>
        <p:spPr>
          <a:xfrm>
            <a:off x="5166360" y="4114800"/>
            <a:ext cx="3382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uitsluitbaar: betaalmuur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548640" y="17373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DEEL 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548640" y="2148840"/>
            <a:ext cx="80463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Waarom de markt faalt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548640" y="352044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Het free-rider probleem — meeliften is slimmer dan betalen.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3"/>
          <p:cNvSpPr/>
          <p:nvPr/>
        </p:nvSpPr>
        <p:spPr>
          <a:xfrm>
            <a:off x="548640" y="32918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DENKFOUTEN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Drie valkuilen bij collectieve goederen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"/>
          <p:cNvSpPr/>
          <p:nvPr/>
        </p:nvSpPr>
        <p:spPr>
          <a:xfrm>
            <a:off x="457200" y="1874520"/>
            <a:ext cx="82292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3"/>
          <p:cNvSpPr/>
          <p:nvPr/>
        </p:nvSpPr>
        <p:spPr>
          <a:xfrm>
            <a:off x="457200" y="187452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4"/>
          <p:cNvSpPr/>
          <p:nvPr/>
        </p:nvSpPr>
        <p:spPr>
          <a:xfrm>
            <a:off x="594360" y="201168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5"/>
          <p:cNvSpPr/>
          <p:nvPr/>
        </p:nvSpPr>
        <p:spPr>
          <a:xfrm>
            <a:off x="1508760" y="1965960"/>
            <a:ext cx="7131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D94A3A"/>
                </a:solidFill>
                <a:effectLst/>
                <a:uFillTx/>
                <a:latin typeface="Georgia"/>
                <a:ea typeface="Georgia"/>
              </a:rPr>
              <a:t>“Als de overheid het levert, is het een collectief goed”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Nee. Het gaat om de EIGENSCHAPPEN van het goed. Een zwembad wordt door de overheid gefinancierd maar is wél uitsluitbaar.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6"/>
          <p:cNvSpPr/>
          <p:nvPr/>
        </p:nvSpPr>
        <p:spPr>
          <a:xfrm>
            <a:off x="457200" y="2807280"/>
            <a:ext cx="82292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7"/>
          <p:cNvSpPr/>
          <p:nvPr/>
        </p:nvSpPr>
        <p:spPr>
          <a:xfrm>
            <a:off x="457200" y="280728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8"/>
          <p:cNvSpPr/>
          <p:nvPr/>
        </p:nvSpPr>
        <p:spPr>
          <a:xfrm>
            <a:off x="594360" y="294444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9"/>
          <p:cNvSpPr/>
          <p:nvPr/>
        </p:nvSpPr>
        <p:spPr>
          <a:xfrm>
            <a:off x="1508760" y="2898720"/>
            <a:ext cx="7131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D94A3A"/>
                </a:solidFill>
                <a:effectLst/>
                <a:uFillTx/>
                <a:latin typeface="Georgia"/>
                <a:ea typeface="Georgia"/>
              </a:rPr>
              <a:t>“Een collectief goed is gratis”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Nee. Het lijkt gratis bij gebruik, maar wordt betaald via belasting. Iedereen betaalt dus mee, ongeacht gebruik.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0"/>
          <p:cNvSpPr/>
          <p:nvPr/>
        </p:nvSpPr>
        <p:spPr>
          <a:xfrm>
            <a:off x="457200" y="3740040"/>
            <a:ext cx="82292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1"/>
          <p:cNvSpPr/>
          <p:nvPr/>
        </p:nvSpPr>
        <p:spPr>
          <a:xfrm>
            <a:off x="457200" y="374004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2"/>
          <p:cNvSpPr/>
          <p:nvPr/>
        </p:nvSpPr>
        <p:spPr>
          <a:xfrm>
            <a:off x="594360" y="387720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3"/>
          <p:cNvSpPr/>
          <p:nvPr/>
        </p:nvSpPr>
        <p:spPr>
          <a:xfrm>
            <a:off x="1508760" y="3831480"/>
            <a:ext cx="7131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D94A3A"/>
                </a:solidFill>
                <a:effectLst/>
                <a:uFillTx/>
                <a:latin typeface="Georgia"/>
                <a:ea typeface="Georgia"/>
              </a:rPr>
              <a:t>“Gemeenschappelijk = collectief”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Nee. Gemeenschappelijke goederen zijn RIVALISEREND (visgronden raken op), collectieve niet. Alleen het laatste kwadrant is écht collectief.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548640" y="4572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 kern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548640" y="82296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Vijf dingen om te onthouden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548640" y="169164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1417320" y="1783080"/>
            <a:ext cx="7269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Collectief goed = niet-uitsluitbaar én niet-rivaliserend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4"/>
          <p:cNvSpPr/>
          <p:nvPr/>
        </p:nvSpPr>
        <p:spPr>
          <a:xfrm>
            <a:off x="548640" y="224028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5"/>
          <p:cNvSpPr/>
          <p:nvPr/>
        </p:nvSpPr>
        <p:spPr>
          <a:xfrm>
            <a:off x="548640" y="227700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6"/>
          <p:cNvSpPr/>
          <p:nvPr/>
        </p:nvSpPr>
        <p:spPr>
          <a:xfrm>
            <a:off x="1417320" y="2368440"/>
            <a:ext cx="7269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Vier typen goederen: privé ↔ club ↔ gemeenschappelijk ↔ collectief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7"/>
          <p:cNvSpPr/>
          <p:nvPr/>
        </p:nvSpPr>
        <p:spPr>
          <a:xfrm>
            <a:off x="548640" y="282564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8"/>
          <p:cNvSpPr/>
          <p:nvPr/>
        </p:nvSpPr>
        <p:spPr>
          <a:xfrm>
            <a:off x="548640" y="286200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9"/>
          <p:cNvSpPr/>
          <p:nvPr/>
        </p:nvSpPr>
        <p:spPr>
          <a:xfrm>
            <a:off x="1417320" y="2953440"/>
            <a:ext cx="7269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Markt kan collectieve goederen niet leveren — geen winstmodel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0"/>
          <p:cNvSpPr/>
          <p:nvPr/>
        </p:nvSpPr>
        <p:spPr>
          <a:xfrm>
            <a:off x="548640" y="341064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1"/>
          <p:cNvSpPr/>
          <p:nvPr/>
        </p:nvSpPr>
        <p:spPr>
          <a:xfrm>
            <a:off x="548640" y="344736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2"/>
          <p:cNvSpPr/>
          <p:nvPr/>
        </p:nvSpPr>
        <p:spPr>
          <a:xfrm>
            <a:off x="1417320" y="3538800"/>
            <a:ext cx="7269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Free-rider probleem: meeliften is slimmer dan betalen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3"/>
          <p:cNvSpPr/>
          <p:nvPr/>
        </p:nvSpPr>
        <p:spPr>
          <a:xfrm>
            <a:off x="548640" y="399600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4"/>
          <p:cNvSpPr/>
          <p:nvPr/>
        </p:nvSpPr>
        <p:spPr>
          <a:xfrm>
            <a:off x="548640" y="403236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5"/>
          <p:cNvSpPr/>
          <p:nvPr/>
        </p:nvSpPr>
        <p:spPr>
          <a:xfrm>
            <a:off x="1417320" y="4123800"/>
            <a:ext cx="7269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Overheid lost op via verplichte belasting — afdwingbaar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2026-04-18T20:05:45Z</dcterms:created>
  <dc:creator>Economie VWO</dc:creator>
  <dc:description/>
  <dc:language>en-US</dc:language>
  <cp:lastModifiedBy>Economie VWO</cp:lastModifiedBy>
  <dcterms:modified xsi:type="dcterms:W3CDTF">2026-04-18T20:05:45Z</dcterms:modified>
  <cp:revision>1</cp:revision>
  <dc:subject>PptxGenJS Presentation</dc:subject>
  <dc:title>3.3.3 Collectieve goederen — creatief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14</vt:r8>
  </property>
  <property fmtid="{D5CDD505-2E9C-101B-9397-08002B2CF9AE}" pid="3" name="PresentationFormat">
    <vt:lpwstr>On-screen Show (16:9)</vt:lpwstr>
  </property>
  <property fmtid="{D5CDD505-2E9C-101B-9397-08002B2CF9AE}" pid="4" name="Slides">
    <vt:r8>14</vt:r8>
  </property>
</Properties>
</file>