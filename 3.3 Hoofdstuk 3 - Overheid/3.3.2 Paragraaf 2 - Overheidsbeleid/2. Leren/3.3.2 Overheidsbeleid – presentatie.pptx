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AFE959-48D4-41E2-ACF1-95F80375F5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Deze paragraaf: vier concrete prijsinstrumenten. Minimumprijs, maximumprijs, accijns, subsidie. We beginnen met waar ze in het nieuws verschijnen.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1296AA-A9B2-4328-AE0D-7B6BD4363C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 koppen uit de Nederlandse pers. Laat de klas even raden: welk instrument speelt er in elke kop? (vliegtaks=belasting, minimumloon=minimumprijs, huurplafond=maximumprijs, warmtepomp=subsidie).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BDCC8-A823-44A1-87B2-1334E62F6C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kern: geen enkele overheid kan een markt 'afschaffen'. Maar met prijzen kan ze wel duwen in een richting die meer welvaart oplevert.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8B456-6F63-4663-A4EF-933B070F55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043F3-A197-4623-9137-B434CA2F3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vier instrumenten in één oogopslag. Links: prijs onder de markt (Pmax, subsidie). Rechts: prijs boven de markt (accijns, Pmin). Elk krijgt zijn eigen dia.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48130B-E218-4032-BC51-7FC8C7370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overheid beschermt producenten/werknemers tegen te lage prijzen. Klassiek voorbeeld: melkgarantieprijs + minimumloon.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0B774E-A817-4F2A-945D-D118C7147E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Pmin=40. Bij die prijs wordt Q=10 gevraagd (consumenten haken af), maar Q=30 aangeboden (aanbieders stromen toe). Verschil = aanbodoverschot.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6668D1-F3D4-42AC-AFA0-AE06E51643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ezelsbrug: Pmin werkt alleen omhoog. Onder P* verandert er niets.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6ACADB-91F9-4B02-B9EA-23FA4B3022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Spiegelbeeld van Pmin: overheid beschermt consumenten. Voorbeelden: huurplafond, max-prijs voor urgente medicijnen, rantsoenering in oorlogstijd.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1ACEF-825B-42F2-A778-657168618B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Pmax=20 onder P*=30. Vraag stijgt naar 30, aanbod zakt naar 10. Tekort = 20. De wachtlijsten beginnen.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0AFAFB-1BFB-40A8-8737-2075A05D9D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Drie bekende neveneffecten. Bij elk: vraag de klas om een Nederlands voorbeeld.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302058-2514-4FD5-A36C-CDA77BA6A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Minimumloon is een minimumprijs — maar nu op de arbeidsmarkt. Zelfde logica, andere variabelen.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466E04-C92C-4669-8546-F3D7E4283A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Bij Wmin=30: bedrijven vragen 20 arbeiders, 40 willen werken. Werkloosheid=20. Let op: dit zijn dezelfde mechanismen als de melkgarantieprijs.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CD795F-0550-4DF0-887F-68F7A7465F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Geen eenvoudig oordeel. De afweging is politiek én economisch.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826399-DD59-4E95-9091-B7117D4893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Accijns = belasting die de overheid per eenheid heft. Klassiek: tabak, alcohol, brandstof. De truc: prijs stijgt NIET met het volle accijnsbedrag.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9A40B9-DE1C-443F-A245-0817156ABC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vliegtaks is bijna verdrievoudigd sinds 2021 (€7,50). Kabinet-Schoof stelde verdere verhoging voor in 2026. Voor studenten: dit is de klassieke casus voor accijns = Pigou-belasting.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029ED8-49E6-4942-9A44-9D48E86BB2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KERNINZICHT van deze paragraaf. Voor accijns: consument betaalt €10, producent ontvangt €10. Na accijns (€6): consument betaalt €13 (+3), producent ontvangt €7 (-3). Geen 50/50 split — hangt af van elasticiteit.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A14E4B-3545-480C-932C-64A9601A25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Subsidie = negatieve belasting. Alles werkt precies andersom. Hoeveelheid omhoog, prijs omlaag, beiden winnen, overheid betaalt.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2579F-5FB3-4F38-949D-F3ACBD7C09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Subsidie s=€4. Consument betaalt €8 (was €10). Producent ontvangt €12 (was €10). Overheid legt €4 × 12 = €48 bij. De subsidiekosten zijn de gele rechthoek.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39E2A2-2822-4426-93F0-CA3D73F7E0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klassieker is valkuil 2: 'prijs stijgt met het volle accijnsbedrag'. Fout — de burden split maakt de prijsstijging kleiner.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6CEB5E-8299-4A4A-92D7-709824E110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B87DD-1A49-4689-B1AB-209BF41256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_HERO">
    <p:bg>
      <p:bgPr>
        <a:solidFill>
          <a:srgbClr val="050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640" cy="2700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782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3A4F7F"/>
                </a:solidFill>
                <a:effectLst/>
                <a:uFillTx/>
                <a:latin typeface="Segoe UI"/>
                <a:ea typeface="Segoe UI"/>
              </a:rPr>
              <a:t>PARAGRAAF  ·  §3.3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_ED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9143640" cy="1800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365760" y="4827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§ 3.3  ·  OVERHEID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DEBAR"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828440" cy="514332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82844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48640" y="457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§ 3.3.2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914400"/>
            <a:ext cx="8046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pc="-300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Overheidsbeleid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48640" y="25603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Hoe de overheid markten stuurt via de prijs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48640" y="3291840"/>
            <a:ext cx="73116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48640" y="34290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Hoofdstuk 3 · Overheid  ·  Praktische Economie VWO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64008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0" b="1" u="none" strike="noStrike">
                <a:solidFill>
                  <a:srgbClr val="FF6B5B"/>
                </a:solidFill>
                <a:effectLst/>
                <a:uFillTx/>
                <a:latin typeface="Georgia"/>
                <a:ea typeface="Georgia"/>
              </a:rPr>
              <a:t>“</a:t>
            </a:r>
            <a:endParaRPr lang="en-US" sz="2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645920" y="128016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 overheid kan de prijs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niet afschaffen —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maar wel duwen.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1645920" y="4114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4B740"/>
                </a:solidFill>
                <a:effectLst/>
                <a:uFillTx/>
                <a:latin typeface="Georgia"/>
                <a:ea typeface="Georgia"/>
              </a:rPr>
              <a:t>De rode draad van deze paragraaf.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137160" y="3657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LEERDOELEN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137160" y="685800"/>
            <a:ext cx="1554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-3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Vijf vaardigheden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137160" y="2286000"/>
            <a:ext cx="1554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Na vandaag weet je wat een prijsmaatregel bindend maakt — en welk ongewenst neveneffect erbij hoort.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2103120" y="64008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2926080" y="73152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Begrijpen waarom de overheid ingrijpt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2103120" y="1325880"/>
            <a:ext cx="6766200" cy="68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2103120" y="141732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2926080" y="150876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Minimumprijs en maximumprijs analyseren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2103120" y="2103120"/>
            <a:ext cx="6766200" cy="68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2103120" y="21945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2926080" y="22860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Minimumloon toepassen op de arbeidsmarkt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2103120" y="2880360"/>
            <a:ext cx="6766200" cy="68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2103120" y="29718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2926080" y="306324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Het effect van een accijns uitleggen (burden split)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2103120" y="3657600"/>
            <a:ext cx="6766200" cy="6840"/>
          </a:xfrm>
          <a:prstGeom prst="rect">
            <a:avLst/>
          </a:prstGeom>
          <a:solidFill>
            <a:srgbClr val="D4D1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2103120" y="374904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2926080" y="384048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Het effect van een subsidie analyseren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Minimumprijs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Als de overheid een prijsbodem legt — boeren, werknemers, en de wet.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MECHANISME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Een prijsbodem is alleen bindend als hij boven P* ligt.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457200" y="1828800"/>
            <a:ext cx="4023000" cy="2834280"/>
          </a:xfrm>
          <a:prstGeom prst="rect">
            <a:avLst/>
          </a:prstGeom>
          <a:solidFill>
            <a:srgbClr val="E8F0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640080" y="1965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REGEL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640080" y="2286000"/>
            <a:ext cx="3565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Pmin &gt; P*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A0E1A"/>
                </a:solidFill>
                <a:effectLst/>
                <a:uFillTx/>
                <a:latin typeface="Calibri"/>
                <a:ea typeface="Segoe UI"/>
              </a:rPr>
              <a:t>→ bindend, aanbodoverschot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B8779"/>
                </a:solidFill>
                <a:effectLst/>
                <a:uFillTx/>
                <a:latin typeface="Segoe UI"/>
                <a:ea typeface="Segoe UI"/>
              </a:rPr>
              <a:t>Pmin &lt; P*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2D3748"/>
                </a:solidFill>
                <a:effectLst/>
                <a:uFillTx/>
                <a:latin typeface="Calibri"/>
                <a:ea typeface="Segoe UI"/>
              </a:rPr>
              <a:t>→ niet bindend, markt mag boven uitkomen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4663440" y="1828800"/>
            <a:ext cx="4023000" cy="2834280"/>
          </a:xfrm>
          <a:prstGeom prst="rect">
            <a:avLst/>
          </a:prstGeom>
          <a:solidFill>
            <a:srgbClr val="0B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4846320" y="1965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4B740"/>
                </a:solidFill>
                <a:effectLst/>
                <a:uFillTx/>
                <a:latin typeface="Segoe UI"/>
                <a:ea typeface="Segoe UI"/>
              </a:rPr>
              <a:t>KLASSIEK VOORBEELD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4846320" y="22860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5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 melkgarantieprijs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4846320" y="283464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D4D1CA"/>
                </a:solidFill>
                <a:effectLst/>
                <a:uFillTx/>
                <a:latin typeface="Segoe UI"/>
                <a:ea typeface="Segoe UI"/>
              </a:rPr>
              <a:t>In de jaren '80 kocht de EEG het melkoverschot op.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B740"/>
                </a:solidFill>
                <a:effectLst/>
                <a:uFillTx/>
                <a:latin typeface="Segoe UI"/>
                <a:ea typeface="Segoe UI"/>
              </a:rPr>
              <a:t>Resultaat: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de beruchte ‘boterberg’ en ‘melkplas’ — miljarden euro's opgeslagen.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Maximumprijs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Als de overheid een prijsplafond legt — huurders, farma, oorlog.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 KEERZIJDE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Wat gebeurt er als de prijs niet mag stijgen?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457200" y="1920240"/>
            <a:ext cx="269712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457200" y="1920240"/>
            <a:ext cx="269712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640080" y="21031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640080" y="26974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Wachtlijsten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640080" y="3246120"/>
            <a:ext cx="2331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De prijs kan niet schaars maken — iets anders moet dat doen. Vaak: wachttijd.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319200" y="1920240"/>
            <a:ext cx="269712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3319200" y="1920240"/>
            <a:ext cx="269712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502080" y="21031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502080" y="26974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Zwarte markt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3502080" y="3246120"/>
            <a:ext cx="2331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Wie écht wil, betaalt buiten de regel om. Zie huur in Amsterdam.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6181200" y="1920240"/>
            <a:ext cx="2697120" cy="274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6181200" y="1920240"/>
            <a:ext cx="2697120" cy="54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364080" y="21031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2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6364080" y="26974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Kwaliteitsverlies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6364080" y="3246120"/>
            <a:ext cx="2331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Aanbieders leveren minder goed product — de prijs kan toch niet verder omlaag.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Minimumloon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De minimumprijs op de arbeidsmarkt — bescherming en een bijwerking.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AFWEGING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Minimumloon — wie wint, wie verliest?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457200" y="1828800"/>
            <a:ext cx="4023000" cy="2834280"/>
          </a:xfrm>
          <a:prstGeom prst="rect">
            <a:avLst/>
          </a:prstGeom>
          <a:solidFill>
            <a:srgbClr val="E8F4EC"/>
          </a:solidFill>
          <a:ln w="12700">
            <a:solidFill>
              <a:srgbClr val="2E5E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640080" y="1965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VOORDEEL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640080" y="22860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51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Wie werkt verdient genoeg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640080" y="2926080"/>
            <a:ext cx="3565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Bescherming tegen uitbuiting aan de onderkant van de arbeidsmarkt.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Winnaars: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werknemers met een laag loon die hun baan houden.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4663440" y="1828800"/>
            <a:ext cx="4023000" cy="2834280"/>
          </a:xfrm>
          <a:prstGeom prst="rect">
            <a:avLst/>
          </a:prstGeom>
          <a:solidFill>
            <a:srgbClr val="FBEAE6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4846320" y="1965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NADEEL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4846320" y="22860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-51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Werkloosheid neemt toe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4846320" y="2926080"/>
            <a:ext cx="3565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Bedrijven vragen minder arbeid bij een hoger loon.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Verliezers: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0A0E1A"/>
                </a:solidFill>
                <a:effectLst/>
                <a:uFillTx/>
                <a:latin typeface="Georgia"/>
                <a:ea typeface="Georgia"/>
              </a:rPr>
              <a:t>vooral jongeren en laagopgeleiden die helemaal geen baan vinden.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Accijns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Een belasting per eenheid — en de vraag wie haar écht betaalt.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9144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VLIEGTAKS  ·  2024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274320" y="1325880"/>
            <a:ext cx="8595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0" b="1" u="none" spc="-799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€29,40</a:t>
            </a:r>
            <a:endParaRPr lang="en-US" sz="2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48640" y="361188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D4D1CA"/>
                </a:solidFill>
                <a:effectLst/>
                <a:uFillTx/>
                <a:latin typeface="Segoe UI"/>
                <a:ea typeface="Segoe UI"/>
              </a:rPr>
              <a:t>per ticket bij vertrek uit Nederland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1371600" y="406908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“Het doel: luchtvaart afremmen en externe kosten inprijzen.”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48640" y="17373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DEEL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2148840"/>
            <a:ext cx="8046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pc="-201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Subsidie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548640" y="35204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4D1CA"/>
                </a:solidFill>
                <a:effectLst/>
                <a:uFillTx/>
                <a:latin typeface="Georgia"/>
                <a:ea typeface="Georgia"/>
              </a:rPr>
              <a:t>Spiegelbeeld van de accijns — en een creditnota van de overheid.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548640" y="3291840"/>
            <a:ext cx="548280" cy="3636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274320" y="274320"/>
            <a:ext cx="85950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274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DENKFOUTEN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548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Drie valkuilen die bij de toets altijd terugkomen.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457200" y="187452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457200" y="187452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594360" y="20116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1508760" y="196596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“Een minimumprijs helpt altijd”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Alleen bindend als Pmin &gt; P*. En er ontstaat een aanbodoverschot waar niemand op zit te wachten.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457200" y="280728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457200" y="280728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594360" y="294444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1508760" y="289872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“De prijs stijgt met het volle accijnsbedrag”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De prijsstijging is kleiner dan de accijns — de last wordt gedeeld tussen consument en producent.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457200" y="3740040"/>
            <a:ext cx="8229240" cy="86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457200" y="3740040"/>
            <a:ext cx="72720" cy="868320"/>
          </a:xfrm>
          <a:prstGeom prst="rect">
            <a:avLst/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594360" y="387720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5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1508760" y="3831480"/>
            <a:ext cx="7131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D94A3A"/>
                </a:solidFill>
                <a:effectLst/>
                <a:uFillTx/>
                <a:latin typeface="Georgia"/>
                <a:ea typeface="Georgia"/>
              </a:rPr>
              <a:t>“Een maximumprijs maakt alles goedkoper voor iedereen”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Er ontstaat een tekort — sommigen betalen minder, anderen krijgen het product helemaal niet.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4572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601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De kern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8229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pc="-99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Zes dingen om te onthouden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" y="16916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1097280" y="173736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Minimumprijs boven P* → aanbodoverschot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548640" y="213048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48640" y="21672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097280" y="221292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Maximumprijs onder P* → vraagoverschot (tekort)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548640" y="260604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548640" y="26427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1097280" y="26884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Minimumloon = minimumprijs op de arbeidsmarkt → werkloosheid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548640" y="308160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548640" y="31179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1097280" y="31636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Accijns: A omhoog, prijsstijging &lt; accijnsbedrag (burden split)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548640" y="355716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548640" y="359352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1097280" y="363924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Subsidie: A omlaag, prijs omlaag, overheid betaalt het verschil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>
            <a:off x="548640" y="4032360"/>
            <a:ext cx="8046360" cy="4320"/>
          </a:xfrm>
          <a:prstGeom prst="rect">
            <a:avLst/>
          </a:prstGeom>
          <a:solidFill>
            <a:srgbClr val="3A4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548640" y="40690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B5B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8"/>
          <p:cNvSpPr/>
          <p:nvPr/>
        </p:nvSpPr>
        <p:spPr>
          <a:xfrm>
            <a:off x="1097280" y="411480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Prijsmaatregel is alleen bindend als hij het evenwicht blokkeert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2026-04-18T19:34:05Z</dcterms:created>
  <dc:creator>Economie VWO</dc:creator>
  <dc:description/>
  <dc:language>en-US</dc:language>
  <cp:lastModifiedBy>Economie VWO</cp:lastModifiedBy>
  <dcterms:modified xsi:type="dcterms:W3CDTF">2026-04-18T19:34:05Z</dcterms:modified>
  <cp:revision>1</cp:revision>
  <dc:subject>PptxGenJS Presentation</dc:subject>
  <dc:title>3.3.2 Overheidsbeleid — creatief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On-screen Show (16:9)</vt:lpwstr>
  </property>
  <property fmtid="{D5CDD505-2E9C-101B-9397-08002B2CF9AE}" pid="4" name="Slides">
    <vt:r8>21</vt:r8>
  </property>
</Properties>
</file>