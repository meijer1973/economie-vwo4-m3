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Welkom bij paragraaf 3.3.2 over overheidsbeleid. Vandaag behandelen we de concrete instrumenten waarmee de overheid ingrijpt: minimumprijs, maximumprijs, accijns en subsidie.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Vijf leerdoelen voor deze les. We behandelen vier instrumenten: minimumprijs, maximumprijs, accijns en subsidie.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overheid grijpt in om marktfalen te corrigeren, consumenten te beschermen, of specifieke doelen te bereiken.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Bindende minimumprijs: de overheid stelt een prijs BOVEN de evenwichtsprijs. Gevolg: aanbodoverschot.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Bindende maximumprijs: de overheid stelt een prijs ONDER de evenwichtsprijs. Gevolg: vraagoverschot.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Een prijsmaatregel werkt alleen als hij BINDEND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Minimumloon: een minimumprijs voor arbeid. Boven evenwichtsloon ontstaat werkloosheid.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Accijns: een belasting per eenheid product. De aanbodlijn verschuift omhoog. De last wordt gedeeld tussen koper en verkoper.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Subsidie: het tegenovergestelde van accijns. CS en PS stijgen beide. Maar de overheid betaalt: subsidie maal hoeveelheid.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Samenvatting: minimumprijs (overschot), maximumprijs (tekort), accijns (prijs omhoog), subsidie (prijs omlaag).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51D4A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5276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Overheidsbeleid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9260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Paragraaf 3.3.2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4709160"/>
            <a:ext cx="786384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Hoofdstuk 3: Overheid  |  Economie VWO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ga je leren?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Leerdoelen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Begrijpen waarom de overheid ingrijpt in markten</a:t>
            </a:r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Minimumprijs en maximumprijs analyseren</a:t>
            </a:r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Minimumloon op de arbeidsmarkt toepassen</a:t>
            </a:r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effect van een accijns uitleggen</a:t>
            </a:r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effect van een subsidie op surplus analyseren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Waarom grijpt de overheid in?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Marktfalen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371600" y="1463040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554480" y="146304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Natuurlijk monopolie → te hoge prijzen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371600" y="2075688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554480" y="2075688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Negatieve externe effecten → milieuschade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371600" y="2688336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554480" y="2688336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Ongelijke verdeling → oneerlijk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371600" y="3300984"/>
            <a:ext cx="6400800" cy="502920"/>
          </a:xfrm>
          <a:prstGeom prst="rect">
            <a:avLst>
              <a:gd name="adj" fmla="val 9091"/>
            </a:avLst>
          </a:prstGeom>
          <a:solidFill>
            <a:srgbClr val="1A5276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554480" y="3300984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Overheid gebruikt beleidsinstrumenten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Bindende minimumprijs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3291840"/>
          </a:xfrm>
          <a:prstGeom prst="rect">
            <a:avLst>
              <a:gd name="adj" fmla="val 1389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329184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Minimumprijs &gt; P*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overheid stelt een prijs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BOVEN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evenwichtsprijs.
Gevolgen: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Aanbod &gt; Vraag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Aanbodoverschot</a:t>
            </a: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Producentensurplus stijgt</a:t>
            </a: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Consumentensurplus daalt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3291840"/>
          </a:xfrm>
          <a:prstGeom prst="rect">
            <a:avLst>
              <a:gd name="adj" fmla="val 1389"/>
            </a:avLst>
          </a:prstGeom>
          <a:solidFill>
            <a:srgbClr val="FEF5E7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05840"/>
            <a:ext cx="54864" cy="329184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Voorbeeld: melkprijs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overheid beschermt boeren door een minimumprijs voor melk in te stellen.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Gevolg: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boeren produceren meer dan consumenten kopen → overschot.
</a:t>
            </a:r>
            <a:pPr algn="l"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overheid koopt het overschot op (garantieprijs).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Bindende maximumprijs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3291840"/>
          </a:xfrm>
          <a:prstGeom prst="rect">
            <a:avLst>
              <a:gd name="adj" fmla="val 1389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329184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Maximumprijs &lt; P*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overheid stelt een prijs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ONDER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evenwichtsprijs.
Gevolgen: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Vraag &gt; Aanbod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Vraagoverschot (tekort)</a:t>
            </a: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Consumenten betalen minder</a:t>
            </a: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Niet iedereen krijgt het product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3291840"/>
          </a:xfrm>
          <a:prstGeom prst="rect">
            <a:avLst>
              <a:gd name="adj" fmla="val 1389"/>
            </a:avLst>
          </a:prstGeom>
          <a:solidFill>
            <a:srgbClr val="FEF5E7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05840"/>
            <a:ext cx="54864" cy="329184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Voorbeeld: huurplafond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overheid beschermt huurders door een maximumprijs voor huur in te stellen.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Gevolg: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vraag naar woningen dan aanbod → woningtekort.
</a:t>
            </a:r>
            <a:pPr algn="l"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Lange wachtlijsten en zwarte markt.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Wanneer werkt een prijsmaatregel?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560320"/>
          </a:xfrm>
          <a:prstGeom prst="rect">
            <a:avLst>
              <a:gd name="adj" fmla="val 1786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256032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Minimumprijs boven P*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Pmin &gt; P*
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Prijs mag niet onder Pmin
Aanbod &gt; Vraag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Aanbodoverschot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2560320"/>
          </a:xfrm>
          <a:prstGeom prst="rect">
            <a:avLst>
              <a:gd name="adj" fmla="val 1786"/>
            </a:avLst>
          </a:prstGeom>
          <a:solidFill>
            <a:srgbClr val="F7F8FA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05840"/>
            <a:ext cx="54864" cy="2560320"/>
          </a:xfrm>
          <a:prstGeom prst="rect">
            <a:avLst/>
          </a:prstGeom>
          <a:solidFill>
            <a:srgbClr val="718096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Minimumprijs onder P*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Pmin &lt; P*
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 kan hoger uitkomen
Evenwicht P* is toegestaan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Geen effect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840480"/>
            <a:ext cx="8229600" cy="457200"/>
          </a:xfrm>
          <a:prstGeom prst="rect">
            <a:avLst>
              <a:gd name="adj" fmla="val 10000"/>
            </a:avLst>
          </a:prstGeom>
          <a:solidFill>
            <a:srgbClr val="EBF5FB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3840480"/>
            <a:ext cx="54864" cy="4572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840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Alleen bindend als de maatregel het evenwicht blokkeert.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Minimumloon op de arbeidsmarkt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640080"/>
          </a:xfrm>
          <a:prstGeom prst="rect">
            <a:avLst>
              <a:gd name="adj" fmla="val 7143"/>
            </a:avLst>
          </a:prstGeom>
          <a:solidFill>
            <a:srgbClr val="EBF5F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64008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05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Minimumloon = minimumprijs op de arbeidsmarkt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 het minimumloon boven het evenwichtsloon ligt → werkloosheid (aanbod &gt; vraag)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3931920" cy="1828800"/>
          </a:xfrm>
          <a:prstGeom prst="rect">
            <a:avLst>
              <a:gd name="adj" fmla="val 2500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920240"/>
            <a:ext cx="54864" cy="182880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0574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Voordeel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2468880"/>
            <a:ext cx="36118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die werk hebben, verdienen meer.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4880" y="1920240"/>
            <a:ext cx="3931920" cy="1828800"/>
          </a:xfrm>
          <a:prstGeom prst="rect">
            <a:avLst>
              <a:gd name="adj" fmla="val 2500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920240"/>
            <a:ext cx="54864" cy="182880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20574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Nadeel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937760" y="2468880"/>
            <a:ext cx="36118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werkloosheid: aanbod arbeid &gt; vraag arbeid.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 van een accijns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1005840"/>
            <a:ext cx="384048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02920" y="100584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Overheid stelt een accijns in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2920" y="1463040"/>
            <a:ext cx="3840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627632"/>
            <a:ext cx="384048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62763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Aanbodlijn verschuift omhoog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2084832"/>
            <a:ext cx="3840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2249424"/>
            <a:ext cx="384048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2920" y="2249424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evenwichtsprijs stijgt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2706624"/>
            <a:ext cx="3840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2871216"/>
            <a:ext cx="384048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02920" y="2871216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Consumenten kopen minder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3328416"/>
            <a:ext cx="3840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3493008"/>
            <a:ext cx="3840480" cy="457200"/>
          </a:xfrm>
          <a:prstGeom prst="rect">
            <a:avLst>
              <a:gd name="adj" fmla="val 10000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02920" y="349300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Minder consumptie van het product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754880" y="1005840"/>
            <a:ext cx="3931920" cy="2286000"/>
          </a:xfrm>
          <a:prstGeom prst="rect">
            <a:avLst>
              <a:gd name="adj" fmla="val 2000"/>
            </a:avLst>
          </a:prstGeom>
          <a:solidFill>
            <a:srgbClr val="FEF5E7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1005840"/>
            <a:ext cx="54864" cy="228600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op!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937760" y="1554480"/>
            <a:ext cx="36118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Prijs stijgt minder dan de accijns.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last wordt gedeeld tussen koper en verkoper.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 van een subsidie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3291840"/>
          </a:xfrm>
          <a:prstGeom prst="rect">
            <a:avLst>
              <a:gd name="adj" fmla="val 1389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329184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Hoe werkt een subsidie?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Subsidie = het tegenovergestelde van accijns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aanbodlijn verschuift naar beneden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prijs daalt</a:t>
            </a: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hoeveelheid stijgt</a:t>
            </a: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endParaRPr lang="en-US" sz="1400" dirty="0"/>
          </a:p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overheid betaalt het verschil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3291840"/>
          </a:xfrm>
          <a:prstGeom prst="rect">
            <a:avLst>
              <a:gd name="adj" fmla="val 1389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05840"/>
            <a:ext cx="54864" cy="329184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Surpluseffecten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stijgt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Consumenten betalen minder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stijgt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Producenten ontvangen meer per eenheid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Overheidsuitgaven</a:t>
            </a:r>
            <a:pPr algn="l" indent="0" marL="0">
              <a:lnSpc>
                <a:spcPct val="115000"/>
              </a:lnSpc>
              <a:buNone/>
            </a:pP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Kosten: subsidie × hoeveelheid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Beheers je dit voordat je gaat oefenen?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Minimumprijs boven P* → aanbodoverschot</a:t>
            </a:r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Maximumprijs onder P* → vraagoverschot</a:t>
            </a:r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Minimumloon = minimumprijs op de arbeidsmarkt</a:t>
            </a:r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Accijns → aanbod verschuift omhoog, prijs stijgt</a:t>
            </a:r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Subsidie → aanbod verschuift omlaag, prijs daalt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2026-03-23T19:02:06Z</dcterms:created>
  <dcterms:modified xsi:type="dcterms:W3CDTF">2026-03-23T19:02:06Z</dcterms:modified>
</cp:coreProperties>
</file>