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deze paragraaf gaan we kijken naar vier concrete prijsinstrumenten: minimumprijs, maximumprijs, accijns en subsidie. De rode draad: de overheid stuurt markten via de 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Kondig de vijf leerdoelen aan. Benadruk dat accijns en subsidie spiegelbeeld zijn.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kapstok. Links: overheid verlaagt de prijs (maximumprijs, subsidie). Rechts: overheid verhoogt de prijs (accijns, minimumprijs). Elk vakje komt in een eigen dia terug.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terug naar §3.3.1: marktfalen is de reden om in te grijpen. Dit hoofdstuk behandelt de concrete prijsinstrumenten.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Pmin is alleen bindend als hij BOVEN het marktevenwicht ligt. Vraag de klas: wat gebeurt er als Pmin onder P* ligt? (niets — markt mag boven Pmin uitkomen).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Lees samen: bij Pmin=40 vragen consumenten Q_V=10, aanbieders leveren Q_A=30. Het rode blok (20 eenheden) is het aanbodoverschot.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Pmax is alleen bindend als hij ONDER P* ligt. Benadruk de ongewenste neveneffecten: wachtlijsten, zwarte markt, kwaliteitsverlies.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Pmax=20 willen consumenten Q_V=30, aanbieders leveren slechts Q_A=10. Het rode blok is het tekort (20 eenheden).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Ezelsbrug: 'Minimum BOVEN, Maximum ONDER' — alleen dan bijt de maatregel.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 de as-labels op de arbeidsmarkt: W (loon) op verticaal, L (arbeid) op horizontaal. Dit is structureel hetzelfde als een minimumprijs op een goederenmarkt.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Wmin=30 vragen bedrijven 20 arbeiders, maar 40 willen werken. Het rode blok (20) is de werkloosheid.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Kernpunt: de prijsstijging is kleiner dan de accijns. Dat komt omdat consumenten minder gaan kopen als de prijs stijgt — dus de producent moet ook een deel van de accijns dragen.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Accijns t=€6. Prijs stijgt van 10 naar 13 (consument +3). Producent ontvangt 7 (-3). De gele rechthoek is de belastingopbrengst (6 × 7 = €42).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subsidie heeft omgekeerde effecten: prijs omlaag, hoeveelheid omhoog, beide partijen winnen. De kosten komen uit de schatkist.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Subsidie s=€4. Consument betaalt €8 (was €10), producent ontvangt €12 (was €10). De gele rechthoek = overheidskosten (4 × 12 = €48).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valkuil 2: dit is een klassieke toetsvraag. De hele truc van de burden split hangt hiervan 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een retrieval-opdracht: laat leerlingen voor elk van de 4 instrumenten tekenen wat er gebeurt met P, Q, CS en 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Overheidsbeleid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Begrijpen waarom de overheid ingrijpt in markten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en maximumprijs analyseren in een V/A-grafiek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toepassen op de arbeidsmarkt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accijns uitleggen (burden split)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subsidie op prijs en hoeveelheid analyseren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instrumenten in één oogopslag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grijpt de overheid in?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188720" y="1005840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levert niet altijd het beste resultaat (marktfalen)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1664208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16642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Monopolie, externe effecten, ongelijke verdeling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322576"/>
            <a:ext cx="6766560" cy="548640"/>
          </a:xfrm>
          <a:prstGeom prst="rect">
            <a:avLst>
              <a:gd name="adj" fmla="val 6667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322576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zet beleidsinstrumenten in: prijzen, belastingen, subsidies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2980944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2980944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Doel: meer welvaart én eerlijkere verdeling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minimumprijs — theorie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Wettelijke minimumprijs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&gt; P*  → bindend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mag niet onder Pmin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aanbodoverschot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overheid koopt overschot (bv. melk)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melk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boeren met een garantieprijs boven het evenwicht.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boeren produceren meer dan consumenten kopen → overschot.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koopt het overschot op (boterberg, melkplas in de jaren 80).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wettelijke ondergrens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aanbodoverschot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maximumprijs — theorie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Wettelijke maximumprijs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Pmax &lt; P*  → bindend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mag niet boven Pmax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vraagoverschot (tekort)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wachtlijsten, zwarte markt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huurplafond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huurders met een maximumhuur onder het evenwicht.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meer vraag dan aanbod → woningtekort.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wachtlijsten en ongecontroleerde doorverhuur.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Pmax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wettelijke bovengrens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vraagoverschot (tekort)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is een prijsmaatregel bindend?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&gt; P*  → BINDEND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kan niet zakken naar P*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aanbodoverschot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&lt; P*  → niet bindend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komt boven Pmin uit — geen effect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Pmax &lt; P*  → BINDEND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kan niet stijgen naar P*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vraagoverschot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Pmax &gt; P*  → niet bindend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komt onder Pmax uit — geen effect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op de arbeidsmarkt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het?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Ligt boven het evenwichtsloon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Bedrijven = vraag naar arbeid (V_a)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buSzPct val="100000"/>
              <a:buChar char="■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= aanbod arbeid (A_a)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aanbod &gt; vraag → werkloosheid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Voordeel  ↔  nadeel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Wie werk heeft verdient meer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bescherming van de onderkant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Meer werkloosheid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vooral jongeren en laagopgeleiden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V_a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 naar arbeid (bedrijven)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A_a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 arbeid (werknemers)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Wmin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wettelijk minimumloon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werkloosheid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Accijns — theorie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188720" y="1005840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heft accijns per eenheid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1664208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16642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Aanbodlijn verschuift parallel omhoog (met de accijns)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322576"/>
            <a:ext cx="6766560" cy="548640"/>
          </a:xfrm>
          <a:prstGeom prst="rect">
            <a:avLst>
              <a:gd name="adj" fmla="val 6667"/>
            </a:avLst>
          </a:prstGeom>
          <a:solidFill>
            <a:srgbClr val="7B2D8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322576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De evenwichtsprijs stijgt  —  maar MINDER dan de accijns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2980944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2980944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Consumenten kopen minder, hoeveelheid daalt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3639312"/>
            <a:ext cx="6766560" cy="548640"/>
          </a:xfrm>
          <a:prstGeom prst="rect">
            <a:avLst>
              <a:gd name="adj" fmla="val 6667"/>
            </a:avLst>
          </a:prstGeom>
          <a:solidFill>
            <a:srgbClr val="7B2D8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363931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De last wordt gedeeld tussen koper én verkoper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Accijns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A+acc.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 na accijns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F8C471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C4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belastingopbrengst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consumentenlast (+3)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— theorie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188720" y="1005840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= het spiegelbeeld van een accijns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1664208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16642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Aanbodlijn verschuift parallel omlaag (met het subsidiebedrag)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322576"/>
            <a:ext cx="6766560" cy="548640"/>
          </a:xfrm>
          <a:prstGeom prst="rect">
            <a:avLst>
              <a:gd name="adj" fmla="val 6667"/>
            </a:avLst>
          </a:prstGeom>
          <a:solidFill>
            <a:srgbClr val="E67E2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322576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Prijs voor consument daalt, hoeveelheid stijgt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2980944"/>
            <a:ext cx="6766560" cy="54864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2980944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Zowel CS als PS stijgen — beide profiteren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3639312"/>
            <a:ext cx="6766560" cy="548640"/>
          </a:xfrm>
          <a:prstGeom prst="rect">
            <a:avLst>
              <a:gd name="adj" fmla="val 6667"/>
            </a:avLst>
          </a:prstGeom>
          <a:solidFill>
            <a:srgbClr val="E67E2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363931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Kosten voor de overheid: subsidie × nieuwe hoeveelheid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A-sub.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 na subsidie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F8C471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C4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subsidiekosten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7B4A12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subsidie per eenheid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960120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51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“Een minimumprijs helpt altijd”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399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Alleen bindend als Pmin &gt; P*. En zelfs dan ontstaat er een aanbodoverschot waar niemand op zit te wachten.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157984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4942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“Bij een accijns stijgt de prijs met het volle accijnsbedrag”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59689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De prijsstijging is kleiner dan de accijns — de last wordt gedeeld tussen consument en producent.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355848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472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“Een maximumprijs maakt alles goedkoper voor iedereen”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379476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Er ontstaat een tekort: sommigen betalen minder, maar anderen krijgen het product helemaal niet.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boven P*  →  aanbodoverschot (bv. melkgarantieprijs)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onder P*  →  vraagoverschot / tekort (bv. huurplafond)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  →  werkloosheid bij Wmin &gt; W*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Accijns  →  A verschuift omhoog, prijs stijgt, last gedeeld tussen consument en producent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 →  A verschuift omlaag, prijs daalt, hoeveelheid stijgt, overheid betaalt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prijsmaatregel is alleen bindend als hij het evenwicht blokkeert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3.3.2 Overheidsbeleid</dc:title>
  <dc:subject>PptxGenJS Presentation</dc:subject>
  <dc:creator>Economie VWO</dc:creator>
  <cp:lastModifiedBy>Economie VWO</cp:lastModifiedBy>
  <cp:revision>1</cp:revision>
  <dcterms:created xsi:type="dcterms:W3CDTF">2026-04-18T08:15:49Z</dcterms:created>
  <dcterms:modified xsi:type="dcterms:W3CDTF">2026-04-18T08:15:49Z</dcterms:modified>
</cp:coreProperties>
</file>