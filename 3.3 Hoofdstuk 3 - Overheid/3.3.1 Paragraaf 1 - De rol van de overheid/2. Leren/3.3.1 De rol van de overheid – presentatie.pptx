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5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7297EC9-3211-45B6-9BC4-17697CE8504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Welkom. We beginnen met het grote beeld: Nederland is een land van dijken, polders en markten. Soms werkt de markt prima. Soms gaat het mis — en dan komt de overheid in beeld.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567DD0-E34D-41CD-9037-5A2A2CC29C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Laat de vraag even hangen. Zonder meteen antwoord te geven. Dit is de denkvraag van de 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3A5E6F-41FA-4F9D-94E4-5E0935AE10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Zes leerdoelen. Benadruk dat elk leerdoel ook in een oefening terugkomt.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970CA8-FCA1-453F-A1E9-04A1516D36F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Drie oorzaken volgen: monopolie, externe effecten, collectieve goederen. Vandaag: de eerste twee.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BB2D3D-5495-4DD8-8EB7-DBE292C8BA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Stel het contrast scherp: wanneer werkt de markt wel, en wanneer niet? Gebruik de definitie letterlijk: 'de markt levert niet het optimum'.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45852E-EDA0-4E5D-BE2C-627F655651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 kapstok van de les. Drie oorzaken, drie instrumenten. De volgende dia's werken elke rij uit.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421DDB-709E-4D3B-838B-29F30015B07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 monopolie-dimensie van marktfalen. Begin met natuurlijk monopolie (soms onvermijdelijk), dan machtspositie (vaak niet).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CB1404-6F35-497C-8455-184AED0016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Bij hoge vaste kosten + lage variabele kosten is één aanbieder technisch efficiënter. Dat is wat 'natuurlijk' hier betekent.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FA190F-F215-4933-9AB4-61DDD5F393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Wijs beide punten aan. 1 aanbieder op Q=100 → GTK=€4. 2 aanbieders elk op Q=50 → GTK=€6 per bedrijf. Het verschil van €2 per eenheid is het efficiëntieverlies van concurrentie.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8455FC-E503-4C93-BF42-10F7BFE25F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Drie klassieke voorbeelden. Vraag de klas: kan je er zelf nog een bedenken? (pijpleidingen, riolering, 5G-dekking op platteland).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34E4F4-297B-428B-A858-D1E041069F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Zet de boete even in perspectief: €1,49 miljard is meer dan de hele Nederlandse cultuurbegroting per jaar. De EU neemt marktmacht serieus.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0EC23B-E222-4BF3-B3EE-116A26393D9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 Mededingingswet verbiedt misbruik. ACM handhaaft in Nederland, EC in Europa. Google-zaak als scherp voorbeeld.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142247-47FE-450F-99C9-04065F86B4C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Externe effecten zijn onze volgende vorm van marktfalen. Eerst de negatieve, dan de positieve.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39A4E9-BC1C-4FAB-8AAA-8412B011A0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 keten: produceren → derden lijden schade → kosten niet in prijs → te lage prijs → te veel productie.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9210FA-9852-4287-BAAC-AB18C931CE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Lees de grafiek. MPK = wat het bedrijf ziet aan kosten. MMK = maatschappelijke kosten incl. vervuiling. De gehatchte driehoek = welvaartsverlies.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F43909-61EE-40EF-A2DA-8C3E8AE8067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Spiegelbeeld van vorige keten. Let op de woorden: baten ipv kosten, consumptie ipv productie, te weinig ipv te veel.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66B34D-8098-422C-841B-4CEF88BFE4C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MPB = private baten (wat de koper zelf waardeert). MMB = maatschappelijke baten (incl. bescherming van anderen). MMB ligt hoger. Het verschil = externe baten. Welvaartsverlies: de markt vaccineert te weinig.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CF5380-E746-432F-A823-F2B236D158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Spiegel-structuur maakt het onthouden makkelijker. Laat de klas de rechterkant voorspellen terwijl je de linker uitlegt.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732382-F1AF-4F89-A784-2715D53168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Brug naar beleid. Belasting bij negatief effect, subsidie bij positief effect.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3CC4E7-88E0-471B-BDBC-C10263825D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Vliegtaks als klassiek voorbeeld. Belasting t=€10. Prijs voor consument stijgt van €25 naar €30 (+€5). Producent ontvangt €20 (-€5). De last wordt gedeeld — de prijsstijging is NIET gelijk aan de belasting.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E11CDC-1A76-4ACD-AFEC-E11DCF867D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Complete matrix: alle vier de vormen met hun instrument. Gebruik dit als retrieval: noem een casus, laat leerlingen de rij invullen.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34B95C-58FB-4EB6-8651-5D951D6E95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Benadruk elk: dit zijn de klassieke fouten. Wie ze kent, struikelt er niet meer over.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CD13FF-E177-42E2-9F75-3EFEDC7FCD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Retrieval: laat leerlingen de 6 punten aan elkaar uitleggen zonder dia. Wie struikelt, gaat terug naar dat concept.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5320ED-F601-46DE-BE3D-9CBC5EA4AA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ARK_HERO">
    <p:bg>
      <p:bgPr>
        <a:solidFill>
          <a:srgbClr val="050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640" cy="27000"/>
          </a:xfrm>
          <a:prstGeom prst="rect">
            <a:avLst/>
          </a:prstGeom>
          <a:solidFill>
            <a:srgbClr val="FF6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47822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400" strike="noStrike">
                <a:solidFill>
                  <a:srgbClr val="3A4F7F"/>
                </a:solidFill>
                <a:effectLst/>
                <a:uFillTx/>
                <a:latin typeface="Segoe UI"/>
                <a:ea typeface="Segoe UI"/>
              </a:rPr>
              <a:t>PARAGRAAF  ·  §3.3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IGHT_ED">
    <p:bg>
      <p:bgPr>
        <a:solidFill>
          <a:srgbClr val="F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/>
          <p:cNvSpPr/>
          <p:nvPr/>
        </p:nvSpPr>
        <p:spPr>
          <a:xfrm>
            <a:off x="0" y="0"/>
            <a:ext cx="9143640" cy="18000"/>
          </a:xfrm>
          <a:prstGeom prst="rect">
            <a:avLst/>
          </a:prstGeom>
          <a:solidFill>
            <a:srgbClr val="0B1B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Text 1"/>
          <p:cNvSpPr/>
          <p:nvPr/>
        </p:nvSpPr>
        <p:spPr>
          <a:xfrm>
            <a:off x="365760" y="48279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8B8779"/>
                </a:solidFill>
                <a:effectLst/>
                <a:uFillTx/>
                <a:latin typeface="Segoe UI"/>
                <a:ea typeface="Segoe UI"/>
              </a:rPr>
              <a:t>§ 3.3  ·  OVERHEID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DEBAR">
    <p:bg>
      <p:bgPr>
        <a:solidFill>
          <a:srgbClr val="F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828440" cy="5143320"/>
          </a:xfrm>
          <a:prstGeom prst="rect">
            <a:avLst/>
          </a:prstGeom>
          <a:solidFill>
            <a:srgbClr val="0B1B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1828440" cy="54360"/>
          </a:xfrm>
          <a:prstGeom prst="rect">
            <a:avLst/>
          </a:prstGeom>
          <a:solidFill>
            <a:srgbClr val="FF6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 descr="preencoded.png"/>
          <p:cNvPicPr/>
          <p:nvPr/>
        </p:nvPicPr>
        <p:blipFill>
          <a:blip r:embed="rId1"/>
          <a:stretch/>
        </p:blipFill>
        <p:spPr>
          <a:xfrm>
            <a:off x="0" y="2194560"/>
            <a:ext cx="9143640" cy="299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Text 0"/>
          <p:cNvSpPr/>
          <p:nvPr/>
        </p:nvSpPr>
        <p:spPr>
          <a:xfrm>
            <a:off x="548640" y="4572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601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§ 3.3.1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548640" y="868680"/>
            <a:ext cx="8046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pc="-201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De rol van de overheid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2"/>
          <p:cNvSpPr/>
          <p:nvPr/>
        </p:nvSpPr>
        <p:spPr>
          <a:xfrm>
            <a:off x="548640" y="210312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D4D1CA"/>
                </a:solidFill>
                <a:effectLst/>
                <a:uFillTx/>
                <a:latin typeface="Georgia"/>
                <a:ea typeface="Georgia"/>
              </a:rPr>
              <a:t>Hoofdstuk 3 · Overheid  ·  Praktische Economie VWO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548640" y="640080"/>
            <a:ext cx="18284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0" b="1" u="none" spc="-499" strike="noStrike">
                <a:solidFill>
                  <a:srgbClr val="FF6B5B"/>
                </a:solidFill>
                <a:effectLst/>
                <a:uFillTx/>
                <a:latin typeface="Georgia"/>
                <a:ea typeface="Georgia"/>
              </a:rPr>
              <a:t>“</a:t>
            </a:r>
            <a:endParaRPr lang="en-US" sz="2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1645920" y="1280160"/>
            <a:ext cx="73148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6000" b="1" u="none" spc="-201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Als de markt faalt,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6000" b="1" u="none" spc="-201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wie grijpt in?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1645920" y="393192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F4B740"/>
                </a:solidFill>
                <a:effectLst/>
                <a:uFillTx/>
                <a:latin typeface="Georgia"/>
                <a:ea typeface="Georgia"/>
              </a:rPr>
              <a:t>De kernvraag van dit hoofdstuk.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137160" y="36576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00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WAT GA JE LEREN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137160" y="685800"/>
            <a:ext cx="15541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-31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Zes vaardigheden voor één uur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"/>
          <p:cNvSpPr/>
          <p:nvPr/>
        </p:nvSpPr>
        <p:spPr>
          <a:xfrm>
            <a:off x="137160" y="2286000"/>
            <a:ext cx="15541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D4D1CA"/>
                </a:solidFill>
                <a:effectLst/>
                <a:uFillTx/>
                <a:latin typeface="Georgia"/>
                <a:ea typeface="Georgia"/>
              </a:rPr>
              <a:t>Na deze paragraaf weet je waarom de overheid ingrijpt — en met welk instrument.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2103120" y="502920"/>
            <a:ext cx="1005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pc="-99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01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3108960" y="594360"/>
            <a:ext cx="5760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Marktfalen herkennen in een casus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5"/>
          <p:cNvSpPr/>
          <p:nvPr/>
        </p:nvSpPr>
        <p:spPr>
          <a:xfrm>
            <a:off x="2103120" y="1124640"/>
            <a:ext cx="6766200" cy="8640"/>
          </a:xfrm>
          <a:prstGeom prst="rect">
            <a:avLst/>
          </a:prstGeom>
          <a:solidFill>
            <a:srgbClr val="D4D1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6"/>
          <p:cNvSpPr/>
          <p:nvPr/>
        </p:nvSpPr>
        <p:spPr>
          <a:xfrm>
            <a:off x="2103120" y="1188720"/>
            <a:ext cx="1005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pc="-99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02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7"/>
          <p:cNvSpPr/>
          <p:nvPr/>
        </p:nvSpPr>
        <p:spPr>
          <a:xfrm>
            <a:off x="3108960" y="1280160"/>
            <a:ext cx="5760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Natuurlijk monopolie uitleggen via dalende GTK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8"/>
          <p:cNvSpPr/>
          <p:nvPr/>
        </p:nvSpPr>
        <p:spPr>
          <a:xfrm>
            <a:off x="2103120" y="1810440"/>
            <a:ext cx="6766200" cy="8640"/>
          </a:xfrm>
          <a:prstGeom prst="rect">
            <a:avLst/>
          </a:prstGeom>
          <a:solidFill>
            <a:srgbClr val="D4D1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9"/>
          <p:cNvSpPr/>
          <p:nvPr/>
        </p:nvSpPr>
        <p:spPr>
          <a:xfrm>
            <a:off x="2103120" y="1874520"/>
            <a:ext cx="1005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pc="-99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03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0"/>
          <p:cNvSpPr/>
          <p:nvPr/>
        </p:nvSpPr>
        <p:spPr>
          <a:xfrm>
            <a:off x="3108960" y="1965960"/>
            <a:ext cx="5760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Economische machtspositie bepalen (drempel 35 %)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1"/>
          <p:cNvSpPr/>
          <p:nvPr/>
        </p:nvSpPr>
        <p:spPr>
          <a:xfrm>
            <a:off x="2103120" y="2496240"/>
            <a:ext cx="6766200" cy="8640"/>
          </a:xfrm>
          <a:prstGeom prst="rect">
            <a:avLst/>
          </a:prstGeom>
          <a:solidFill>
            <a:srgbClr val="D4D1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2"/>
          <p:cNvSpPr/>
          <p:nvPr/>
        </p:nvSpPr>
        <p:spPr>
          <a:xfrm>
            <a:off x="2103120" y="2560320"/>
            <a:ext cx="1005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pc="-99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04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3"/>
          <p:cNvSpPr/>
          <p:nvPr/>
        </p:nvSpPr>
        <p:spPr>
          <a:xfrm>
            <a:off x="3108960" y="2651760"/>
            <a:ext cx="5760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Negatief extern effect aanwijzen in een grafiek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4"/>
          <p:cNvSpPr/>
          <p:nvPr/>
        </p:nvSpPr>
        <p:spPr>
          <a:xfrm>
            <a:off x="2103120" y="3182040"/>
            <a:ext cx="6766200" cy="8640"/>
          </a:xfrm>
          <a:prstGeom prst="rect">
            <a:avLst/>
          </a:prstGeom>
          <a:solidFill>
            <a:srgbClr val="D4D1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5"/>
          <p:cNvSpPr/>
          <p:nvPr/>
        </p:nvSpPr>
        <p:spPr>
          <a:xfrm>
            <a:off x="2103120" y="3246120"/>
            <a:ext cx="1005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pc="-99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05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6"/>
          <p:cNvSpPr/>
          <p:nvPr/>
        </p:nvSpPr>
        <p:spPr>
          <a:xfrm>
            <a:off x="3108960" y="3337560"/>
            <a:ext cx="5760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Positief extern effect aanwijzen in een grafiek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7"/>
          <p:cNvSpPr/>
          <p:nvPr/>
        </p:nvSpPr>
        <p:spPr>
          <a:xfrm>
            <a:off x="2103120" y="3867840"/>
            <a:ext cx="6766200" cy="8640"/>
          </a:xfrm>
          <a:prstGeom prst="rect">
            <a:avLst/>
          </a:prstGeom>
          <a:solidFill>
            <a:srgbClr val="D4D1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8"/>
          <p:cNvSpPr/>
          <p:nvPr/>
        </p:nvSpPr>
        <p:spPr>
          <a:xfrm>
            <a:off x="2103120" y="3931920"/>
            <a:ext cx="1005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pc="-99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06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9"/>
          <p:cNvSpPr/>
          <p:nvPr/>
        </p:nvSpPr>
        <p:spPr>
          <a:xfrm>
            <a:off x="3108960" y="4023360"/>
            <a:ext cx="5760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Internaliseren uitleggen: belasting of subsidie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548640" y="173736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601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DEEL 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548640" y="2148840"/>
            <a:ext cx="8046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600" b="1" u="none" spc="-201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Marktfalen</a:t>
            </a:r>
            <a:endParaRPr lang="en-US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548640" y="352044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D4D1CA"/>
                </a:solidFill>
                <a:effectLst/>
                <a:uFillTx/>
                <a:latin typeface="Georgia"/>
                <a:ea typeface="Georgia"/>
              </a:rPr>
              <a:t>Wanneer de markt niet het optimum levert — en waarom het dan aan de overheid is.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548640" y="3291840"/>
            <a:ext cx="548280" cy="36360"/>
          </a:xfrm>
          <a:prstGeom prst="rect">
            <a:avLst/>
          </a:prstGeom>
          <a:solidFill>
            <a:srgbClr val="FF6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457200" y="2743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BEGRIP · MARKTFALEN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457200" y="5486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pc="-51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De markt doet haar werk — tot ze dat niet meer doet.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457200" y="1828800"/>
            <a:ext cx="4023000" cy="28342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3"/>
          <p:cNvSpPr/>
          <p:nvPr/>
        </p:nvSpPr>
        <p:spPr>
          <a:xfrm>
            <a:off x="457200" y="1828800"/>
            <a:ext cx="4023000" cy="72720"/>
          </a:xfrm>
          <a:prstGeom prst="rect">
            <a:avLst/>
          </a:prstGeom>
          <a:solidFill>
            <a:srgbClr val="5B7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685800" y="201168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5B7F3D"/>
                </a:solidFill>
                <a:effectLst/>
                <a:uFillTx/>
                <a:latin typeface="Segoe UI"/>
                <a:ea typeface="Segoe UI"/>
              </a:rPr>
              <a:t>WERKT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685800" y="233172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pc="-51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Markt levert het optimum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6"/>
          <p:cNvSpPr/>
          <p:nvPr/>
        </p:nvSpPr>
        <p:spPr>
          <a:xfrm>
            <a:off x="822960" y="2971800"/>
            <a:ext cx="109440" cy="109440"/>
          </a:xfrm>
          <a:prstGeom prst="rect">
            <a:avLst/>
          </a:prstGeom>
          <a:solidFill>
            <a:srgbClr val="5B7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1005840" y="290772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Voldoende concurrentie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8"/>
          <p:cNvSpPr/>
          <p:nvPr/>
        </p:nvSpPr>
        <p:spPr>
          <a:xfrm>
            <a:off x="822960" y="3319200"/>
            <a:ext cx="109440" cy="109440"/>
          </a:xfrm>
          <a:prstGeom prst="rect">
            <a:avLst/>
          </a:prstGeom>
          <a:solidFill>
            <a:srgbClr val="5B7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9"/>
          <p:cNvSpPr/>
          <p:nvPr/>
        </p:nvSpPr>
        <p:spPr>
          <a:xfrm>
            <a:off x="1005840" y="325512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Alle kosten en baten in de prijs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0"/>
          <p:cNvSpPr/>
          <p:nvPr/>
        </p:nvSpPr>
        <p:spPr>
          <a:xfrm>
            <a:off x="822960" y="3666600"/>
            <a:ext cx="109440" cy="109440"/>
          </a:xfrm>
          <a:prstGeom prst="rect">
            <a:avLst/>
          </a:prstGeom>
          <a:solidFill>
            <a:srgbClr val="5B7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1"/>
          <p:cNvSpPr/>
          <p:nvPr/>
        </p:nvSpPr>
        <p:spPr>
          <a:xfrm>
            <a:off x="1005840" y="360288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Iedereen wordt bereikt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2"/>
          <p:cNvSpPr/>
          <p:nvPr/>
        </p:nvSpPr>
        <p:spPr>
          <a:xfrm>
            <a:off x="822960" y="4014360"/>
            <a:ext cx="109440" cy="109440"/>
          </a:xfrm>
          <a:prstGeom prst="rect">
            <a:avLst/>
          </a:prstGeom>
          <a:solidFill>
            <a:srgbClr val="5B7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3"/>
          <p:cNvSpPr/>
          <p:nvPr/>
        </p:nvSpPr>
        <p:spPr>
          <a:xfrm>
            <a:off x="1005840" y="395028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Prijs stuurt schaarse middelen efficiënt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4"/>
          <p:cNvSpPr/>
          <p:nvPr/>
        </p:nvSpPr>
        <p:spPr>
          <a:xfrm>
            <a:off x="4663440" y="1828800"/>
            <a:ext cx="4023000" cy="28342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5"/>
          <p:cNvSpPr/>
          <p:nvPr/>
        </p:nvSpPr>
        <p:spPr>
          <a:xfrm>
            <a:off x="4663440" y="1828800"/>
            <a:ext cx="4023000" cy="72720"/>
          </a:xfrm>
          <a:prstGeom prst="rect">
            <a:avLst/>
          </a:prstGeom>
          <a:solidFill>
            <a:srgbClr val="FF6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6"/>
          <p:cNvSpPr/>
          <p:nvPr/>
        </p:nvSpPr>
        <p:spPr>
          <a:xfrm>
            <a:off x="4892040" y="201168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FAALT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7"/>
          <p:cNvSpPr/>
          <p:nvPr/>
        </p:nvSpPr>
        <p:spPr>
          <a:xfrm>
            <a:off x="4892040" y="233172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pc="-51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Markt mist het optimum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8"/>
          <p:cNvSpPr/>
          <p:nvPr/>
        </p:nvSpPr>
        <p:spPr>
          <a:xfrm>
            <a:off x="5029200" y="2971800"/>
            <a:ext cx="109440" cy="109440"/>
          </a:xfrm>
          <a:prstGeom prst="ellipse">
            <a:avLst/>
          </a:prstGeom>
          <a:solidFill>
            <a:srgbClr val="FF6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9"/>
          <p:cNvSpPr/>
          <p:nvPr/>
        </p:nvSpPr>
        <p:spPr>
          <a:xfrm>
            <a:off x="5212080" y="290772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Te weinig concurrentie (monopolie)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0"/>
          <p:cNvSpPr/>
          <p:nvPr/>
        </p:nvSpPr>
        <p:spPr>
          <a:xfrm>
            <a:off x="5029200" y="3319200"/>
            <a:ext cx="109440" cy="109440"/>
          </a:xfrm>
          <a:prstGeom prst="ellipse">
            <a:avLst/>
          </a:prstGeom>
          <a:solidFill>
            <a:srgbClr val="FF6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1"/>
          <p:cNvSpPr/>
          <p:nvPr/>
        </p:nvSpPr>
        <p:spPr>
          <a:xfrm>
            <a:off x="5212080" y="325512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Kosten/baten buiten de markt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22"/>
          <p:cNvSpPr/>
          <p:nvPr/>
        </p:nvSpPr>
        <p:spPr>
          <a:xfrm>
            <a:off x="5029200" y="3666600"/>
            <a:ext cx="109440" cy="109440"/>
          </a:xfrm>
          <a:prstGeom prst="ellipse">
            <a:avLst/>
          </a:prstGeom>
          <a:solidFill>
            <a:srgbClr val="FF6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3"/>
          <p:cNvSpPr/>
          <p:nvPr/>
        </p:nvSpPr>
        <p:spPr>
          <a:xfrm>
            <a:off x="5212080" y="360288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Markt levert goederen niet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4"/>
          <p:cNvSpPr/>
          <p:nvPr/>
        </p:nvSpPr>
        <p:spPr>
          <a:xfrm>
            <a:off x="5029200" y="4014360"/>
            <a:ext cx="109440" cy="109440"/>
          </a:xfrm>
          <a:prstGeom prst="ellipse">
            <a:avLst/>
          </a:prstGeom>
          <a:solidFill>
            <a:srgbClr val="FF6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5"/>
          <p:cNvSpPr/>
          <p:nvPr/>
        </p:nvSpPr>
        <p:spPr>
          <a:xfrm>
            <a:off x="5212080" y="395028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Overheid moet corrigeren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Image 0" descr="preencoded.png"/>
          <p:cNvPicPr/>
          <p:nvPr/>
        </p:nvPicPr>
        <p:blipFill>
          <a:blip r:embed="rId1"/>
          <a:stretch/>
        </p:blipFill>
        <p:spPr>
          <a:xfrm>
            <a:off x="274320" y="274320"/>
            <a:ext cx="8595000" cy="457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548640" y="173736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601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DEEL 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"/>
          <p:cNvSpPr/>
          <p:nvPr/>
        </p:nvSpPr>
        <p:spPr>
          <a:xfrm>
            <a:off x="548640" y="2148840"/>
            <a:ext cx="8046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600" b="1" u="none" spc="-201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Als één koning regeert</a:t>
            </a:r>
            <a:endParaRPr lang="en-US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"/>
          <p:cNvSpPr/>
          <p:nvPr/>
        </p:nvSpPr>
        <p:spPr>
          <a:xfrm>
            <a:off x="548640" y="352044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D4D1CA"/>
                </a:solidFill>
                <a:effectLst/>
                <a:uFillTx/>
                <a:latin typeface="Georgia"/>
                <a:ea typeface="Georgia"/>
              </a:rPr>
              <a:t>Natuurlijk monopolie, machtspositie, en de rol van de mededingingsautoriteit.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3"/>
          <p:cNvSpPr/>
          <p:nvPr/>
        </p:nvSpPr>
        <p:spPr>
          <a:xfrm>
            <a:off x="548640" y="3291840"/>
            <a:ext cx="548280" cy="36360"/>
          </a:xfrm>
          <a:prstGeom prst="rect">
            <a:avLst/>
          </a:prstGeom>
          <a:solidFill>
            <a:srgbClr val="FF6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457200" y="2743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CONCEPT 01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457200" y="5486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pc="-51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Natuurlijk monopolie — als twee duurder is dan één.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"/>
          <p:cNvSpPr/>
          <p:nvPr/>
        </p:nvSpPr>
        <p:spPr>
          <a:xfrm>
            <a:off x="457200" y="1828800"/>
            <a:ext cx="3840120" cy="2834280"/>
          </a:xfrm>
          <a:prstGeom prst="rect">
            <a:avLst/>
          </a:prstGeom>
          <a:solidFill>
            <a:srgbClr val="E8F0F7"/>
          </a:solidFill>
          <a:ln w="9525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640080" y="196596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DEFINITIE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4"/>
          <p:cNvSpPr/>
          <p:nvPr/>
        </p:nvSpPr>
        <p:spPr>
          <a:xfrm>
            <a:off x="640080" y="2286000"/>
            <a:ext cx="3474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800" b="1" i="1" u="none" strike="noStrike">
                <a:solidFill>
                  <a:srgbClr val="0B1B3D"/>
                </a:solidFill>
                <a:effectLst/>
                <a:uFillTx/>
                <a:latin typeface="Georgia"/>
                <a:ea typeface="Georgia"/>
              </a:rPr>
              <a:t>Eén aanbieder</a:t>
            </a:r>
            <a:r>
              <a:rPr lang="en-US" sz="1800" b="0" i="1" u="none" strike="noStrike">
                <a:solidFill>
                  <a:srgbClr val="0A0E1A"/>
                </a:solidFill>
                <a:effectLst/>
                <a:uFillTx/>
                <a:latin typeface="Georgia"/>
                <a:ea typeface="Georgia"/>
              </a:rPr>
              <a:t> heeft structureel lagere gemiddelde kosten dan twee of meer aanbieders bij elkaar.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5"/>
          <p:cNvSpPr/>
          <p:nvPr/>
        </p:nvSpPr>
        <p:spPr>
          <a:xfrm>
            <a:off x="640080" y="3749040"/>
            <a:ext cx="365400" cy="27000"/>
          </a:xfrm>
          <a:prstGeom prst="rect">
            <a:avLst/>
          </a:prstGeom>
          <a:solidFill>
            <a:srgbClr val="FF6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640080" y="384048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D94A3A"/>
                </a:solidFill>
                <a:effectLst/>
                <a:uFillTx/>
                <a:latin typeface="Segoe UI"/>
                <a:ea typeface="Segoe UI"/>
              </a:rPr>
              <a:t>Kenmerk: dalende GTK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7"/>
          <p:cNvSpPr/>
          <p:nvPr/>
        </p:nvSpPr>
        <p:spPr>
          <a:xfrm>
            <a:off x="640080" y="416052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hoge vaste kosten + lage variabele kosten per eenheid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8"/>
          <p:cNvSpPr/>
          <p:nvPr/>
        </p:nvSpPr>
        <p:spPr>
          <a:xfrm>
            <a:off x="4663440" y="1828800"/>
            <a:ext cx="4023000" cy="2834280"/>
          </a:xfrm>
          <a:prstGeom prst="rect">
            <a:avLst/>
          </a:prstGeom>
          <a:solidFill>
            <a:srgbClr val="0B1B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9"/>
          <p:cNvSpPr/>
          <p:nvPr/>
        </p:nvSpPr>
        <p:spPr>
          <a:xfrm>
            <a:off x="4846320" y="19659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F4B740"/>
                </a:solidFill>
                <a:effectLst/>
                <a:uFillTx/>
                <a:latin typeface="Segoe UI"/>
                <a:ea typeface="Segoe UI"/>
              </a:rPr>
              <a:t>DENK AAN POSTBEZORGING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0"/>
          <p:cNvSpPr/>
          <p:nvPr/>
        </p:nvSpPr>
        <p:spPr>
          <a:xfrm>
            <a:off x="4846320" y="2331720"/>
            <a:ext cx="365724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1 miljoen brieven</a:t>
            </a:r>
            <a:r>
              <a:rPr lang="en-US" sz="1600" b="0" u="none" strike="noStrike">
                <a:solidFill>
                  <a:srgbClr val="D4D1CA"/>
                </a:solidFill>
                <a:effectLst/>
                <a:uFillTx/>
                <a:latin typeface="Segoe UI"/>
                <a:ea typeface="Segoe UI"/>
              </a:rPr>
              <a:t>  →  GTK hoog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10 miljoen brieven</a:t>
            </a:r>
            <a:r>
              <a:rPr lang="en-US" sz="1600" b="0" u="none" strike="noStrike">
                <a:solidFill>
                  <a:srgbClr val="D4D1CA"/>
                </a:solidFill>
                <a:effectLst/>
                <a:uFillTx/>
                <a:latin typeface="Segoe UI"/>
                <a:ea typeface="Segoe UI"/>
              </a:rPr>
              <a:t>  →  GTK veel lager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F4B740"/>
                </a:solidFill>
                <a:effectLst/>
                <a:uFillTx/>
                <a:latin typeface="Georgia"/>
                <a:ea typeface="Georgia"/>
              </a:rPr>
              <a:t>PostNL + Sandd samen zou leiden tot hogere kosten per brief.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Image 0" descr="preencoded.png"/>
          <p:cNvPicPr/>
          <p:nvPr/>
        </p:nvPicPr>
        <p:blipFill>
          <a:blip r:embed="rId1"/>
          <a:stretch/>
        </p:blipFill>
        <p:spPr>
          <a:xfrm>
            <a:off x="274320" y="274320"/>
            <a:ext cx="8595000" cy="457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Image 0" descr="preencoded.png"/>
          <p:cNvPicPr/>
          <p:nvPr/>
        </p:nvPicPr>
        <p:blipFill>
          <a:blip r:embed="rId1"/>
          <a:stretch/>
        </p:blipFill>
        <p:spPr>
          <a:xfrm>
            <a:off x="274320" y="274320"/>
            <a:ext cx="8595000" cy="457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548640" y="914400"/>
            <a:ext cx="8046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601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GOOGLE · 2019 · EUROPESE COMMISSIE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274320" y="1325880"/>
            <a:ext cx="859500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0" b="1" u="none" spc="-400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€1,49 mrd</a:t>
            </a:r>
            <a:endParaRPr lang="en-US" sz="1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548640" y="3611880"/>
            <a:ext cx="8046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D4D1CA"/>
                </a:solidFill>
                <a:effectLst/>
                <a:uFillTx/>
                <a:latin typeface="Segoe UI"/>
                <a:ea typeface="Segoe UI"/>
              </a:rPr>
              <a:t>boete voor misbruik van economische machtspositie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"/>
          <p:cNvSpPr/>
          <p:nvPr/>
        </p:nvSpPr>
        <p:spPr>
          <a:xfrm>
            <a:off x="1371600" y="4069080"/>
            <a:ext cx="6400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D4D1CA"/>
                </a:solidFill>
                <a:effectLst/>
                <a:uFillTx/>
                <a:latin typeface="Georgia"/>
                <a:ea typeface="Georgia"/>
              </a:rPr>
              <a:t>“… Google dwong websites om alleen Google-advertenties te tonen.”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/>
          <p:nvPr/>
        </p:nvSpPr>
        <p:spPr>
          <a:xfrm>
            <a:off x="457200" y="2743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CONCEPT 02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"/>
          <p:cNvSpPr/>
          <p:nvPr/>
        </p:nvSpPr>
        <p:spPr>
          <a:xfrm>
            <a:off x="457200" y="5486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pc="-51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Economische machtspositie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"/>
          <p:cNvSpPr/>
          <p:nvPr/>
        </p:nvSpPr>
        <p:spPr>
          <a:xfrm>
            <a:off x="457200" y="12344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i="1" u="none" strike="noStrike">
                <a:solidFill>
                  <a:srgbClr val="2D3748"/>
                </a:solidFill>
                <a:effectLst/>
                <a:uFillTx/>
                <a:latin typeface="Georgia"/>
                <a:ea typeface="Georgia"/>
              </a:rPr>
              <a:t>De 35 %-drempel — een bedrijf met veel marktaandeel kan concurrenten wegdrukken.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"/>
          <p:cNvSpPr/>
          <p:nvPr/>
        </p:nvSpPr>
        <p:spPr>
          <a:xfrm>
            <a:off x="457200" y="2057400"/>
            <a:ext cx="1965600" cy="2377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4"/>
          <p:cNvSpPr/>
          <p:nvPr/>
        </p:nvSpPr>
        <p:spPr>
          <a:xfrm>
            <a:off x="457200" y="2057400"/>
            <a:ext cx="1965600" cy="54360"/>
          </a:xfrm>
          <a:prstGeom prst="rect">
            <a:avLst/>
          </a:prstGeom>
          <a:solidFill>
            <a:srgbClr val="3A4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5"/>
          <p:cNvSpPr/>
          <p:nvPr/>
        </p:nvSpPr>
        <p:spPr>
          <a:xfrm>
            <a:off x="640080" y="2286000"/>
            <a:ext cx="1599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201" strike="noStrike">
                <a:solidFill>
                  <a:srgbClr val="3A4F7F"/>
                </a:solidFill>
                <a:effectLst/>
                <a:uFillTx/>
                <a:latin typeface="Segoe UI"/>
                <a:ea typeface="Segoe UI"/>
              </a:rPr>
              <a:t>01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6"/>
          <p:cNvSpPr/>
          <p:nvPr/>
        </p:nvSpPr>
        <p:spPr>
          <a:xfrm>
            <a:off x="640080" y="2971800"/>
            <a:ext cx="1599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Bepaal marktaandeel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7"/>
          <p:cNvSpPr/>
          <p:nvPr/>
        </p:nvSpPr>
        <p:spPr>
          <a:xfrm>
            <a:off x="640080" y="3749040"/>
            <a:ext cx="1599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2D3748"/>
                </a:solidFill>
                <a:effectLst/>
                <a:uFillTx/>
                <a:latin typeface="Georgia"/>
                <a:ea typeface="Georgia"/>
              </a:rPr>
              <a:t>hoeveel % van de markt?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8"/>
          <p:cNvSpPr/>
          <p:nvPr/>
        </p:nvSpPr>
        <p:spPr>
          <a:xfrm rot="5400000">
            <a:off x="2441880" y="3164040"/>
            <a:ext cx="136800" cy="164160"/>
          </a:xfrm>
          <a:solidFill>
            <a:srgbClr val="8B87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9"/>
          <p:cNvSpPr/>
          <p:nvPr/>
        </p:nvSpPr>
        <p:spPr>
          <a:xfrm>
            <a:off x="2587680" y="2057400"/>
            <a:ext cx="1965600" cy="2377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0"/>
          <p:cNvSpPr/>
          <p:nvPr/>
        </p:nvSpPr>
        <p:spPr>
          <a:xfrm>
            <a:off x="2587680" y="2057400"/>
            <a:ext cx="1965600" cy="54360"/>
          </a:xfrm>
          <a:prstGeom prst="rect">
            <a:avLst/>
          </a:prstGeom>
          <a:solidFill>
            <a:srgbClr val="FF6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1"/>
          <p:cNvSpPr/>
          <p:nvPr/>
        </p:nvSpPr>
        <p:spPr>
          <a:xfrm>
            <a:off x="2770560" y="2286000"/>
            <a:ext cx="1599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201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02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2"/>
          <p:cNvSpPr/>
          <p:nvPr/>
        </p:nvSpPr>
        <p:spPr>
          <a:xfrm>
            <a:off x="2770560" y="2971800"/>
            <a:ext cx="1599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≥ 35 %?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3"/>
          <p:cNvSpPr/>
          <p:nvPr/>
        </p:nvSpPr>
        <p:spPr>
          <a:xfrm>
            <a:off x="2770560" y="3749040"/>
            <a:ext cx="1599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2D3748"/>
                </a:solidFill>
                <a:effectLst/>
                <a:uFillTx/>
                <a:latin typeface="Georgia"/>
                <a:ea typeface="Georgia"/>
              </a:rPr>
              <a:t>machtspositie volgens EU-regels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4"/>
          <p:cNvSpPr/>
          <p:nvPr/>
        </p:nvSpPr>
        <p:spPr>
          <a:xfrm rot="5400000">
            <a:off x="4572360" y="3164040"/>
            <a:ext cx="136800" cy="164160"/>
          </a:xfrm>
          <a:solidFill>
            <a:srgbClr val="8B87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5"/>
          <p:cNvSpPr/>
          <p:nvPr/>
        </p:nvSpPr>
        <p:spPr>
          <a:xfrm>
            <a:off x="4718160" y="2057400"/>
            <a:ext cx="1965600" cy="2377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6"/>
          <p:cNvSpPr/>
          <p:nvPr/>
        </p:nvSpPr>
        <p:spPr>
          <a:xfrm>
            <a:off x="4718160" y="2057400"/>
            <a:ext cx="1965600" cy="54360"/>
          </a:xfrm>
          <a:prstGeom prst="rect">
            <a:avLst/>
          </a:prstGeom>
          <a:solidFill>
            <a:srgbClr val="C78E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7"/>
          <p:cNvSpPr/>
          <p:nvPr/>
        </p:nvSpPr>
        <p:spPr>
          <a:xfrm>
            <a:off x="4901040" y="2286000"/>
            <a:ext cx="1599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201" strike="noStrike">
                <a:solidFill>
                  <a:srgbClr val="C78E1F"/>
                </a:solidFill>
                <a:effectLst/>
                <a:uFillTx/>
                <a:latin typeface="Segoe UI"/>
                <a:ea typeface="Segoe UI"/>
              </a:rPr>
              <a:t>03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8"/>
          <p:cNvSpPr/>
          <p:nvPr/>
        </p:nvSpPr>
        <p:spPr>
          <a:xfrm>
            <a:off x="4901040" y="2971800"/>
            <a:ext cx="1599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Wordt die positie misbruikt?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9"/>
          <p:cNvSpPr/>
          <p:nvPr/>
        </p:nvSpPr>
        <p:spPr>
          <a:xfrm>
            <a:off x="4901040" y="3749040"/>
            <a:ext cx="1599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2D3748"/>
                </a:solidFill>
                <a:effectLst/>
                <a:uFillTx/>
                <a:latin typeface="Georgia"/>
                <a:ea typeface="Georgia"/>
              </a:rPr>
              <a:t>uitsluiten concurrenten, afdwingen prijzen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0"/>
          <p:cNvSpPr/>
          <p:nvPr/>
        </p:nvSpPr>
        <p:spPr>
          <a:xfrm rot="5400000">
            <a:off x="6702840" y="3164040"/>
            <a:ext cx="136800" cy="164160"/>
          </a:xfrm>
          <a:solidFill>
            <a:srgbClr val="8B87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1"/>
          <p:cNvSpPr/>
          <p:nvPr/>
        </p:nvSpPr>
        <p:spPr>
          <a:xfrm>
            <a:off x="6849000" y="2057400"/>
            <a:ext cx="1965600" cy="2377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22"/>
          <p:cNvSpPr/>
          <p:nvPr/>
        </p:nvSpPr>
        <p:spPr>
          <a:xfrm>
            <a:off x="6849000" y="2057400"/>
            <a:ext cx="1965600" cy="54360"/>
          </a:xfrm>
          <a:prstGeom prst="rect">
            <a:avLst/>
          </a:prstGeom>
          <a:solidFill>
            <a:srgbClr val="0B1B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3"/>
          <p:cNvSpPr/>
          <p:nvPr/>
        </p:nvSpPr>
        <p:spPr>
          <a:xfrm>
            <a:off x="7031880" y="2286000"/>
            <a:ext cx="1599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201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04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4"/>
          <p:cNvSpPr/>
          <p:nvPr/>
        </p:nvSpPr>
        <p:spPr>
          <a:xfrm>
            <a:off x="7031880" y="2971800"/>
            <a:ext cx="1599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ACM/EC grijpt in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5"/>
          <p:cNvSpPr/>
          <p:nvPr/>
        </p:nvSpPr>
        <p:spPr>
          <a:xfrm>
            <a:off x="7031880" y="3749040"/>
            <a:ext cx="1599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2D3748"/>
                </a:solidFill>
                <a:effectLst/>
                <a:uFillTx/>
                <a:latin typeface="Georgia"/>
                <a:ea typeface="Georgia"/>
              </a:rPr>
              <a:t>boete, ontvlechting, regulering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 0"/>
          <p:cNvSpPr/>
          <p:nvPr/>
        </p:nvSpPr>
        <p:spPr>
          <a:xfrm>
            <a:off x="548640" y="173736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601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DEEL 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"/>
          <p:cNvSpPr/>
          <p:nvPr/>
        </p:nvSpPr>
        <p:spPr>
          <a:xfrm>
            <a:off x="548640" y="2148840"/>
            <a:ext cx="8046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600" b="1" u="none" spc="-201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De prijs liegt</a:t>
            </a:r>
            <a:endParaRPr lang="en-US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"/>
          <p:cNvSpPr/>
          <p:nvPr/>
        </p:nvSpPr>
        <p:spPr>
          <a:xfrm>
            <a:off x="548640" y="352044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D4D1CA"/>
                </a:solidFill>
                <a:effectLst/>
                <a:uFillTx/>
                <a:latin typeface="Georgia"/>
                <a:ea typeface="Georgia"/>
              </a:rPr>
              <a:t>Wat gebeurt er als kosten of baten buiten de markt vallen?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3"/>
          <p:cNvSpPr/>
          <p:nvPr/>
        </p:nvSpPr>
        <p:spPr>
          <a:xfrm>
            <a:off x="548640" y="3291840"/>
            <a:ext cx="548280" cy="36360"/>
          </a:xfrm>
          <a:prstGeom prst="rect">
            <a:avLst/>
          </a:prstGeom>
          <a:solidFill>
            <a:srgbClr val="FF6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0"/>
          <p:cNvSpPr/>
          <p:nvPr/>
        </p:nvSpPr>
        <p:spPr>
          <a:xfrm>
            <a:off x="457200" y="2743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CONCEPT 03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457200" y="5486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pc="-51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Negatief extern effect — wat de rekening niet vertelt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457200" y="12344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i="1" u="none" strike="noStrike">
                <a:solidFill>
                  <a:srgbClr val="2D3748"/>
                </a:solidFill>
                <a:effectLst/>
                <a:uFillTx/>
                <a:latin typeface="Georgia"/>
                <a:ea typeface="Georgia"/>
              </a:rPr>
              <a:t>Vliegverkeer veroorzaakt luchtvervuiling. Maar zit die schade in de ticketprijs?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3"/>
          <p:cNvSpPr/>
          <p:nvPr/>
        </p:nvSpPr>
        <p:spPr>
          <a:xfrm>
            <a:off x="365760" y="2103120"/>
            <a:ext cx="1508400" cy="1554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B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457200" y="2240280"/>
            <a:ext cx="13255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Bedrijf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produceert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5"/>
          <p:cNvSpPr/>
          <p:nvPr/>
        </p:nvSpPr>
        <p:spPr>
          <a:xfrm>
            <a:off x="1828800" y="2697480"/>
            <a:ext cx="228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B8779"/>
                </a:solidFill>
                <a:effectLst/>
                <a:uFillTx/>
                <a:latin typeface="Segoe UI"/>
                <a:ea typeface="Segoe UI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6"/>
          <p:cNvSpPr/>
          <p:nvPr/>
        </p:nvSpPr>
        <p:spPr>
          <a:xfrm>
            <a:off x="1984320" y="2103120"/>
            <a:ext cx="1508400" cy="1554120"/>
          </a:xfrm>
          <a:prstGeom prst="rect">
            <a:avLst/>
          </a:prstGeom>
          <a:solidFill>
            <a:srgbClr val="FFFFFF"/>
          </a:solidFill>
          <a:ln w="25400">
            <a:solidFill>
              <a:srgbClr val="C78E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2075760" y="2240280"/>
            <a:ext cx="13255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78E1F"/>
                </a:solidFill>
                <a:effectLst/>
                <a:uFillTx/>
                <a:latin typeface="Segoe UI"/>
                <a:ea typeface="Segoe UI"/>
              </a:rPr>
              <a:t>Derden lijden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78E1F"/>
                </a:solidFill>
                <a:effectLst/>
                <a:uFillTx/>
                <a:latin typeface="Segoe UI"/>
                <a:ea typeface="Segoe UI"/>
              </a:rPr>
              <a:t>schade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8"/>
          <p:cNvSpPr/>
          <p:nvPr/>
        </p:nvSpPr>
        <p:spPr>
          <a:xfrm>
            <a:off x="3447360" y="2697480"/>
            <a:ext cx="228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B8779"/>
                </a:solidFill>
                <a:effectLst/>
                <a:uFillTx/>
                <a:latin typeface="Segoe UI"/>
                <a:ea typeface="Segoe UI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9"/>
          <p:cNvSpPr/>
          <p:nvPr/>
        </p:nvSpPr>
        <p:spPr>
          <a:xfrm>
            <a:off x="3602880" y="2103120"/>
            <a:ext cx="1508400" cy="1554120"/>
          </a:xfrm>
          <a:prstGeom prst="rect">
            <a:avLst/>
          </a:prstGeom>
          <a:solidFill>
            <a:srgbClr val="FF6B5B"/>
          </a:solidFill>
          <a:ln w="25400">
            <a:solidFill>
              <a:srgbClr val="FF6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0"/>
          <p:cNvSpPr/>
          <p:nvPr/>
        </p:nvSpPr>
        <p:spPr>
          <a:xfrm>
            <a:off x="3694320" y="2240280"/>
            <a:ext cx="13255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Kosten zitten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niet in de prijs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1"/>
          <p:cNvSpPr/>
          <p:nvPr/>
        </p:nvSpPr>
        <p:spPr>
          <a:xfrm>
            <a:off x="5065920" y="2697480"/>
            <a:ext cx="228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B8779"/>
                </a:solidFill>
                <a:effectLst/>
                <a:uFillTx/>
                <a:latin typeface="Segoe UI"/>
                <a:ea typeface="Segoe UI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2"/>
          <p:cNvSpPr/>
          <p:nvPr/>
        </p:nvSpPr>
        <p:spPr>
          <a:xfrm>
            <a:off x="5221080" y="2103120"/>
            <a:ext cx="1508400" cy="1554120"/>
          </a:xfrm>
          <a:prstGeom prst="rect">
            <a:avLst/>
          </a:prstGeom>
          <a:solidFill>
            <a:srgbClr val="FFFFFF"/>
          </a:solidFill>
          <a:ln w="25400">
            <a:solidFill>
              <a:srgbClr val="D94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3"/>
          <p:cNvSpPr/>
          <p:nvPr/>
        </p:nvSpPr>
        <p:spPr>
          <a:xfrm>
            <a:off x="5312520" y="2240280"/>
            <a:ext cx="13255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94A3A"/>
                </a:solidFill>
                <a:effectLst/>
                <a:uFillTx/>
                <a:latin typeface="Segoe UI"/>
                <a:ea typeface="Segoe UI"/>
              </a:rPr>
              <a:t>Prijs te laag,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94A3A"/>
                </a:solidFill>
                <a:effectLst/>
                <a:uFillTx/>
                <a:latin typeface="Segoe UI"/>
                <a:ea typeface="Segoe UI"/>
              </a:rPr>
              <a:t>te veel productie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4"/>
          <p:cNvSpPr/>
          <p:nvPr/>
        </p:nvSpPr>
        <p:spPr>
          <a:xfrm>
            <a:off x="6684120" y="2697480"/>
            <a:ext cx="228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B8779"/>
                </a:solidFill>
                <a:effectLst/>
                <a:uFillTx/>
                <a:latin typeface="Segoe UI"/>
                <a:ea typeface="Segoe UI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5"/>
          <p:cNvSpPr/>
          <p:nvPr/>
        </p:nvSpPr>
        <p:spPr>
          <a:xfrm>
            <a:off x="6839640" y="2103120"/>
            <a:ext cx="1508400" cy="1554120"/>
          </a:xfrm>
          <a:prstGeom prst="rect">
            <a:avLst/>
          </a:prstGeom>
          <a:solidFill>
            <a:srgbClr val="050F25"/>
          </a:solidFill>
          <a:ln w="25400">
            <a:solidFill>
              <a:srgbClr val="050F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6"/>
          <p:cNvSpPr/>
          <p:nvPr/>
        </p:nvSpPr>
        <p:spPr>
          <a:xfrm>
            <a:off x="6931080" y="2240280"/>
            <a:ext cx="13255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Welvaarts-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verlies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7"/>
          <p:cNvSpPr/>
          <p:nvPr/>
        </p:nvSpPr>
        <p:spPr>
          <a:xfrm>
            <a:off x="365760" y="3931920"/>
            <a:ext cx="8412120" cy="685440"/>
          </a:xfrm>
          <a:prstGeom prst="rect">
            <a:avLst/>
          </a:prstGeom>
          <a:solidFill>
            <a:srgbClr val="050F2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8"/>
          <p:cNvSpPr/>
          <p:nvPr/>
        </p:nvSpPr>
        <p:spPr>
          <a:xfrm>
            <a:off x="548640" y="3977640"/>
            <a:ext cx="8046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F4B740"/>
                </a:solidFill>
                <a:effectLst/>
                <a:uFillTx/>
                <a:latin typeface="Calibri"/>
              </a:rPr>
              <a:t>VOORBEELD  ·  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Vliegtuig naar Barcelona: de reiziger betaalt het ticket, maar de CO₂-uitstoot wordt door iedereen gedragen.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Image 0" descr="preencoded.png"/>
          <p:cNvPicPr/>
          <p:nvPr/>
        </p:nvPicPr>
        <p:blipFill>
          <a:blip r:embed="rId1"/>
          <a:stretch/>
        </p:blipFill>
        <p:spPr>
          <a:xfrm>
            <a:off x="274320" y="274320"/>
            <a:ext cx="8595000" cy="457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0"/>
          <p:cNvSpPr/>
          <p:nvPr/>
        </p:nvSpPr>
        <p:spPr>
          <a:xfrm>
            <a:off x="457200" y="2743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CONCEPT 04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"/>
          <p:cNvSpPr/>
          <p:nvPr/>
        </p:nvSpPr>
        <p:spPr>
          <a:xfrm>
            <a:off x="457200" y="5486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pc="-51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Positief extern effect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"/>
          <p:cNvSpPr/>
          <p:nvPr/>
        </p:nvSpPr>
        <p:spPr>
          <a:xfrm>
            <a:off x="457200" y="12344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i="1" u="none" strike="noStrike">
                <a:solidFill>
                  <a:srgbClr val="2D3748"/>
                </a:solidFill>
                <a:effectLst/>
                <a:uFillTx/>
                <a:latin typeface="Georgia"/>
                <a:ea typeface="Georgia"/>
              </a:rPr>
              <a:t>Waarom niemand vrijwillig genoeg bijdraagt — en een vaccinatie óók anderen beschermt.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3"/>
          <p:cNvSpPr/>
          <p:nvPr/>
        </p:nvSpPr>
        <p:spPr>
          <a:xfrm>
            <a:off x="365760" y="2103120"/>
            <a:ext cx="1508400" cy="1554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B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4"/>
          <p:cNvSpPr/>
          <p:nvPr/>
        </p:nvSpPr>
        <p:spPr>
          <a:xfrm>
            <a:off x="457200" y="2240280"/>
            <a:ext cx="13255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Iemand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consumeert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5"/>
          <p:cNvSpPr/>
          <p:nvPr/>
        </p:nvSpPr>
        <p:spPr>
          <a:xfrm>
            <a:off x="1828800" y="2697480"/>
            <a:ext cx="228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B8779"/>
                </a:solidFill>
                <a:effectLst/>
                <a:uFillTx/>
                <a:latin typeface="Segoe UI"/>
                <a:ea typeface="Segoe UI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6"/>
          <p:cNvSpPr/>
          <p:nvPr/>
        </p:nvSpPr>
        <p:spPr>
          <a:xfrm>
            <a:off x="1984320" y="2103120"/>
            <a:ext cx="1508400" cy="1554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A3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7"/>
          <p:cNvSpPr/>
          <p:nvPr/>
        </p:nvSpPr>
        <p:spPr>
          <a:xfrm>
            <a:off x="2075760" y="2240280"/>
            <a:ext cx="13255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A3A3"/>
                </a:solidFill>
                <a:effectLst/>
                <a:uFillTx/>
                <a:latin typeface="Segoe UI"/>
                <a:ea typeface="Segoe UI"/>
              </a:rPr>
              <a:t>Derden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A3A3"/>
                </a:solidFill>
                <a:effectLst/>
                <a:uFillTx/>
                <a:latin typeface="Segoe UI"/>
                <a:ea typeface="Segoe UI"/>
              </a:rPr>
              <a:t>profiteren mee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8"/>
          <p:cNvSpPr/>
          <p:nvPr/>
        </p:nvSpPr>
        <p:spPr>
          <a:xfrm>
            <a:off x="3447360" y="2697480"/>
            <a:ext cx="228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B8779"/>
                </a:solidFill>
                <a:effectLst/>
                <a:uFillTx/>
                <a:latin typeface="Segoe UI"/>
                <a:ea typeface="Segoe UI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9"/>
          <p:cNvSpPr/>
          <p:nvPr/>
        </p:nvSpPr>
        <p:spPr>
          <a:xfrm>
            <a:off x="3602880" y="2103120"/>
            <a:ext cx="1508400" cy="1554120"/>
          </a:xfrm>
          <a:prstGeom prst="rect">
            <a:avLst/>
          </a:prstGeom>
          <a:solidFill>
            <a:srgbClr val="076E6E"/>
          </a:solidFill>
          <a:ln w="25400">
            <a:solidFill>
              <a:srgbClr val="07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0"/>
          <p:cNvSpPr/>
          <p:nvPr/>
        </p:nvSpPr>
        <p:spPr>
          <a:xfrm>
            <a:off x="3694320" y="2240280"/>
            <a:ext cx="13255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Baten zitten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niet in de prijs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1"/>
          <p:cNvSpPr/>
          <p:nvPr/>
        </p:nvSpPr>
        <p:spPr>
          <a:xfrm>
            <a:off x="5065920" y="2697480"/>
            <a:ext cx="228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B8779"/>
                </a:solidFill>
                <a:effectLst/>
                <a:uFillTx/>
                <a:latin typeface="Segoe UI"/>
                <a:ea typeface="Segoe UI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2"/>
          <p:cNvSpPr/>
          <p:nvPr/>
        </p:nvSpPr>
        <p:spPr>
          <a:xfrm>
            <a:off x="5221080" y="2103120"/>
            <a:ext cx="1508400" cy="15541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3"/>
          <p:cNvSpPr/>
          <p:nvPr/>
        </p:nvSpPr>
        <p:spPr>
          <a:xfrm>
            <a:off x="5312520" y="2240280"/>
            <a:ext cx="13255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Prijs te hoog,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te weinig consumptie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4"/>
          <p:cNvSpPr/>
          <p:nvPr/>
        </p:nvSpPr>
        <p:spPr>
          <a:xfrm>
            <a:off x="6684120" y="2697480"/>
            <a:ext cx="228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B8779"/>
                </a:solidFill>
                <a:effectLst/>
                <a:uFillTx/>
                <a:latin typeface="Segoe UI"/>
                <a:ea typeface="Segoe UI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5"/>
          <p:cNvSpPr/>
          <p:nvPr/>
        </p:nvSpPr>
        <p:spPr>
          <a:xfrm>
            <a:off x="6839640" y="2103120"/>
            <a:ext cx="1508400" cy="1554120"/>
          </a:xfrm>
          <a:prstGeom prst="rect">
            <a:avLst/>
          </a:prstGeom>
          <a:solidFill>
            <a:srgbClr val="050F25"/>
          </a:solidFill>
          <a:ln w="25400">
            <a:solidFill>
              <a:srgbClr val="050F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6"/>
          <p:cNvSpPr/>
          <p:nvPr/>
        </p:nvSpPr>
        <p:spPr>
          <a:xfrm>
            <a:off x="6931080" y="2240280"/>
            <a:ext cx="13255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Welvaarts-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verlies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7"/>
          <p:cNvSpPr/>
          <p:nvPr/>
        </p:nvSpPr>
        <p:spPr>
          <a:xfrm>
            <a:off x="365760" y="3931920"/>
            <a:ext cx="8412120" cy="685440"/>
          </a:xfrm>
          <a:prstGeom prst="rect">
            <a:avLst/>
          </a:prstGeom>
          <a:solidFill>
            <a:srgbClr val="076E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8"/>
          <p:cNvSpPr/>
          <p:nvPr/>
        </p:nvSpPr>
        <p:spPr>
          <a:xfrm>
            <a:off x="548640" y="3977640"/>
            <a:ext cx="8046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F4B740"/>
                </a:solidFill>
                <a:effectLst/>
                <a:uFillTx/>
                <a:latin typeface="Calibri"/>
              </a:rPr>
              <a:t>VOORBEELD  ·  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Een kind laten vaccineren tegen mazelen: kosten €50, maar klasgenoten en buren profiteren mee.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Image 0" descr="preencoded.png"/>
          <p:cNvPicPr/>
          <p:nvPr/>
        </p:nvPicPr>
        <p:blipFill>
          <a:blip r:embed="rId1"/>
          <a:stretch/>
        </p:blipFill>
        <p:spPr>
          <a:xfrm>
            <a:off x="274320" y="274320"/>
            <a:ext cx="8595000" cy="457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Image 0" descr="preencoded.png"/>
          <p:cNvPicPr/>
          <p:nvPr/>
        </p:nvPicPr>
        <p:blipFill>
          <a:blip r:embed="rId1"/>
          <a:stretch/>
        </p:blipFill>
        <p:spPr>
          <a:xfrm>
            <a:off x="274320" y="274320"/>
            <a:ext cx="8595000" cy="457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 0"/>
          <p:cNvSpPr/>
          <p:nvPr/>
        </p:nvSpPr>
        <p:spPr>
          <a:xfrm>
            <a:off x="548640" y="173736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601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DEEL 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"/>
          <p:cNvSpPr/>
          <p:nvPr/>
        </p:nvSpPr>
        <p:spPr>
          <a:xfrm>
            <a:off x="548640" y="2148840"/>
            <a:ext cx="8046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600" b="1" u="none" spc="-201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De prijs laten kloppen</a:t>
            </a:r>
            <a:endParaRPr lang="en-US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"/>
          <p:cNvSpPr/>
          <p:nvPr/>
        </p:nvSpPr>
        <p:spPr>
          <a:xfrm>
            <a:off x="548640" y="352044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D4D1CA"/>
                </a:solidFill>
                <a:effectLst/>
                <a:uFillTx/>
                <a:latin typeface="Georgia"/>
                <a:ea typeface="Georgia"/>
              </a:rPr>
              <a:t>Internaliseren: externe kosten of baten in de prijs verwerken.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3"/>
          <p:cNvSpPr/>
          <p:nvPr/>
        </p:nvSpPr>
        <p:spPr>
          <a:xfrm>
            <a:off x="548640" y="3291840"/>
            <a:ext cx="548280" cy="36360"/>
          </a:xfrm>
          <a:prstGeom prst="rect">
            <a:avLst/>
          </a:prstGeom>
          <a:solidFill>
            <a:srgbClr val="FF6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Image 0" descr="preencoded.png"/>
          <p:cNvPicPr/>
          <p:nvPr/>
        </p:nvPicPr>
        <p:blipFill>
          <a:blip r:embed="rId1"/>
          <a:stretch/>
        </p:blipFill>
        <p:spPr>
          <a:xfrm>
            <a:off x="274320" y="274320"/>
            <a:ext cx="8595000" cy="457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Image 0" descr="preencoded.png"/>
          <p:cNvPicPr/>
          <p:nvPr/>
        </p:nvPicPr>
        <p:blipFill>
          <a:blip r:embed="rId1"/>
          <a:stretch/>
        </p:blipFill>
        <p:spPr>
          <a:xfrm>
            <a:off x="274320" y="274320"/>
            <a:ext cx="8595000" cy="457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 0"/>
          <p:cNvSpPr/>
          <p:nvPr/>
        </p:nvSpPr>
        <p:spPr>
          <a:xfrm>
            <a:off x="457200" y="2743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DENKFOUTEN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"/>
          <p:cNvSpPr/>
          <p:nvPr/>
        </p:nvSpPr>
        <p:spPr>
          <a:xfrm>
            <a:off x="457200" y="5486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pc="-51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Drie valkuilen die bij de toets altijd terugkomen.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2"/>
          <p:cNvSpPr/>
          <p:nvPr/>
        </p:nvSpPr>
        <p:spPr>
          <a:xfrm>
            <a:off x="457200" y="1874520"/>
            <a:ext cx="8229240" cy="86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3"/>
          <p:cNvSpPr/>
          <p:nvPr/>
        </p:nvSpPr>
        <p:spPr>
          <a:xfrm>
            <a:off x="457200" y="1874520"/>
            <a:ext cx="72720" cy="868320"/>
          </a:xfrm>
          <a:prstGeom prst="rect">
            <a:avLst/>
          </a:prstGeom>
          <a:solidFill>
            <a:srgbClr val="FF6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4"/>
          <p:cNvSpPr/>
          <p:nvPr/>
        </p:nvSpPr>
        <p:spPr>
          <a:xfrm>
            <a:off x="594360" y="2011680"/>
            <a:ext cx="82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51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01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5"/>
          <p:cNvSpPr/>
          <p:nvPr/>
        </p:nvSpPr>
        <p:spPr>
          <a:xfrm>
            <a:off x="1508760" y="1965960"/>
            <a:ext cx="7131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1" i="1" u="none" strike="noStrike">
                <a:solidFill>
                  <a:srgbClr val="D94A3A"/>
                </a:solidFill>
                <a:effectLst/>
                <a:uFillTx/>
                <a:latin typeface="Georgia"/>
                <a:ea typeface="Georgia"/>
              </a:rPr>
              <a:t>“Alle monopolies zijn slecht”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Een natuurlijk monopolie is efficiënter dan meerdere aanbieders. De overheid reguleert, maar heft het monopolie niet op.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6"/>
          <p:cNvSpPr/>
          <p:nvPr/>
        </p:nvSpPr>
        <p:spPr>
          <a:xfrm>
            <a:off x="457200" y="2807280"/>
            <a:ext cx="8229240" cy="86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7"/>
          <p:cNvSpPr/>
          <p:nvPr/>
        </p:nvSpPr>
        <p:spPr>
          <a:xfrm>
            <a:off x="457200" y="2807280"/>
            <a:ext cx="72720" cy="868320"/>
          </a:xfrm>
          <a:prstGeom prst="rect">
            <a:avLst/>
          </a:prstGeom>
          <a:solidFill>
            <a:srgbClr val="FF6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8"/>
          <p:cNvSpPr/>
          <p:nvPr/>
        </p:nvSpPr>
        <p:spPr>
          <a:xfrm>
            <a:off x="594360" y="2944440"/>
            <a:ext cx="82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51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02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9"/>
          <p:cNvSpPr/>
          <p:nvPr/>
        </p:nvSpPr>
        <p:spPr>
          <a:xfrm>
            <a:off x="1508760" y="2898720"/>
            <a:ext cx="7131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1" i="1" u="none" strike="noStrike">
                <a:solidFill>
                  <a:srgbClr val="D94A3A"/>
                </a:solidFill>
                <a:effectLst/>
                <a:uFillTx/>
                <a:latin typeface="Georgia"/>
                <a:ea typeface="Georgia"/>
              </a:rPr>
              <a:t>“Externe effecten zijn altijd negatief”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Er bestaan ook positieve externe effecten (onderwijs, vaccinatie). Die leiden juist tot te wéínig productie.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0"/>
          <p:cNvSpPr/>
          <p:nvPr/>
        </p:nvSpPr>
        <p:spPr>
          <a:xfrm>
            <a:off x="457200" y="3740040"/>
            <a:ext cx="8229240" cy="86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1"/>
          <p:cNvSpPr/>
          <p:nvPr/>
        </p:nvSpPr>
        <p:spPr>
          <a:xfrm>
            <a:off x="457200" y="3740040"/>
            <a:ext cx="72720" cy="868320"/>
          </a:xfrm>
          <a:prstGeom prst="rect">
            <a:avLst/>
          </a:prstGeom>
          <a:solidFill>
            <a:srgbClr val="FF6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2"/>
          <p:cNvSpPr/>
          <p:nvPr/>
        </p:nvSpPr>
        <p:spPr>
          <a:xfrm>
            <a:off x="594360" y="3877200"/>
            <a:ext cx="82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51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03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3"/>
          <p:cNvSpPr/>
          <p:nvPr/>
        </p:nvSpPr>
        <p:spPr>
          <a:xfrm>
            <a:off x="1508760" y="3831480"/>
            <a:ext cx="7131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1" i="1" u="none" strike="noStrike">
                <a:solidFill>
                  <a:srgbClr val="D94A3A"/>
                </a:solidFill>
                <a:effectLst/>
                <a:uFillTx/>
                <a:latin typeface="Georgia"/>
                <a:ea typeface="Georgia"/>
              </a:rPr>
              <a:t>“Internaliseren = verbieden”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Internaliseren = kosten/baten in de prijs verwerken via belasting of subsidie. Het product wordt niet verboden.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0"/>
          <p:cNvSpPr/>
          <p:nvPr/>
        </p:nvSpPr>
        <p:spPr>
          <a:xfrm>
            <a:off x="548640" y="45720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601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De kern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548640" y="82296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pc="-99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Zes dingen om te onthouden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"/>
          <p:cNvSpPr/>
          <p:nvPr/>
        </p:nvSpPr>
        <p:spPr>
          <a:xfrm>
            <a:off x="548640" y="169164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pc="-99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"/>
          <p:cNvSpPr/>
          <p:nvPr/>
        </p:nvSpPr>
        <p:spPr>
          <a:xfrm>
            <a:off x="1097280" y="1737360"/>
            <a:ext cx="7589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Marktfalen = markt levert niet het optimum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4"/>
          <p:cNvSpPr/>
          <p:nvPr/>
        </p:nvSpPr>
        <p:spPr>
          <a:xfrm>
            <a:off x="548640" y="2130480"/>
            <a:ext cx="8046360" cy="4320"/>
          </a:xfrm>
          <a:prstGeom prst="rect">
            <a:avLst/>
          </a:prstGeom>
          <a:solidFill>
            <a:srgbClr val="3A4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5"/>
          <p:cNvSpPr/>
          <p:nvPr/>
        </p:nvSpPr>
        <p:spPr>
          <a:xfrm>
            <a:off x="548640" y="216720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pc="-99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6"/>
          <p:cNvSpPr/>
          <p:nvPr/>
        </p:nvSpPr>
        <p:spPr>
          <a:xfrm>
            <a:off x="1097280" y="2212920"/>
            <a:ext cx="7589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Natuurlijk monopolie: dalende GTK → één aanbieder efficiënter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7"/>
          <p:cNvSpPr/>
          <p:nvPr/>
        </p:nvSpPr>
        <p:spPr>
          <a:xfrm>
            <a:off x="548640" y="2606040"/>
            <a:ext cx="8046360" cy="4320"/>
          </a:xfrm>
          <a:prstGeom prst="rect">
            <a:avLst/>
          </a:prstGeom>
          <a:solidFill>
            <a:srgbClr val="3A4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8"/>
          <p:cNvSpPr/>
          <p:nvPr/>
        </p:nvSpPr>
        <p:spPr>
          <a:xfrm>
            <a:off x="548640" y="264276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pc="-99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03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9"/>
          <p:cNvSpPr/>
          <p:nvPr/>
        </p:nvSpPr>
        <p:spPr>
          <a:xfrm>
            <a:off x="1097280" y="2688480"/>
            <a:ext cx="7589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Machtspositie: marktaandeel ≥ 35 %, ACM/EC grijpt in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0"/>
          <p:cNvSpPr/>
          <p:nvPr/>
        </p:nvSpPr>
        <p:spPr>
          <a:xfrm>
            <a:off x="548640" y="3081600"/>
            <a:ext cx="8046360" cy="4320"/>
          </a:xfrm>
          <a:prstGeom prst="rect">
            <a:avLst/>
          </a:prstGeom>
          <a:solidFill>
            <a:srgbClr val="3A4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1"/>
          <p:cNvSpPr/>
          <p:nvPr/>
        </p:nvSpPr>
        <p:spPr>
          <a:xfrm>
            <a:off x="548640" y="311796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pc="-99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2"/>
          <p:cNvSpPr/>
          <p:nvPr/>
        </p:nvSpPr>
        <p:spPr>
          <a:xfrm>
            <a:off x="1097280" y="3163680"/>
            <a:ext cx="7589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Negatief extern effect: prijs te laag, te veel productie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3"/>
          <p:cNvSpPr/>
          <p:nvPr/>
        </p:nvSpPr>
        <p:spPr>
          <a:xfrm>
            <a:off x="548640" y="3557160"/>
            <a:ext cx="8046360" cy="4320"/>
          </a:xfrm>
          <a:prstGeom prst="rect">
            <a:avLst/>
          </a:prstGeom>
          <a:solidFill>
            <a:srgbClr val="3A4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4"/>
          <p:cNvSpPr/>
          <p:nvPr/>
        </p:nvSpPr>
        <p:spPr>
          <a:xfrm>
            <a:off x="548640" y="359352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pc="-99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05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5"/>
          <p:cNvSpPr/>
          <p:nvPr/>
        </p:nvSpPr>
        <p:spPr>
          <a:xfrm>
            <a:off x="1097280" y="3639240"/>
            <a:ext cx="7589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Positief extern effect: prijs te hoog, te weinig consumptie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6"/>
          <p:cNvSpPr/>
          <p:nvPr/>
        </p:nvSpPr>
        <p:spPr>
          <a:xfrm>
            <a:off x="548640" y="4032360"/>
            <a:ext cx="8046360" cy="4320"/>
          </a:xfrm>
          <a:prstGeom prst="rect">
            <a:avLst/>
          </a:prstGeom>
          <a:solidFill>
            <a:srgbClr val="3A4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7"/>
          <p:cNvSpPr/>
          <p:nvPr/>
        </p:nvSpPr>
        <p:spPr>
          <a:xfrm>
            <a:off x="548640" y="406908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pc="-99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06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8"/>
          <p:cNvSpPr/>
          <p:nvPr/>
        </p:nvSpPr>
        <p:spPr>
          <a:xfrm>
            <a:off x="1097280" y="4114800"/>
            <a:ext cx="7589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Overheid internaliseert met belasting of subsidie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LibreOffice/26.2.1.2$Windows_X86_64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2026-04-18T18:56:51Z</dcterms:created>
  <dc:creator>Economie VWO</dc:creator>
  <dc:description/>
  <dc:language>en-US</dc:language>
  <cp:lastModifiedBy>Economie VWO</cp:lastModifiedBy>
  <dcterms:modified xsi:type="dcterms:W3CDTF">2026-04-18T18:56:51Z</dcterms:modified>
  <cp:revision>1</cp:revision>
  <dc:subject>PptxGenJS Presentation</dc:subject>
  <dc:title>3.3.1 De rol van de overheid — creatief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23</vt:r8>
  </property>
  <property fmtid="{D5CDD505-2E9C-101B-9397-08002B2CF9AE}" pid="3" name="PresentationFormat">
    <vt:lpwstr>On-screen Show (16:9)</vt:lpwstr>
  </property>
  <property fmtid="{D5CDD505-2E9C-101B-9397-08002B2CF9AE}" pid="4" name="Slides">
    <vt:r8>23</vt:r8>
  </property>
</Properties>
</file>