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Welkom bij paragraaf 3.3.1 over de rol van de overheid. Waarom grijpt de overheid in op markten? We behandelen marktfalen, externe effecten en de instrumenten die de overheid heeft.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zijn de vijf leerdoelen voor deze les. We beginnen bij marktfalen en werken toe naar de instrumenten van de overheid.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Marktfalen: situaties waarin de vrije markt niet tot een efficiënt resultaat leidt. Drie vormen: marktmacht, externe effecten, en collectieve goederen.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Natuurlijk monopolie: als één aanbieder goedkoper kan produceren dan meerdere. De overheid reguleert om misbruik te voorkomen.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Negatieve externe effecten: kosten die niet in de prijs zitten. Voorbeeld: vervuiling door vliegverkeer.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Positieve externe effecten: baten die niet in de prijs zitten. Voorbeeld: vaccinatie. De markt produceert te weinig van dit goed.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Internaliseren: externe effecten in de prijs verwerken. Negatief: belasting. Positief: subsidie.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Vier instrumenten: mededingingsbeleid, belastingen, subsidies, en prijsbeleid.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Drie veelgemaakte fouten. Bespreek klassikaal.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Samenvatting: de overheid grijpt in bij marktfalen. Ken elk instrument en weet wanneer het wordt ingezet.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51D4A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276"/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rol van de overheid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Paragraaf 3.3.1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4709160"/>
            <a:ext cx="786384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Hoofdstuk 3: Overheid  |  Economie VWO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ga je leren?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Leerdoelen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Uitleggen wanneer er sprake is van marktfalen</a:t>
            </a:r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Herkennen van een natuurlijk monopolie</a:t>
            </a:r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Uitleggen wat negatieve externe effecten zijn</a:t>
            </a:r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Uitleggen wat positieve externe effecten zijn</a:t>
            </a:r>
          </a:p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Beschrijven hoe de overheid kan ingrijpen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Marktfalen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291840"/>
          </a:xfrm>
          <a:prstGeom prst="rect">
            <a:avLst>
              <a:gd name="adj" fmla="val 1389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329184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is marktfalen?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zorgt niet altijd voor het beste resultaat. Drie vormen: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 weinig concurrentie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(monopolie)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Kosten/baten buiten de markt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(externe effecten)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Goederen die de markt niet levert</a:t>
            </a:r>
            <a:pPr algn="l" indent="0" marL="0">
              <a:lnSpc>
                <a:spcPct val="115000"/>
              </a:lnSpc>
              <a:buNone/>
            </a:pP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(collectieve goederen)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291840"/>
          </a:xfrm>
          <a:prstGeom prst="rect">
            <a:avLst>
              <a:gd name="adj" fmla="val 1389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329184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 van de overheid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overheid grijpt in als de markt faalt: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Mededingingsbeleid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monopolie aanpakken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Belastingen / subsidies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externe effecten corrigeren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Prijsbeleid</a:t>
            </a:r>
            <a:pPr algn="l" indent="0" marL="0">
              <a:lnSpc>
                <a:spcPct val="115000"/>
              </a:lnSpc>
              <a:buNone/>
            </a:pP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prijzen sturen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Natuurlijk monopolie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aanbieder heeft lagere kosten → de markt wordt ‘natuurlijk’ door één bedrijf bediend.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560320" cy="2377440"/>
          </a:xfrm>
          <a:prstGeom prst="rect">
            <a:avLst>
              <a:gd name="adj" fmla="val 192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463040"/>
            <a:ext cx="54864" cy="237744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6002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Waterleidingnet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22402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Eén net is goedkoper dan twee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91840" y="1463040"/>
            <a:ext cx="2560320" cy="2377440"/>
          </a:xfrm>
          <a:prstGeom prst="rect">
            <a:avLst>
              <a:gd name="adj" fmla="val 192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91840" y="1463040"/>
            <a:ext cx="54864" cy="237744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16002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Spoorwegen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474720" y="2011680"/>
            <a:ext cx="22402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Dubbele rails zijn onnodig duur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1463040"/>
            <a:ext cx="2560320" cy="2377440"/>
          </a:xfrm>
          <a:prstGeom prst="rect">
            <a:avLst>
              <a:gd name="adj" fmla="val 192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126480" y="1463040"/>
            <a:ext cx="54864" cy="237744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09360" y="16002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Elektriciteitsnet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309360" y="2011680"/>
            <a:ext cx="22402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Natuurlijk monopolie op het netwerk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Negatieve externe effecten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85800" y="1097280"/>
            <a:ext cx="347472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85800" y="10972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 produceert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155448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755648"/>
            <a:ext cx="347472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175564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Vervuiling ontstaat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21284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2414016"/>
            <a:ext cx="347472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85800" y="2414016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Derden lijden schade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2871216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3072384"/>
            <a:ext cx="3474720" cy="457200"/>
          </a:xfrm>
          <a:prstGeom prst="rect">
            <a:avLst>
              <a:gd name="adj" fmla="val 10000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307238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niet in de prijs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754880" y="1005840"/>
            <a:ext cx="3931920" cy="2926080"/>
          </a:xfrm>
          <a:prstGeom prst="rect">
            <a:avLst>
              <a:gd name="adj" fmla="val 156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754880" y="1005840"/>
            <a:ext cx="54864" cy="292608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937760" y="1554480"/>
            <a:ext cx="36118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Vliegverkeer veroorzaakt luchtvervuiling — de kosten betaalt de maatschappij, niet de reiziger.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prijs is te laag → te veel productie → welvaartsverlies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Positieve externe effecten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85800" y="1097280"/>
            <a:ext cx="347472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E844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85800" y="10972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Iemand koopt vaccinatie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1554480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1755648"/>
            <a:ext cx="347472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E844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85800" y="175564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Minder besmetting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2212848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2414016"/>
            <a:ext cx="3474720" cy="457200"/>
          </a:xfrm>
          <a:prstGeom prst="rect">
            <a:avLst>
              <a:gd name="adj" fmla="val 10000"/>
            </a:avLst>
          </a:prstGeom>
          <a:solidFill>
            <a:srgbClr val="F9F6F1"/>
          </a:solidFill>
          <a:ln w="12700">
            <a:solidFill>
              <a:srgbClr val="1E844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85800" y="2414016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Derden profiteren mee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2871216"/>
            <a:ext cx="3474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3072384"/>
            <a:ext cx="3474720" cy="457200"/>
          </a:xfrm>
          <a:prstGeom prst="rect">
            <a:avLst>
              <a:gd name="adj" fmla="val 10000"/>
            </a:avLst>
          </a:prstGeom>
          <a:solidFill>
            <a:srgbClr val="1E8449"/>
          </a:solidFill>
          <a:ln w="12700">
            <a:solidFill>
              <a:srgbClr val="1E8449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5800" y="307238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Baten niet in de prijs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754880" y="1005840"/>
            <a:ext cx="3931920" cy="2926080"/>
          </a:xfrm>
          <a:prstGeom prst="rect">
            <a:avLst>
              <a:gd name="adj" fmla="val 1563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754880" y="1005840"/>
            <a:ext cx="54864" cy="2926080"/>
          </a:xfrm>
          <a:prstGeom prst="rect">
            <a:avLst/>
          </a:prstGeom>
          <a:solidFill>
            <a:srgbClr val="1E8449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937760" y="1554480"/>
            <a:ext cx="3611880" cy="2240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Vaccinatie beschermt niet alleen jezelf maar ook mensen om je heen.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prijs is te hoog → te weinig consumptie → welvaartsverlies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Internaliseren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097280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554480" y="109728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Negatief extern effect: vervuiling is gratis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71600" y="1709928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554480" y="1709928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Overheid heft belasting (bijv. vliegtaks)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371600" y="2322576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554480" y="2322576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Prijs stijgt → externe kosten zitten nu in de prijs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371600" y="2935224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554480" y="2935224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Consumptie daalt → minder vervuiling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371600" y="3547872"/>
            <a:ext cx="6400800" cy="502920"/>
          </a:xfrm>
          <a:prstGeom prst="rect">
            <a:avLst>
              <a:gd name="adj" fmla="val 9091"/>
            </a:avLst>
          </a:prstGeom>
          <a:solidFill>
            <a:srgbClr val="1A5276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554480" y="3547872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Extern effect is geïnternaliseerd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371600" y="4297680"/>
            <a:ext cx="6400800" cy="457200"/>
          </a:xfrm>
          <a:prstGeom prst="rect">
            <a:avLst>
              <a:gd name="adj" fmla="val 10000"/>
            </a:avLst>
          </a:prstGeom>
          <a:solidFill>
            <a:srgbClr val="EBF5FB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371600" y="4297680"/>
            <a:ext cx="54864" cy="45720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554480" y="42976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Internaliseren = externe kosten of baten in de prijs verwerken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Instrumenten van de overheid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1554480"/>
          </a:xfrm>
          <a:prstGeom prst="rect">
            <a:avLst>
              <a:gd name="adj" fmla="val 294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155448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Mededingingsbeleid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Monopolies aanpakken, boetes bij machtsmisbruik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1554480"/>
          </a:xfrm>
          <a:prstGeom prst="rect">
            <a:avLst>
              <a:gd name="adj" fmla="val 294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754880" y="1005840"/>
            <a:ext cx="54864" cy="155448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Belastingen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Negatieve externe effecten internaliseren (bijv. vliegtaks)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3931920" cy="1554480"/>
          </a:xfrm>
          <a:prstGeom prst="rect">
            <a:avLst>
              <a:gd name="adj" fmla="val 294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" y="2834640"/>
            <a:ext cx="54864" cy="155448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40080" y="29718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Subsidies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0080" y="3383280"/>
            <a:ext cx="3611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Positieve externe effecten stimuleren (bijv. vaccinatie)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754880" y="2834640"/>
            <a:ext cx="3931920" cy="1554480"/>
          </a:xfrm>
          <a:prstGeom prst="rect">
            <a:avLst>
              <a:gd name="adj" fmla="val 2941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754880" y="2834640"/>
            <a:ext cx="54864" cy="1554480"/>
          </a:xfrm>
          <a:prstGeom prst="rect">
            <a:avLst/>
          </a:prstGeom>
          <a:solidFill>
            <a:srgbClr val="1A5276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37760" y="29718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Prijsbeleid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937760" y="3383280"/>
            <a:ext cx="36118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Minimum-/maximumprijzen of vaste prijzen instellen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Valkuilen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960120"/>
          </a:xfrm>
          <a:prstGeom prst="rect">
            <a:avLst>
              <a:gd name="adj" fmla="val 4762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960120"/>
            <a:ext cx="54864" cy="960120"/>
          </a:xfrm>
          <a:prstGeom prst="rect">
            <a:avLst/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58368" y="103327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"Alle monopolies zijn slecht"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134416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Onjuist: een natuurlijk monopolie is efficiënter dan meerdere aanbieders. De overheid reguleert, maar heft het monopolie niet op.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960120"/>
          </a:xfrm>
          <a:prstGeom prst="rect">
            <a:avLst>
              <a:gd name="adj" fmla="val 4762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457200" y="2103120"/>
            <a:ext cx="54864" cy="960120"/>
          </a:xfrm>
          <a:prstGeom prst="rect">
            <a:avLst/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8368" y="217627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"Externe effecten zijn altijd negatief"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248716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Onjuist: er bestaan ook positieve externe effecten (onderwijs, vaccinatie). Die leiden juist tot te weinig productie.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246120"/>
            <a:ext cx="8229600" cy="960120"/>
          </a:xfrm>
          <a:prstGeom prst="rect">
            <a:avLst>
              <a:gd name="adj" fmla="val 4762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" y="3246120"/>
            <a:ext cx="54864" cy="960120"/>
          </a:xfrm>
          <a:prstGeom prst="rect">
            <a:avLst/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58368" y="331927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"Internaliseren = verbieden"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" y="363016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Onjuist: internaliseren = de kosten/baten in de prijs verwerken via belasting of subsidie. Het product wordt niet verboden.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Beheers je dit voordat je gaat oefenen?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Marktfalen = de markt levert geen optimaal resultaat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Natuurlijk monopolie: dalende GTK → één aanbieder efficiënter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Negatief extern effect: kosten buiten de prijs → te veel productie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Positief extern effect: baten buiten de prijs → te weinig consumptie</a:t>
            </a:r>
          </a:p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Overheid corrigeert via belasting, subsidie, regulering of prijsbeleid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2026-03-23T19:02:02Z</dcterms:created>
  <dcterms:modified xsi:type="dcterms:W3CDTF">2026-03-23T19:02:02Z</dcterms:modified>
</cp:coreProperties>
</file>