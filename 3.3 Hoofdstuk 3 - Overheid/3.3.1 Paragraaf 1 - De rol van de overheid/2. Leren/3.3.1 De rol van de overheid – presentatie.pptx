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bij §3.3.1. We onderzoeken wanneer de markt faalt en hoe de overheid ingrijpt. De rode draad: drie oorzaken (monopolie, externe effecten, collectieve goederen) → drie soorten beleid.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Kondig de zes leerdoelen aan. Benadruk dat de leerlingen aan het eind ook een grafiek voor externe effecten moeten kunnen lezen.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Deze dia is de kapstok van de hele les. Links staan de drie oorzaken van marktfalen, rechts de drie instrumenten waarmee de overheid ingrijpt. Elke volgende dia werkt één rij 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Stel het contrast expliciet: wanneer levert de markt wél een optimum, en wanneer niet? Herinner de leerlingen aan hoofdstuk 1 (vraag en aanbod).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 uit dat ‘natuurlijk’ slaat op de kostenstructuur: bij hoge vaste en lage variabele kosten is één aanbieder technisch efficiënter. De overheid reguleert dan de prijs (bv. via ACM).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GTK-curve zien en wijs beide punten aan. Eén aanbieder op Q=100: GTK=€4. Twee aanbieders elk op Q=50: GTK=€6. Dalende GTK is dé signatuur van een natuurlijk monopolie.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drempel van 35 % is het ankerpunt. Vraag klassikaal: wat is het marktaandeel van Albert Heijn? Van Booking? Is dat boven de drempel? Daarna de Google-casus als scherp voorbeeld.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keten stap voor stap oplopen. Vraag tussendoor: wie draagt de kosten eigenlijk? De gouden lijn: 'de prijs liegt' — hij vertelt niet de maatschappelijke kosten.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Lees de grafiek samen. V = vraag. MPK = private marginale kosten (wat het bedrijf ziet). MMK = maatschappelijke marginale kosten (inclusief vervuiling). Markt kiest Qm=25, maar optimum is Qs=20. Het rode driehoekje = welvaartsverlies.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op de spiegelbeeld-structuur met de vorige keten. Voorbeelden: vaccinatie, onderwijs, tuinonderhoud. Het 'meelifteffect' is de sleutel.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 ligt het welvaartsverlies aan de andere kant: de markt kiest Qm=15, maar optimum is Qs=20. MMB ligt boven MPB omdat derden ook profiteren. Bij Qm=15 is het verschil precies het externe baten-bedrag.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Gebruik deze tabel als retrieval-oefening: dek een kolom af en laat leerlingen reconstrueren. Let op de spiegel-structuur — dat maakt het beter te onthouden.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Internaliseren = de externe kosten of baten in de prijs verwerken. De volgende dia laat zien hoe dat er in een vraag-aanbodgrafiek uitziet.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Voorbeeld: vliegtaks van €10 per ticket. Het aanbod verschuift omhoog met de belasting. Consument betaalt €30 (was €25). Aanbieder ontvangt €30-€10=€20. Hoeveelheid daalt van 15 naar 10 vluchten. De gele rechthoek = belastingopbrengst.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Deze matrix vat alles samen: welk probleem krijgt welk instrument? Gebruik hem als retrieval: noem een voorbeeld (rookverbod, kinderopvangtoeslag, ACM-boete) en laat de klas de rij invullen.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drie valkuilen expliciet zien. Vraag bij elk: welke leerling is hier gisteren nog ingetrapt? Dit zijn de klassieke denk­fouten bij toetsen.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Sluit af met een ‘pair &amp; share’: leerlingen leggen in duo's de zes punten aan elkaar uit zonder dia. Wie struikelt waar? Die paragraaf nog even terug.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A5276"/>
          </a:solidFill>
          <a:ln/>
        </p:spPr>
      </p:sp>
      <p:sp>
        <p:nvSpPr>
          <p:cNvPr id="3" name="Shape 1"/>
          <p:cNvSpPr/>
          <p:nvPr/>
        </p:nvSpPr>
        <p:spPr>
          <a:xfrm>
            <a:off x="0" y="4709160"/>
            <a:ext cx="9144000" cy="434340"/>
          </a:xfrm>
          <a:prstGeom prst="rect">
            <a:avLst/>
          </a:prstGeom>
          <a:solidFill>
            <a:srgbClr val="151D4A"/>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A5276"/>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40080" y="1097280"/>
            <a:ext cx="7863840" cy="1828800"/>
          </a:xfrm>
          <a:prstGeom prst="rect">
            <a:avLst/>
          </a:prstGeom>
          <a:noFill/>
          <a:ln/>
        </p:spPr>
        <p:txBody>
          <a:bodyPr wrap="square" rtlCol="0" anchor="ctr"/>
          <a:lstStyle/>
          <a:p>
            <a:pPr indent="0" marL="0">
              <a:buNone/>
            </a:pPr>
            <a:r>
              <a:rPr lang="en-US" sz="4000" b="1" dirty="0">
                <a:solidFill>
                  <a:srgbClr val="FFFFFF"/>
                </a:solidFill>
                <a:latin typeface="Arial" pitchFamily="34" charset="0"/>
                <a:ea typeface="Arial" pitchFamily="34" charset="-122"/>
                <a:cs typeface="Arial" pitchFamily="34" charset="-120"/>
              </a:rPr>
              <a:t>De rol van de overheid</a:t>
            </a:r>
            <a:endParaRPr lang="en-US" sz="4000" dirty="0"/>
          </a:p>
        </p:txBody>
      </p:sp>
      <p:sp>
        <p:nvSpPr>
          <p:cNvPr id="3" name="Text 1"/>
          <p:cNvSpPr/>
          <p:nvPr/>
        </p:nvSpPr>
        <p:spPr>
          <a:xfrm>
            <a:off x="640080" y="2926080"/>
            <a:ext cx="7863840" cy="457200"/>
          </a:xfrm>
          <a:prstGeom prst="rect">
            <a:avLst/>
          </a:prstGeom>
          <a:noFill/>
          <a:ln/>
        </p:spPr>
        <p:txBody>
          <a:bodyPr wrap="square" rtlCol="0" anchor="ctr"/>
          <a:lstStyle/>
          <a:p>
            <a:pPr indent="0" marL="0">
              <a:buNone/>
            </a:pPr>
            <a:r>
              <a:rPr lang="en-US" sz="2000" dirty="0">
                <a:solidFill>
                  <a:srgbClr val="718096"/>
                </a:solidFill>
                <a:latin typeface="Arial" pitchFamily="34" charset="0"/>
                <a:ea typeface="Arial" pitchFamily="34" charset="-122"/>
                <a:cs typeface="Arial" pitchFamily="34" charset="-120"/>
              </a:rPr>
              <a:t>Paragraaf 3.3.1</a:t>
            </a:r>
            <a:endParaRPr lang="en-US" sz="2000" dirty="0"/>
          </a:p>
        </p:txBody>
      </p:sp>
      <p:sp>
        <p:nvSpPr>
          <p:cNvPr id="4" name="Text 2"/>
          <p:cNvSpPr/>
          <p:nvPr/>
        </p:nvSpPr>
        <p:spPr>
          <a:xfrm>
            <a:off x="640080" y="4709160"/>
            <a:ext cx="7863840" cy="434340"/>
          </a:xfrm>
          <a:prstGeom prst="rect">
            <a:avLst/>
          </a:prstGeom>
          <a:noFill/>
          <a:ln/>
        </p:spPr>
        <p:txBody>
          <a:bodyPr wrap="square" rtlCol="0" anchor="ctr"/>
          <a:lstStyle/>
          <a:p>
            <a:pPr indent="0" marL="0">
              <a:buNone/>
            </a:pPr>
            <a:r>
              <a:rPr lang="en-US" sz="1200" dirty="0">
                <a:solidFill>
                  <a:srgbClr val="718096"/>
                </a:solidFill>
                <a:latin typeface="Arial" pitchFamily="34" charset="0"/>
                <a:ea typeface="Arial" pitchFamily="34" charset="-122"/>
                <a:cs typeface="Arial" pitchFamily="34" charset="-120"/>
              </a:rPr>
              <a:t>Hoofdstuk 3: Overheid  |  Economie VWO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Wat ga je leren?</a:t>
            </a:r>
            <a:endParaRPr lang="en-US" sz="2400" dirty="0"/>
          </a:p>
        </p:txBody>
      </p:sp>
      <p:sp>
        <p:nvSpPr>
          <p:cNvPr id="3" name="Text 1"/>
          <p:cNvSpPr/>
          <p:nvPr/>
        </p:nvSpPr>
        <p:spPr>
          <a:xfrm>
            <a:off x="640080" y="1051560"/>
            <a:ext cx="7863840" cy="3291840"/>
          </a:xfrm>
          <a:prstGeom prst="rect">
            <a:avLst/>
          </a:prstGeom>
          <a:noFill/>
          <a:ln/>
        </p:spPr>
        <p:txBody>
          <a:bodyPr wrap="square" rtlCol="0" anchor="ctr"/>
          <a:lstStyle/>
          <a:p>
            <a:pPr marL="342900" indent="-342900">
              <a:lnSpc>
                <a:spcPct val="125000"/>
              </a:lnSpc>
              <a:spcAft>
                <a:spcPts val="1000"/>
              </a:spcAft>
              <a:buSzPct val="100000"/>
              <a:buChar char="■"/>
            </a:pPr>
            <a:r>
              <a:rPr lang="en-US" sz="1700" dirty="0">
                <a:solidFill>
                  <a:srgbClr val="2D3748"/>
                </a:solidFill>
                <a:latin typeface="Arial" pitchFamily="34" charset="0"/>
                <a:ea typeface="Arial" pitchFamily="34" charset="-122"/>
                <a:cs typeface="Arial" pitchFamily="34" charset="-120"/>
              </a:rPr>
              <a:t>Herkennen wanneer er sprake is van marktfalen</a:t>
            </a:r>
            <a:endParaRPr lang="en-US" sz="1700" dirty="0"/>
          </a:p>
          <a:p>
            <a:pPr marL="342900" indent="-342900">
              <a:lnSpc>
                <a:spcPct val="125000"/>
              </a:lnSpc>
              <a:spcAft>
                <a:spcPts val="1000"/>
              </a:spcAft>
              <a:buSzPct val="100000"/>
              <a:buChar char="■"/>
            </a:pPr>
            <a:r>
              <a:rPr lang="en-US" sz="1700" dirty="0">
                <a:solidFill>
                  <a:srgbClr val="2D3748"/>
                </a:solidFill>
                <a:latin typeface="Arial" pitchFamily="34" charset="0"/>
                <a:ea typeface="Arial" pitchFamily="34" charset="-122"/>
                <a:cs typeface="Arial" pitchFamily="34" charset="-120"/>
              </a:rPr>
              <a:t>Een natuurlijk monopolie uitleggen via dalende GTK</a:t>
            </a:r>
            <a:endParaRPr lang="en-US" sz="1700" dirty="0"/>
          </a:p>
          <a:p>
            <a:pPr marL="342900" indent="-342900">
              <a:lnSpc>
                <a:spcPct val="125000"/>
              </a:lnSpc>
              <a:spcAft>
                <a:spcPts val="1000"/>
              </a:spcAft>
              <a:buSzPct val="100000"/>
              <a:buChar char="■"/>
            </a:pPr>
            <a:r>
              <a:rPr lang="en-US" sz="1700" dirty="0">
                <a:solidFill>
                  <a:srgbClr val="2D3748"/>
                </a:solidFill>
                <a:latin typeface="Arial" pitchFamily="34" charset="0"/>
                <a:ea typeface="Arial" pitchFamily="34" charset="-122"/>
                <a:cs typeface="Arial" pitchFamily="34" charset="-120"/>
              </a:rPr>
              <a:t>Een economische machtspositie bepalen (drempel 35 %)</a:t>
            </a:r>
            <a:endParaRPr lang="en-US" sz="1700" dirty="0"/>
          </a:p>
          <a:p>
            <a:pPr marL="342900" indent="-342900">
              <a:lnSpc>
                <a:spcPct val="125000"/>
              </a:lnSpc>
              <a:spcAft>
                <a:spcPts val="1000"/>
              </a:spcAft>
              <a:buSzPct val="100000"/>
              <a:buChar char="■"/>
            </a:pPr>
            <a:r>
              <a:rPr lang="en-US" sz="1700" dirty="0">
                <a:solidFill>
                  <a:srgbClr val="2D3748"/>
                </a:solidFill>
                <a:latin typeface="Arial" pitchFamily="34" charset="0"/>
                <a:ea typeface="Arial" pitchFamily="34" charset="-122"/>
                <a:cs typeface="Arial" pitchFamily="34" charset="-120"/>
              </a:rPr>
              <a:t>Negatieve externe effecten herkennen en in een grafiek aanwijzen</a:t>
            </a:r>
            <a:endParaRPr lang="en-US" sz="1700" dirty="0"/>
          </a:p>
          <a:p>
            <a:pPr marL="342900" indent="-342900">
              <a:lnSpc>
                <a:spcPct val="125000"/>
              </a:lnSpc>
              <a:spcAft>
                <a:spcPts val="1000"/>
              </a:spcAft>
              <a:buSzPct val="100000"/>
              <a:buChar char="■"/>
            </a:pPr>
            <a:r>
              <a:rPr lang="en-US" sz="1700" dirty="0">
                <a:solidFill>
                  <a:srgbClr val="2D3748"/>
                </a:solidFill>
                <a:latin typeface="Arial" pitchFamily="34" charset="0"/>
                <a:ea typeface="Arial" pitchFamily="34" charset="-122"/>
                <a:cs typeface="Arial" pitchFamily="34" charset="-120"/>
              </a:rPr>
              <a:t>Positieve externe effecten herkennen en in een grafiek aanwijzen</a:t>
            </a:r>
            <a:endParaRPr lang="en-US" sz="1700" dirty="0"/>
          </a:p>
          <a:p>
            <a:pPr marL="342900" indent="-342900">
              <a:lnSpc>
                <a:spcPct val="125000"/>
              </a:lnSpc>
              <a:spcAft>
                <a:spcPts val="1000"/>
              </a:spcAft>
              <a:buSzPct val="100000"/>
              <a:buChar char="■"/>
            </a:pPr>
            <a:r>
              <a:rPr lang="en-US" sz="1700" dirty="0">
                <a:solidFill>
                  <a:srgbClr val="2D3748"/>
                </a:solidFill>
                <a:latin typeface="Arial" pitchFamily="34" charset="0"/>
                <a:ea typeface="Arial" pitchFamily="34" charset="-122"/>
                <a:cs typeface="Arial" pitchFamily="34" charset="-120"/>
              </a:rPr>
              <a:t>Internaliseren uitleggen: belasting of subsidie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Overzicht: drie oorzaken, drie remedies</a:t>
            </a:r>
            <a:endParaRPr lang="en-US" sz="2400" dirty="0"/>
          </a:p>
        </p:txBody>
      </p:sp>
      <p:pic>
        <p:nvPicPr>
          <p:cNvPr id="3" name="Image 0" descr="preencoded.png">    </p:cNvPr>
          <p:cNvPicPr>
            <a:picLocks noChangeAspect="1"/>
          </p:cNvPicPr>
          <p:nvPr/>
        </p:nvPicPr>
        <p:blipFill>
          <a:blip r:embed="rId1"/>
          <a:stretch>
            <a:fillRect/>
          </a:stretch>
        </p:blipFill>
        <p:spPr>
          <a:xfrm>
            <a:off x="685800" y="868680"/>
            <a:ext cx="7772400" cy="38862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Wat is marktfalen?</a:t>
            </a:r>
            <a:endParaRPr lang="en-US" sz="2400" dirty="0"/>
          </a:p>
        </p:txBody>
      </p:sp>
      <p:sp>
        <p:nvSpPr>
          <p:cNvPr id="3" name="Shape 1"/>
          <p:cNvSpPr/>
          <p:nvPr/>
        </p:nvSpPr>
        <p:spPr>
          <a:xfrm>
            <a:off x="457200" y="960120"/>
            <a:ext cx="3931920" cy="3566160"/>
          </a:xfrm>
          <a:prstGeom prst="rect">
            <a:avLst>
              <a:gd name="adj" fmla="val 1282"/>
            </a:avLst>
          </a:prstGeom>
          <a:solidFill>
            <a:srgbClr val="F9F6F1"/>
          </a:solidFill>
          <a:ln/>
          <a:effectLst>
            <a:outerShdw sx="100000" sy="100000" kx="0" ky="0" algn="bl" rotWithShape="0" blurRad="76200" dist="25400" dir="8100000">
              <a:srgbClr val="000000">
                <a:alpha val="10000"/>
              </a:srgbClr>
            </a:outerShdw>
          </a:effectLst>
        </p:spPr>
      </p:sp>
      <p:sp>
        <p:nvSpPr>
          <p:cNvPr id="4" name="Shape 2"/>
          <p:cNvSpPr/>
          <p:nvPr/>
        </p:nvSpPr>
        <p:spPr>
          <a:xfrm>
            <a:off x="457200" y="960120"/>
            <a:ext cx="54864" cy="3566160"/>
          </a:xfrm>
          <a:prstGeom prst="rect">
            <a:avLst/>
          </a:prstGeom>
          <a:solidFill>
            <a:srgbClr val="1A5276"/>
          </a:solidFill>
          <a:ln/>
        </p:spPr>
      </p:sp>
      <p:sp>
        <p:nvSpPr>
          <p:cNvPr id="5" name="Text 3"/>
          <p:cNvSpPr/>
          <p:nvPr/>
        </p:nvSpPr>
        <p:spPr>
          <a:xfrm>
            <a:off x="640080" y="1069848"/>
            <a:ext cx="3611880" cy="365760"/>
          </a:xfrm>
          <a:prstGeom prst="rect">
            <a:avLst/>
          </a:prstGeom>
          <a:noFill/>
          <a:ln/>
        </p:spPr>
        <p:txBody>
          <a:bodyPr wrap="square" lIns="0" tIns="0" rIns="0" bIns="0" rtlCol="0" anchor="t"/>
          <a:lstStyle/>
          <a:p>
            <a:pPr indent="0" marL="0">
              <a:buNone/>
            </a:pPr>
            <a:r>
              <a:rPr lang="en-US" sz="1800" b="1" dirty="0">
                <a:solidFill>
                  <a:srgbClr val="154360"/>
                </a:solidFill>
                <a:latin typeface="Arial" pitchFamily="34" charset="0"/>
                <a:ea typeface="Arial" pitchFamily="34" charset="-122"/>
                <a:cs typeface="Arial" pitchFamily="34" charset="-120"/>
              </a:rPr>
              <a:t>Markt werkt goed</a:t>
            </a:r>
            <a:endParaRPr lang="en-US" sz="1800" dirty="0"/>
          </a:p>
        </p:txBody>
      </p:sp>
      <p:sp>
        <p:nvSpPr>
          <p:cNvPr id="6" name="Text 4"/>
          <p:cNvSpPr/>
          <p:nvPr/>
        </p:nvSpPr>
        <p:spPr>
          <a:xfrm>
            <a:off x="640080" y="1463040"/>
            <a:ext cx="3611880" cy="2926080"/>
          </a:xfrm>
          <a:prstGeom prst="rect">
            <a:avLst/>
          </a:prstGeom>
          <a:noFill/>
          <a:ln/>
        </p:spPr>
        <p:txBody>
          <a:bodyPr wrap="square" lIns="0" tIns="0" rIns="0" bIns="0" rtlCol="0" anchor="t"/>
          <a:lstStyle/>
          <a:p>
            <a:pPr algn="l" marL="342900" indent="-342900">
              <a:lnSpc>
                <a:spcPct val="120000"/>
              </a:lnSpc>
              <a:buSzPct val="100000"/>
              <a:buChar char="■"/>
            </a:pPr>
            <a:r>
              <a:rPr lang="en-US" sz="1300" b="1" dirty="0">
                <a:solidFill>
                  <a:srgbClr val="154360"/>
                </a:solidFill>
                <a:latin typeface="Arial" pitchFamily="34" charset="0"/>
                <a:ea typeface="Arial" pitchFamily="34" charset="-122"/>
                <a:cs typeface="Arial" pitchFamily="34" charset="-120"/>
              </a:rPr>
              <a:t>Voldoende concurrentie</a:t>
            </a:r>
            <a:endParaRPr lang="en-US" sz="1300" dirty="0"/>
          </a:p>
          <a:p>
            <a:pPr algn="l" marL="342900" indent="-342900">
              <a:lnSpc>
                <a:spcPct val="120000"/>
              </a:lnSpc>
              <a:buSzPct val="100000"/>
              <a:buChar char="■"/>
            </a:pPr>
            <a:r>
              <a:rPr lang="en-US" sz="1300" b="1" dirty="0">
                <a:solidFill>
                  <a:srgbClr val="154360"/>
                </a:solidFill>
                <a:latin typeface="Arial" pitchFamily="34" charset="0"/>
                <a:ea typeface="Arial" pitchFamily="34" charset="-122"/>
                <a:cs typeface="Arial" pitchFamily="34" charset="-120"/>
              </a:rPr>
              <a:t>Alle kosten/baten zitten in de prijs</a:t>
            </a:r>
            <a:endParaRPr lang="en-US" sz="1300" dirty="0"/>
          </a:p>
          <a:p>
            <a:pPr algn="l" marL="342900" indent="-342900">
              <a:lnSpc>
                <a:spcPct val="120000"/>
              </a:lnSpc>
              <a:buSzPct val="100000"/>
              <a:buChar char="■"/>
            </a:pPr>
            <a:r>
              <a:rPr lang="en-US" sz="1300" b="1" dirty="0">
                <a:solidFill>
                  <a:srgbClr val="154360"/>
                </a:solidFill>
                <a:latin typeface="Arial" pitchFamily="34" charset="0"/>
                <a:ea typeface="Arial" pitchFamily="34" charset="-122"/>
                <a:cs typeface="Arial" pitchFamily="34" charset="-120"/>
              </a:rPr>
              <a:t>Goederen worden geleverd</a:t>
            </a:r>
            <a:endParaRPr lang="en-US" sz="1300" dirty="0"/>
          </a:p>
          <a:p>
            <a:pPr algn="l" indent="0" marL="0">
              <a:lnSpc>
                <a:spcPct val="120000"/>
              </a:lnSpc>
              <a:buNone/>
            </a:pPr>
            <a:r>
              <a:rPr lang="en-US" sz="1200" i="1" dirty="0">
                <a:solidFill>
                  <a:srgbClr val="718096"/>
                </a:solidFill>
                <a:latin typeface="Arial" pitchFamily="34" charset="0"/>
                <a:ea typeface="Arial" pitchFamily="34" charset="-122"/>
                <a:cs typeface="Arial" pitchFamily="34" charset="-120"/>
              </a:rPr>
              <a:t>→ prijs bepaalt schaarse middelen efficiënt</a:t>
            </a:r>
            <a:endParaRPr lang="en-US" sz="1300" dirty="0"/>
          </a:p>
        </p:txBody>
      </p:sp>
      <p:sp>
        <p:nvSpPr>
          <p:cNvPr id="7" name="Shape 5"/>
          <p:cNvSpPr/>
          <p:nvPr/>
        </p:nvSpPr>
        <p:spPr>
          <a:xfrm>
            <a:off x="4754880" y="960120"/>
            <a:ext cx="3931920" cy="3566160"/>
          </a:xfrm>
          <a:prstGeom prst="rect">
            <a:avLst>
              <a:gd name="adj" fmla="val 1282"/>
            </a:avLst>
          </a:prstGeom>
          <a:solidFill>
            <a:srgbClr val="FDE8E8"/>
          </a:solidFill>
          <a:ln/>
          <a:effectLst>
            <a:outerShdw sx="100000" sy="100000" kx="0" ky="0" algn="bl" rotWithShape="0" blurRad="76200" dist="25400" dir="8100000">
              <a:srgbClr val="000000">
                <a:alpha val="10000"/>
              </a:srgbClr>
            </a:outerShdw>
          </a:effectLst>
        </p:spPr>
      </p:sp>
      <p:sp>
        <p:nvSpPr>
          <p:cNvPr id="8" name="Shape 6"/>
          <p:cNvSpPr/>
          <p:nvPr/>
        </p:nvSpPr>
        <p:spPr>
          <a:xfrm>
            <a:off x="4754880" y="960120"/>
            <a:ext cx="54864" cy="3566160"/>
          </a:xfrm>
          <a:prstGeom prst="rect">
            <a:avLst/>
          </a:prstGeom>
          <a:solidFill>
            <a:srgbClr val="D9534F"/>
          </a:solidFill>
          <a:ln/>
        </p:spPr>
      </p:sp>
      <p:sp>
        <p:nvSpPr>
          <p:cNvPr id="9" name="Text 7"/>
          <p:cNvSpPr/>
          <p:nvPr/>
        </p:nvSpPr>
        <p:spPr>
          <a:xfrm>
            <a:off x="4937760" y="1069848"/>
            <a:ext cx="3611880" cy="365760"/>
          </a:xfrm>
          <a:prstGeom prst="rect">
            <a:avLst/>
          </a:prstGeom>
          <a:noFill/>
          <a:ln/>
        </p:spPr>
        <p:txBody>
          <a:bodyPr wrap="square" lIns="0" tIns="0" rIns="0" bIns="0" rtlCol="0" anchor="t"/>
          <a:lstStyle/>
          <a:p>
            <a:pPr indent="0" marL="0">
              <a:buNone/>
            </a:pPr>
            <a:r>
              <a:rPr lang="en-US" sz="1800" b="1" dirty="0">
                <a:solidFill>
                  <a:srgbClr val="922B21"/>
                </a:solidFill>
                <a:latin typeface="Arial" pitchFamily="34" charset="0"/>
                <a:ea typeface="Arial" pitchFamily="34" charset="-122"/>
                <a:cs typeface="Arial" pitchFamily="34" charset="-120"/>
              </a:rPr>
              <a:t>Markt faalt</a:t>
            </a:r>
            <a:endParaRPr lang="en-US" sz="1800" dirty="0"/>
          </a:p>
        </p:txBody>
      </p:sp>
      <p:sp>
        <p:nvSpPr>
          <p:cNvPr id="10" name="Text 8"/>
          <p:cNvSpPr/>
          <p:nvPr/>
        </p:nvSpPr>
        <p:spPr>
          <a:xfrm>
            <a:off x="4937760" y="1463040"/>
            <a:ext cx="3611880" cy="2926080"/>
          </a:xfrm>
          <a:prstGeom prst="rect">
            <a:avLst/>
          </a:prstGeom>
          <a:noFill/>
          <a:ln/>
        </p:spPr>
        <p:txBody>
          <a:bodyPr wrap="square" lIns="0" tIns="0" rIns="0" bIns="0" rtlCol="0" anchor="t"/>
          <a:lstStyle/>
          <a:p>
            <a:pPr algn="l" marL="342900" indent="-342900">
              <a:lnSpc>
                <a:spcPct val="120000"/>
              </a:lnSpc>
              <a:buSzPct val="100000"/>
              <a:buChar char="■"/>
            </a:pPr>
            <a:r>
              <a:rPr lang="en-US" sz="1300" b="1" dirty="0">
                <a:solidFill>
                  <a:srgbClr val="922B21"/>
                </a:solidFill>
                <a:latin typeface="Arial" pitchFamily="34" charset="0"/>
                <a:ea typeface="Arial" pitchFamily="34" charset="-122"/>
                <a:cs typeface="Arial" pitchFamily="34" charset="-120"/>
              </a:rPr>
              <a:t>Te weinig concurrentie (monopolie)</a:t>
            </a:r>
            <a:endParaRPr lang="en-US" sz="1300" dirty="0"/>
          </a:p>
          <a:p>
            <a:pPr algn="l" marL="342900" indent="-342900">
              <a:lnSpc>
                <a:spcPct val="120000"/>
              </a:lnSpc>
              <a:buSzPct val="100000"/>
              <a:buChar char="■"/>
            </a:pPr>
            <a:r>
              <a:rPr lang="en-US" sz="1300" b="1" dirty="0">
                <a:solidFill>
                  <a:srgbClr val="922B21"/>
                </a:solidFill>
                <a:latin typeface="Arial" pitchFamily="34" charset="0"/>
                <a:ea typeface="Arial" pitchFamily="34" charset="-122"/>
                <a:cs typeface="Arial" pitchFamily="34" charset="-120"/>
              </a:rPr>
              <a:t>Kosten/baten buiten de markt (externe effecten)</a:t>
            </a:r>
            <a:endParaRPr lang="en-US" sz="1300" dirty="0"/>
          </a:p>
          <a:p>
            <a:pPr algn="l" marL="342900" indent="-342900">
              <a:lnSpc>
                <a:spcPct val="120000"/>
              </a:lnSpc>
              <a:buSzPct val="100000"/>
              <a:buChar char="■"/>
            </a:pPr>
            <a:r>
              <a:rPr lang="en-US" sz="1300" b="1" dirty="0">
                <a:solidFill>
                  <a:srgbClr val="922B21"/>
                </a:solidFill>
                <a:latin typeface="Arial" pitchFamily="34" charset="0"/>
                <a:ea typeface="Arial" pitchFamily="34" charset="-122"/>
                <a:cs typeface="Arial" pitchFamily="34" charset="-120"/>
              </a:rPr>
              <a:t>Markt levert niet (collectieve goederen)</a:t>
            </a:r>
            <a:endParaRPr lang="en-US" sz="1300" dirty="0"/>
          </a:p>
          <a:p>
            <a:pPr algn="l" indent="0" marL="0">
              <a:lnSpc>
                <a:spcPct val="120000"/>
              </a:lnSpc>
              <a:buNone/>
            </a:pPr>
            <a:r>
              <a:rPr lang="en-US" sz="1200" i="1" dirty="0">
                <a:solidFill>
                  <a:srgbClr val="718096"/>
                </a:solidFill>
                <a:latin typeface="Arial" pitchFamily="34" charset="0"/>
                <a:ea typeface="Arial" pitchFamily="34" charset="-122"/>
                <a:cs typeface="Arial" pitchFamily="34" charset="-120"/>
              </a:rPr>
              <a:t>→ overheid grijpt in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Natuurlijk monopolie</a:t>
            </a:r>
            <a:endParaRPr lang="en-US" sz="2400" dirty="0"/>
          </a:p>
        </p:txBody>
      </p:sp>
      <p:sp>
        <p:nvSpPr>
          <p:cNvPr id="3" name="Shape 1"/>
          <p:cNvSpPr/>
          <p:nvPr/>
        </p:nvSpPr>
        <p:spPr>
          <a:xfrm>
            <a:off x="457200" y="960120"/>
            <a:ext cx="3931920" cy="3566160"/>
          </a:xfrm>
          <a:prstGeom prst="rect">
            <a:avLst>
              <a:gd name="adj" fmla="val 1282"/>
            </a:avLst>
          </a:prstGeom>
          <a:solidFill>
            <a:srgbClr val="F9F6F1"/>
          </a:solidFill>
          <a:ln/>
          <a:effectLst>
            <a:outerShdw sx="100000" sy="100000" kx="0" ky="0" algn="bl" rotWithShape="0" blurRad="76200" dist="25400" dir="8100000">
              <a:srgbClr val="000000">
                <a:alpha val="10000"/>
              </a:srgbClr>
            </a:outerShdw>
          </a:effectLst>
        </p:spPr>
      </p:sp>
      <p:sp>
        <p:nvSpPr>
          <p:cNvPr id="4" name="Shape 2"/>
          <p:cNvSpPr/>
          <p:nvPr/>
        </p:nvSpPr>
        <p:spPr>
          <a:xfrm>
            <a:off x="457200" y="960120"/>
            <a:ext cx="54864" cy="3566160"/>
          </a:xfrm>
          <a:prstGeom prst="rect">
            <a:avLst/>
          </a:prstGeom>
          <a:solidFill>
            <a:srgbClr val="1A5276"/>
          </a:solidFill>
          <a:ln/>
        </p:spPr>
      </p:sp>
      <p:sp>
        <p:nvSpPr>
          <p:cNvPr id="5" name="Text 3"/>
          <p:cNvSpPr/>
          <p:nvPr/>
        </p:nvSpPr>
        <p:spPr>
          <a:xfrm>
            <a:off x="640080" y="1069848"/>
            <a:ext cx="3611880" cy="365760"/>
          </a:xfrm>
          <a:prstGeom prst="rect">
            <a:avLst/>
          </a:prstGeom>
          <a:noFill/>
          <a:ln/>
        </p:spPr>
        <p:txBody>
          <a:bodyPr wrap="square" lIns="0" tIns="0" rIns="0" bIns="0" rtlCol="0" anchor="t"/>
          <a:lstStyle/>
          <a:p>
            <a:pPr indent="0" marL="0">
              <a:buNone/>
            </a:pPr>
            <a:r>
              <a:rPr lang="en-US" sz="1800" b="1" dirty="0">
                <a:solidFill>
                  <a:srgbClr val="154360"/>
                </a:solidFill>
                <a:latin typeface="Arial" pitchFamily="34" charset="0"/>
                <a:ea typeface="Arial" pitchFamily="34" charset="-122"/>
                <a:cs typeface="Arial" pitchFamily="34" charset="-120"/>
              </a:rPr>
              <a:t>Kenmerk</a:t>
            </a:r>
            <a:endParaRPr lang="en-US" sz="1800" dirty="0"/>
          </a:p>
        </p:txBody>
      </p:sp>
      <p:sp>
        <p:nvSpPr>
          <p:cNvPr id="6" name="Text 4"/>
          <p:cNvSpPr/>
          <p:nvPr/>
        </p:nvSpPr>
        <p:spPr>
          <a:xfrm>
            <a:off x="640080" y="1463040"/>
            <a:ext cx="3611880" cy="2926080"/>
          </a:xfrm>
          <a:prstGeom prst="rect">
            <a:avLst/>
          </a:prstGeom>
          <a:noFill/>
          <a:ln/>
        </p:spPr>
        <p:txBody>
          <a:bodyPr wrap="square" lIns="0" tIns="0" rIns="0" bIns="0" rtlCol="0" anchor="t"/>
          <a:lstStyle/>
          <a:p>
            <a:pPr algn="l" marL="342900" indent="-342900">
              <a:lnSpc>
                <a:spcPct val="120000"/>
              </a:lnSpc>
              <a:buSzPct val="100000"/>
              <a:buChar char="■"/>
            </a:pPr>
            <a:r>
              <a:rPr lang="en-US" sz="1300" dirty="0">
                <a:solidFill>
                  <a:srgbClr val="2D3748"/>
                </a:solidFill>
                <a:latin typeface="Arial" pitchFamily="34" charset="0"/>
                <a:ea typeface="Arial" pitchFamily="34" charset="-122"/>
                <a:cs typeface="Arial" pitchFamily="34" charset="-120"/>
              </a:rPr>
              <a:t>Hoge vaste kosten</a:t>
            </a:r>
            <a:endParaRPr lang="en-US" sz="1300" dirty="0"/>
          </a:p>
          <a:p>
            <a:pPr algn="l" marL="342900" indent="-342900">
              <a:lnSpc>
                <a:spcPct val="120000"/>
              </a:lnSpc>
              <a:buSzPct val="100000"/>
              <a:buChar char="■"/>
            </a:pPr>
            <a:r>
              <a:rPr lang="en-US" sz="1300" dirty="0">
                <a:solidFill>
                  <a:srgbClr val="2D3748"/>
                </a:solidFill>
                <a:latin typeface="Arial" pitchFamily="34" charset="0"/>
                <a:ea typeface="Arial" pitchFamily="34" charset="-122"/>
                <a:cs typeface="Arial" pitchFamily="34" charset="-120"/>
              </a:rPr>
              <a:t>Lage variabele kosten</a:t>
            </a:r>
            <a:endParaRPr lang="en-US" sz="1300" dirty="0"/>
          </a:p>
          <a:p>
            <a:pPr algn="l" marL="342900" indent="-342900">
              <a:lnSpc>
                <a:spcPct val="120000"/>
              </a:lnSpc>
              <a:buSzPct val="100000"/>
              <a:buChar char="■"/>
            </a:pPr>
            <a:r>
              <a:rPr lang="en-US" sz="1300" b="1" dirty="0">
                <a:solidFill>
                  <a:srgbClr val="154360"/>
                </a:solidFill>
                <a:latin typeface="Arial" pitchFamily="34" charset="0"/>
                <a:ea typeface="Arial" pitchFamily="34" charset="-122"/>
                <a:cs typeface="Arial" pitchFamily="34" charset="-120"/>
              </a:rPr>
              <a:t>GTK daalt bij meer productie</a:t>
            </a:r>
            <a:endParaRPr lang="en-US" sz="1300" dirty="0"/>
          </a:p>
          <a:p>
            <a:pPr algn="l" marL="342900" indent="-342900">
              <a:lnSpc>
                <a:spcPct val="120000"/>
              </a:lnSpc>
              <a:buSzPct val="100000"/>
              <a:buChar char="■"/>
            </a:pPr>
            <a:r>
              <a:rPr lang="en-US" sz="1300" dirty="0">
                <a:solidFill>
                  <a:srgbClr val="2D3748"/>
                </a:solidFill>
                <a:latin typeface="Arial" pitchFamily="34" charset="0"/>
                <a:ea typeface="Arial" pitchFamily="34" charset="-122"/>
                <a:cs typeface="Arial" pitchFamily="34" charset="-120"/>
              </a:rPr>
              <a:t>één aanbieder is goedkoper dan twee</a:t>
            </a:r>
            <a:endParaRPr lang="en-US" sz="1300" dirty="0"/>
          </a:p>
        </p:txBody>
      </p:sp>
      <p:sp>
        <p:nvSpPr>
          <p:cNvPr id="7" name="Shape 5"/>
          <p:cNvSpPr/>
          <p:nvPr/>
        </p:nvSpPr>
        <p:spPr>
          <a:xfrm>
            <a:off x="4754880" y="960120"/>
            <a:ext cx="3931920" cy="3566160"/>
          </a:xfrm>
          <a:prstGeom prst="rect">
            <a:avLst>
              <a:gd name="adj" fmla="val 1282"/>
            </a:avLst>
          </a:prstGeom>
          <a:solidFill>
            <a:srgbClr val="FFF8E1"/>
          </a:solidFill>
          <a:ln/>
          <a:effectLst>
            <a:outerShdw sx="100000" sy="100000" kx="0" ky="0" algn="bl" rotWithShape="0" blurRad="76200" dist="25400" dir="8100000">
              <a:srgbClr val="000000">
                <a:alpha val="10000"/>
              </a:srgbClr>
            </a:outerShdw>
          </a:effectLst>
        </p:spPr>
      </p:sp>
      <p:sp>
        <p:nvSpPr>
          <p:cNvPr id="8" name="Shape 6"/>
          <p:cNvSpPr/>
          <p:nvPr/>
        </p:nvSpPr>
        <p:spPr>
          <a:xfrm>
            <a:off x="4754880" y="960120"/>
            <a:ext cx="54864" cy="3566160"/>
          </a:xfrm>
          <a:prstGeom prst="rect">
            <a:avLst/>
          </a:prstGeom>
          <a:solidFill>
            <a:srgbClr val="B58500"/>
          </a:solidFill>
          <a:ln/>
        </p:spPr>
      </p:sp>
      <p:sp>
        <p:nvSpPr>
          <p:cNvPr id="9" name="Text 7"/>
          <p:cNvSpPr/>
          <p:nvPr/>
        </p:nvSpPr>
        <p:spPr>
          <a:xfrm>
            <a:off x="4937760" y="1069848"/>
            <a:ext cx="3611880" cy="365760"/>
          </a:xfrm>
          <a:prstGeom prst="rect">
            <a:avLst/>
          </a:prstGeom>
          <a:noFill/>
          <a:ln/>
        </p:spPr>
        <p:txBody>
          <a:bodyPr wrap="square" lIns="0" tIns="0" rIns="0" bIns="0" rtlCol="0" anchor="t"/>
          <a:lstStyle/>
          <a:p>
            <a:pPr indent="0" marL="0">
              <a:buNone/>
            </a:pPr>
            <a:r>
              <a:rPr lang="en-US" sz="1800" b="1" dirty="0">
                <a:solidFill>
                  <a:srgbClr val="7B4A12"/>
                </a:solidFill>
                <a:latin typeface="Arial" pitchFamily="34" charset="0"/>
                <a:ea typeface="Arial" pitchFamily="34" charset="-122"/>
                <a:cs typeface="Arial" pitchFamily="34" charset="-120"/>
              </a:rPr>
              <a:t>Voorbeelden</a:t>
            </a:r>
            <a:endParaRPr lang="en-US" sz="1800" dirty="0"/>
          </a:p>
        </p:txBody>
      </p:sp>
      <p:sp>
        <p:nvSpPr>
          <p:cNvPr id="10" name="Text 8"/>
          <p:cNvSpPr/>
          <p:nvPr/>
        </p:nvSpPr>
        <p:spPr>
          <a:xfrm>
            <a:off x="4937760" y="1463040"/>
            <a:ext cx="3611880" cy="2926080"/>
          </a:xfrm>
          <a:prstGeom prst="rect">
            <a:avLst/>
          </a:prstGeom>
          <a:noFill/>
          <a:ln/>
        </p:spPr>
        <p:txBody>
          <a:bodyPr wrap="square" lIns="0" tIns="0" rIns="0" bIns="0" rtlCol="0" anchor="t"/>
          <a:lstStyle/>
          <a:p>
            <a:pPr algn="l" marL="342900" indent="-342900">
              <a:lnSpc>
                <a:spcPct val="120000"/>
              </a:lnSpc>
              <a:buSzPct val="100000"/>
              <a:buChar char="■"/>
            </a:pPr>
            <a:r>
              <a:rPr lang="en-US" sz="1300" dirty="0">
                <a:solidFill>
                  <a:srgbClr val="2D3748"/>
                </a:solidFill>
                <a:latin typeface="Arial" pitchFamily="34" charset="0"/>
                <a:ea typeface="Arial" pitchFamily="34" charset="-122"/>
                <a:cs typeface="Arial" pitchFamily="34" charset="-120"/>
              </a:rPr>
              <a:t>Waterleidingnet — één net is goedkoper dan twee</a:t>
            </a:r>
            <a:endParaRPr lang="en-US" sz="1300" dirty="0"/>
          </a:p>
          <a:p>
            <a:pPr algn="l" marL="342900" indent="-342900">
              <a:lnSpc>
                <a:spcPct val="120000"/>
              </a:lnSpc>
              <a:buSzPct val="100000"/>
              <a:buChar char="■"/>
            </a:pPr>
            <a:r>
              <a:rPr lang="en-US" sz="1300" dirty="0">
                <a:solidFill>
                  <a:srgbClr val="2D3748"/>
                </a:solidFill>
                <a:latin typeface="Arial" pitchFamily="34" charset="0"/>
                <a:ea typeface="Arial" pitchFamily="34" charset="-122"/>
                <a:cs typeface="Arial" pitchFamily="34" charset="-120"/>
              </a:rPr>
              <a:t>Spoorwegen — dubbele rails zijn onnodig duur</a:t>
            </a:r>
            <a:endParaRPr lang="en-US" sz="1300" dirty="0"/>
          </a:p>
          <a:p>
            <a:pPr algn="l" marL="342900" indent="-342900">
              <a:lnSpc>
                <a:spcPct val="120000"/>
              </a:lnSpc>
              <a:buSzPct val="100000"/>
              <a:buChar char="■"/>
            </a:pPr>
            <a:r>
              <a:rPr lang="en-US" sz="1300" dirty="0">
                <a:solidFill>
                  <a:srgbClr val="2D3748"/>
                </a:solidFill>
                <a:latin typeface="Arial" pitchFamily="34" charset="0"/>
                <a:ea typeface="Arial" pitchFamily="34" charset="-122"/>
                <a:cs typeface="Arial" pitchFamily="34" charset="-120"/>
              </a:rPr>
              <a:t>Elektriciteitsnet — netwerk is natuurlijk monopolie</a:t>
            </a:r>
            <a:endParaRPr lang="en-US" sz="1300" dirty="0"/>
          </a:p>
          <a:p>
            <a:pPr algn="l" marL="342900" indent="-342900">
              <a:lnSpc>
                <a:spcPct val="120000"/>
              </a:lnSpc>
              <a:buSzPct val="100000"/>
              <a:buChar char="■"/>
            </a:pPr>
            <a:r>
              <a:rPr lang="en-US" sz="1300" dirty="0">
                <a:solidFill>
                  <a:srgbClr val="2D3748"/>
                </a:solidFill>
                <a:latin typeface="Arial" pitchFamily="34" charset="0"/>
                <a:ea typeface="Arial" pitchFamily="34" charset="-122"/>
                <a:cs typeface="Arial" pitchFamily="34" charset="-120"/>
              </a:rPr>
              <a:t>Postbezorging — meer volume → lagere GTK</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Waarom één aanbieder goedkoper is</a:t>
            </a:r>
            <a:endParaRPr lang="en-US" sz="2400" dirty="0"/>
          </a:p>
        </p:txBody>
      </p:sp>
      <p:pic>
        <p:nvPicPr>
          <p:cNvPr id="3" name="Image 0" descr="preencoded.png">    </p:cNvPr>
          <p:cNvPicPr>
            <a:picLocks noChangeAspect="1"/>
          </p:cNvPicPr>
          <p:nvPr/>
        </p:nvPicPr>
        <p:blipFill>
          <a:blip r:embed="rId1"/>
          <a:stretch>
            <a:fillRect/>
          </a:stretch>
        </p:blipFill>
        <p:spPr>
          <a:xfrm>
            <a:off x="685800" y="868680"/>
            <a:ext cx="7772400" cy="38862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Economische machtspositie</a:t>
            </a:r>
            <a:endParaRPr lang="en-US" sz="2400" dirty="0"/>
          </a:p>
        </p:txBody>
      </p:sp>
      <p:sp>
        <p:nvSpPr>
          <p:cNvPr id="3" name="Shape 1"/>
          <p:cNvSpPr/>
          <p:nvPr/>
        </p:nvSpPr>
        <p:spPr>
          <a:xfrm>
            <a:off x="457200" y="1005840"/>
            <a:ext cx="4206240" cy="594360"/>
          </a:xfrm>
          <a:prstGeom prst="rect">
            <a:avLst>
              <a:gd name="adj" fmla="val 6154"/>
            </a:avLst>
          </a:prstGeom>
          <a:solidFill>
            <a:srgbClr val="F9F6F1"/>
          </a:solidFill>
          <a:ln/>
          <a:effectLst>
            <a:outerShdw sx="100000" sy="100000" kx="0" ky="0" algn="bl" rotWithShape="0" blurRad="76200" dist="25400" dir="8100000">
              <a:srgbClr val="000000">
                <a:alpha val="10000"/>
              </a:srgbClr>
            </a:outerShdw>
          </a:effectLst>
        </p:spPr>
      </p:sp>
      <p:sp>
        <p:nvSpPr>
          <p:cNvPr id="4" name="Text 2"/>
          <p:cNvSpPr/>
          <p:nvPr/>
        </p:nvSpPr>
        <p:spPr>
          <a:xfrm>
            <a:off x="621792" y="1005840"/>
            <a:ext cx="3931920" cy="594360"/>
          </a:xfrm>
          <a:prstGeom prst="rect">
            <a:avLst/>
          </a:prstGeom>
          <a:noFill/>
          <a:ln/>
        </p:spPr>
        <p:txBody>
          <a:bodyPr wrap="square" lIns="0" tIns="0" rIns="0" bIns="0" rtlCol="0" anchor="ctr"/>
          <a:lstStyle/>
          <a:p>
            <a:pPr indent="0" marL="0">
              <a:buNone/>
            </a:pPr>
            <a:r>
              <a:rPr lang="en-US" sz="1400" dirty="0">
                <a:solidFill>
                  <a:srgbClr val="2D3748"/>
                </a:solidFill>
                <a:latin typeface="Arial" pitchFamily="34" charset="0"/>
                <a:ea typeface="Arial" pitchFamily="34" charset="-122"/>
                <a:cs typeface="Arial" pitchFamily="34" charset="-120"/>
              </a:rPr>
              <a:t>1. Bepaal het marktaandeel</a:t>
            </a:r>
            <a:endParaRPr lang="en-US" sz="1400" dirty="0"/>
          </a:p>
        </p:txBody>
      </p:sp>
      <p:sp>
        <p:nvSpPr>
          <p:cNvPr id="5" name="Shape 3"/>
          <p:cNvSpPr/>
          <p:nvPr/>
        </p:nvSpPr>
        <p:spPr>
          <a:xfrm>
            <a:off x="457200" y="1737360"/>
            <a:ext cx="4206240" cy="594360"/>
          </a:xfrm>
          <a:prstGeom prst="rect">
            <a:avLst>
              <a:gd name="adj" fmla="val 6154"/>
            </a:avLst>
          </a:prstGeom>
          <a:solidFill>
            <a:srgbClr val="1A5276"/>
          </a:solidFill>
          <a:ln/>
          <a:effectLst>
            <a:outerShdw sx="100000" sy="100000" kx="0" ky="0" algn="bl" rotWithShape="0" blurRad="76200" dist="25400" dir="8100000">
              <a:srgbClr val="000000">
                <a:alpha val="10000"/>
              </a:srgbClr>
            </a:outerShdw>
          </a:effectLst>
        </p:spPr>
      </p:sp>
      <p:sp>
        <p:nvSpPr>
          <p:cNvPr id="6" name="Text 4"/>
          <p:cNvSpPr/>
          <p:nvPr/>
        </p:nvSpPr>
        <p:spPr>
          <a:xfrm>
            <a:off x="621792" y="1737360"/>
            <a:ext cx="3931920" cy="5943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2. ≥ 35 %?   → machtspositie</a:t>
            </a:r>
            <a:endParaRPr lang="en-US" sz="1400" dirty="0"/>
          </a:p>
        </p:txBody>
      </p:sp>
      <p:sp>
        <p:nvSpPr>
          <p:cNvPr id="7" name="Shape 5"/>
          <p:cNvSpPr/>
          <p:nvPr/>
        </p:nvSpPr>
        <p:spPr>
          <a:xfrm>
            <a:off x="457200" y="2468880"/>
            <a:ext cx="4206240" cy="594360"/>
          </a:xfrm>
          <a:prstGeom prst="rect">
            <a:avLst>
              <a:gd name="adj" fmla="val 6154"/>
            </a:avLst>
          </a:prstGeom>
          <a:solidFill>
            <a:srgbClr val="F9F6F1"/>
          </a:solidFill>
          <a:ln/>
          <a:effectLst>
            <a:outerShdw sx="100000" sy="100000" kx="0" ky="0" algn="bl" rotWithShape="0" blurRad="76200" dist="25400" dir="8100000">
              <a:srgbClr val="000000">
                <a:alpha val="10000"/>
              </a:srgbClr>
            </a:outerShdw>
          </a:effectLst>
        </p:spPr>
      </p:sp>
      <p:sp>
        <p:nvSpPr>
          <p:cNvPr id="8" name="Text 6"/>
          <p:cNvSpPr/>
          <p:nvPr/>
        </p:nvSpPr>
        <p:spPr>
          <a:xfrm>
            <a:off x="621792" y="2468880"/>
            <a:ext cx="3931920" cy="594360"/>
          </a:xfrm>
          <a:prstGeom prst="rect">
            <a:avLst/>
          </a:prstGeom>
          <a:noFill/>
          <a:ln/>
        </p:spPr>
        <p:txBody>
          <a:bodyPr wrap="square" lIns="0" tIns="0" rIns="0" bIns="0" rtlCol="0" anchor="ctr"/>
          <a:lstStyle/>
          <a:p>
            <a:pPr indent="0" marL="0">
              <a:buNone/>
            </a:pPr>
            <a:r>
              <a:rPr lang="en-US" sz="1400" dirty="0">
                <a:solidFill>
                  <a:srgbClr val="2D3748"/>
                </a:solidFill>
                <a:latin typeface="Arial" pitchFamily="34" charset="0"/>
                <a:ea typeface="Arial" pitchFamily="34" charset="-122"/>
                <a:cs typeface="Arial" pitchFamily="34" charset="-120"/>
              </a:rPr>
              <a:t>3. Misbruikt het bedrijf die positie?</a:t>
            </a:r>
            <a:endParaRPr lang="en-US" sz="1400" dirty="0"/>
          </a:p>
        </p:txBody>
      </p:sp>
      <p:sp>
        <p:nvSpPr>
          <p:cNvPr id="9" name="Shape 7"/>
          <p:cNvSpPr/>
          <p:nvPr/>
        </p:nvSpPr>
        <p:spPr>
          <a:xfrm>
            <a:off x="457200" y="3200400"/>
            <a:ext cx="4206240" cy="594360"/>
          </a:xfrm>
          <a:prstGeom prst="rect">
            <a:avLst>
              <a:gd name="adj" fmla="val 6154"/>
            </a:avLst>
          </a:prstGeom>
          <a:solidFill>
            <a:srgbClr val="1A5276"/>
          </a:solidFill>
          <a:ln/>
          <a:effectLst>
            <a:outerShdw sx="100000" sy="100000" kx="0" ky="0" algn="bl" rotWithShape="0" blurRad="76200" dist="25400" dir="8100000">
              <a:srgbClr val="000000">
                <a:alpha val="10000"/>
              </a:srgbClr>
            </a:outerShdw>
          </a:effectLst>
        </p:spPr>
      </p:sp>
      <p:sp>
        <p:nvSpPr>
          <p:cNvPr id="10" name="Text 8"/>
          <p:cNvSpPr/>
          <p:nvPr/>
        </p:nvSpPr>
        <p:spPr>
          <a:xfrm>
            <a:off x="621792" y="3200400"/>
            <a:ext cx="3931920" cy="5943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4. Zo ja: boete / regulering door ACM of EC</a:t>
            </a:r>
            <a:endParaRPr lang="en-US" sz="1400" dirty="0"/>
          </a:p>
        </p:txBody>
      </p:sp>
      <p:sp>
        <p:nvSpPr>
          <p:cNvPr id="11" name="Shape 9"/>
          <p:cNvSpPr/>
          <p:nvPr/>
        </p:nvSpPr>
        <p:spPr>
          <a:xfrm>
            <a:off x="4846320" y="1005840"/>
            <a:ext cx="3840480" cy="3017520"/>
          </a:xfrm>
          <a:prstGeom prst="rect">
            <a:avLst>
              <a:gd name="adj" fmla="val 1515"/>
            </a:avLst>
          </a:prstGeom>
          <a:solidFill>
            <a:srgbClr val="FDE8E8"/>
          </a:solidFill>
          <a:ln/>
          <a:effectLst>
            <a:outerShdw sx="100000" sy="100000" kx="0" ky="0" algn="bl" rotWithShape="0" blurRad="76200" dist="25400" dir="8100000">
              <a:srgbClr val="000000">
                <a:alpha val="10000"/>
              </a:srgbClr>
            </a:outerShdw>
          </a:effectLst>
        </p:spPr>
      </p:sp>
      <p:sp>
        <p:nvSpPr>
          <p:cNvPr id="12" name="Shape 10"/>
          <p:cNvSpPr/>
          <p:nvPr/>
        </p:nvSpPr>
        <p:spPr>
          <a:xfrm>
            <a:off x="4846320" y="1005840"/>
            <a:ext cx="54864" cy="3017520"/>
          </a:xfrm>
          <a:prstGeom prst="rect">
            <a:avLst/>
          </a:prstGeom>
          <a:solidFill>
            <a:srgbClr val="D9534F"/>
          </a:solidFill>
          <a:ln/>
        </p:spPr>
      </p:sp>
      <p:sp>
        <p:nvSpPr>
          <p:cNvPr id="13" name="Text 11"/>
          <p:cNvSpPr/>
          <p:nvPr/>
        </p:nvSpPr>
        <p:spPr>
          <a:xfrm>
            <a:off x="5029200" y="1115568"/>
            <a:ext cx="3520440" cy="365760"/>
          </a:xfrm>
          <a:prstGeom prst="rect">
            <a:avLst/>
          </a:prstGeom>
          <a:noFill/>
          <a:ln/>
        </p:spPr>
        <p:txBody>
          <a:bodyPr wrap="square" lIns="0" tIns="0" rIns="0" bIns="0" rtlCol="0" anchor="t"/>
          <a:lstStyle/>
          <a:p>
            <a:pPr indent="0" marL="0">
              <a:buNone/>
            </a:pPr>
            <a:r>
              <a:rPr lang="en-US" sz="1800" b="1" dirty="0">
                <a:solidFill>
                  <a:srgbClr val="922B21"/>
                </a:solidFill>
                <a:latin typeface="Arial" pitchFamily="34" charset="0"/>
                <a:ea typeface="Arial" pitchFamily="34" charset="-122"/>
                <a:cs typeface="Arial" pitchFamily="34" charset="-120"/>
              </a:rPr>
              <a:t>Casus: Google</a:t>
            </a:r>
            <a:endParaRPr lang="en-US" sz="1800" dirty="0"/>
          </a:p>
        </p:txBody>
      </p:sp>
      <p:sp>
        <p:nvSpPr>
          <p:cNvPr id="14" name="Text 12"/>
          <p:cNvSpPr/>
          <p:nvPr/>
        </p:nvSpPr>
        <p:spPr>
          <a:xfrm>
            <a:off x="5029200" y="1508760"/>
            <a:ext cx="3520440" cy="2377440"/>
          </a:xfrm>
          <a:prstGeom prst="rect">
            <a:avLst/>
          </a:prstGeom>
          <a:noFill/>
          <a:ln/>
        </p:spPr>
        <p:txBody>
          <a:bodyPr wrap="square" lIns="0" tIns="0" rIns="0" bIns="0" rtlCol="0" anchor="t"/>
          <a:lstStyle/>
          <a:p>
            <a:pPr algn="l" indent="0" marL="0">
              <a:lnSpc>
                <a:spcPct val="120000"/>
              </a:lnSpc>
              <a:buNone/>
            </a:pPr>
            <a:r>
              <a:rPr lang="en-US" sz="1200" dirty="0">
                <a:solidFill>
                  <a:srgbClr val="718096"/>
                </a:solidFill>
                <a:latin typeface="Arial" pitchFamily="34" charset="0"/>
                <a:ea typeface="Arial" pitchFamily="34" charset="-122"/>
                <a:cs typeface="Arial" pitchFamily="34" charset="-120"/>
              </a:rPr>
              <a:t>Marktaandeel zoekmachines EU</a:t>
            </a:r>
            <a:endParaRPr lang="en-US" sz="1300" dirty="0"/>
          </a:p>
          <a:p>
            <a:pPr algn="l" indent="0" marL="0">
              <a:lnSpc>
                <a:spcPct val="120000"/>
              </a:lnSpc>
              <a:buNone/>
            </a:pPr>
            <a:r>
              <a:rPr lang="en-US" sz="2200" b="1" dirty="0">
                <a:solidFill>
                  <a:srgbClr val="922B21"/>
                </a:solidFill>
                <a:latin typeface="Arial" pitchFamily="34" charset="0"/>
                <a:ea typeface="Arial" pitchFamily="34" charset="-122"/>
                <a:cs typeface="Arial" pitchFamily="34" charset="-120"/>
              </a:rPr>
              <a:t>&gt;  90 %</a:t>
            </a:r>
            <a:endParaRPr lang="en-US" sz="1300" dirty="0"/>
          </a:p>
          <a:p>
            <a:pPr algn="l" indent="0" marL="0">
              <a:lnSpc>
                <a:spcPct val="120000"/>
              </a:lnSpc>
              <a:buNone/>
            </a:pPr>
            <a:r>
              <a:rPr lang="en-US" sz="1200" dirty="0">
                <a:solidFill>
                  <a:srgbClr val="2D3748"/>
                </a:solidFill>
                <a:latin typeface="Arial" pitchFamily="34" charset="0"/>
                <a:ea typeface="Arial" pitchFamily="34" charset="-122"/>
                <a:cs typeface="Arial" pitchFamily="34" charset="-120"/>
              </a:rPr>
              <a:t>Machtsmisbruik: dwong sites alleen Google-advertenties te tonen</a:t>
            </a:r>
            <a:endParaRPr lang="en-US" sz="1300" dirty="0"/>
          </a:p>
          <a:p>
            <a:pPr algn="l" indent="0" marL="0">
              <a:lnSpc>
                <a:spcPct val="120000"/>
              </a:lnSpc>
              <a:buNone/>
            </a:pPr>
            <a:r>
              <a:rPr lang="en-US" sz="1400" b="1" dirty="0">
                <a:solidFill>
                  <a:srgbClr val="922B21"/>
                </a:solidFill>
                <a:latin typeface="Arial" pitchFamily="34" charset="0"/>
                <a:ea typeface="Arial" pitchFamily="34" charset="-122"/>
                <a:cs typeface="Arial" pitchFamily="34" charset="-120"/>
              </a:rPr>
              <a:t>→ boete € 1,49 mrd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Negatief extern effect — wat gebeurt er?</a:t>
            </a:r>
            <a:endParaRPr lang="en-US" sz="2400" dirty="0"/>
          </a:p>
        </p:txBody>
      </p:sp>
      <p:sp>
        <p:nvSpPr>
          <p:cNvPr id="3" name="Shape 1"/>
          <p:cNvSpPr/>
          <p:nvPr/>
        </p:nvSpPr>
        <p:spPr>
          <a:xfrm>
            <a:off x="1371600" y="1005840"/>
            <a:ext cx="6400800" cy="548640"/>
          </a:xfrm>
          <a:prstGeom prst="rect">
            <a:avLst>
              <a:gd name="adj" fmla="val 6667"/>
            </a:avLst>
          </a:prstGeom>
          <a:solidFill>
            <a:srgbClr val="F9F6F1"/>
          </a:solidFill>
          <a:ln/>
          <a:effectLst>
            <a:outerShdw sx="100000" sy="100000" kx="0" ky="0" algn="bl" rotWithShape="0" blurRad="76200" dist="25400" dir="8100000">
              <a:srgbClr val="000000">
                <a:alpha val="10000"/>
              </a:srgbClr>
            </a:outerShdw>
          </a:effectLst>
        </p:spPr>
      </p:sp>
      <p:sp>
        <p:nvSpPr>
          <p:cNvPr id="4" name="Text 2"/>
          <p:cNvSpPr/>
          <p:nvPr/>
        </p:nvSpPr>
        <p:spPr>
          <a:xfrm>
            <a:off x="1554480" y="1005840"/>
            <a:ext cx="6126480" cy="548640"/>
          </a:xfrm>
          <a:prstGeom prst="rect">
            <a:avLst/>
          </a:prstGeom>
          <a:noFill/>
          <a:ln/>
        </p:spPr>
        <p:txBody>
          <a:bodyPr wrap="square" lIns="0" tIns="0" rIns="0" bIns="0" rtlCol="0" anchor="ctr"/>
          <a:lstStyle/>
          <a:p>
            <a:pPr indent="0" marL="0">
              <a:buNone/>
            </a:pPr>
            <a:r>
              <a:rPr lang="en-US" sz="1500" dirty="0">
                <a:solidFill>
                  <a:srgbClr val="2D3748"/>
                </a:solidFill>
                <a:latin typeface="Arial" pitchFamily="34" charset="0"/>
                <a:ea typeface="Arial" pitchFamily="34" charset="-122"/>
                <a:cs typeface="Arial" pitchFamily="34" charset="-120"/>
              </a:rPr>
              <a:t>Bedrijf produceert</a:t>
            </a:r>
            <a:endParaRPr lang="en-US" sz="1500" dirty="0"/>
          </a:p>
        </p:txBody>
      </p:sp>
      <p:sp>
        <p:nvSpPr>
          <p:cNvPr id="5" name="Shape 3"/>
          <p:cNvSpPr/>
          <p:nvPr/>
        </p:nvSpPr>
        <p:spPr>
          <a:xfrm>
            <a:off x="1371600" y="1664208"/>
            <a:ext cx="6400800" cy="548640"/>
          </a:xfrm>
          <a:prstGeom prst="rect">
            <a:avLst>
              <a:gd name="adj" fmla="val 6667"/>
            </a:avLst>
          </a:prstGeom>
          <a:solidFill>
            <a:srgbClr val="F9F6F1"/>
          </a:solidFill>
          <a:ln/>
          <a:effectLst>
            <a:outerShdw sx="100000" sy="100000" kx="0" ky="0" algn="bl" rotWithShape="0" blurRad="76200" dist="25400" dir="8100000">
              <a:srgbClr val="000000">
                <a:alpha val="10000"/>
              </a:srgbClr>
            </a:outerShdw>
          </a:effectLst>
        </p:spPr>
      </p:sp>
      <p:sp>
        <p:nvSpPr>
          <p:cNvPr id="6" name="Text 4"/>
          <p:cNvSpPr/>
          <p:nvPr/>
        </p:nvSpPr>
        <p:spPr>
          <a:xfrm>
            <a:off x="1554480" y="1664208"/>
            <a:ext cx="6126480" cy="548640"/>
          </a:xfrm>
          <a:prstGeom prst="rect">
            <a:avLst/>
          </a:prstGeom>
          <a:noFill/>
          <a:ln/>
        </p:spPr>
        <p:txBody>
          <a:bodyPr wrap="square" lIns="0" tIns="0" rIns="0" bIns="0" rtlCol="0" anchor="ctr"/>
          <a:lstStyle/>
          <a:p>
            <a:pPr indent="0" marL="0">
              <a:buNone/>
            </a:pPr>
            <a:r>
              <a:rPr lang="en-US" sz="1500" dirty="0">
                <a:solidFill>
                  <a:srgbClr val="2D3748"/>
                </a:solidFill>
                <a:latin typeface="Arial" pitchFamily="34" charset="0"/>
                <a:ea typeface="Arial" pitchFamily="34" charset="-122"/>
                <a:cs typeface="Arial" pitchFamily="34" charset="-120"/>
              </a:rPr>
              <a:t>↓  Derden lijden schade (bv. vervuiling)</a:t>
            </a:r>
            <a:endParaRPr lang="en-US" sz="1500" dirty="0"/>
          </a:p>
        </p:txBody>
      </p:sp>
      <p:sp>
        <p:nvSpPr>
          <p:cNvPr id="7" name="Shape 5"/>
          <p:cNvSpPr/>
          <p:nvPr/>
        </p:nvSpPr>
        <p:spPr>
          <a:xfrm>
            <a:off x="1371600" y="2322576"/>
            <a:ext cx="6400800" cy="548640"/>
          </a:xfrm>
          <a:prstGeom prst="rect">
            <a:avLst>
              <a:gd name="adj" fmla="val 6667"/>
            </a:avLst>
          </a:prstGeom>
          <a:solidFill>
            <a:srgbClr val="D9534F"/>
          </a:solidFill>
          <a:ln/>
          <a:effectLst>
            <a:outerShdw sx="100000" sy="100000" kx="0" ky="0" algn="bl" rotWithShape="0" blurRad="76200" dist="25400" dir="8100000">
              <a:srgbClr val="000000">
                <a:alpha val="10000"/>
              </a:srgbClr>
            </a:outerShdw>
          </a:effectLst>
        </p:spPr>
      </p:sp>
      <p:sp>
        <p:nvSpPr>
          <p:cNvPr id="8" name="Text 6"/>
          <p:cNvSpPr/>
          <p:nvPr/>
        </p:nvSpPr>
        <p:spPr>
          <a:xfrm>
            <a:off x="1554480" y="2322576"/>
            <a:ext cx="6126480"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  Kosten zitten niet in de prijs</a:t>
            </a:r>
            <a:endParaRPr lang="en-US" sz="1500" dirty="0"/>
          </a:p>
        </p:txBody>
      </p:sp>
      <p:sp>
        <p:nvSpPr>
          <p:cNvPr id="9" name="Shape 7"/>
          <p:cNvSpPr/>
          <p:nvPr/>
        </p:nvSpPr>
        <p:spPr>
          <a:xfrm>
            <a:off x="1371600" y="2980944"/>
            <a:ext cx="6400800" cy="548640"/>
          </a:xfrm>
          <a:prstGeom prst="rect">
            <a:avLst>
              <a:gd name="adj" fmla="val 6667"/>
            </a:avLst>
          </a:prstGeom>
          <a:solidFill>
            <a:srgbClr val="F9F6F1"/>
          </a:solidFill>
          <a:ln/>
          <a:effectLst>
            <a:outerShdw sx="100000" sy="100000" kx="0" ky="0" algn="bl" rotWithShape="0" blurRad="76200" dist="25400" dir="8100000">
              <a:srgbClr val="000000">
                <a:alpha val="10000"/>
              </a:srgbClr>
            </a:outerShdw>
          </a:effectLst>
        </p:spPr>
      </p:sp>
      <p:sp>
        <p:nvSpPr>
          <p:cNvPr id="10" name="Text 8"/>
          <p:cNvSpPr/>
          <p:nvPr/>
        </p:nvSpPr>
        <p:spPr>
          <a:xfrm>
            <a:off x="1554480" y="2980944"/>
            <a:ext cx="6126480" cy="548640"/>
          </a:xfrm>
          <a:prstGeom prst="rect">
            <a:avLst/>
          </a:prstGeom>
          <a:noFill/>
          <a:ln/>
        </p:spPr>
        <p:txBody>
          <a:bodyPr wrap="square" lIns="0" tIns="0" rIns="0" bIns="0" rtlCol="0" anchor="ctr"/>
          <a:lstStyle/>
          <a:p>
            <a:pPr indent="0" marL="0">
              <a:buNone/>
            </a:pPr>
            <a:r>
              <a:rPr lang="en-US" sz="1500" dirty="0">
                <a:solidFill>
                  <a:srgbClr val="2D3748"/>
                </a:solidFill>
                <a:latin typeface="Arial" pitchFamily="34" charset="0"/>
                <a:ea typeface="Arial" pitchFamily="34" charset="-122"/>
                <a:cs typeface="Arial" pitchFamily="34" charset="-120"/>
              </a:rPr>
              <a:t>↓  Prijs te laag → te veel productie</a:t>
            </a:r>
            <a:endParaRPr lang="en-US" sz="1500" dirty="0"/>
          </a:p>
        </p:txBody>
      </p:sp>
      <p:sp>
        <p:nvSpPr>
          <p:cNvPr id="11" name="Shape 9"/>
          <p:cNvSpPr/>
          <p:nvPr/>
        </p:nvSpPr>
        <p:spPr>
          <a:xfrm>
            <a:off x="1371600" y="3639312"/>
            <a:ext cx="6400800" cy="548640"/>
          </a:xfrm>
          <a:prstGeom prst="rect">
            <a:avLst>
              <a:gd name="adj" fmla="val 6667"/>
            </a:avLst>
          </a:prstGeom>
          <a:solidFill>
            <a:srgbClr val="D9534F"/>
          </a:solidFill>
          <a:ln/>
          <a:effectLst>
            <a:outerShdw sx="100000" sy="100000" kx="0" ky="0" algn="bl" rotWithShape="0" blurRad="76200" dist="25400" dir="8100000">
              <a:srgbClr val="000000">
                <a:alpha val="10000"/>
              </a:srgbClr>
            </a:outerShdw>
          </a:effectLst>
        </p:spPr>
      </p:sp>
      <p:sp>
        <p:nvSpPr>
          <p:cNvPr id="12" name="Text 10"/>
          <p:cNvSpPr/>
          <p:nvPr/>
        </p:nvSpPr>
        <p:spPr>
          <a:xfrm>
            <a:off x="1554480" y="3639312"/>
            <a:ext cx="6126480"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  Welvaartsverlies voor de samenleving</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Negatief extern effect in de grafiek</a:t>
            </a:r>
            <a:endParaRPr lang="en-US" sz="2400" dirty="0"/>
          </a:p>
        </p:txBody>
      </p:sp>
      <p:pic>
        <p:nvPicPr>
          <p:cNvPr id="3" name="Image 0" descr="preencoded.png">    </p:cNvPr>
          <p:cNvPicPr>
            <a:picLocks noChangeAspect="1"/>
          </p:cNvPicPr>
          <p:nvPr/>
        </p:nvPicPr>
        <p:blipFill>
          <a:blip r:embed="rId1"/>
          <a:stretch>
            <a:fillRect/>
          </a:stretch>
        </p:blipFill>
        <p:spPr>
          <a:xfrm>
            <a:off x="914400" y="749808"/>
            <a:ext cx="7315200" cy="3657600"/>
          </a:xfrm>
          <a:prstGeom prst="rect">
            <a:avLst/>
          </a:prstGeom>
        </p:spPr>
      </p:pic>
      <p:sp>
        <p:nvSpPr>
          <p:cNvPr id="4" name="Shape 1"/>
          <p:cNvSpPr/>
          <p:nvPr/>
        </p:nvSpPr>
        <p:spPr>
          <a:xfrm>
            <a:off x="457200" y="4480560"/>
            <a:ext cx="8229600" cy="566928"/>
          </a:xfrm>
          <a:prstGeom prst="rect">
            <a:avLst/>
          </a:prstGeom>
          <a:solidFill>
            <a:srgbClr val="F7F8FA"/>
          </a:solidFill>
          <a:ln w="6350">
            <a:solidFill>
              <a:srgbClr val="CBD5E0"/>
            </a:solidFill>
            <a:prstDash val="solid"/>
          </a:ln>
        </p:spPr>
      </p:sp>
      <p:sp>
        <p:nvSpPr>
          <p:cNvPr id="5" name="Shape 2"/>
          <p:cNvSpPr/>
          <p:nvPr/>
        </p:nvSpPr>
        <p:spPr>
          <a:xfrm>
            <a:off x="566928" y="4636008"/>
            <a:ext cx="201168" cy="201168"/>
          </a:xfrm>
          <a:prstGeom prst="rect">
            <a:avLst/>
          </a:prstGeom>
          <a:solidFill>
            <a:srgbClr val="1A5276"/>
          </a:solidFill>
          <a:ln/>
        </p:spPr>
      </p:sp>
      <p:sp>
        <p:nvSpPr>
          <p:cNvPr id="6" name="Text 3"/>
          <p:cNvSpPr/>
          <p:nvPr/>
        </p:nvSpPr>
        <p:spPr>
          <a:xfrm>
            <a:off x="841248" y="4553712"/>
            <a:ext cx="1600200" cy="420624"/>
          </a:xfrm>
          <a:prstGeom prst="rect">
            <a:avLst/>
          </a:prstGeom>
          <a:noFill/>
          <a:ln/>
        </p:spPr>
        <p:txBody>
          <a:bodyPr wrap="square" lIns="0" tIns="0" rIns="0" bIns="0" rtlCol="0" anchor="ctr"/>
          <a:lstStyle/>
          <a:p>
            <a:pPr indent="0" marL="0">
              <a:lnSpc>
                <a:spcPct val="110000"/>
              </a:lnSpc>
              <a:buNone/>
            </a:pPr>
            <a:r>
              <a:rPr lang="en-US" sz="1100" b="1" dirty="0">
                <a:solidFill>
                  <a:srgbClr val="1A5276"/>
                </a:solidFill>
                <a:latin typeface="Arial" pitchFamily="34" charset="0"/>
                <a:ea typeface="Arial" pitchFamily="34" charset="-122"/>
                <a:cs typeface="Arial" pitchFamily="34" charset="-120"/>
              </a:rPr>
              <a:t>V</a:t>
            </a:r>
            <a:pPr indent="0" marL="0">
              <a:lnSpc>
                <a:spcPct val="110000"/>
              </a:lnSpc>
              <a:buNone/>
            </a:pPr>
            <a:r>
              <a:rPr lang="en-US" sz="1100" dirty="0">
                <a:solidFill>
                  <a:srgbClr val="2D3748"/>
                </a:solidFill>
                <a:latin typeface="Arial" pitchFamily="34" charset="0"/>
                <a:ea typeface="Arial" pitchFamily="34" charset="-122"/>
                <a:cs typeface="Arial" pitchFamily="34" charset="-120"/>
              </a:rPr>
              <a:t>  vraag</a:t>
            </a:r>
            <a:endParaRPr lang="en-US" sz="1100" dirty="0"/>
          </a:p>
        </p:txBody>
      </p:sp>
      <p:sp>
        <p:nvSpPr>
          <p:cNvPr id="7" name="Shape 4"/>
          <p:cNvSpPr/>
          <p:nvPr/>
        </p:nvSpPr>
        <p:spPr>
          <a:xfrm>
            <a:off x="2624328" y="4636008"/>
            <a:ext cx="201168" cy="201168"/>
          </a:xfrm>
          <a:prstGeom prst="rect">
            <a:avLst/>
          </a:prstGeom>
          <a:solidFill>
            <a:srgbClr val="1E8449"/>
          </a:solidFill>
          <a:ln/>
        </p:spPr>
      </p:sp>
      <p:sp>
        <p:nvSpPr>
          <p:cNvPr id="8" name="Text 5"/>
          <p:cNvSpPr/>
          <p:nvPr/>
        </p:nvSpPr>
        <p:spPr>
          <a:xfrm>
            <a:off x="2898648" y="4553712"/>
            <a:ext cx="1600200" cy="420624"/>
          </a:xfrm>
          <a:prstGeom prst="rect">
            <a:avLst/>
          </a:prstGeom>
          <a:noFill/>
          <a:ln/>
        </p:spPr>
        <p:txBody>
          <a:bodyPr wrap="square" lIns="0" tIns="0" rIns="0" bIns="0" rtlCol="0" anchor="ctr"/>
          <a:lstStyle/>
          <a:p>
            <a:pPr indent="0" marL="0">
              <a:lnSpc>
                <a:spcPct val="110000"/>
              </a:lnSpc>
              <a:buNone/>
            </a:pPr>
            <a:r>
              <a:rPr lang="en-US" sz="1100" b="1" dirty="0">
                <a:solidFill>
                  <a:srgbClr val="1E8449"/>
                </a:solidFill>
                <a:latin typeface="Arial" pitchFamily="34" charset="0"/>
                <a:ea typeface="Arial" pitchFamily="34" charset="-122"/>
                <a:cs typeface="Arial" pitchFamily="34" charset="-120"/>
              </a:rPr>
              <a:t>MPK</a:t>
            </a:r>
            <a:pPr indent="0" marL="0">
              <a:lnSpc>
                <a:spcPct val="110000"/>
              </a:lnSpc>
              <a:buNone/>
            </a:pPr>
            <a:r>
              <a:rPr lang="en-US" sz="1100" dirty="0">
                <a:solidFill>
                  <a:srgbClr val="2D3748"/>
                </a:solidFill>
                <a:latin typeface="Arial" pitchFamily="34" charset="0"/>
                <a:ea typeface="Arial" pitchFamily="34" charset="-122"/>
                <a:cs typeface="Arial" pitchFamily="34" charset="-120"/>
              </a:rPr>
              <a:t>  private kosten</a:t>
            </a:r>
            <a:endParaRPr lang="en-US" sz="1100" dirty="0"/>
          </a:p>
        </p:txBody>
      </p:sp>
      <p:sp>
        <p:nvSpPr>
          <p:cNvPr id="9" name="Shape 6"/>
          <p:cNvSpPr/>
          <p:nvPr/>
        </p:nvSpPr>
        <p:spPr>
          <a:xfrm>
            <a:off x="4681728" y="4636008"/>
            <a:ext cx="201168" cy="201168"/>
          </a:xfrm>
          <a:prstGeom prst="rect">
            <a:avLst/>
          </a:prstGeom>
          <a:solidFill>
            <a:srgbClr val="E67E22"/>
          </a:solidFill>
          <a:ln/>
        </p:spPr>
      </p:sp>
      <p:sp>
        <p:nvSpPr>
          <p:cNvPr id="10" name="Text 7"/>
          <p:cNvSpPr/>
          <p:nvPr/>
        </p:nvSpPr>
        <p:spPr>
          <a:xfrm>
            <a:off x="4956048" y="4553712"/>
            <a:ext cx="1600200" cy="420624"/>
          </a:xfrm>
          <a:prstGeom prst="rect">
            <a:avLst/>
          </a:prstGeom>
          <a:noFill/>
          <a:ln/>
        </p:spPr>
        <p:txBody>
          <a:bodyPr wrap="square" lIns="0" tIns="0" rIns="0" bIns="0" rtlCol="0" anchor="ctr"/>
          <a:lstStyle/>
          <a:p>
            <a:pPr indent="0" marL="0">
              <a:lnSpc>
                <a:spcPct val="110000"/>
              </a:lnSpc>
              <a:buNone/>
            </a:pPr>
            <a:r>
              <a:rPr lang="en-US" sz="1100" b="1" dirty="0">
                <a:solidFill>
                  <a:srgbClr val="E67E22"/>
                </a:solidFill>
                <a:latin typeface="Arial" pitchFamily="34" charset="0"/>
                <a:ea typeface="Arial" pitchFamily="34" charset="-122"/>
                <a:cs typeface="Arial" pitchFamily="34" charset="-120"/>
              </a:rPr>
              <a:t>MMK</a:t>
            </a:r>
            <a:pPr indent="0" marL="0">
              <a:lnSpc>
                <a:spcPct val="110000"/>
              </a:lnSpc>
              <a:buNone/>
            </a:pPr>
            <a:r>
              <a:rPr lang="en-US" sz="1100" dirty="0">
                <a:solidFill>
                  <a:srgbClr val="2D3748"/>
                </a:solidFill>
                <a:latin typeface="Arial" pitchFamily="34" charset="0"/>
                <a:ea typeface="Arial" pitchFamily="34" charset="-122"/>
                <a:cs typeface="Arial" pitchFamily="34" charset="-120"/>
              </a:rPr>
              <a:t>  MPK + externe kosten</a:t>
            </a:r>
            <a:endParaRPr lang="en-US" sz="1100" dirty="0"/>
          </a:p>
        </p:txBody>
      </p:sp>
      <p:sp>
        <p:nvSpPr>
          <p:cNvPr id="11" name="Shape 8"/>
          <p:cNvSpPr/>
          <p:nvPr/>
        </p:nvSpPr>
        <p:spPr>
          <a:xfrm>
            <a:off x="6739128" y="4636008"/>
            <a:ext cx="201168" cy="201168"/>
          </a:xfrm>
          <a:prstGeom prst="rect">
            <a:avLst/>
          </a:prstGeom>
          <a:solidFill>
            <a:srgbClr val="D9534F"/>
          </a:solidFill>
          <a:ln/>
        </p:spPr>
      </p:sp>
      <p:sp>
        <p:nvSpPr>
          <p:cNvPr id="12" name="Text 9"/>
          <p:cNvSpPr/>
          <p:nvPr/>
        </p:nvSpPr>
        <p:spPr>
          <a:xfrm>
            <a:off x="7013448" y="4553712"/>
            <a:ext cx="1600200" cy="420624"/>
          </a:xfrm>
          <a:prstGeom prst="rect">
            <a:avLst/>
          </a:prstGeom>
          <a:noFill/>
          <a:ln/>
        </p:spPr>
        <p:txBody>
          <a:bodyPr wrap="square" lIns="0" tIns="0" rIns="0" bIns="0" rtlCol="0" anchor="ctr"/>
          <a:lstStyle/>
          <a:p>
            <a:pPr indent="0" marL="0">
              <a:lnSpc>
                <a:spcPct val="110000"/>
              </a:lnSpc>
              <a:buNone/>
            </a:pPr>
            <a:r>
              <a:rPr lang="en-US" sz="1100" b="1" dirty="0">
                <a:solidFill>
                  <a:srgbClr val="D9534F"/>
                </a:solidFill>
                <a:latin typeface="Arial" pitchFamily="34" charset="0"/>
                <a:ea typeface="Arial" pitchFamily="34" charset="-122"/>
                <a:cs typeface="Arial" pitchFamily="34" charset="-120"/>
              </a:rPr>
              <a:t>▲</a:t>
            </a:r>
            <a:pPr indent="0" marL="0">
              <a:lnSpc>
                <a:spcPct val="110000"/>
              </a:lnSpc>
              <a:buNone/>
            </a:pPr>
            <a:r>
              <a:rPr lang="en-US" sz="1100" dirty="0">
                <a:solidFill>
                  <a:srgbClr val="2D3748"/>
                </a:solidFill>
                <a:latin typeface="Arial" pitchFamily="34" charset="0"/>
                <a:ea typeface="Arial" pitchFamily="34" charset="-122"/>
                <a:cs typeface="Arial" pitchFamily="34" charset="-120"/>
              </a:rPr>
              <a:t>  welvaartsverlies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Positief extern effect — wat gebeurt er?</a:t>
            </a:r>
            <a:endParaRPr lang="en-US" sz="2400" dirty="0"/>
          </a:p>
        </p:txBody>
      </p:sp>
      <p:sp>
        <p:nvSpPr>
          <p:cNvPr id="3" name="Shape 1"/>
          <p:cNvSpPr/>
          <p:nvPr/>
        </p:nvSpPr>
        <p:spPr>
          <a:xfrm>
            <a:off x="1371600" y="1005840"/>
            <a:ext cx="6400800" cy="548640"/>
          </a:xfrm>
          <a:prstGeom prst="rect">
            <a:avLst>
              <a:gd name="adj" fmla="val 6667"/>
            </a:avLst>
          </a:prstGeom>
          <a:solidFill>
            <a:srgbClr val="F9F6F1"/>
          </a:solidFill>
          <a:ln/>
          <a:effectLst>
            <a:outerShdw sx="100000" sy="100000" kx="0" ky="0" algn="bl" rotWithShape="0" blurRad="76200" dist="25400" dir="8100000">
              <a:srgbClr val="000000">
                <a:alpha val="10000"/>
              </a:srgbClr>
            </a:outerShdw>
          </a:effectLst>
        </p:spPr>
      </p:sp>
      <p:sp>
        <p:nvSpPr>
          <p:cNvPr id="4" name="Text 2"/>
          <p:cNvSpPr/>
          <p:nvPr/>
        </p:nvSpPr>
        <p:spPr>
          <a:xfrm>
            <a:off x="1554480" y="1005840"/>
            <a:ext cx="6126480" cy="548640"/>
          </a:xfrm>
          <a:prstGeom prst="rect">
            <a:avLst/>
          </a:prstGeom>
          <a:noFill/>
          <a:ln/>
        </p:spPr>
        <p:txBody>
          <a:bodyPr wrap="square" lIns="0" tIns="0" rIns="0" bIns="0" rtlCol="0" anchor="ctr"/>
          <a:lstStyle/>
          <a:p>
            <a:pPr indent="0" marL="0">
              <a:buNone/>
            </a:pPr>
            <a:r>
              <a:rPr lang="en-US" sz="1500" dirty="0">
                <a:solidFill>
                  <a:srgbClr val="2D3748"/>
                </a:solidFill>
                <a:latin typeface="Arial" pitchFamily="34" charset="0"/>
                <a:ea typeface="Arial" pitchFamily="34" charset="-122"/>
                <a:cs typeface="Arial" pitchFamily="34" charset="-120"/>
              </a:rPr>
              <a:t>Iemand koopt / consumeert</a:t>
            </a:r>
            <a:endParaRPr lang="en-US" sz="1500" dirty="0"/>
          </a:p>
        </p:txBody>
      </p:sp>
      <p:sp>
        <p:nvSpPr>
          <p:cNvPr id="5" name="Shape 3"/>
          <p:cNvSpPr/>
          <p:nvPr/>
        </p:nvSpPr>
        <p:spPr>
          <a:xfrm>
            <a:off x="1371600" y="1664208"/>
            <a:ext cx="6400800" cy="548640"/>
          </a:xfrm>
          <a:prstGeom prst="rect">
            <a:avLst>
              <a:gd name="adj" fmla="val 6667"/>
            </a:avLst>
          </a:prstGeom>
          <a:solidFill>
            <a:srgbClr val="F9F6F1"/>
          </a:solidFill>
          <a:ln/>
          <a:effectLst>
            <a:outerShdw sx="100000" sy="100000" kx="0" ky="0" algn="bl" rotWithShape="0" blurRad="76200" dist="25400" dir="8100000">
              <a:srgbClr val="000000">
                <a:alpha val="10000"/>
              </a:srgbClr>
            </a:outerShdw>
          </a:effectLst>
        </p:spPr>
      </p:sp>
      <p:sp>
        <p:nvSpPr>
          <p:cNvPr id="6" name="Text 4"/>
          <p:cNvSpPr/>
          <p:nvPr/>
        </p:nvSpPr>
        <p:spPr>
          <a:xfrm>
            <a:off x="1554480" y="1664208"/>
            <a:ext cx="6126480" cy="548640"/>
          </a:xfrm>
          <a:prstGeom prst="rect">
            <a:avLst/>
          </a:prstGeom>
          <a:noFill/>
          <a:ln/>
        </p:spPr>
        <p:txBody>
          <a:bodyPr wrap="square" lIns="0" tIns="0" rIns="0" bIns="0" rtlCol="0" anchor="ctr"/>
          <a:lstStyle/>
          <a:p>
            <a:pPr indent="0" marL="0">
              <a:buNone/>
            </a:pPr>
            <a:r>
              <a:rPr lang="en-US" sz="1500" dirty="0">
                <a:solidFill>
                  <a:srgbClr val="2D3748"/>
                </a:solidFill>
                <a:latin typeface="Arial" pitchFamily="34" charset="0"/>
                <a:ea typeface="Arial" pitchFamily="34" charset="-122"/>
                <a:cs typeface="Arial" pitchFamily="34" charset="-120"/>
              </a:rPr>
              <a:t>↓  Derden profiteren mee (meelifter)</a:t>
            </a:r>
            <a:endParaRPr lang="en-US" sz="1500" dirty="0"/>
          </a:p>
        </p:txBody>
      </p:sp>
      <p:sp>
        <p:nvSpPr>
          <p:cNvPr id="7" name="Shape 5"/>
          <p:cNvSpPr/>
          <p:nvPr/>
        </p:nvSpPr>
        <p:spPr>
          <a:xfrm>
            <a:off x="1371600" y="2322576"/>
            <a:ext cx="6400800" cy="548640"/>
          </a:xfrm>
          <a:prstGeom prst="rect">
            <a:avLst>
              <a:gd name="adj" fmla="val 6667"/>
            </a:avLst>
          </a:prstGeom>
          <a:solidFill>
            <a:srgbClr val="1A5276"/>
          </a:solidFill>
          <a:ln/>
          <a:effectLst>
            <a:outerShdw sx="100000" sy="100000" kx="0" ky="0" algn="bl" rotWithShape="0" blurRad="76200" dist="25400" dir="8100000">
              <a:srgbClr val="000000">
                <a:alpha val="10000"/>
              </a:srgbClr>
            </a:outerShdw>
          </a:effectLst>
        </p:spPr>
      </p:sp>
      <p:sp>
        <p:nvSpPr>
          <p:cNvPr id="8" name="Text 6"/>
          <p:cNvSpPr/>
          <p:nvPr/>
        </p:nvSpPr>
        <p:spPr>
          <a:xfrm>
            <a:off x="1554480" y="2322576"/>
            <a:ext cx="6126480"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  Baten zitten niet in de prijs</a:t>
            </a:r>
            <a:endParaRPr lang="en-US" sz="1500" dirty="0"/>
          </a:p>
        </p:txBody>
      </p:sp>
      <p:sp>
        <p:nvSpPr>
          <p:cNvPr id="9" name="Shape 7"/>
          <p:cNvSpPr/>
          <p:nvPr/>
        </p:nvSpPr>
        <p:spPr>
          <a:xfrm>
            <a:off x="1371600" y="2980944"/>
            <a:ext cx="6400800" cy="548640"/>
          </a:xfrm>
          <a:prstGeom prst="rect">
            <a:avLst>
              <a:gd name="adj" fmla="val 6667"/>
            </a:avLst>
          </a:prstGeom>
          <a:solidFill>
            <a:srgbClr val="F9F6F1"/>
          </a:solidFill>
          <a:ln/>
          <a:effectLst>
            <a:outerShdw sx="100000" sy="100000" kx="0" ky="0" algn="bl" rotWithShape="0" blurRad="76200" dist="25400" dir="8100000">
              <a:srgbClr val="000000">
                <a:alpha val="10000"/>
              </a:srgbClr>
            </a:outerShdw>
          </a:effectLst>
        </p:spPr>
      </p:sp>
      <p:sp>
        <p:nvSpPr>
          <p:cNvPr id="10" name="Text 8"/>
          <p:cNvSpPr/>
          <p:nvPr/>
        </p:nvSpPr>
        <p:spPr>
          <a:xfrm>
            <a:off x="1554480" y="2980944"/>
            <a:ext cx="6126480" cy="548640"/>
          </a:xfrm>
          <a:prstGeom prst="rect">
            <a:avLst/>
          </a:prstGeom>
          <a:noFill/>
          <a:ln/>
        </p:spPr>
        <p:txBody>
          <a:bodyPr wrap="square" lIns="0" tIns="0" rIns="0" bIns="0" rtlCol="0" anchor="ctr"/>
          <a:lstStyle/>
          <a:p>
            <a:pPr indent="0" marL="0">
              <a:buNone/>
            </a:pPr>
            <a:r>
              <a:rPr lang="en-US" sz="1500" dirty="0">
                <a:solidFill>
                  <a:srgbClr val="2D3748"/>
                </a:solidFill>
                <a:latin typeface="Arial" pitchFamily="34" charset="0"/>
                <a:ea typeface="Arial" pitchFamily="34" charset="-122"/>
                <a:cs typeface="Arial" pitchFamily="34" charset="-120"/>
              </a:rPr>
              <a:t>↓  Prijs te hoog → te weinig consumptie</a:t>
            </a:r>
            <a:endParaRPr lang="en-US" sz="1500" dirty="0"/>
          </a:p>
        </p:txBody>
      </p:sp>
      <p:sp>
        <p:nvSpPr>
          <p:cNvPr id="11" name="Shape 9"/>
          <p:cNvSpPr/>
          <p:nvPr/>
        </p:nvSpPr>
        <p:spPr>
          <a:xfrm>
            <a:off x="1371600" y="3639312"/>
            <a:ext cx="6400800" cy="548640"/>
          </a:xfrm>
          <a:prstGeom prst="rect">
            <a:avLst>
              <a:gd name="adj" fmla="val 6667"/>
            </a:avLst>
          </a:prstGeom>
          <a:solidFill>
            <a:srgbClr val="1A5276"/>
          </a:solidFill>
          <a:ln/>
          <a:effectLst>
            <a:outerShdw sx="100000" sy="100000" kx="0" ky="0" algn="bl" rotWithShape="0" blurRad="76200" dist="25400" dir="8100000">
              <a:srgbClr val="000000">
                <a:alpha val="10000"/>
              </a:srgbClr>
            </a:outerShdw>
          </a:effectLst>
        </p:spPr>
      </p:sp>
      <p:sp>
        <p:nvSpPr>
          <p:cNvPr id="12" name="Text 10"/>
          <p:cNvSpPr/>
          <p:nvPr/>
        </p:nvSpPr>
        <p:spPr>
          <a:xfrm>
            <a:off x="1554480" y="3639312"/>
            <a:ext cx="6126480"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  Welvaartsverlies voor de samenleving</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Positief extern effect in de grafiek</a:t>
            </a:r>
            <a:endParaRPr lang="en-US" sz="2400" dirty="0"/>
          </a:p>
        </p:txBody>
      </p:sp>
      <p:pic>
        <p:nvPicPr>
          <p:cNvPr id="3" name="Image 0" descr="preencoded.png">    </p:cNvPr>
          <p:cNvPicPr>
            <a:picLocks noChangeAspect="1"/>
          </p:cNvPicPr>
          <p:nvPr/>
        </p:nvPicPr>
        <p:blipFill>
          <a:blip r:embed="rId1"/>
          <a:stretch>
            <a:fillRect/>
          </a:stretch>
        </p:blipFill>
        <p:spPr>
          <a:xfrm>
            <a:off x="914400" y="749808"/>
            <a:ext cx="7315200" cy="3657600"/>
          </a:xfrm>
          <a:prstGeom prst="rect">
            <a:avLst/>
          </a:prstGeom>
        </p:spPr>
      </p:pic>
      <p:sp>
        <p:nvSpPr>
          <p:cNvPr id="4" name="Shape 1"/>
          <p:cNvSpPr/>
          <p:nvPr/>
        </p:nvSpPr>
        <p:spPr>
          <a:xfrm>
            <a:off x="457200" y="4480560"/>
            <a:ext cx="8229600" cy="566928"/>
          </a:xfrm>
          <a:prstGeom prst="rect">
            <a:avLst/>
          </a:prstGeom>
          <a:solidFill>
            <a:srgbClr val="F7F8FA"/>
          </a:solidFill>
          <a:ln w="6350">
            <a:solidFill>
              <a:srgbClr val="CBD5E0"/>
            </a:solidFill>
            <a:prstDash val="solid"/>
          </a:ln>
        </p:spPr>
      </p:sp>
      <p:sp>
        <p:nvSpPr>
          <p:cNvPr id="5" name="Shape 2"/>
          <p:cNvSpPr/>
          <p:nvPr/>
        </p:nvSpPr>
        <p:spPr>
          <a:xfrm>
            <a:off x="566928" y="4636008"/>
            <a:ext cx="201168" cy="201168"/>
          </a:xfrm>
          <a:prstGeom prst="rect">
            <a:avLst/>
          </a:prstGeom>
          <a:solidFill>
            <a:srgbClr val="1E8449"/>
          </a:solidFill>
          <a:ln/>
        </p:spPr>
      </p:sp>
      <p:sp>
        <p:nvSpPr>
          <p:cNvPr id="6" name="Text 3"/>
          <p:cNvSpPr/>
          <p:nvPr/>
        </p:nvSpPr>
        <p:spPr>
          <a:xfrm>
            <a:off x="841248" y="4553712"/>
            <a:ext cx="1600200" cy="420624"/>
          </a:xfrm>
          <a:prstGeom prst="rect">
            <a:avLst/>
          </a:prstGeom>
          <a:noFill/>
          <a:ln/>
        </p:spPr>
        <p:txBody>
          <a:bodyPr wrap="square" lIns="0" tIns="0" rIns="0" bIns="0" rtlCol="0" anchor="ctr"/>
          <a:lstStyle/>
          <a:p>
            <a:pPr indent="0" marL="0">
              <a:lnSpc>
                <a:spcPct val="110000"/>
              </a:lnSpc>
              <a:buNone/>
            </a:pPr>
            <a:r>
              <a:rPr lang="en-US" sz="1100" b="1" dirty="0">
                <a:solidFill>
                  <a:srgbClr val="1E8449"/>
                </a:solidFill>
                <a:latin typeface="Arial" pitchFamily="34" charset="0"/>
                <a:ea typeface="Arial" pitchFamily="34" charset="-122"/>
                <a:cs typeface="Arial" pitchFamily="34" charset="-120"/>
              </a:rPr>
              <a:t>A</a:t>
            </a:r>
            <a:pPr indent="0" marL="0">
              <a:lnSpc>
                <a:spcPct val="110000"/>
              </a:lnSpc>
              <a:buNone/>
            </a:pPr>
            <a:r>
              <a:rPr lang="en-US" sz="1100" dirty="0">
                <a:solidFill>
                  <a:srgbClr val="2D3748"/>
                </a:solidFill>
                <a:latin typeface="Arial" pitchFamily="34" charset="0"/>
                <a:ea typeface="Arial" pitchFamily="34" charset="-122"/>
                <a:cs typeface="Arial" pitchFamily="34" charset="-120"/>
              </a:rPr>
              <a:t>  aanbod</a:t>
            </a:r>
            <a:endParaRPr lang="en-US" sz="1100" dirty="0"/>
          </a:p>
        </p:txBody>
      </p:sp>
      <p:sp>
        <p:nvSpPr>
          <p:cNvPr id="7" name="Shape 4"/>
          <p:cNvSpPr/>
          <p:nvPr/>
        </p:nvSpPr>
        <p:spPr>
          <a:xfrm>
            <a:off x="2624328" y="4636008"/>
            <a:ext cx="201168" cy="201168"/>
          </a:xfrm>
          <a:prstGeom prst="rect">
            <a:avLst/>
          </a:prstGeom>
          <a:solidFill>
            <a:srgbClr val="1A5276"/>
          </a:solidFill>
          <a:ln/>
        </p:spPr>
      </p:sp>
      <p:sp>
        <p:nvSpPr>
          <p:cNvPr id="8" name="Text 5"/>
          <p:cNvSpPr/>
          <p:nvPr/>
        </p:nvSpPr>
        <p:spPr>
          <a:xfrm>
            <a:off x="2898648" y="4553712"/>
            <a:ext cx="1600200" cy="420624"/>
          </a:xfrm>
          <a:prstGeom prst="rect">
            <a:avLst/>
          </a:prstGeom>
          <a:noFill/>
          <a:ln/>
        </p:spPr>
        <p:txBody>
          <a:bodyPr wrap="square" lIns="0" tIns="0" rIns="0" bIns="0" rtlCol="0" anchor="ctr"/>
          <a:lstStyle/>
          <a:p>
            <a:pPr indent="0" marL="0">
              <a:lnSpc>
                <a:spcPct val="110000"/>
              </a:lnSpc>
              <a:buNone/>
            </a:pPr>
            <a:r>
              <a:rPr lang="en-US" sz="1100" b="1" dirty="0">
                <a:solidFill>
                  <a:srgbClr val="1A5276"/>
                </a:solidFill>
                <a:latin typeface="Arial" pitchFamily="34" charset="0"/>
                <a:ea typeface="Arial" pitchFamily="34" charset="-122"/>
                <a:cs typeface="Arial" pitchFamily="34" charset="-120"/>
              </a:rPr>
              <a:t>MPB</a:t>
            </a:r>
            <a:pPr indent="0" marL="0">
              <a:lnSpc>
                <a:spcPct val="110000"/>
              </a:lnSpc>
              <a:buNone/>
            </a:pPr>
            <a:r>
              <a:rPr lang="en-US" sz="1100" dirty="0">
                <a:solidFill>
                  <a:srgbClr val="2D3748"/>
                </a:solidFill>
                <a:latin typeface="Arial" pitchFamily="34" charset="0"/>
                <a:ea typeface="Arial" pitchFamily="34" charset="-122"/>
                <a:cs typeface="Arial" pitchFamily="34" charset="-120"/>
              </a:rPr>
              <a:t>  private baten</a:t>
            </a:r>
            <a:endParaRPr lang="en-US" sz="1100" dirty="0"/>
          </a:p>
        </p:txBody>
      </p:sp>
      <p:sp>
        <p:nvSpPr>
          <p:cNvPr id="9" name="Shape 6"/>
          <p:cNvSpPr/>
          <p:nvPr/>
        </p:nvSpPr>
        <p:spPr>
          <a:xfrm>
            <a:off x="4681728" y="4636008"/>
            <a:ext cx="201168" cy="201168"/>
          </a:xfrm>
          <a:prstGeom prst="rect">
            <a:avLst/>
          </a:prstGeom>
          <a:solidFill>
            <a:srgbClr val="E67E22"/>
          </a:solidFill>
          <a:ln/>
        </p:spPr>
      </p:sp>
      <p:sp>
        <p:nvSpPr>
          <p:cNvPr id="10" name="Text 7"/>
          <p:cNvSpPr/>
          <p:nvPr/>
        </p:nvSpPr>
        <p:spPr>
          <a:xfrm>
            <a:off x="4956048" y="4553712"/>
            <a:ext cx="1600200" cy="420624"/>
          </a:xfrm>
          <a:prstGeom prst="rect">
            <a:avLst/>
          </a:prstGeom>
          <a:noFill/>
          <a:ln/>
        </p:spPr>
        <p:txBody>
          <a:bodyPr wrap="square" lIns="0" tIns="0" rIns="0" bIns="0" rtlCol="0" anchor="ctr"/>
          <a:lstStyle/>
          <a:p>
            <a:pPr indent="0" marL="0">
              <a:lnSpc>
                <a:spcPct val="110000"/>
              </a:lnSpc>
              <a:buNone/>
            </a:pPr>
            <a:r>
              <a:rPr lang="en-US" sz="1100" b="1" dirty="0">
                <a:solidFill>
                  <a:srgbClr val="E67E22"/>
                </a:solidFill>
                <a:latin typeface="Arial" pitchFamily="34" charset="0"/>
                <a:ea typeface="Arial" pitchFamily="34" charset="-122"/>
                <a:cs typeface="Arial" pitchFamily="34" charset="-120"/>
              </a:rPr>
              <a:t>MMB</a:t>
            </a:r>
            <a:pPr indent="0" marL="0">
              <a:lnSpc>
                <a:spcPct val="110000"/>
              </a:lnSpc>
              <a:buNone/>
            </a:pPr>
            <a:r>
              <a:rPr lang="en-US" sz="1100" dirty="0">
                <a:solidFill>
                  <a:srgbClr val="2D3748"/>
                </a:solidFill>
                <a:latin typeface="Arial" pitchFamily="34" charset="0"/>
                <a:ea typeface="Arial" pitchFamily="34" charset="-122"/>
                <a:cs typeface="Arial" pitchFamily="34" charset="-120"/>
              </a:rPr>
              <a:t>  MPB + externe baten</a:t>
            </a:r>
            <a:endParaRPr lang="en-US" sz="1100" dirty="0"/>
          </a:p>
        </p:txBody>
      </p:sp>
      <p:sp>
        <p:nvSpPr>
          <p:cNvPr id="11" name="Shape 8"/>
          <p:cNvSpPr/>
          <p:nvPr/>
        </p:nvSpPr>
        <p:spPr>
          <a:xfrm>
            <a:off x="6739128" y="4636008"/>
            <a:ext cx="201168" cy="201168"/>
          </a:xfrm>
          <a:prstGeom prst="rect">
            <a:avLst/>
          </a:prstGeom>
          <a:solidFill>
            <a:srgbClr val="D9534F"/>
          </a:solidFill>
          <a:ln/>
        </p:spPr>
      </p:sp>
      <p:sp>
        <p:nvSpPr>
          <p:cNvPr id="12" name="Text 9"/>
          <p:cNvSpPr/>
          <p:nvPr/>
        </p:nvSpPr>
        <p:spPr>
          <a:xfrm>
            <a:off x="7013448" y="4553712"/>
            <a:ext cx="1600200" cy="420624"/>
          </a:xfrm>
          <a:prstGeom prst="rect">
            <a:avLst/>
          </a:prstGeom>
          <a:noFill/>
          <a:ln/>
        </p:spPr>
        <p:txBody>
          <a:bodyPr wrap="square" lIns="0" tIns="0" rIns="0" bIns="0" rtlCol="0" anchor="ctr"/>
          <a:lstStyle/>
          <a:p>
            <a:pPr indent="0" marL="0">
              <a:lnSpc>
                <a:spcPct val="110000"/>
              </a:lnSpc>
              <a:buNone/>
            </a:pPr>
            <a:r>
              <a:rPr lang="en-US" sz="1100" b="1" dirty="0">
                <a:solidFill>
                  <a:srgbClr val="D9534F"/>
                </a:solidFill>
                <a:latin typeface="Arial" pitchFamily="34" charset="0"/>
                <a:ea typeface="Arial" pitchFamily="34" charset="-122"/>
                <a:cs typeface="Arial" pitchFamily="34" charset="-120"/>
              </a:rPr>
              <a:t>▲</a:t>
            </a:r>
            <a:pPr indent="0" marL="0">
              <a:lnSpc>
                <a:spcPct val="110000"/>
              </a:lnSpc>
              <a:buNone/>
            </a:pPr>
            <a:r>
              <a:rPr lang="en-US" sz="1100" dirty="0">
                <a:solidFill>
                  <a:srgbClr val="2D3748"/>
                </a:solidFill>
                <a:latin typeface="Arial" pitchFamily="34" charset="0"/>
                <a:ea typeface="Arial" pitchFamily="34" charset="-122"/>
                <a:cs typeface="Arial" pitchFamily="34" charset="-120"/>
              </a:rPr>
              <a:t>  welvaartsverlies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Negatief vs. positief extern effect</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2560320"/>
                <a:gridCol w="2834640"/>
                <a:gridCol w="2834640"/>
              </a:tblGrid>
              <a:tr h="0">
                <a:tc>
                  <a:txBody>
                    <a:bodyPr/>
                    <a:lstStyle/>
                    <a:p>
                      <a:pPr indent="0" marL="0">
                        <a:buNone/>
                      </a:pPr>
                      <a:r>
                        <a:rPr lang="en-US" sz="1300" b="1" dirty="0">
                          <a:solidFill>
                            <a:srgbClr val="FFFFFF"/>
                          </a:solidFill>
                          <a:latin typeface="Arial" pitchFamily="34" charset="0"/>
                          <a:ea typeface="Arial" pitchFamily="34" charset="-122"/>
                          <a:cs typeface="Arial" pitchFamily="34" charset="-120"/>
                        </a:rPr>
                        <a:t>Kenmerk</a:t>
                      </a:r>
                      <a:endParaRPr lang="en-US" sz="13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Negatief</a:t>
                      </a:r>
                      <a:endParaRPr lang="en-US" sz="13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Positief</a:t>
                      </a:r>
                      <a:endParaRPr lang="en-US" sz="13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E2761"/>
                    </a:solidFill>
                  </a:tcPr>
                </a:tc>
              </a:tr>
              <a:tr h="0">
                <a:tc>
                  <a:txBody>
                    <a:bodyPr/>
                    <a:lstStyle/>
                    <a:p>
                      <a:pPr indent="0" marL="0">
                        <a:buNone/>
                      </a:pPr>
                      <a:r>
                        <a:rPr lang="en-US" sz="1200" b="1" dirty="0">
                          <a:solidFill>
                            <a:srgbClr val="000000"/>
                          </a:solidFill>
                          <a:latin typeface="Arial" pitchFamily="34" charset="0"/>
                          <a:ea typeface="Arial" pitchFamily="34" charset="-122"/>
                          <a:cs typeface="Arial" pitchFamily="34" charset="-120"/>
                        </a:rPr>
                        <a:t>Wat zit buiten de prijs?</a:t>
                      </a:r>
                      <a:endParaRPr lang="en-US" sz="12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Kosten voor derden</a:t>
                      </a:r>
                      <a:endParaRPr lang="en-US" sz="12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Baten voor derden</a:t>
                      </a:r>
                      <a:endParaRPr lang="en-US" sz="12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r>
              <a:tr h="0">
                <a:tc>
                  <a:txBody>
                    <a:bodyPr/>
                    <a:lstStyle/>
                    <a:p>
                      <a:pPr indent="0" marL="0">
                        <a:buNone/>
                      </a:pPr>
                      <a:r>
                        <a:rPr lang="en-US" sz="1200" b="1" dirty="0">
                          <a:solidFill>
                            <a:srgbClr val="000000"/>
                          </a:solidFill>
                          <a:latin typeface="Arial" pitchFamily="34" charset="0"/>
                          <a:ea typeface="Arial" pitchFamily="34" charset="-122"/>
                          <a:cs typeface="Arial" pitchFamily="34" charset="-120"/>
                        </a:rPr>
                        <a:t>Effect op prijs</a:t>
                      </a:r>
                      <a:endParaRPr lang="en-US" sz="12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Te laag</a:t>
                      </a:r>
                      <a:endParaRPr lang="en-US" sz="12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Te hoog</a:t>
                      </a:r>
                      <a:endParaRPr lang="en-US" sz="12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r>
              <a:tr h="0">
                <a:tc>
                  <a:txBody>
                    <a:bodyPr/>
                    <a:lstStyle/>
                    <a:p>
                      <a:pPr indent="0" marL="0">
                        <a:buNone/>
                      </a:pPr>
                      <a:r>
                        <a:rPr lang="en-US" sz="1200" b="1" dirty="0">
                          <a:solidFill>
                            <a:srgbClr val="000000"/>
                          </a:solidFill>
                          <a:latin typeface="Arial" pitchFamily="34" charset="0"/>
                          <a:ea typeface="Arial" pitchFamily="34" charset="-122"/>
                          <a:cs typeface="Arial" pitchFamily="34" charset="-120"/>
                        </a:rPr>
                        <a:t>Effect op hoeveelheid</a:t>
                      </a:r>
                      <a:endParaRPr lang="en-US" sz="12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Te veel productie</a:t>
                      </a:r>
                      <a:endParaRPr lang="en-US" sz="12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Te weinig consumptie</a:t>
                      </a:r>
                      <a:endParaRPr lang="en-US" sz="12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r>
              <a:tr h="0">
                <a:tc>
                  <a:txBody>
                    <a:bodyPr/>
                    <a:lstStyle/>
                    <a:p>
                      <a:pPr indent="0" marL="0">
                        <a:buNone/>
                      </a:pPr>
                      <a:r>
                        <a:rPr lang="en-US" sz="1200" b="1" dirty="0">
                          <a:solidFill>
                            <a:srgbClr val="000000"/>
                          </a:solidFill>
                          <a:latin typeface="Arial" pitchFamily="34" charset="0"/>
                          <a:ea typeface="Arial" pitchFamily="34" charset="-122"/>
                          <a:cs typeface="Arial" pitchFamily="34" charset="-120"/>
                        </a:rPr>
                        <a:t>Welke curve verschuift?</a:t>
                      </a:r>
                      <a:endParaRPr lang="en-US" sz="12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A/MPK → MMK (omhoog)</a:t>
                      </a:r>
                      <a:endParaRPr lang="en-US" sz="12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V/MPB → MMB (naar rechts)</a:t>
                      </a:r>
                      <a:endParaRPr lang="en-US" sz="12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r>
              <a:tr h="0">
                <a:tc>
                  <a:txBody>
                    <a:bodyPr/>
                    <a:lstStyle/>
                    <a:p>
                      <a:pPr indent="0" marL="0">
                        <a:buNone/>
                      </a:pPr>
                      <a:r>
                        <a:rPr lang="en-US" sz="1200" b="1" dirty="0">
                          <a:solidFill>
                            <a:srgbClr val="000000"/>
                          </a:solidFill>
                          <a:latin typeface="Arial" pitchFamily="34" charset="0"/>
                          <a:ea typeface="Arial" pitchFamily="34" charset="-122"/>
                          <a:cs typeface="Arial" pitchFamily="34" charset="-120"/>
                        </a:rPr>
                        <a:t>Voorbeelden</a:t>
                      </a:r>
                      <a:endParaRPr lang="en-US" sz="12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Luchtvervuiling, geluidsoverlast</a:t>
                      </a:r>
                      <a:endParaRPr lang="en-US" sz="12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Vaccinatie, onderwijs</a:t>
                      </a:r>
                      <a:endParaRPr lang="en-US" sz="12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r>
              <a:tr h="0">
                <a:tc>
                  <a:txBody>
                    <a:bodyPr/>
                    <a:lstStyle/>
                    <a:p>
                      <a:pPr indent="0" marL="0">
                        <a:buNone/>
                      </a:pPr>
                      <a:r>
                        <a:rPr lang="en-US" sz="1200" b="1" dirty="0">
                          <a:solidFill>
                            <a:srgbClr val="000000"/>
                          </a:solidFill>
                          <a:latin typeface="Arial" pitchFamily="34" charset="0"/>
                          <a:ea typeface="Arial" pitchFamily="34" charset="-122"/>
                          <a:cs typeface="Arial" pitchFamily="34" charset="-120"/>
                        </a:rPr>
                        <a:t>Instrument overheid</a:t>
                      </a:r>
                      <a:endParaRPr lang="en-US" sz="12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200" b="1" dirty="0">
                          <a:solidFill>
                            <a:srgbClr val="186A3B"/>
                          </a:solidFill>
                          <a:latin typeface="Arial" pitchFamily="34" charset="0"/>
                          <a:ea typeface="Arial" pitchFamily="34" charset="-122"/>
                          <a:cs typeface="Arial" pitchFamily="34" charset="-120"/>
                        </a:rPr>
                        <a:t>Belasting (prijs stijgt)</a:t>
                      </a:r>
                      <a:endParaRPr lang="en-US" sz="12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200" b="1" dirty="0">
                          <a:solidFill>
                            <a:srgbClr val="186A3B"/>
                          </a:solidFill>
                          <a:latin typeface="Arial" pitchFamily="34" charset="0"/>
                          <a:ea typeface="Arial" pitchFamily="34" charset="-122"/>
                          <a:cs typeface="Arial" pitchFamily="34" charset="-120"/>
                        </a:rPr>
                        <a:t>Subsidie (prijs daalt)</a:t>
                      </a:r>
                      <a:endParaRPr lang="en-US" sz="12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Internaliseren: extern effect in de prijs trekken</a:t>
            </a:r>
            <a:endParaRPr lang="en-US" sz="2400" dirty="0"/>
          </a:p>
        </p:txBody>
      </p:sp>
      <p:sp>
        <p:nvSpPr>
          <p:cNvPr id="3" name="Shape 1"/>
          <p:cNvSpPr/>
          <p:nvPr/>
        </p:nvSpPr>
        <p:spPr>
          <a:xfrm>
            <a:off x="1188720" y="960120"/>
            <a:ext cx="6766560" cy="566928"/>
          </a:xfrm>
          <a:prstGeom prst="rect">
            <a:avLst>
              <a:gd name="adj" fmla="val 6452"/>
            </a:avLst>
          </a:prstGeom>
          <a:solidFill>
            <a:srgbClr val="F9F6F1"/>
          </a:solidFill>
          <a:ln/>
          <a:effectLst>
            <a:outerShdw sx="100000" sy="100000" kx="0" ky="0" algn="bl" rotWithShape="0" blurRad="76200" dist="25400" dir="8100000">
              <a:srgbClr val="000000">
                <a:alpha val="10000"/>
              </a:srgbClr>
            </a:outerShdw>
          </a:effectLst>
        </p:spPr>
      </p:sp>
      <p:sp>
        <p:nvSpPr>
          <p:cNvPr id="4" name="Text 2"/>
          <p:cNvSpPr/>
          <p:nvPr/>
        </p:nvSpPr>
        <p:spPr>
          <a:xfrm>
            <a:off x="1371600" y="960120"/>
            <a:ext cx="6492240" cy="566928"/>
          </a:xfrm>
          <a:prstGeom prst="rect">
            <a:avLst/>
          </a:prstGeom>
          <a:noFill/>
          <a:ln/>
        </p:spPr>
        <p:txBody>
          <a:bodyPr wrap="square" lIns="0" tIns="0" rIns="0" bIns="0" rtlCol="0" anchor="ctr"/>
          <a:lstStyle/>
          <a:p>
            <a:pPr indent="0" marL="0">
              <a:buNone/>
            </a:pPr>
            <a:r>
              <a:rPr lang="en-US" sz="1400" dirty="0">
                <a:solidFill>
                  <a:srgbClr val="2D3748"/>
                </a:solidFill>
                <a:latin typeface="Arial" pitchFamily="34" charset="0"/>
                <a:ea typeface="Arial" pitchFamily="34" charset="-122"/>
                <a:cs typeface="Arial" pitchFamily="34" charset="-120"/>
              </a:rPr>
              <a:t>Extern effect signaleren (kosten of baten buiten de prijs)</a:t>
            </a:r>
            <a:endParaRPr lang="en-US" sz="1400" dirty="0"/>
          </a:p>
        </p:txBody>
      </p:sp>
      <p:sp>
        <p:nvSpPr>
          <p:cNvPr id="5" name="Shape 3"/>
          <p:cNvSpPr/>
          <p:nvPr/>
        </p:nvSpPr>
        <p:spPr>
          <a:xfrm>
            <a:off x="1188720" y="1636776"/>
            <a:ext cx="6766560" cy="566928"/>
          </a:xfrm>
          <a:prstGeom prst="rect">
            <a:avLst>
              <a:gd name="adj" fmla="val 6452"/>
            </a:avLst>
          </a:prstGeom>
          <a:solidFill>
            <a:srgbClr val="1E8449"/>
          </a:solidFill>
          <a:ln/>
          <a:effectLst>
            <a:outerShdw sx="100000" sy="100000" kx="0" ky="0" algn="bl" rotWithShape="0" blurRad="76200" dist="25400" dir="8100000">
              <a:srgbClr val="000000">
                <a:alpha val="10000"/>
              </a:srgbClr>
            </a:outerShdw>
          </a:effectLst>
        </p:spPr>
      </p:sp>
      <p:sp>
        <p:nvSpPr>
          <p:cNvPr id="6" name="Text 4"/>
          <p:cNvSpPr/>
          <p:nvPr/>
        </p:nvSpPr>
        <p:spPr>
          <a:xfrm>
            <a:off x="1371600" y="1636776"/>
            <a:ext cx="6492240" cy="56692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  Negatief → belasting heffen  /  Positief → subsidie geven</a:t>
            </a:r>
            <a:endParaRPr lang="en-US" sz="1400" dirty="0"/>
          </a:p>
        </p:txBody>
      </p:sp>
      <p:sp>
        <p:nvSpPr>
          <p:cNvPr id="7" name="Shape 5"/>
          <p:cNvSpPr/>
          <p:nvPr/>
        </p:nvSpPr>
        <p:spPr>
          <a:xfrm>
            <a:off x="1188720" y="2313432"/>
            <a:ext cx="6766560" cy="566928"/>
          </a:xfrm>
          <a:prstGeom prst="rect">
            <a:avLst>
              <a:gd name="adj" fmla="val 6452"/>
            </a:avLst>
          </a:prstGeom>
          <a:solidFill>
            <a:srgbClr val="F9F6F1"/>
          </a:solidFill>
          <a:ln/>
          <a:effectLst>
            <a:outerShdw sx="100000" sy="100000" kx="0" ky="0" algn="bl" rotWithShape="0" blurRad="76200" dist="25400" dir="8100000">
              <a:srgbClr val="000000">
                <a:alpha val="10000"/>
              </a:srgbClr>
            </a:outerShdw>
          </a:effectLst>
        </p:spPr>
      </p:sp>
      <p:sp>
        <p:nvSpPr>
          <p:cNvPr id="8" name="Text 6"/>
          <p:cNvSpPr/>
          <p:nvPr/>
        </p:nvSpPr>
        <p:spPr>
          <a:xfrm>
            <a:off x="1371600" y="2313432"/>
            <a:ext cx="6492240" cy="566928"/>
          </a:xfrm>
          <a:prstGeom prst="rect">
            <a:avLst/>
          </a:prstGeom>
          <a:noFill/>
          <a:ln/>
        </p:spPr>
        <p:txBody>
          <a:bodyPr wrap="square" lIns="0" tIns="0" rIns="0" bIns="0" rtlCol="0" anchor="ctr"/>
          <a:lstStyle/>
          <a:p>
            <a:pPr indent="0" marL="0">
              <a:buNone/>
            </a:pPr>
            <a:r>
              <a:rPr lang="en-US" sz="1400" dirty="0">
                <a:solidFill>
                  <a:srgbClr val="2D3748"/>
                </a:solidFill>
                <a:latin typeface="Arial" pitchFamily="34" charset="0"/>
                <a:ea typeface="Arial" pitchFamily="34" charset="-122"/>
                <a:cs typeface="Arial" pitchFamily="34" charset="-120"/>
              </a:rPr>
              <a:t>↓  Prijs verandert: bij belasting omhoog, bij subsidie omlaag</a:t>
            </a:r>
            <a:endParaRPr lang="en-US" sz="1400" dirty="0"/>
          </a:p>
        </p:txBody>
      </p:sp>
      <p:sp>
        <p:nvSpPr>
          <p:cNvPr id="9" name="Shape 7"/>
          <p:cNvSpPr/>
          <p:nvPr/>
        </p:nvSpPr>
        <p:spPr>
          <a:xfrm>
            <a:off x="1188720" y="2990088"/>
            <a:ext cx="6766560" cy="566928"/>
          </a:xfrm>
          <a:prstGeom prst="rect">
            <a:avLst>
              <a:gd name="adj" fmla="val 6452"/>
            </a:avLst>
          </a:prstGeom>
          <a:solidFill>
            <a:srgbClr val="F9F6F1"/>
          </a:solidFill>
          <a:ln/>
          <a:effectLst>
            <a:outerShdw sx="100000" sy="100000" kx="0" ky="0" algn="bl" rotWithShape="0" blurRad="76200" dist="25400" dir="8100000">
              <a:srgbClr val="000000">
                <a:alpha val="10000"/>
              </a:srgbClr>
            </a:outerShdw>
          </a:effectLst>
        </p:spPr>
      </p:sp>
      <p:sp>
        <p:nvSpPr>
          <p:cNvPr id="10" name="Text 8"/>
          <p:cNvSpPr/>
          <p:nvPr/>
        </p:nvSpPr>
        <p:spPr>
          <a:xfrm>
            <a:off x="1371600" y="2990088"/>
            <a:ext cx="6492240" cy="566928"/>
          </a:xfrm>
          <a:prstGeom prst="rect">
            <a:avLst/>
          </a:prstGeom>
          <a:noFill/>
          <a:ln/>
        </p:spPr>
        <p:txBody>
          <a:bodyPr wrap="square" lIns="0" tIns="0" rIns="0" bIns="0" rtlCol="0" anchor="ctr"/>
          <a:lstStyle/>
          <a:p>
            <a:pPr indent="0" marL="0">
              <a:buNone/>
            </a:pPr>
            <a:r>
              <a:rPr lang="en-US" sz="1400" dirty="0">
                <a:solidFill>
                  <a:srgbClr val="2D3748"/>
                </a:solidFill>
                <a:latin typeface="Arial" pitchFamily="34" charset="0"/>
                <a:ea typeface="Arial" pitchFamily="34" charset="-122"/>
                <a:cs typeface="Arial" pitchFamily="34" charset="-120"/>
              </a:rPr>
              <a:t>↓  Hoeveelheid verschuift richting het maatschappelijke optimum</a:t>
            </a:r>
            <a:endParaRPr lang="en-US" sz="1400" dirty="0"/>
          </a:p>
        </p:txBody>
      </p:sp>
      <p:sp>
        <p:nvSpPr>
          <p:cNvPr id="11" name="Shape 9"/>
          <p:cNvSpPr/>
          <p:nvPr/>
        </p:nvSpPr>
        <p:spPr>
          <a:xfrm>
            <a:off x="1188720" y="3666744"/>
            <a:ext cx="6766560" cy="566928"/>
          </a:xfrm>
          <a:prstGeom prst="rect">
            <a:avLst>
              <a:gd name="adj" fmla="val 6452"/>
            </a:avLst>
          </a:prstGeom>
          <a:solidFill>
            <a:srgbClr val="1E8449"/>
          </a:solidFill>
          <a:ln/>
          <a:effectLst>
            <a:outerShdw sx="100000" sy="100000" kx="0" ky="0" algn="bl" rotWithShape="0" blurRad="76200" dist="25400" dir="8100000">
              <a:srgbClr val="000000">
                <a:alpha val="10000"/>
              </a:srgbClr>
            </a:outerShdw>
          </a:effectLst>
        </p:spPr>
      </p:sp>
      <p:sp>
        <p:nvSpPr>
          <p:cNvPr id="12" name="Text 10"/>
          <p:cNvSpPr/>
          <p:nvPr/>
        </p:nvSpPr>
        <p:spPr>
          <a:xfrm>
            <a:off x="1371600" y="3666744"/>
            <a:ext cx="6492240" cy="56692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  Externe effect is geïnternaliseerd</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Internaliseren in de grafiek</a:t>
            </a:r>
            <a:endParaRPr lang="en-US" sz="2400" dirty="0"/>
          </a:p>
        </p:txBody>
      </p:sp>
      <p:pic>
        <p:nvPicPr>
          <p:cNvPr id="3" name="Image 0" descr="preencoded.png">    </p:cNvPr>
          <p:cNvPicPr>
            <a:picLocks noChangeAspect="1"/>
          </p:cNvPicPr>
          <p:nvPr/>
        </p:nvPicPr>
        <p:blipFill>
          <a:blip r:embed="rId1"/>
          <a:stretch>
            <a:fillRect/>
          </a:stretch>
        </p:blipFill>
        <p:spPr>
          <a:xfrm>
            <a:off x="685800" y="868680"/>
            <a:ext cx="7772400" cy="38862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Instrumenten van de overheid</a:t>
            </a:r>
            <a:endParaRPr lang="en-US" sz="2400" dirty="0"/>
          </a:p>
        </p:txBody>
      </p:sp>
      <p:pic>
        <p:nvPicPr>
          <p:cNvPr id="3" name="Image 0" descr="preencoded.png">    </p:cNvPr>
          <p:cNvPicPr>
            <a:picLocks noChangeAspect="1"/>
          </p:cNvPicPr>
          <p:nvPr/>
        </p:nvPicPr>
        <p:blipFill>
          <a:blip r:embed="rId1"/>
          <a:stretch>
            <a:fillRect/>
          </a:stretch>
        </p:blipFill>
        <p:spPr>
          <a:xfrm>
            <a:off x="685800" y="868680"/>
            <a:ext cx="7772400" cy="38862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Valkuilen</a:t>
            </a:r>
            <a:endParaRPr lang="en-US" sz="2400" dirty="0"/>
          </a:p>
        </p:txBody>
      </p:sp>
      <p:sp>
        <p:nvSpPr>
          <p:cNvPr id="3" name="Shape 1"/>
          <p:cNvSpPr/>
          <p:nvPr/>
        </p:nvSpPr>
        <p:spPr>
          <a:xfrm>
            <a:off x="548640" y="960120"/>
            <a:ext cx="8046720" cy="1069848"/>
          </a:xfrm>
          <a:prstGeom prst="rect">
            <a:avLst>
              <a:gd name="adj" fmla="val 3419"/>
            </a:avLst>
          </a:prstGeom>
          <a:solidFill>
            <a:srgbClr val="FDE8E8"/>
          </a:solidFill>
          <a:ln/>
        </p:spPr>
      </p:sp>
      <p:sp>
        <p:nvSpPr>
          <p:cNvPr id="4" name="Shape 2"/>
          <p:cNvSpPr/>
          <p:nvPr/>
        </p:nvSpPr>
        <p:spPr>
          <a:xfrm>
            <a:off x="548640" y="960120"/>
            <a:ext cx="54864" cy="1069848"/>
          </a:xfrm>
          <a:prstGeom prst="rect">
            <a:avLst/>
          </a:prstGeom>
          <a:solidFill>
            <a:srgbClr val="D9534F"/>
          </a:solidFill>
          <a:ln/>
        </p:spPr>
      </p:sp>
      <p:sp>
        <p:nvSpPr>
          <p:cNvPr id="5" name="Text 3"/>
          <p:cNvSpPr/>
          <p:nvPr/>
        </p:nvSpPr>
        <p:spPr>
          <a:xfrm>
            <a:off x="777240" y="1051560"/>
            <a:ext cx="7680960" cy="365760"/>
          </a:xfrm>
          <a:prstGeom prst="rect">
            <a:avLst/>
          </a:prstGeom>
          <a:noFill/>
          <a:ln/>
        </p:spPr>
        <p:txBody>
          <a:bodyPr wrap="square" lIns="0" tIns="0" rIns="0" bIns="0" rtlCol="0" anchor="t"/>
          <a:lstStyle/>
          <a:p>
            <a:pPr indent="0" marL="0">
              <a:buNone/>
            </a:pPr>
            <a:r>
              <a:rPr lang="en-US" sz="1600" b="1" dirty="0">
                <a:solidFill>
                  <a:srgbClr val="922B21"/>
                </a:solidFill>
                <a:latin typeface="Arial" pitchFamily="34" charset="0"/>
                <a:ea typeface="Arial" pitchFamily="34" charset="-122"/>
                <a:cs typeface="Arial" pitchFamily="34" charset="-120"/>
              </a:rPr>
              <a:t>“Marktfalen = een bedrijf gaat failliet”</a:t>
            </a:r>
            <a:endParaRPr lang="en-US" sz="1600" dirty="0"/>
          </a:p>
        </p:txBody>
      </p:sp>
      <p:sp>
        <p:nvSpPr>
          <p:cNvPr id="6" name="Text 4"/>
          <p:cNvSpPr/>
          <p:nvPr/>
        </p:nvSpPr>
        <p:spPr>
          <a:xfrm>
            <a:off x="777240" y="1399032"/>
            <a:ext cx="7680960" cy="566928"/>
          </a:xfrm>
          <a:prstGeom prst="rect">
            <a:avLst/>
          </a:prstGeom>
          <a:noFill/>
          <a:ln/>
        </p:spPr>
        <p:txBody>
          <a:bodyPr wrap="square" lIns="0" tIns="0" rIns="0" bIns="0" rtlCol="0" anchor="t"/>
          <a:lstStyle/>
          <a:p>
            <a:pPr indent="0" marL="0">
              <a:lnSpc>
                <a:spcPct val="120000"/>
              </a:lnSpc>
              <a:buNone/>
            </a:pPr>
            <a:r>
              <a:rPr lang="en-US" sz="1300" dirty="0">
                <a:solidFill>
                  <a:srgbClr val="2D3748"/>
                </a:solidFill>
                <a:latin typeface="Arial" pitchFamily="34" charset="0"/>
                <a:ea typeface="Arial" pitchFamily="34" charset="-122"/>
                <a:cs typeface="Arial" pitchFamily="34" charset="-120"/>
              </a:rPr>
              <a:t>Onjuist. Marktfalen betekent dat de markt als gehéél niet het optimum levert, niet dat één bedrijf omvalt.</a:t>
            </a:r>
            <a:endParaRPr lang="en-US" sz="1300" dirty="0"/>
          </a:p>
        </p:txBody>
      </p:sp>
      <p:sp>
        <p:nvSpPr>
          <p:cNvPr id="7" name="Shape 5"/>
          <p:cNvSpPr/>
          <p:nvPr/>
        </p:nvSpPr>
        <p:spPr>
          <a:xfrm>
            <a:off x="548640" y="2157984"/>
            <a:ext cx="8046720" cy="1069848"/>
          </a:xfrm>
          <a:prstGeom prst="rect">
            <a:avLst>
              <a:gd name="adj" fmla="val 3419"/>
            </a:avLst>
          </a:prstGeom>
          <a:solidFill>
            <a:srgbClr val="FDE8E8"/>
          </a:solidFill>
          <a:ln/>
        </p:spPr>
      </p:sp>
      <p:sp>
        <p:nvSpPr>
          <p:cNvPr id="8" name="Shape 6"/>
          <p:cNvSpPr/>
          <p:nvPr/>
        </p:nvSpPr>
        <p:spPr>
          <a:xfrm>
            <a:off x="548640" y="2157984"/>
            <a:ext cx="54864" cy="1069848"/>
          </a:xfrm>
          <a:prstGeom prst="rect">
            <a:avLst/>
          </a:prstGeom>
          <a:solidFill>
            <a:srgbClr val="D9534F"/>
          </a:solidFill>
          <a:ln/>
        </p:spPr>
      </p:sp>
      <p:sp>
        <p:nvSpPr>
          <p:cNvPr id="9" name="Text 7"/>
          <p:cNvSpPr/>
          <p:nvPr/>
        </p:nvSpPr>
        <p:spPr>
          <a:xfrm>
            <a:off x="777240" y="2249424"/>
            <a:ext cx="7680960" cy="365760"/>
          </a:xfrm>
          <a:prstGeom prst="rect">
            <a:avLst/>
          </a:prstGeom>
          <a:noFill/>
          <a:ln/>
        </p:spPr>
        <p:txBody>
          <a:bodyPr wrap="square" lIns="0" tIns="0" rIns="0" bIns="0" rtlCol="0" anchor="t"/>
          <a:lstStyle/>
          <a:p>
            <a:pPr indent="0" marL="0">
              <a:buNone/>
            </a:pPr>
            <a:r>
              <a:rPr lang="en-US" sz="1600" b="1" dirty="0">
                <a:solidFill>
                  <a:srgbClr val="922B21"/>
                </a:solidFill>
                <a:latin typeface="Arial" pitchFamily="34" charset="0"/>
                <a:ea typeface="Arial" pitchFamily="34" charset="-122"/>
                <a:cs typeface="Arial" pitchFamily="34" charset="-120"/>
              </a:rPr>
              <a:t>“Externe effecten zijn altijd negatief”</a:t>
            </a:r>
            <a:endParaRPr lang="en-US" sz="1600" dirty="0"/>
          </a:p>
        </p:txBody>
      </p:sp>
      <p:sp>
        <p:nvSpPr>
          <p:cNvPr id="10" name="Text 8"/>
          <p:cNvSpPr/>
          <p:nvPr/>
        </p:nvSpPr>
        <p:spPr>
          <a:xfrm>
            <a:off x="777240" y="2596896"/>
            <a:ext cx="7680960" cy="566928"/>
          </a:xfrm>
          <a:prstGeom prst="rect">
            <a:avLst/>
          </a:prstGeom>
          <a:noFill/>
          <a:ln/>
        </p:spPr>
        <p:txBody>
          <a:bodyPr wrap="square" lIns="0" tIns="0" rIns="0" bIns="0" rtlCol="0" anchor="t"/>
          <a:lstStyle/>
          <a:p>
            <a:pPr indent="0" marL="0">
              <a:lnSpc>
                <a:spcPct val="120000"/>
              </a:lnSpc>
              <a:buNone/>
            </a:pPr>
            <a:r>
              <a:rPr lang="en-US" sz="1300" dirty="0">
                <a:solidFill>
                  <a:srgbClr val="2D3748"/>
                </a:solidFill>
                <a:latin typeface="Arial" pitchFamily="34" charset="0"/>
                <a:ea typeface="Arial" pitchFamily="34" charset="-122"/>
                <a:cs typeface="Arial" pitchFamily="34" charset="-120"/>
              </a:rPr>
              <a:t>Onjuist. Er zijn ook positieve externe effecten (vaccinatie, onderwijs). Die leiden juist tot te weinig consumptie.</a:t>
            </a:r>
            <a:endParaRPr lang="en-US" sz="1300" dirty="0"/>
          </a:p>
        </p:txBody>
      </p:sp>
      <p:sp>
        <p:nvSpPr>
          <p:cNvPr id="11" name="Shape 9"/>
          <p:cNvSpPr/>
          <p:nvPr/>
        </p:nvSpPr>
        <p:spPr>
          <a:xfrm>
            <a:off x="548640" y="3355848"/>
            <a:ext cx="8046720" cy="1069848"/>
          </a:xfrm>
          <a:prstGeom prst="rect">
            <a:avLst>
              <a:gd name="adj" fmla="val 3419"/>
            </a:avLst>
          </a:prstGeom>
          <a:solidFill>
            <a:srgbClr val="FDE8E8"/>
          </a:solidFill>
          <a:ln/>
        </p:spPr>
      </p:sp>
      <p:sp>
        <p:nvSpPr>
          <p:cNvPr id="12" name="Shape 10"/>
          <p:cNvSpPr/>
          <p:nvPr/>
        </p:nvSpPr>
        <p:spPr>
          <a:xfrm>
            <a:off x="548640" y="3355848"/>
            <a:ext cx="54864" cy="1069848"/>
          </a:xfrm>
          <a:prstGeom prst="rect">
            <a:avLst/>
          </a:prstGeom>
          <a:solidFill>
            <a:srgbClr val="D9534F"/>
          </a:solidFill>
          <a:ln/>
        </p:spPr>
      </p:sp>
      <p:sp>
        <p:nvSpPr>
          <p:cNvPr id="13" name="Text 11"/>
          <p:cNvSpPr/>
          <p:nvPr/>
        </p:nvSpPr>
        <p:spPr>
          <a:xfrm>
            <a:off x="777240" y="3447288"/>
            <a:ext cx="7680960" cy="365760"/>
          </a:xfrm>
          <a:prstGeom prst="rect">
            <a:avLst/>
          </a:prstGeom>
          <a:noFill/>
          <a:ln/>
        </p:spPr>
        <p:txBody>
          <a:bodyPr wrap="square" lIns="0" tIns="0" rIns="0" bIns="0" rtlCol="0" anchor="t"/>
          <a:lstStyle/>
          <a:p>
            <a:pPr indent="0" marL="0">
              <a:buNone/>
            </a:pPr>
            <a:r>
              <a:rPr lang="en-US" sz="1600" b="1" dirty="0">
                <a:solidFill>
                  <a:srgbClr val="922B21"/>
                </a:solidFill>
                <a:latin typeface="Arial" pitchFamily="34" charset="0"/>
                <a:ea typeface="Arial" pitchFamily="34" charset="-122"/>
                <a:cs typeface="Arial" pitchFamily="34" charset="-120"/>
              </a:rPr>
              <a:t>“Internaliseren = verbieden”</a:t>
            </a:r>
            <a:endParaRPr lang="en-US" sz="1600" dirty="0"/>
          </a:p>
        </p:txBody>
      </p:sp>
      <p:sp>
        <p:nvSpPr>
          <p:cNvPr id="14" name="Text 12"/>
          <p:cNvSpPr/>
          <p:nvPr/>
        </p:nvSpPr>
        <p:spPr>
          <a:xfrm>
            <a:off x="777240" y="3794760"/>
            <a:ext cx="7680960" cy="566928"/>
          </a:xfrm>
          <a:prstGeom prst="rect">
            <a:avLst/>
          </a:prstGeom>
          <a:noFill/>
          <a:ln/>
        </p:spPr>
        <p:txBody>
          <a:bodyPr wrap="square" lIns="0" tIns="0" rIns="0" bIns="0" rtlCol="0" anchor="t"/>
          <a:lstStyle/>
          <a:p>
            <a:pPr indent="0" marL="0">
              <a:lnSpc>
                <a:spcPct val="120000"/>
              </a:lnSpc>
              <a:buNone/>
            </a:pPr>
            <a:r>
              <a:rPr lang="en-US" sz="1300" dirty="0">
                <a:solidFill>
                  <a:srgbClr val="2D3748"/>
                </a:solidFill>
                <a:latin typeface="Arial" pitchFamily="34" charset="0"/>
                <a:ea typeface="Arial" pitchFamily="34" charset="-122"/>
                <a:cs typeface="Arial" pitchFamily="34" charset="-120"/>
              </a:rPr>
              <a:t>Onjuist. Internaliseren = de externe kosten of baten in de prijs verwerken via belasting of subsidie. Het product wordt niet verboden.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320040"/>
            <a:ext cx="7863840" cy="548640"/>
          </a:xfrm>
          <a:prstGeom prst="rect">
            <a:avLst/>
          </a:prstGeom>
          <a:noFill/>
          <a:ln/>
        </p:spPr>
        <p:txBody>
          <a:bodyPr wrap="square" rtlCol="0" anchor="ctr"/>
          <a:lstStyle/>
          <a:p>
            <a:pPr indent="0" marL="0">
              <a:buNone/>
            </a:pPr>
            <a:r>
              <a:rPr lang="en-US" sz="3000" b="1" dirty="0">
                <a:solidFill>
                  <a:srgbClr val="FFFFFF"/>
                </a:solidFill>
                <a:latin typeface="Arial" pitchFamily="34" charset="0"/>
                <a:ea typeface="Arial" pitchFamily="34" charset="-122"/>
                <a:cs typeface="Arial" pitchFamily="34" charset="-120"/>
              </a:rPr>
              <a:t>Samenvatting</a:t>
            </a:r>
            <a:endParaRPr lang="en-US" sz="3000" dirty="0"/>
          </a:p>
        </p:txBody>
      </p:sp>
      <p:sp>
        <p:nvSpPr>
          <p:cNvPr id="3" name="Text 1"/>
          <p:cNvSpPr/>
          <p:nvPr/>
        </p:nvSpPr>
        <p:spPr>
          <a:xfrm>
            <a:off x="640080" y="868680"/>
            <a:ext cx="7863840" cy="365760"/>
          </a:xfrm>
          <a:prstGeom prst="rect">
            <a:avLst/>
          </a:prstGeom>
          <a:noFill/>
          <a:ln/>
        </p:spPr>
        <p:txBody>
          <a:bodyPr wrap="square" rtlCol="0" anchor="ctr"/>
          <a:lstStyle/>
          <a:p>
            <a:pPr indent="0" marL="0">
              <a:buNone/>
            </a:pPr>
            <a:r>
              <a:rPr lang="en-US" sz="1400" i="1" dirty="0">
                <a:solidFill>
                  <a:srgbClr val="718096"/>
                </a:solidFill>
                <a:latin typeface="Arial" pitchFamily="34" charset="0"/>
                <a:ea typeface="Arial" pitchFamily="34" charset="-122"/>
                <a:cs typeface="Arial" pitchFamily="34" charset="-120"/>
              </a:rPr>
              <a:t>Check: beheers je dit voordat je gaat oefenen?</a:t>
            </a:r>
            <a:endParaRPr lang="en-US" sz="1400" dirty="0"/>
          </a:p>
        </p:txBody>
      </p:sp>
      <p:sp>
        <p:nvSpPr>
          <p:cNvPr id="4" name="Text 2"/>
          <p:cNvSpPr/>
          <p:nvPr/>
        </p:nvSpPr>
        <p:spPr>
          <a:xfrm>
            <a:off x="640080" y="1417320"/>
            <a:ext cx="7863840" cy="3200400"/>
          </a:xfrm>
          <a:prstGeom prst="rect">
            <a:avLst/>
          </a:prstGeom>
          <a:noFill/>
          <a:ln/>
        </p:spPr>
        <p:txBody>
          <a:bodyPr wrap="square" rtlCol="0" anchor="ctr"/>
          <a:lstStyle/>
          <a:p>
            <a:pPr marL="342900" indent="-342900">
              <a:lnSpc>
                <a:spcPct val="125000"/>
              </a:lnSpc>
              <a:spcAft>
                <a:spcPts val="800"/>
              </a:spcAft>
              <a:buSzPct val="100000"/>
              <a:buChar char="■"/>
            </a:pPr>
            <a:r>
              <a:rPr lang="en-US" sz="1500" dirty="0">
                <a:solidFill>
                  <a:srgbClr val="FFFFFF"/>
                </a:solidFill>
                <a:latin typeface="Arial" pitchFamily="34" charset="0"/>
                <a:ea typeface="Arial" pitchFamily="34" charset="-122"/>
                <a:cs typeface="Arial" pitchFamily="34" charset="-120"/>
              </a:rPr>
              <a:t>Marktfalen = de markt levert geen optimaal resultaat (monopolie / externe effecten / collectieve goederen)</a:t>
            </a:r>
            <a:endParaRPr lang="en-US" sz="1500" dirty="0"/>
          </a:p>
          <a:p>
            <a:pPr marL="342900" indent="-342900">
              <a:lnSpc>
                <a:spcPct val="125000"/>
              </a:lnSpc>
              <a:spcAft>
                <a:spcPts val="800"/>
              </a:spcAft>
              <a:buSzPct val="100000"/>
              <a:buChar char="■"/>
            </a:pPr>
            <a:r>
              <a:rPr lang="en-US" sz="1500" dirty="0">
                <a:solidFill>
                  <a:srgbClr val="FFFFFF"/>
                </a:solidFill>
                <a:latin typeface="Arial" pitchFamily="34" charset="0"/>
                <a:ea typeface="Arial" pitchFamily="34" charset="-122"/>
                <a:cs typeface="Arial" pitchFamily="34" charset="-120"/>
              </a:rPr>
              <a:t>Natuurlijk monopolie: dalende GTK → één aanbieder efficiënter</a:t>
            </a:r>
            <a:endParaRPr lang="en-US" sz="1500" dirty="0"/>
          </a:p>
          <a:p>
            <a:pPr marL="342900" indent="-342900">
              <a:lnSpc>
                <a:spcPct val="125000"/>
              </a:lnSpc>
              <a:spcAft>
                <a:spcPts val="800"/>
              </a:spcAft>
              <a:buSzPct val="100000"/>
              <a:buChar char="■"/>
            </a:pPr>
            <a:r>
              <a:rPr lang="en-US" sz="1500" dirty="0">
                <a:solidFill>
                  <a:srgbClr val="FFFFFF"/>
                </a:solidFill>
                <a:latin typeface="Arial" pitchFamily="34" charset="0"/>
                <a:ea typeface="Arial" pitchFamily="34" charset="-122"/>
                <a:cs typeface="Arial" pitchFamily="34" charset="-120"/>
              </a:rPr>
              <a:t>Machtspositie: marktaandeel ≥ 35 % → Mededingingswet, toezicht door ACM / EC</a:t>
            </a:r>
            <a:endParaRPr lang="en-US" sz="1500" dirty="0"/>
          </a:p>
          <a:p>
            <a:pPr marL="342900" indent="-342900">
              <a:lnSpc>
                <a:spcPct val="125000"/>
              </a:lnSpc>
              <a:spcAft>
                <a:spcPts val="800"/>
              </a:spcAft>
              <a:buSzPct val="100000"/>
              <a:buChar char="■"/>
            </a:pPr>
            <a:r>
              <a:rPr lang="en-US" sz="1500" dirty="0">
                <a:solidFill>
                  <a:srgbClr val="FFFFFF"/>
                </a:solidFill>
                <a:latin typeface="Arial" pitchFamily="34" charset="0"/>
                <a:ea typeface="Arial" pitchFamily="34" charset="-122"/>
                <a:cs typeface="Arial" pitchFamily="34" charset="-120"/>
              </a:rPr>
              <a:t>Negatief extern effect: kosten buiten de prijs → prijs te laag → te veel productie</a:t>
            </a:r>
            <a:endParaRPr lang="en-US" sz="1500" dirty="0"/>
          </a:p>
          <a:p>
            <a:pPr marL="342900" indent="-342900">
              <a:lnSpc>
                <a:spcPct val="125000"/>
              </a:lnSpc>
              <a:spcAft>
                <a:spcPts val="800"/>
              </a:spcAft>
              <a:buSzPct val="100000"/>
              <a:buChar char="■"/>
            </a:pPr>
            <a:r>
              <a:rPr lang="en-US" sz="1500" dirty="0">
                <a:solidFill>
                  <a:srgbClr val="FFFFFF"/>
                </a:solidFill>
                <a:latin typeface="Arial" pitchFamily="34" charset="0"/>
                <a:ea typeface="Arial" pitchFamily="34" charset="-122"/>
                <a:cs typeface="Arial" pitchFamily="34" charset="-120"/>
              </a:rPr>
              <a:t>Positief extern effect: baten buiten de prijs → prijs te hoog → te weinig consumptie</a:t>
            </a:r>
            <a:endParaRPr lang="en-US" sz="1500" dirty="0"/>
          </a:p>
          <a:p>
            <a:pPr marL="342900" indent="-342900">
              <a:lnSpc>
                <a:spcPct val="125000"/>
              </a:lnSpc>
              <a:spcAft>
                <a:spcPts val="800"/>
              </a:spcAft>
              <a:buSzPct val="100000"/>
              <a:buChar char="■"/>
            </a:pPr>
            <a:r>
              <a:rPr lang="en-US" sz="1500" dirty="0">
                <a:solidFill>
                  <a:srgbClr val="FFFFFF"/>
                </a:solidFill>
                <a:latin typeface="Arial" pitchFamily="34" charset="0"/>
                <a:ea typeface="Arial" pitchFamily="34" charset="-122"/>
                <a:cs typeface="Arial" pitchFamily="34" charset="-120"/>
              </a:rPr>
              <a:t>Overheid internaliseert met belasting (negatief) of subsidie (positief)</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3.3.1 De rol van de overheid</dc:title>
  <dc:subject>PptxGenJS Presentation</dc:subject>
  <dc:creator>Economie VWO</dc:creator>
  <cp:lastModifiedBy>Economie VWO</cp:lastModifiedBy>
  <cp:revision>1</cp:revision>
  <dcterms:created xsi:type="dcterms:W3CDTF">2026-04-18T08:03:34Z</dcterms:created>
  <dcterms:modified xsi:type="dcterms:W3CDTF">2026-04-18T08:03:34Z</dcterms:modified>
</cp:coreProperties>
</file>