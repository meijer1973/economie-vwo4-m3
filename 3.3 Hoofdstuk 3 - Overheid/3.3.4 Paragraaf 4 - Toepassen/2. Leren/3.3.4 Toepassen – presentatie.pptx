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Integratieparagraaf: alles uit §3.3.1 t/m §3.3.3 komt samen. We oefenen met casussen: welk marktfalen? welk instrument? werkt het? is het eerlijk?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Deze paragraaf is pure toepassing — geen nieuwe theorie. Wel een belangrijke uitbreiding: doelmatigheid ÉN rechtvaardigheid als twee afzonderlijke beoordelingscriteria.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Overzichtsdia. Vier kleuren, vier vormen. §3.3.1 behandelde vorm 1 en 2 (externe effecten + marktmacht), §3.3.3 behandelde vorm 4 (collectief). Vorm 3 (informatie) wordt hier toegevoegd.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Gebruik de beslisboom als diagnose-instrument. Begin altijd met: ‘zitten alle kosten/baten in de prijs?’ Als het antwoord nee is, is het altijd een extern effect.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Koppel de vijf rijen expliciet aan eerdere paragrafen. Gebruik de tabel als retrieval: dek een kolom af en laat de leerlingen hem reconstrueren.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Eenzelfde beslisboom als in §3.3.3, maar nu als applicatie-oefening. Test met: Wikipedia? Lantarenpaal in jouw straat? Natuurreservaat?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Loop de 5 rijen samen door. Let op rij 5: dit is GEEN simpele vraag — het gaat om een waardeoordeel. Laat leerlingen beide kanten verdedigen.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accijns van €6 (11→15 in de casus, hier gemodelleerd als €10→€14 voor ronde getallen) verschuift de aanbodlijn omhoog. Consumptie daalt van 10 naar 6 pakjes. Dat is precies wat de overheid wil: minder 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DOELMATIGHEID = werkt het economisch? RECHTVAARDIGHEID = is het eerlijk verdeeld? Geen van beide is ‘beter’ — het is een afweging.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 elk beleid in deze ruimte. Vaccinatiesubsidie: rechtsboven (ideal). Tabaksaccijns: rechtsonder (werkt, maar regressief). Huurplafond: linksboven (eerlijk bedoeld, maar ondoelmatig). Het mooie: het DEBAT gaat vaak over de plaatsing.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Gebruik deze 6 stappen als sjabloon voor elke casus-vraag op de toets. Leerlingen kunnen het per stap noteren — dat borgt volledigheid.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is de nuancering die VWO-leerlingen altijd moeten meenemen: dat de markt faalt, betekent niet automatisch dat de overheid het beter kan. Voorbeelden van overheidsfalen: wachttijden in de zorg, hoge administratieve lasten.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Dit zijn toets-klassiekers. Vraag bij elk expliciet: wie kent een voorbeeld van deze fout uit gisteren?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leerlingen per check eerlijk ‘groen / oranje / rood’ zetten. Waar staat rood? Daar nog even terug naar de paragraaf.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Sluit af met een open casus die alle vier de vormen combineert (bv. luchtvaartsector: externe effecten + marktmacht + informatie). Leerlingen kiezen instrumenten en beoordelen.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Toepassen: Overheid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3.3.4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3: Overheid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moet je kunnen?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Marktfalen herkennen en classificeren in casussen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juiste beleidsinstrument koppelen aan het probleem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Collectieve goederen herkennen aan twee kenmerken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Beleid beoordelen op doelmatigheid (werkt het?)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■"/>
            </a:pPr>
            <a:r>
              <a:rPr lang="en-US" sz="17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Beleid beoordelen op rechtvaardigheid (wie draagt de lasten?)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vier vormen van marktfalen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68680"/>
            <a:ext cx="7772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Diagnose: welk marktfalen speelt er?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68680"/>
            <a:ext cx="7772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marktfalen naar instrument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92608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Marktfalen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Probleem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Instrument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A6A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Negatief extern effect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prijs te laag, te veel productie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6A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Belasting (accijns)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A6A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Positief extern effect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prijs te hoog, te weinig consumptie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6A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Subsidie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543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Marktmacht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prijs te hoog, Q te laag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6A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Regulering / toezicht (ACM)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C348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Informatieongelijkheid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één partij weet meer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6A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Voorlichting / verplichte regels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6A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Collectief goed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markt levert het niet (free-rider)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86A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Overheid produceert zelf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Herken een collectief goed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188720" y="1005840"/>
            <a:ext cx="6766560" cy="502920"/>
          </a:xfrm>
          <a:prstGeom prst="rect">
            <a:avLst>
              <a:gd name="adj" fmla="val 727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00584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Stap 1: kan iemand worden uitgesloten van gebruik?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188720" y="1600200"/>
            <a:ext cx="6766560" cy="502920"/>
          </a:xfrm>
          <a:prstGeom prst="rect">
            <a:avLst>
              <a:gd name="adj" fmla="val 727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371600" y="160020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Ja → privé- of clubgoed (markt kan het leveren)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88720" y="2194560"/>
            <a:ext cx="6766560" cy="502920"/>
          </a:xfrm>
          <a:prstGeom prst="rect">
            <a:avLst>
              <a:gd name="adj" fmla="val 7273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371600" y="219456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Nee → stap 2: gaat gebruik door de één ten koste van de ander?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88720" y="2788920"/>
            <a:ext cx="6766560" cy="502920"/>
          </a:xfrm>
          <a:prstGeom prst="rect">
            <a:avLst>
              <a:gd name="adj" fmla="val 727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371600" y="278892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Ja → gemeenschappelijk goed (bv. visgronden)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188720" y="3383280"/>
            <a:ext cx="6766560" cy="502920"/>
          </a:xfrm>
          <a:prstGeom prst="rect">
            <a:avLst>
              <a:gd name="adj" fmla="val 7273"/>
            </a:avLst>
          </a:prstGeom>
          <a:solidFill>
            <a:srgbClr val="1A5276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371600" y="338328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 Nee → collectief goed (bv. dijken, defensie)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Casus: tabaksaccijns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ect">
            <a:avLst>
              <a:gd name="adj" fmla="val 4545"/>
            </a:avLst>
          </a:prstGeom>
          <a:solidFill>
            <a:srgbClr val="F3E8F9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1005840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69848"/>
            <a:ext cx="7909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maatregel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7909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 overheid verhoogt de accijns op sigaretten van €11 naar €15 per pakje.”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057400"/>
            <a:ext cx="365760" cy="475488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05740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20574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Welk marktfalen?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205740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Negatief extern effect (gezondheidskosten voor de samenleving)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587752"/>
            <a:ext cx="8229600" cy="47548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587752"/>
            <a:ext cx="365760" cy="475488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587752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258775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Welk instrument?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37560" y="2587752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Corrigerende belasting (pigou-belasting / accijns)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18104"/>
            <a:ext cx="8229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118104"/>
            <a:ext cx="365760" cy="475488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11810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11810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 werkt het?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37560" y="3118104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stijgt → consumptie daalt → externe kosten dalen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648456"/>
            <a:ext cx="8229600" cy="475488"/>
          </a:xfrm>
          <a:prstGeom prst="rect">
            <a:avLst/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648456"/>
            <a:ext cx="365760" cy="475488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3648456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14400" y="364845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Doelmatig?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337560" y="3648456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Ja: minder roken betekent minder maatschappelijke kosten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178808"/>
            <a:ext cx="8229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4178808"/>
            <a:ext cx="365760" cy="475488"/>
          </a:xfrm>
          <a:prstGeom prst="rect">
            <a:avLst/>
          </a:prstGeom>
          <a:solidFill>
            <a:srgbClr val="7B2D8E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178808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14400" y="41788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Rechtvaardig?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337560" y="4178808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Discussie: lagere inkomens betalen relatief meer (regressief)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Tabaksaccijns in de grafiek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49808"/>
            <a:ext cx="7315200" cy="3657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4480560"/>
            <a:ext cx="8229600" cy="566928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66928" y="4636008"/>
            <a:ext cx="201168" cy="201168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6" name="Text 3"/>
          <p:cNvSpPr/>
          <p:nvPr/>
        </p:nvSpPr>
        <p:spPr>
          <a:xfrm>
            <a:off x="8412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vraag naar sigaretten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2624328" y="4636008"/>
            <a:ext cx="201168" cy="201168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8" name="Text 5"/>
          <p:cNvSpPr/>
          <p:nvPr/>
        </p:nvSpPr>
        <p:spPr>
          <a:xfrm>
            <a:off x="28986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A+acc.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aanbod na accijns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81728" y="4636008"/>
            <a:ext cx="201168" cy="201168"/>
          </a:xfrm>
          <a:prstGeom prst="rect">
            <a:avLst/>
          </a:prstGeom>
          <a:solidFill>
            <a:srgbClr val="F8C471"/>
          </a:solidFill>
          <a:ln/>
        </p:spPr>
      </p:sp>
      <p:sp>
        <p:nvSpPr>
          <p:cNvPr id="10" name="Text 7"/>
          <p:cNvSpPr/>
          <p:nvPr/>
        </p:nvSpPr>
        <p:spPr>
          <a:xfrm>
            <a:off x="49560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C4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■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belastingopbrengst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4636008"/>
            <a:ext cx="201168" cy="201168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12" name="Text 9"/>
          <p:cNvSpPr/>
          <p:nvPr/>
        </p:nvSpPr>
        <p:spPr>
          <a:xfrm>
            <a:off x="7013448" y="4553712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↓Q</a:t>
            </a:r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consumptie daalt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Beleid beoordelen: twee vragen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3566160"/>
          </a:xfrm>
          <a:prstGeom prst="rect">
            <a:avLst/>
          </a:prstGeom>
          <a:solidFill>
            <a:srgbClr val="186A3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6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Doelmatigheid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Leidt het beleid tot een betere allocatie?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minder welvaartsverlies?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externe effecten gecorrigeerd?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is het middel proportioneel?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kosten vs. baten van het beleid?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960120"/>
            <a:ext cx="54864" cy="356616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A6A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Rechtvaardigheid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draagt de lasten?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raakt het lagere inkomens harder?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profijtbeginsel vs. solidariteit?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worden zwakkeren beschermd?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draagkrachtbeginsel toegepast?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beoordelingsveld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68680"/>
            <a:ext cx="7772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Redeneerroute: beleid beoordelen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868680"/>
            <a:ext cx="77724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Marktfalen ≠ overheidsfalen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356616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Marktfalen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zelf levert niet het optimum.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Oorzaken: externe effecten, marktmacht, informatie, collectieve goederen.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ingrijpen kan nuttig zijn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3931920" cy="3566160"/>
          </a:xfrm>
          <a:prstGeom prst="rect">
            <a:avLst>
              <a:gd name="adj" fmla="val 1282"/>
            </a:avLst>
          </a:prstGeom>
          <a:solidFill>
            <a:srgbClr val="F3E8F9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960120"/>
            <a:ext cx="54864" cy="3566160"/>
          </a:xfrm>
          <a:prstGeom prst="rect">
            <a:avLst/>
          </a:prstGeom>
          <a:solidFill>
            <a:srgbClr val="6C3483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69848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6C3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Overheidsfalen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937760" y="146304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ingrijpen maakt het probleem groter of creëert nieuwe problemen.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Oorzaken: te log apparaat, verkeerde prikkels, lobbydruk, onbedoelde neveneffecten.</a:t>
            </a: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endParaRPr lang="en-US" sz="13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ingrijpen is niet automatisch een verbetering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Veelgemaakte fouten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8046720" cy="1069848"/>
          </a:xfrm>
          <a:prstGeom prst="rect">
            <a:avLst>
              <a:gd name="adj" fmla="val 3419"/>
            </a:avLst>
          </a:prstGeom>
          <a:solidFill>
            <a:srgbClr val="FDE8E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960120"/>
            <a:ext cx="54864" cy="1069848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051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“Marktfalen = overheidsfalen”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399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Onjuist. Marktfalen = de markt faalt. Overheidsfalen = het ingrijpen zelf maakt het erger. Niet hetzelfde.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157984"/>
            <a:ext cx="8046720" cy="1069848"/>
          </a:xfrm>
          <a:prstGeom prst="rect">
            <a:avLst>
              <a:gd name="adj" fmla="val 3419"/>
            </a:avLst>
          </a:prstGeom>
          <a:solidFill>
            <a:srgbClr val="FDE8E8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157984"/>
            <a:ext cx="54864" cy="1069848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24942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“Collectief goed = door de overheid geleverd”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77240" y="2596896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Onjuist. Een goed is collectief vanwege zijn EIGENSCHAPPEN (niet-uitsluitbaar + niet-rivaliserend), niet omdat de overheid het levert.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355848"/>
            <a:ext cx="8046720" cy="1069848"/>
          </a:xfrm>
          <a:prstGeom prst="rect">
            <a:avLst>
              <a:gd name="adj" fmla="val 3419"/>
            </a:avLst>
          </a:prstGeom>
          <a:solidFill>
            <a:srgbClr val="FDE8E8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355848"/>
            <a:ext cx="54864" cy="1069848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4728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22B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“Belasting = verbod”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379476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Onjuist. Een belasting stuurt via de prijs (de markt blijft bestaan). Een verbod schakelt de markt uit. Heel verschillende instrumenten.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Zelftest: kun je deze zes dingen?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Ik herken de vier vormen van marktfalen in een casus</a:t>
            </a:r>
            <a:endParaRPr lang="en-US" sz="16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Ik kan uitleggen waarom de overheid ingrijpt</a:t>
            </a:r>
            <a:endParaRPr lang="en-US" sz="16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Ik koppel het juiste instrument aan het probleem</a:t>
            </a:r>
            <a:endParaRPr lang="en-US" sz="16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Ik herken een collectief goed aan beide kenmerken</a:t>
            </a:r>
            <a:endParaRPr lang="en-US" sz="16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Ik leg het free-riderprobleem uit</a:t>
            </a:r>
            <a:endParaRPr lang="en-US" sz="1600" dirty="0"/>
          </a:p>
          <a:p>
            <a:pPr indent="0" marL="0">
              <a:lnSpc>
                <a:spcPct val="130000"/>
              </a:lnSpc>
              <a:spcAft>
                <a:spcPts val="1200"/>
              </a:spcAft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Ik beoordeel beleid op doelmatigheid én rechtvaardigheid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uit hoofdstuk 3 op één dia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vormen van marktfalen: externe effecten, marktmacht, informatie, collectieve goederen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instrumenten: belasting/subsidie, regulering, voorlichting, overheid produceert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Diagnose: eerst vaststellen WELK marktfalen, dan pas het instrument kiezen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Beoordeel altijd op twee assen: doelmatigheid (werkt het?) en rechtvaardigheid (eerlijk?)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Marktfalen ≠ overheidsfalen — ingrijpen is niet automatisch beter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Redeneerroute: marktfalen → instrument → doelmatigheid → rechtvaardigheid → neveneffecten → conclusie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3.3.4 Toepassen: Overheid</dc:title>
  <dc:subject>PptxGenJS Presentation</dc:subject>
  <dc:creator>Economie VWO</dc:creator>
  <cp:lastModifiedBy>Economie VWO</cp:lastModifiedBy>
  <cp:revision>1</cp:revision>
  <dcterms:created xsi:type="dcterms:W3CDTF">2026-04-18T08:26:20Z</dcterms:created>
  <dcterms:modified xsi:type="dcterms:W3CDTF">2026-04-18T08:26:20Z</dcterms:modified>
</cp:coreProperties>
</file>