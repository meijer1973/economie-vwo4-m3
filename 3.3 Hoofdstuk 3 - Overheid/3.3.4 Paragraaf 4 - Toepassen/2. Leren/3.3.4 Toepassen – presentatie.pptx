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6D0012D-37EA-4F7B-B6B9-37A24E4882F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Integratieparagraaf. Geen nieuwe theorie; wel nieuwe toepassingen. Nieuw woord vandaag: doelmatigheid vs rechtvaardigheid.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3A4C1C-6980-423F-A90F-23E3C19458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F3408A-799D-40C2-B95E-CE9A6728C2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0F33B5-B07F-461C-B7E4-91CEB5CB52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Herhaling met uitbreiding. Vorm 1 en 2 zaten in §3.3.1. Vorm 4 zat in §3.3.3. Vorm 3 (informatieongelijkheid) is nieuw — maar volgt dezelfde logica.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D36841-7007-4E54-BCCF-ED21D5B766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Voor élke casus op de toets: begin hier. Vier vragen, vier mogelijke antwoorden. Soms meerdere tegelijk.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951F7F-033A-4B86-8216-03AFFC4D38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werken één casus volledig uit als voorbeeld. Van diagnose tot beoordeling.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E72594-25D2-4D2D-A67C-9B06BA333A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Links: hoe journalisten het zouden schrijven. Rechts: hoe economen het analyseren. Allebei belangrijk. Sluit af met rij 5 — dat is waar de politiek begint.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8E2C1A-2ED5-4B83-97AB-AAB0E10245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Dit is het meest nieuwe concept van de paragraaf. Twee verschillende vragen aan hetzelfde beleid.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9A3856-0B0A-419C-AAD0-22C9618B90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Druk erop dat beide vragen onafhankelijk zijn — een doelmatig beleid kan oneerlijk zijn, en andersom.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03A3E4-883A-4599-9856-6F517A83F5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Kaart van zes Nederlandse beleidsstukken. Rechtsboven = ideaal, linksonder = slecht. De discussie gaat bijna altijd over de plaatsing — niet alle economen zijn het eens.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97948D-94EF-49A4-922B-5026558732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 6 stappen als template bij ELKE casus-vraag op de toets. Een sjabloon dat je invult — zo mis je niks.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198535-02A4-444D-BC06-B3A7184AA9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Dit is de VWO-nuance. Niet elke markt die faalt moet door de overheid worden 'opgelost'. Soms is niks doen beter.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800A07-396D-4A54-AB06-7973CEE421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Wijs er op: deze drie komen elk jaar op de toets terug.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A87C26-1CCB-4CF5-8834-4260F833E7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E06148-D5B1-4E7E-9F15-8BC6E40314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§3.3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3.3  ·  OVERHEID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548640" y="457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3.3.4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48640" y="914400"/>
            <a:ext cx="80463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pc="-400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Toepassen</a:t>
            </a:r>
            <a:endParaRPr lang="en-US" sz="9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548640" y="256032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Alles samen: marktfalen herkennen, instrument kiezen, beleid beoordelen.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548640" y="3520440"/>
            <a:ext cx="73116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548640" y="361188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Hoofdstuk 3 · Overheid  ·  Integratieparagraaf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/>
          <p:nvPr/>
        </p:nvSpPr>
        <p:spPr>
          <a:xfrm>
            <a:off x="548640" y="640080"/>
            <a:ext cx="18284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0" b="1" u="none" strike="noStrike">
                <a:solidFill>
                  <a:srgbClr val="FF6B5B"/>
                </a:solidFill>
                <a:effectLst/>
                <a:uFillTx/>
                <a:latin typeface="Georgia"/>
                <a:ea typeface="Georgia"/>
              </a:rPr>
              <a:t>“</a:t>
            </a:r>
            <a:endParaRPr lang="en-US" sz="2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1645920" y="128016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Goed beleid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is de kunst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van het kiezen.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1645920" y="41148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Tussen efficient, eerlijk, en haalbaar.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137160" y="3657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LEERDOELEN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137160" y="685800"/>
            <a:ext cx="15541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-3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vaardigheden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137160" y="2286000"/>
            <a:ext cx="15541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Van casus → diagnose → instrument → oordeel.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2103120" y="64008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2926080" y="73152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Marktfalen herkennen in een casus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5"/>
          <p:cNvSpPr/>
          <p:nvPr/>
        </p:nvSpPr>
        <p:spPr>
          <a:xfrm>
            <a:off x="2103120" y="132588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2103120" y="14173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2926080" y="150876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juiste instrument koppelen aan het probleem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8"/>
          <p:cNvSpPr/>
          <p:nvPr/>
        </p:nvSpPr>
        <p:spPr>
          <a:xfrm>
            <a:off x="2103120" y="210312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2103120" y="219456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0"/>
          <p:cNvSpPr/>
          <p:nvPr/>
        </p:nvSpPr>
        <p:spPr>
          <a:xfrm>
            <a:off x="2926080" y="228600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collectief goed herkennen aan twee kenmerken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1"/>
          <p:cNvSpPr/>
          <p:nvPr/>
        </p:nvSpPr>
        <p:spPr>
          <a:xfrm>
            <a:off x="2103120" y="288036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2103120" y="297180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2926080" y="306324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Beleid beoordelen op doelmatigheid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2103120" y="365760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2103120" y="374904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6"/>
          <p:cNvSpPr/>
          <p:nvPr/>
        </p:nvSpPr>
        <p:spPr>
          <a:xfrm>
            <a:off x="2926080" y="384048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Beleid beoordelen op rechtvaardigheid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CASUS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Accijns op sigaretten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€11 → €15 per pakje. Werkt het, en is het eerlijk?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Beleid beoordelen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Twee onafhankelijke criteria: doelmatigheid én rechtvaardigheid.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TWEE VRAGEN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Beleid beoordelen gebeurt op twee assen.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"/>
          <p:cNvSpPr/>
          <p:nvPr/>
        </p:nvSpPr>
        <p:spPr>
          <a:xfrm>
            <a:off x="457200" y="12344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Geen enkele as is 'de juiste' — het is een afweging.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457200" y="1828800"/>
            <a:ext cx="4023000" cy="2834280"/>
          </a:xfrm>
          <a:prstGeom prst="rect">
            <a:avLst/>
          </a:prstGeom>
          <a:solidFill>
            <a:srgbClr val="E8F4EC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4"/>
          <p:cNvSpPr/>
          <p:nvPr/>
        </p:nvSpPr>
        <p:spPr>
          <a:xfrm>
            <a:off x="640080" y="1920240"/>
            <a:ext cx="1005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99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"/>
          <p:cNvSpPr/>
          <p:nvPr/>
        </p:nvSpPr>
        <p:spPr>
          <a:xfrm>
            <a:off x="1645920" y="21031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Doelmatigheid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6"/>
          <p:cNvSpPr/>
          <p:nvPr/>
        </p:nvSpPr>
        <p:spPr>
          <a:xfrm>
            <a:off x="640080" y="2697480"/>
            <a:ext cx="36572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Werkt het beleid economisch?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Minder welvaartsverlies?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Lost het externe effect op?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Is het middel proportioneel?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Kosten vs. baten?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7"/>
          <p:cNvSpPr/>
          <p:nvPr/>
        </p:nvSpPr>
        <p:spPr>
          <a:xfrm>
            <a:off x="4663440" y="1828800"/>
            <a:ext cx="4023000" cy="2834280"/>
          </a:xfrm>
          <a:prstGeom prst="rect">
            <a:avLst/>
          </a:prstGeom>
          <a:solidFill>
            <a:srgbClr val="FDF3E0"/>
          </a:solidFill>
          <a:ln w="1270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8"/>
          <p:cNvSpPr/>
          <p:nvPr/>
        </p:nvSpPr>
        <p:spPr>
          <a:xfrm>
            <a:off x="4846320" y="1920240"/>
            <a:ext cx="1005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9"/>
          <p:cNvSpPr/>
          <p:nvPr/>
        </p:nvSpPr>
        <p:spPr>
          <a:xfrm>
            <a:off x="5852160" y="21031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Rechtvaardigheid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0"/>
          <p:cNvSpPr/>
          <p:nvPr/>
        </p:nvSpPr>
        <p:spPr>
          <a:xfrm>
            <a:off x="4846320" y="2697480"/>
            <a:ext cx="36572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Wie draagt de lasten?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Raakt het lage inkomens harder?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Profijtbeginsel of solidariteit?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Worden zwakkeren beschermd?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• Draagkrachtbeginsel?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NUANCE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Marktfalen ≠ reden tot ingrijpen.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"/>
          <p:cNvSpPr/>
          <p:nvPr/>
        </p:nvSpPr>
        <p:spPr>
          <a:xfrm>
            <a:off x="457200" y="12344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Overheidsfalen bestaat ook — en kan het ergere kwaad zijn.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828800"/>
            <a:ext cx="4023000" cy="283428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4"/>
          <p:cNvSpPr/>
          <p:nvPr/>
        </p:nvSpPr>
        <p:spPr>
          <a:xfrm>
            <a:off x="64008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MARKTFALEN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640080" y="228600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De markt zelf levert niet het optimum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640080" y="3063240"/>
            <a:ext cx="36572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Oorzaken: externe effecten, marktmacht, informatie, collectieve goederen.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Ingrijpen</a:t>
            </a:r>
            <a:r>
              <a:rPr lang="en-US" sz="1300" b="0" i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 kán nuttig zijn.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4663440" y="1828800"/>
            <a:ext cx="4023000" cy="2834280"/>
          </a:xfrm>
          <a:prstGeom prst="rect">
            <a:avLst/>
          </a:prstGeom>
          <a:solidFill>
            <a:srgbClr val="F3E8F9"/>
          </a:solidFill>
          <a:ln w="12700">
            <a:solidFill>
              <a:srgbClr val="6E2E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484632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6E2E8A"/>
                </a:solidFill>
                <a:effectLst/>
                <a:uFillTx/>
                <a:latin typeface="Segoe UI"/>
                <a:ea typeface="Segoe UI"/>
              </a:rPr>
              <a:t>OVERHEIDSFALEN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4846320" y="228600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pc="-51" strike="noStrike">
                <a:solidFill>
                  <a:srgbClr val="6E2E8A"/>
                </a:solidFill>
                <a:effectLst/>
                <a:uFillTx/>
                <a:latin typeface="Segoe UI"/>
                <a:ea typeface="Segoe UI"/>
              </a:rPr>
              <a:t>Het ingrijpen zelf maakt het erger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0"/>
          <p:cNvSpPr/>
          <p:nvPr/>
        </p:nvSpPr>
        <p:spPr>
          <a:xfrm>
            <a:off x="4846320" y="3063240"/>
            <a:ext cx="36572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Oorzaken: te log apparaat, verkeerde prikkels, lobbydruk, neveneffecten.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E2E8A"/>
                </a:solidFill>
                <a:effectLst/>
                <a:uFillTx/>
                <a:latin typeface="Segoe UI"/>
                <a:ea typeface="Segoe UI"/>
              </a:rPr>
              <a:t>Ingrijpen is</a:t>
            </a:r>
            <a:r>
              <a:rPr lang="en-US" sz="1300" b="0" i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 niet automatisch een verbetering.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DENKFOUTEN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Drie klassieke fouten bij de toets.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87452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457200" y="18745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594360" y="201168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1508760" y="196596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“Marktfalen = overheidsfalen”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Verschillende begrippen. Marktfalen = de markt werkt niet. Overheidsfalen = het ingrijpen werkt niet.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457200" y="280728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7"/>
          <p:cNvSpPr/>
          <p:nvPr/>
        </p:nvSpPr>
        <p:spPr>
          <a:xfrm>
            <a:off x="457200" y="280728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594360" y="294444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1508760" y="289872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“Collectief = door de overheid geleverd”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Niet waar. Het gaat om de eigenschappen van het goed, niet om wie het levert.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457200" y="374004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1"/>
          <p:cNvSpPr/>
          <p:nvPr/>
        </p:nvSpPr>
        <p:spPr>
          <a:xfrm>
            <a:off x="457200" y="3740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594360" y="387720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3"/>
          <p:cNvSpPr/>
          <p:nvPr/>
        </p:nvSpPr>
        <p:spPr>
          <a:xfrm>
            <a:off x="1508760" y="383148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“Belasting = verbod”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belasting stuurt via de prijs (markt blijft bestaan). Een verbod schakelt de markt uit.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Zelftest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Kun je deze zes dingen?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548640" y="169164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"/>
          <p:cNvSpPr/>
          <p:nvPr/>
        </p:nvSpPr>
        <p:spPr>
          <a:xfrm>
            <a:off x="1097280" y="173736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Vier vormen van marktfalen herkennen in een casus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548640" y="21304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548640" y="216720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1097280" y="221292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Uitleggen waarom de overheid ingrijpt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7"/>
          <p:cNvSpPr/>
          <p:nvPr/>
        </p:nvSpPr>
        <p:spPr>
          <a:xfrm>
            <a:off x="548640" y="26060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8"/>
          <p:cNvSpPr/>
          <p:nvPr/>
        </p:nvSpPr>
        <p:spPr>
          <a:xfrm>
            <a:off x="548640" y="264276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9"/>
          <p:cNvSpPr/>
          <p:nvPr/>
        </p:nvSpPr>
        <p:spPr>
          <a:xfrm>
            <a:off x="1097280" y="268848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Het juiste instrument koppelen aan het probleem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548640" y="30816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1"/>
          <p:cNvSpPr/>
          <p:nvPr/>
        </p:nvSpPr>
        <p:spPr>
          <a:xfrm>
            <a:off x="548640" y="311796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2"/>
          <p:cNvSpPr/>
          <p:nvPr/>
        </p:nvSpPr>
        <p:spPr>
          <a:xfrm>
            <a:off x="1097280" y="316368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Collectief goed herkennen via twee kenmerken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3"/>
          <p:cNvSpPr/>
          <p:nvPr/>
        </p:nvSpPr>
        <p:spPr>
          <a:xfrm>
            <a:off x="548640" y="355716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4"/>
          <p:cNvSpPr/>
          <p:nvPr/>
        </p:nvSpPr>
        <p:spPr>
          <a:xfrm>
            <a:off x="548640" y="359352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5"/>
          <p:cNvSpPr/>
          <p:nvPr/>
        </p:nvSpPr>
        <p:spPr>
          <a:xfrm>
            <a:off x="1097280" y="363924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Beleid beoordelen op doelmatigheid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548640" y="403236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548640" y="406908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1097280" y="411480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Beleid beoordelen op rechtvaardigheid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2026-04-18T19:34:10Z</dcterms:created>
  <dc:creator>Economie VWO</dc:creator>
  <dc:description/>
  <dc:language>en-US</dc:language>
  <cp:lastModifiedBy>Economie VWO</cp:lastModifiedBy>
  <dcterms:modified xsi:type="dcterms:W3CDTF">2026-04-18T19:34:10Z</dcterms:modified>
  <cp:revision>1</cp:revision>
  <dc:subject>PptxGenJS Presentation</dc:subject>
  <dc:title>3.3.4 Toepassen — creatief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