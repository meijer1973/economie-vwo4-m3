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7E2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Toepassen: Overheid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3.3.4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3: Overheid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55448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554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Herkennen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Marktfalen herkennen en classificeren in casussen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1554480"/>
          </a:xfrm>
          <a:prstGeom prst="rect">
            <a:avLst/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54864" cy="1554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Verklaren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waarom de overheid ingrijpt bij marktfalen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1554480"/>
          </a:xfrm>
          <a:prstGeom prst="rect">
            <a:avLst/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05840"/>
            <a:ext cx="54864" cy="15544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43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Koppelen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juiste beleidsinstrument koppelen aan het probleem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560320" cy="1554480"/>
          </a:xfrm>
          <a:prstGeom prst="rect">
            <a:avLst/>
          </a:prstGeom>
          <a:solidFill>
            <a:srgbClr val="E8F8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54864" cy="15544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Classificeren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Collectieve goederen herkennen met twee kenmerken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560320" cy="155448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880360"/>
            <a:ext cx="54864" cy="15544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Beoordelen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74720" y="3429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Beleid beoordelen op doelmatigheid én rechtvaardigheid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vormen van marktfalen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828800" cy="640080"/>
          </a:xfrm>
          <a:prstGeom prst="rect">
            <a:avLst/>
          </a:prstGeom>
          <a:solidFill>
            <a:srgbClr val="E67E22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005840"/>
            <a:ext cx="2103120" cy="640080"/>
          </a:xfrm>
          <a:prstGeom prst="rect">
            <a:avLst/>
          </a:prstGeom>
          <a:solidFill>
            <a:srgbClr val="E67E22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gaat er mis?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2103120" cy="640080"/>
          </a:xfrm>
          <a:prstGeom prst="rect">
            <a:avLst/>
          </a:prstGeom>
          <a:solidFill>
            <a:srgbClr val="E67E22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1005840"/>
            <a:ext cx="1828800" cy="640080"/>
          </a:xfrm>
          <a:prstGeom prst="rect">
            <a:avLst/>
          </a:prstGeom>
          <a:solidFill>
            <a:srgbClr val="E67E22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0058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6916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effecten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1691640"/>
            <a:ext cx="2103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Kosten/baten niet in prijs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2103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691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Luchtvervuiling fabriek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16916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Belasting / subsidie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377440"/>
            <a:ext cx="18288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Marktmacht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68880" y="2377440"/>
            <a:ext cx="21031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 te hoog, Q te laag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2377440"/>
            <a:ext cx="21031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 verhoogt prijs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2377440"/>
            <a:ext cx="18288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Regulering / toezicht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30632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Informatieongelijkheid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3063240"/>
            <a:ext cx="2103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partij weet meer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3063240"/>
            <a:ext cx="2103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Tweedehands automarkt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75120" y="30632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Voorlichting / regels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749040"/>
            <a:ext cx="18288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Collectieve goederen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468880" y="3749040"/>
            <a:ext cx="21031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levert het niet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0" y="3749040"/>
            <a:ext cx="21031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Defensie, dijken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75120" y="3749040"/>
            <a:ext cx="18288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Overheid produceert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Diagnose: welk marktfalen?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marktfalen naar instrument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200400" cy="5943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54864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9144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Negatief extern effect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9144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749040" cy="594360"/>
          </a:xfrm>
          <a:prstGeom prst="rect">
            <a:avLst/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914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Belasting (accijns)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3200400" cy="5943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664208"/>
            <a:ext cx="54864" cy="5943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66420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Positief extern effect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664208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54880" y="1664208"/>
            <a:ext cx="3749040" cy="594360"/>
          </a:xfrm>
          <a:prstGeom prst="rect">
            <a:avLst/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64208"/>
            <a:ext cx="54864" cy="5943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6642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2414016"/>
            <a:ext cx="3200400" cy="5943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414016"/>
            <a:ext cx="54864" cy="5943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41401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Marktmacht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2414016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754880" y="2414016"/>
            <a:ext cx="3749040" cy="59436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14016"/>
            <a:ext cx="54864" cy="5943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41401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Regulering / toezicht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163824"/>
            <a:ext cx="3200400" cy="5943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163824"/>
            <a:ext cx="54864" cy="5943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16382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Informatieongelijkheid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163824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754880" y="3163824"/>
            <a:ext cx="3749040" cy="594360"/>
          </a:xfrm>
          <a:prstGeom prst="rect">
            <a:avLst/>
          </a:prstGeom>
          <a:solidFill>
            <a:srgbClr val="E8F8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163824"/>
            <a:ext cx="54864" cy="5943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1638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Voorlichting / regels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3913632"/>
            <a:ext cx="3200400" cy="5943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913632"/>
            <a:ext cx="54864" cy="59436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9136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Collectief goed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31920" y="3913632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4754880" y="3913632"/>
            <a:ext cx="3749040" cy="5943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913632"/>
            <a:ext cx="54864" cy="59436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9136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Overheid produceert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het een collectief goed?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0972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1: Kan iemand worden uitgesloten van gebruik?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6916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Ja → Geen collectief goed (privégoed of clubgoed)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2860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Nee → Ga naar stap 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8803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Stap 2: Gaat gebruik door de één ten koste van de ander?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47472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Ja → Gemeenschappelijk goed (bijv. visgronden)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4069080"/>
            <a:ext cx="7315200" cy="50292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0690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Nee → Collectief goed (bijv. dijken, defensie)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Free-riderprobleem: niemand betaalt vrijwillig → overheid financiert via belasting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Casus: tabaksaccijns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 overheid verhoogt de accijns op sigaretten van €11 naar €15 per pakje."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Welk marktfalen?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737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Negatief extern effect (gezondheidskosten)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31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Welk instrument?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Corrigerende belasting (pigouviaanse belasting)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werkt het?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 ↑ → consumptie ↓ → externe kosten 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Doelmatig?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520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Ja: minder roken = minder maatschappelijke kosten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Rechtvaardig?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114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Discussie: lagere inkomens betalen relatief meer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van accijns op de markt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Beleid beoordelen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Doelmatigheid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Leidt het beleid tot een betere allocatie?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Minder welvaartsverlies?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Worden externe effecten gecorrigeerd?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 het middel proportioneel?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Kosten vs. baten van het beleid?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097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Rechtvaardigheid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draagt de lasten?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Raakt het lagere inkomens harder?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Profijtbeginsel vs. solidariteit?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Worden zwakkeren beschermd?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Draagkrachtbeginsel toegepast?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Redeneerroute: beleid beoordelen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0058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Welk marktfalen speelt er?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627632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62763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2. Welk instrument wordt ingezet?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249424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24942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3. Lost het instrument het marktfalen op? (doelmatigheid)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871216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871216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4. Wie draagt de lasten? (rechtvaardigheid)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493008"/>
            <a:ext cx="73152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4930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5. Zijn er onbedoelde neveneffecten?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4114800"/>
            <a:ext cx="7315200" cy="50292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1148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6. Conclusie: weeg doelmatigheid tegen rechtvaardigheid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100584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Marktfalen ≠ overheidsfalen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Marktfalen = de markt faalt. Overheidsfalen = het ingrijpen maakt het erger.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194560"/>
            <a:ext cx="54864" cy="100584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Collectief goed ≠ door overheid geleverd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goed is collectief vanwege eigenschappen, niet omdat de overheid het levert.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383280"/>
            <a:ext cx="54864" cy="100584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Belasting ≠ verbod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belasting stuurt via de prijs (markt blijft bestaan). Een verbod schakelt de markt uit.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solidFill>
            <a:srgbClr val="1D255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Ik kan de vier vormen van marktfalen herkennen in een casus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solidFill>
            <a:srgbClr val="1D255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Ik kan uitleggen waarom de overheid ingrijpt bij marktfalen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solidFill>
            <a:srgbClr val="1D255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Ik kan het juiste beleidsinstrument koppelen aan het probleem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solidFill>
            <a:srgbClr val="1D255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Ik kan een collectief goed herkennen (niet-uitsluitbaar + niet-rivaliserend)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solidFill>
            <a:srgbClr val="1D255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Ik kan het free-riderprobleem uitleggen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solidFill>
            <a:srgbClr val="1D255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Ik kan beleid beoordelen op doelmatigheid én rechtvaardigheid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Toepassen: Overheid</dc:title>
  <dc:subject>PptxGenJS Presentation</dc:subject>
  <dc:creator>Economie VWO</dc:creator>
  <cp:lastModifiedBy>Economie VWO</cp:lastModifiedBy>
  <cp:revision>1</cp:revision>
  <dcterms:created xsi:type="dcterms:W3CDTF">2026-03-24T09:41:02Z</dcterms:created>
  <dcterms:modified xsi:type="dcterms:W3CDTF">2026-03-24T09:41:02Z</dcterms:modified>
</cp:coreProperties>
</file>