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Welkom bij paragraaf 3.4.5 over internationaal handelsbeleid. We bekijken hoe overheden de handel beïnvloeden met invoerrechten, tarieven en wisselkoersbeleid.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Vijf leerdoelen. Let op: bij deze paragraaf moet je kunnen REKENEN met Cournot-modellen en surplusberekeningen.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Invoerrechten zijn belastingen op geïmporteerde producten. Drie redenen: bescherming eigen industrie, werkgelegenheid behouden, en belastinginkomsten. Maar de keerzijde: consumenten betalen een hogere prijs.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Het causale mechanisme: invoerrecht → kosten buitenlandse aanbieder stijgen → die biedt minder aan → prijs stijgt, hoeveelheid daalt → consumentensurplus daalt. De economische doelmatigheid daalt.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Deze tabel is cruciaal. Het totale surplus daalt met 1.728 euro, terwijl de belastingopbrengst maar 1.216 euro is. Het verschil (512 euro) is het welvaartsverlies. Dit bewijst dat invoerrechten de doelmatigheid verlagen.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Wisselkoersen beïnvloeden de handel: een goedkopere munt maakt export goedkoper en import duurder. Sommige landen manipuleren hun wisselkoers om de export te stimuleren.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Bij een Cournotduopolie met invoerrecht stijgen de kosten van de buitenlandse aanbieder. Hierdoor verschuift zijn reactielijn naar links. Het nieuwe evenwicht: hogere prijs, lagere totale hoeveelheid.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Samenvatting. Onthoud: invoerrechten beschermen de eigen industrie maar verlagen de economische doelmatigheid. Het surplusverlies is ALTIJD groter dan de belastingopbrengst.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A5276"/>
          </a:solidFill>
          <a:ln/>
        </p:spPr>
      </p:sp>
      <p:sp>
        <p:nvSpPr>
          <p:cNvPr id="3" name="Shape 1"/>
          <p:cNvSpPr/>
          <p:nvPr/>
        </p:nvSpPr>
        <p:spPr>
          <a:xfrm>
            <a:off x="0" y="4709160"/>
            <a:ext cx="9144000" cy="434340"/>
          </a:xfrm>
          <a:prstGeom prst="rect">
            <a:avLst/>
          </a:prstGeom>
          <a:solidFill>
            <a:srgbClr val="151D4A"/>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5276"/>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40080" y="914400"/>
            <a:ext cx="7863840" cy="1828800"/>
          </a:xfrm>
          <a:prstGeom prst="rect">
            <a:avLst/>
          </a:prstGeom>
          <a:noFill/>
          <a:ln/>
        </p:spPr>
        <p:txBody>
          <a:bodyPr wrap="square" rtlCol="0" anchor="ctr"/>
          <a:lstStyle/>
          <a:p>
            <a:pPr indent="0" marL="0">
              <a:buNone/>
            </a:pPr>
            <a:r>
              <a:rPr lang="en-US" sz="3800" b="1" dirty="0">
                <a:solidFill>
                  <a:srgbClr val="FFFFFF"/>
                </a:solidFill>
                <a:latin typeface="Arial" pitchFamily="34" charset="0"/>
                <a:ea typeface="Arial" pitchFamily="34" charset="-122"/>
                <a:cs typeface="Arial" pitchFamily="34" charset="-120"/>
              </a:rPr>
              <a:t>Internationaal
</a:t>
            </a:r>
            <a:pPr indent="0" marL="0">
              <a:buNone/>
            </a:pPr>
            <a:r>
              <a:rPr lang="en-US" sz="3800" b="1" dirty="0">
                <a:solidFill>
                  <a:srgbClr val="FFFFFF"/>
                </a:solidFill>
                <a:latin typeface="Arial" pitchFamily="34" charset="0"/>
                <a:ea typeface="Arial" pitchFamily="34" charset="-122"/>
                <a:cs typeface="Arial" pitchFamily="34" charset="-120"/>
              </a:rPr>
              <a:t>handelsbeleid</a:t>
            </a:r>
            <a:endParaRPr lang="en-US" sz="3800" dirty="0"/>
          </a:p>
        </p:txBody>
      </p:sp>
      <p:sp>
        <p:nvSpPr>
          <p:cNvPr id="3" name="Text 1"/>
          <p:cNvSpPr/>
          <p:nvPr/>
        </p:nvSpPr>
        <p:spPr>
          <a:xfrm>
            <a:off x="640080" y="2834640"/>
            <a:ext cx="7863840" cy="457200"/>
          </a:xfrm>
          <a:prstGeom prst="rect">
            <a:avLst/>
          </a:prstGeom>
          <a:noFill/>
          <a:ln/>
        </p:spPr>
        <p:txBody>
          <a:bodyPr wrap="square" rtlCol="0" anchor="ctr"/>
          <a:lstStyle/>
          <a:p>
            <a:pPr indent="0" marL="0">
              <a:buNone/>
            </a:pPr>
            <a:r>
              <a:rPr lang="en-US" sz="2000" dirty="0">
                <a:solidFill>
                  <a:srgbClr val="718096"/>
                </a:solidFill>
                <a:latin typeface="Arial" pitchFamily="34" charset="0"/>
                <a:ea typeface="Arial" pitchFamily="34" charset="-122"/>
                <a:cs typeface="Arial" pitchFamily="34" charset="-120"/>
              </a:rPr>
              <a:t>Paragraaf 3.4.5 — Internationale markten</a:t>
            </a:r>
            <a:endParaRPr lang="en-US" sz="2000" dirty="0"/>
          </a:p>
        </p:txBody>
      </p:sp>
      <p:sp>
        <p:nvSpPr>
          <p:cNvPr id="4" name="Text 2"/>
          <p:cNvSpPr/>
          <p:nvPr/>
        </p:nvSpPr>
        <p:spPr>
          <a:xfrm>
            <a:off x="640080" y="4709160"/>
            <a:ext cx="7863840" cy="434340"/>
          </a:xfrm>
          <a:prstGeom prst="rect">
            <a:avLst/>
          </a:prstGeom>
          <a:noFill/>
          <a:ln/>
        </p:spPr>
        <p:txBody>
          <a:bodyPr wrap="square" rtlCol="0" anchor="ctr"/>
          <a:lstStyle/>
          <a:p>
            <a:pPr indent="0" marL="0">
              <a:buNone/>
            </a:pPr>
            <a:r>
              <a:rPr lang="en-US" sz="1200" dirty="0">
                <a:solidFill>
                  <a:srgbClr val="718096"/>
                </a:solidFill>
                <a:latin typeface="Arial" pitchFamily="34" charset="0"/>
                <a:ea typeface="Arial" pitchFamily="34" charset="-122"/>
                <a:cs typeface="Arial" pitchFamily="34" charset="-120"/>
              </a:rPr>
              <a:t>Hoofdstuk 4: Internationale markten  |  Economie VWO</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0"/>
            <a:ext cx="8229600" cy="68580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Wat moet je kunnen?</a:t>
            </a:r>
            <a:endParaRPr lang="en-US" sz="2400" dirty="0"/>
          </a:p>
        </p:txBody>
      </p:sp>
      <p:sp>
        <p:nvSpPr>
          <p:cNvPr id="3" name="Text 1"/>
          <p:cNvSpPr/>
          <p:nvPr/>
        </p:nvSpPr>
        <p:spPr>
          <a:xfrm>
            <a:off x="640080" y="1097280"/>
            <a:ext cx="7863840" cy="3200400"/>
          </a:xfrm>
          <a:prstGeom prst="rect">
            <a:avLst/>
          </a:prstGeom>
          <a:noFill/>
          <a:ln/>
        </p:spPr>
        <p:txBody>
          <a:bodyPr wrap="square" rtlCol="0" anchor="t"/>
          <a:lstStyle/>
          <a:p>
            <a:pPr algn="l" marL="342900" indent="-342900">
              <a:lnSpc>
                <a:spcPct val="150000"/>
              </a:lnSpc>
              <a:spcAft>
                <a:spcPts val="800"/>
              </a:spcAft>
              <a:buSzPct val="100000"/>
              <a:buChar char="•"/>
            </a:pPr>
            <a:r>
              <a:rPr lang="en-US" sz="1500" dirty="0">
                <a:solidFill>
                  <a:srgbClr val="2D3748"/>
                </a:solidFill>
                <a:latin typeface="Arial" pitchFamily="34" charset="0"/>
                <a:ea typeface="Arial" pitchFamily="34" charset="-122"/>
                <a:cs typeface="Arial" pitchFamily="34" charset="-120"/>
              </a:rPr>
              <a:t>Het effect van invoerrechten op prijs en hoeveelheid uitleggen</a:t>
            </a:r>
            <a:pPr algn="l" marL="342900" indent="-342900">
              <a:lnSpc>
                <a:spcPct val="150000"/>
              </a:lnSpc>
              <a:spcAft>
                <a:spcPts val="800"/>
              </a:spcAft>
              <a:buSzPct val="100000"/>
              <a:buChar char="•"/>
            </a:pPr>
            <a:r>
              <a:rPr lang="en-US" sz="1500" dirty="0">
                <a:solidFill>
                  <a:srgbClr val="2D3748"/>
                </a:solidFill>
                <a:latin typeface="Arial" pitchFamily="34" charset="0"/>
                <a:ea typeface="Arial" pitchFamily="34" charset="-122"/>
                <a:cs typeface="Arial" pitchFamily="34" charset="-120"/>
              </a:rPr>
              <a:t>Reactielijnen berekenen in een Cournotduopolie met tarieven</a:t>
            </a:r>
            <a:pPr algn="l" marL="342900" indent="-342900">
              <a:lnSpc>
                <a:spcPct val="150000"/>
              </a:lnSpc>
              <a:spcAft>
                <a:spcPts val="800"/>
              </a:spcAft>
              <a:buSzPct val="100000"/>
              <a:buChar char="•"/>
            </a:pPr>
            <a:r>
              <a:rPr lang="en-US" sz="1500" dirty="0">
                <a:solidFill>
                  <a:srgbClr val="2D3748"/>
                </a:solidFill>
                <a:latin typeface="Arial" pitchFamily="34" charset="0"/>
                <a:ea typeface="Arial" pitchFamily="34" charset="-122"/>
                <a:cs typeface="Arial" pitchFamily="34" charset="-120"/>
              </a:rPr>
              <a:t>Surplus voor en na invoerrechten vergelijken</a:t>
            </a:r>
            <a:pPr algn="l" marL="342900" indent="-342900">
              <a:lnSpc>
                <a:spcPct val="150000"/>
              </a:lnSpc>
              <a:spcAft>
                <a:spcPts val="800"/>
              </a:spcAft>
              <a:buSzPct val="100000"/>
              <a:buChar char="•"/>
            </a:pPr>
            <a:r>
              <a:rPr lang="en-US" sz="1500" dirty="0">
                <a:solidFill>
                  <a:srgbClr val="2D3748"/>
                </a:solidFill>
                <a:latin typeface="Arial" pitchFamily="34" charset="0"/>
                <a:ea typeface="Arial" pitchFamily="34" charset="-122"/>
                <a:cs typeface="Arial" pitchFamily="34" charset="-120"/>
              </a:rPr>
              <a:t>Wisselkoersen berekenen met vraag en aanbod van valuta</a:t>
            </a:r>
            <a:pPr algn="l" marL="342900" indent="-342900">
              <a:lnSpc>
                <a:spcPct val="150000"/>
              </a:lnSpc>
              <a:spcAft>
                <a:spcPts val="800"/>
              </a:spcAft>
              <a:buSzPct val="100000"/>
              <a:buChar char="•"/>
            </a:pPr>
            <a:r>
              <a:rPr lang="en-US" sz="1500" dirty="0">
                <a:solidFill>
                  <a:srgbClr val="2D3748"/>
                </a:solidFill>
                <a:latin typeface="Arial" pitchFamily="34" charset="0"/>
                <a:ea typeface="Arial" pitchFamily="34" charset="-122"/>
                <a:cs typeface="Arial" pitchFamily="34" charset="-120"/>
              </a:rPr>
              <a:t>Handelsverdragen en wisselkoersmanipulatie beoordelen</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0"/>
            <a:ext cx="8229600" cy="68580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Invoerrechten: wat en waarom?</a:t>
            </a:r>
            <a:endParaRPr lang="en-US" sz="2400" dirty="0"/>
          </a:p>
        </p:txBody>
      </p:sp>
      <p:sp>
        <p:nvSpPr>
          <p:cNvPr id="3" name="Shape 1"/>
          <p:cNvSpPr/>
          <p:nvPr/>
        </p:nvSpPr>
        <p:spPr>
          <a:xfrm>
            <a:off x="457200" y="1005840"/>
            <a:ext cx="3931920" cy="3108960"/>
          </a:xfrm>
          <a:prstGeom prst="rect">
            <a:avLst>
              <a:gd name="adj" fmla="val 1471"/>
            </a:avLst>
          </a:prstGeom>
          <a:solidFill>
            <a:srgbClr val="F9F6F1"/>
          </a:solidFill>
          <a:ln/>
          <a:effectLst>
            <a:outerShdw sx="100000" sy="100000" kx="0" ky="0" algn="bl" rotWithShape="0" blurRad="76200" dist="25400" dir="8100000">
              <a:srgbClr val="000000">
                <a:alpha val="10000"/>
              </a:srgbClr>
            </a:outerShdw>
          </a:effectLst>
        </p:spPr>
      </p:sp>
      <p:sp>
        <p:nvSpPr>
          <p:cNvPr id="4" name="Shape 2"/>
          <p:cNvSpPr/>
          <p:nvPr/>
        </p:nvSpPr>
        <p:spPr>
          <a:xfrm>
            <a:off x="457200" y="1005840"/>
            <a:ext cx="54864" cy="3108960"/>
          </a:xfrm>
          <a:prstGeom prst="rect">
            <a:avLst/>
          </a:prstGeom>
          <a:solidFill>
            <a:srgbClr val="1A5276"/>
          </a:solidFill>
          <a:ln/>
        </p:spPr>
      </p:sp>
      <p:sp>
        <p:nvSpPr>
          <p:cNvPr id="5" name="Text 3"/>
          <p:cNvSpPr/>
          <p:nvPr/>
        </p:nvSpPr>
        <p:spPr>
          <a:xfrm>
            <a:off x="640080" y="1143000"/>
            <a:ext cx="3611880" cy="365760"/>
          </a:xfrm>
          <a:prstGeom prst="rect">
            <a:avLst/>
          </a:prstGeom>
          <a:noFill/>
          <a:ln/>
        </p:spPr>
        <p:txBody>
          <a:bodyPr wrap="square" rtlCol="0" anchor="t"/>
          <a:lstStyle/>
          <a:p>
            <a:pPr indent="0" marL="0">
              <a:buNone/>
            </a:pPr>
            <a:r>
              <a:rPr lang="en-US" sz="2000" b="1" dirty="0">
                <a:solidFill>
                  <a:srgbClr val="1A5276"/>
                </a:solidFill>
                <a:latin typeface="Arial" pitchFamily="34" charset="0"/>
                <a:ea typeface="Arial" pitchFamily="34" charset="-122"/>
                <a:cs typeface="Arial" pitchFamily="34" charset="-120"/>
              </a:rPr>
              <a:t>Wat zijn invoerrechten?</a:t>
            </a:r>
            <a:endParaRPr lang="en-US" sz="2000" dirty="0"/>
          </a:p>
        </p:txBody>
      </p:sp>
      <p:sp>
        <p:nvSpPr>
          <p:cNvPr id="6" name="Text 4"/>
          <p:cNvSpPr/>
          <p:nvPr/>
        </p:nvSpPr>
        <p:spPr>
          <a:xfrm>
            <a:off x="640080" y="1554480"/>
            <a:ext cx="3611880" cy="2423160"/>
          </a:xfrm>
          <a:prstGeom prst="rect">
            <a:avLst/>
          </a:prstGeom>
          <a:noFill/>
          <a:ln/>
        </p:spPr>
        <p:txBody>
          <a:bodyPr wrap="square" rtlCol="0" anchor="t"/>
          <a:lstStyle/>
          <a:p>
            <a:pPr algn="l" indent="0" marL="0">
              <a:lnSpc>
                <a:spcPct val="115000"/>
              </a:lnSpc>
              <a:buNone/>
            </a:pPr>
            <a:r>
              <a:rPr lang="en-US" sz="1400" dirty="0">
                <a:solidFill>
                  <a:srgbClr val="2D3748"/>
                </a:solidFill>
                <a:latin typeface="Arial" pitchFamily="34" charset="0"/>
                <a:ea typeface="Arial" pitchFamily="34" charset="-122"/>
                <a:cs typeface="Arial" pitchFamily="34" charset="-120"/>
              </a:rPr>
              <a:t>Belasting op geïmporteerde producten
</a:t>
            </a:r>
            <a:pPr algn="l" indent="0" marL="0">
              <a:lnSpc>
                <a:spcPct val="115000"/>
              </a:lnSpc>
              <a:buNone/>
            </a:pPr>
            <a:r>
              <a:rPr lang="en-US" sz="1400" dirty="0">
                <a:solidFill>
                  <a:srgbClr val="2D3748"/>
                </a:solidFill>
                <a:latin typeface="Arial" pitchFamily="34" charset="0"/>
                <a:ea typeface="Arial" pitchFamily="34" charset="-122"/>
                <a:cs typeface="Arial" pitchFamily="34" charset="-120"/>
              </a:rPr>
              <a:t>De overheid heft een bedrag per product dat uit het buitenland komt.
</a:t>
            </a:r>
            <a:pPr algn="l" indent="0" marL="0">
              <a:lnSpc>
                <a:spcPct val="115000"/>
              </a:lnSpc>
              <a:buNone/>
            </a:pPr>
            <a:r>
              <a:rPr lang="en-US" sz="1300" dirty="0">
                <a:solidFill>
                  <a:srgbClr val="718096"/>
                </a:solidFill>
                <a:latin typeface="Arial" pitchFamily="34" charset="0"/>
                <a:ea typeface="Arial" pitchFamily="34" charset="-122"/>
                <a:cs typeface="Arial" pitchFamily="34" charset="-120"/>
              </a:rPr>
              <a:t>Voorbeeld: VS heft €32 per wasmachine uit China</a:t>
            </a:r>
            <a:endParaRPr lang="en-US" sz="1400" dirty="0"/>
          </a:p>
        </p:txBody>
      </p:sp>
      <p:sp>
        <p:nvSpPr>
          <p:cNvPr id="7" name="Shape 5"/>
          <p:cNvSpPr/>
          <p:nvPr/>
        </p:nvSpPr>
        <p:spPr>
          <a:xfrm>
            <a:off x="4754880" y="1005840"/>
            <a:ext cx="3931920" cy="3108960"/>
          </a:xfrm>
          <a:prstGeom prst="rect">
            <a:avLst>
              <a:gd name="adj" fmla="val 1471"/>
            </a:avLst>
          </a:prstGeom>
          <a:solidFill>
            <a:srgbClr val="FEF5E7"/>
          </a:solidFill>
          <a:ln/>
          <a:effectLst>
            <a:outerShdw sx="100000" sy="100000" kx="0" ky="0" algn="bl" rotWithShape="0" blurRad="76200" dist="25400" dir="8100000">
              <a:srgbClr val="000000">
                <a:alpha val="10000"/>
              </a:srgbClr>
            </a:outerShdw>
          </a:effectLst>
        </p:spPr>
      </p:sp>
      <p:sp>
        <p:nvSpPr>
          <p:cNvPr id="8" name="Shape 6"/>
          <p:cNvSpPr/>
          <p:nvPr/>
        </p:nvSpPr>
        <p:spPr>
          <a:xfrm>
            <a:off x="4754880" y="1005840"/>
            <a:ext cx="54864" cy="3108960"/>
          </a:xfrm>
          <a:prstGeom prst="rect">
            <a:avLst/>
          </a:prstGeom>
          <a:solidFill>
            <a:srgbClr val="E67E22"/>
          </a:solidFill>
          <a:ln/>
        </p:spPr>
      </p:sp>
      <p:sp>
        <p:nvSpPr>
          <p:cNvPr id="9" name="Text 7"/>
          <p:cNvSpPr/>
          <p:nvPr/>
        </p:nvSpPr>
        <p:spPr>
          <a:xfrm>
            <a:off x="4937760" y="1143000"/>
            <a:ext cx="3611880" cy="365760"/>
          </a:xfrm>
          <a:prstGeom prst="rect">
            <a:avLst/>
          </a:prstGeom>
          <a:noFill/>
          <a:ln/>
        </p:spPr>
        <p:txBody>
          <a:bodyPr wrap="square" rtlCol="0" anchor="t"/>
          <a:lstStyle/>
          <a:p>
            <a:pPr indent="0" marL="0">
              <a:buNone/>
            </a:pPr>
            <a:r>
              <a:rPr lang="en-US" sz="2000" b="1" dirty="0">
                <a:solidFill>
                  <a:srgbClr val="E67E22"/>
                </a:solidFill>
                <a:latin typeface="Arial" pitchFamily="34" charset="0"/>
                <a:ea typeface="Arial" pitchFamily="34" charset="-122"/>
                <a:cs typeface="Arial" pitchFamily="34" charset="-120"/>
              </a:rPr>
              <a:t>Waarom invoerrechten?</a:t>
            </a:r>
            <a:endParaRPr lang="en-US" sz="2000" dirty="0"/>
          </a:p>
        </p:txBody>
      </p:sp>
      <p:sp>
        <p:nvSpPr>
          <p:cNvPr id="10" name="Text 8"/>
          <p:cNvSpPr/>
          <p:nvPr/>
        </p:nvSpPr>
        <p:spPr>
          <a:xfrm>
            <a:off x="4937760" y="1554480"/>
            <a:ext cx="3611880" cy="2423160"/>
          </a:xfrm>
          <a:prstGeom prst="rect">
            <a:avLst/>
          </a:prstGeom>
          <a:noFill/>
          <a:ln/>
        </p:spPr>
        <p:txBody>
          <a:bodyPr wrap="square" rtlCol="0" anchor="t"/>
          <a:lstStyle/>
          <a:p>
            <a:pPr algn="l" indent="0" marL="0">
              <a:lnSpc>
                <a:spcPct val="115000"/>
              </a:lnSpc>
              <a:buNone/>
            </a:pPr>
            <a:r>
              <a:rPr lang="en-US" sz="1400" dirty="0">
                <a:solidFill>
                  <a:srgbClr val="2D3748"/>
                </a:solidFill>
                <a:latin typeface="Arial" pitchFamily="34" charset="0"/>
                <a:ea typeface="Arial" pitchFamily="34" charset="-122"/>
                <a:cs typeface="Arial" pitchFamily="34" charset="-120"/>
              </a:rPr>
              <a:t>Bescherming eigen industrie
</a:t>
            </a:r>
            <a:pPr algn="l" indent="0" marL="0">
              <a:lnSpc>
                <a:spcPct val="115000"/>
              </a:lnSpc>
              <a:buNone/>
            </a:pPr>
            <a:r>
              <a:rPr lang="en-US" sz="1400" dirty="0">
                <a:solidFill>
                  <a:srgbClr val="2D3748"/>
                </a:solidFill>
                <a:latin typeface="Arial" pitchFamily="34" charset="0"/>
                <a:ea typeface="Arial" pitchFamily="34" charset="-122"/>
                <a:cs typeface="Arial" pitchFamily="34" charset="-120"/>
              </a:rPr>
              <a:t>Werkgelegenheid behouden
</a:t>
            </a:r>
            <a:pPr algn="l" indent="0" marL="0">
              <a:lnSpc>
                <a:spcPct val="115000"/>
              </a:lnSpc>
              <a:buNone/>
            </a:pPr>
            <a:r>
              <a:rPr lang="en-US" sz="1400" dirty="0">
                <a:solidFill>
                  <a:srgbClr val="2D3748"/>
                </a:solidFill>
                <a:latin typeface="Arial" pitchFamily="34" charset="0"/>
                <a:ea typeface="Arial" pitchFamily="34" charset="-122"/>
                <a:cs typeface="Arial" pitchFamily="34" charset="-120"/>
              </a:rPr>
              <a:t>Belastinginkomsten
</a:t>
            </a:r>
            <a:pPr algn="l" indent="0" marL="0">
              <a:lnSpc>
                <a:spcPct val="115000"/>
              </a:lnSpc>
              <a:buNone/>
            </a:pPr>
            <a:r>
              <a:rPr lang="en-US" sz="1400" b="1" dirty="0">
                <a:solidFill>
                  <a:srgbClr val="D9534F"/>
                </a:solidFill>
                <a:latin typeface="Arial" pitchFamily="34" charset="0"/>
                <a:ea typeface="Arial" pitchFamily="34" charset="-122"/>
                <a:cs typeface="Arial" pitchFamily="34" charset="-120"/>
              </a:rPr>
              <a:t>Maar: consument betaalt hogere prijs!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0"/>
            <a:ext cx="8229600" cy="68580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Effect invoerrechten op de markt</a:t>
            </a:r>
            <a:endParaRPr lang="en-US" sz="2400" dirty="0"/>
          </a:p>
        </p:txBody>
      </p:sp>
      <p:sp>
        <p:nvSpPr>
          <p:cNvPr id="3" name="Shape 1"/>
          <p:cNvSpPr/>
          <p:nvPr/>
        </p:nvSpPr>
        <p:spPr>
          <a:xfrm>
            <a:off x="914400" y="868680"/>
            <a:ext cx="7315200" cy="411480"/>
          </a:xfrm>
          <a:prstGeom prst="rect">
            <a:avLst>
              <a:gd name="adj" fmla="val 11111"/>
            </a:avLst>
          </a:prstGeom>
          <a:solidFill>
            <a:srgbClr val="F7F8FA"/>
          </a:solidFill>
          <a:ln/>
          <a:effectLst>
            <a:outerShdw sx="100000" sy="100000" kx="0" ky="0" algn="bl" rotWithShape="0" blurRad="76200" dist="25400" dir="8100000">
              <a:srgbClr val="000000">
                <a:alpha val="10000"/>
              </a:srgbClr>
            </a:outerShdw>
          </a:effectLst>
        </p:spPr>
      </p:sp>
      <p:sp>
        <p:nvSpPr>
          <p:cNvPr id="4" name="Text 2"/>
          <p:cNvSpPr/>
          <p:nvPr/>
        </p:nvSpPr>
        <p:spPr>
          <a:xfrm>
            <a:off x="1097280" y="868680"/>
            <a:ext cx="6949440" cy="411480"/>
          </a:xfrm>
          <a:prstGeom prst="rect">
            <a:avLst/>
          </a:prstGeom>
          <a:noFill/>
          <a:ln/>
        </p:spPr>
        <p:txBody>
          <a:bodyPr wrap="square" rtlCol="0" anchor="ctr"/>
          <a:lstStyle/>
          <a:p>
            <a:pPr indent="0" marL="0">
              <a:buNone/>
            </a:pPr>
            <a:r>
              <a:rPr lang="en-US" sz="1400" dirty="0">
                <a:solidFill>
                  <a:srgbClr val="2D3748"/>
                </a:solidFill>
                <a:latin typeface="Arial" pitchFamily="34" charset="0"/>
                <a:ea typeface="Arial" pitchFamily="34" charset="-122"/>
                <a:cs typeface="Arial" pitchFamily="34" charset="-120"/>
              </a:rPr>
              <a:t>Overheid heft invoerrecht op buitenlands product</a:t>
            </a:r>
            <a:endParaRPr lang="en-US" sz="1400" dirty="0"/>
          </a:p>
        </p:txBody>
      </p:sp>
      <p:sp>
        <p:nvSpPr>
          <p:cNvPr id="5" name="Shape 3"/>
          <p:cNvSpPr/>
          <p:nvPr/>
        </p:nvSpPr>
        <p:spPr>
          <a:xfrm>
            <a:off x="914400" y="1389888"/>
            <a:ext cx="7315200" cy="411480"/>
          </a:xfrm>
          <a:prstGeom prst="rect">
            <a:avLst>
              <a:gd name="adj" fmla="val 11111"/>
            </a:avLst>
          </a:prstGeom>
          <a:solidFill>
            <a:srgbClr val="F7F8FA"/>
          </a:solidFill>
          <a:ln/>
          <a:effectLst>
            <a:outerShdw sx="100000" sy="100000" kx="0" ky="0" algn="bl" rotWithShape="0" blurRad="76200" dist="25400" dir="8100000">
              <a:srgbClr val="000000">
                <a:alpha val="10000"/>
              </a:srgbClr>
            </a:outerShdw>
          </a:effectLst>
        </p:spPr>
      </p:sp>
      <p:sp>
        <p:nvSpPr>
          <p:cNvPr id="6" name="Text 4"/>
          <p:cNvSpPr/>
          <p:nvPr/>
        </p:nvSpPr>
        <p:spPr>
          <a:xfrm>
            <a:off x="1097280" y="1389888"/>
            <a:ext cx="6949440" cy="411480"/>
          </a:xfrm>
          <a:prstGeom prst="rect">
            <a:avLst/>
          </a:prstGeom>
          <a:noFill/>
          <a:ln/>
        </p:spPr>
        <p:txBody>
          <a:bodyPr wrap="square" rtlCol="0" anchor="ctr"/>
          <a:lstStyle/>
          <a:p>
            <a:pPr indent="0" marL="0">
              <a:buNone/>
            </a:pPr>
            <a:r>
              <a:rPr lang="en-US" sz="1400" dirty="0">
                <a:solidFill>
                  <a:srgbClr val="2D3748"/>
                </a:solidFill>
                <a:latin typeface="Arial" pitchFamily="34" charset="0"/>
                <a:ea typeface="Arial" pitchFamily="34" charset="-122"/>
                <a:cs typeface="Arial" pitchFamily="34" charset="-120"/>
              </a:rPr>
              <a:t>↓  Kosten buitenlandse aanbieder stijgen</a:t>
            </a:r>
            <a:endParaRPr lang="en-US" sz="1400" dirty="0"/>
          </a:p>
        </p:txBody>
      </p:sp>
      <p:sp>
        <p:nvSpPr>
          <p:cNvPr id="7" name="Shape 5"/>
          <p:cNvSpPr/>
          <p:nvPr/>
        </p:nvSpPr>
        <p:spPr>
          <a:xfrm>
            <a:off x="914400" y="1911096"/>
            <a:ext cx="7315200" cy="411480"/>
          </a:xfrm>
          <a:prstGeom prst="rect">
            <a:avLst>
              <a:gd name="adj" fmla="val 11111"/>
            </a:avLst>
          </a:prstGeom>
          <a:solidFill>
            <a:srgbClr val="F7F8FA"/>
          </a:solidFill>
          <a:ln/>
          <a:effectLst>
            <a:outerShdw sx="100000" sy="100000" kx="0" ky="0" algn="bl" rotWithShape="0" blurRad="76200" dist="25400" dir="8100000">
              <a:srgbClr val="000000">
                <a:alpha val="10000"/>
              </a:srgbClr>
            </a:outerShdw>
          </a:effectLst>
        </p:spPr>
      </p:sp>
      <p:sp>
        <p:nvSpPr>
          <p:cNvPr id="8" name="Text 6"/>
          <p:cNvSpPr/>
          <p:nvPr/>
        </p:nvSpPr>
        <p:spPr>
          <a:xfrm>
            <a:off x="1097280" y="1911096"/>
            <a:ext cx="6949440" cy="411480"/>
          </a:xfrm>
          <a:prstGeom prst="rect">
            <a:avLst/>
          </a:prstGeom>
          <a:noFill/>
          <a:ln/>
        </p:spPr>
        <p:txBody>
          <a:bodyPr wrap="square" rtlCol="0" anchor="ctr"/>
          <a:lstStyle/>
          <a:p>
            <a:pPr indent="0" marL="0">
              <a:buNone/>
            </a:pPr>
            <a:r>
              <a:rPr lang="en-US" sz="1400" dirty="0">
                <a:solidFill>
                  <a:srgbClr val="2D3748"/>
                </a:solidFill>
                <a:latin typeface="Arial" pitchFamily="34" charset="0"/>
                <a:ea typeface="Arial" pitchFamily="34" charset="-122"/>
                <a:cs typeface="Arial" pitchFamily="34" charset="-120"/>
              </a:rPr>
              <a:t>↓  Buitenlandse aanbieder biedt minder aan, binnenlandse meer</a:t>
            </a:r>
            <a:endParaRPr lang="en-US" sz="1400" dirty="0"/>
          </a:p>
        </p:txBody>
      </p:sp>
      <p:sp>
        <p:nvSpPr>
          <p:cNvPr id="9" name="Shape 7"/>
          <p:cNvSpPr/>
          <p:nvPr/>
        </p:nvSpPr>
        <p:spPr>
          <a:xfrm>
            <a:off x="914400" y="2432304"/>
            <a:ext cx="7315200" cy="411480"/>
          </a:xfrm>
          <a:prstGeom prst="rect">
            <a:avLst>
              <a:gd name="adj" fmla="val 11111"/>
            </a:avLst>
          </a:prstGeom>
          <a:solidFill>
            <a:srgbClr val="F7F8FA"/>
          </a:solidFill>
          <a:ln/>
          <a:effectLst>
            <a:outerShdw sx="100000" sy="100000" kx="0" ky="0" algn="bl" rotWithShape="0" blurRad="76200" dist="25400" dir="8100000">
              <a:srgbClr val="000000">
                <a:alpha val="10000"/>
              </a:srgbClr>
            </a:outerShdw>
          </a:effectLst>
        </p:spPr>
      </p:sp>
      <p:sp>
        <p:nvSpPr>
          <p:cNvPr id="10" name="Text 8"/>
          <p:cNvSpPr/>
          <p:nvPr/>
        </p:nvSpPr>
        <p:spPr>
          <a:xfrm>
            <a:off x="1097280" y="2432304"/>
            <a:ext cx="6949440" cy="411480"/>
          </a:xfrm>
          <a:prstGeom prst="rect">
            <a:avLst/>
          </a:prstGeom>
          <a:noFill/>
          <a:ln/>
        </p:spPr>
        <p:txBody>
          <a:bodyPr wrap="square" rtlCol="0" anchor="ctr"/>
          <a:lstStyle/>
          <a:p>
            <a:pPr indent="0" marL="0">
              <a:buNone/>
            </a:pPr>
            <a:r>
              <a:rPr lang="en-US" sz="1400" dirty="0">
                <a:solidFill>
                  <a:srgbClr val="2D3748"/>
                </a:solidFill>
                <a:latin typeface="Arial" pitchFamily="34" charset="0"/>
                <a:ea typeface="Arial" pitchFamily="34" charset="-122"/>
                <a:cs typeface="Arial" pitchFamily="34" charset="-120"/>
              </a:rPr>
              <a:t>↓  Prijs stijgt, totale hoeveelheid daalt</a:t>
            </a:r>
            <a:endParaRPr lang="en-US" sz="1400" dirty="0"/>
          </a:p>
        </p:txBody>
      </p:sp>
      <p:sp>
        <p:nvSpPr>
          <p:cNvPr id="11" name="Shape 9"/>
          <p:cNvSpPr/>
          <p:nvPr/>
        </p:nvSpPr>
        <p:spPr>
          <a:xfrm>
            <a:off x="914400" y="2953512"/>
            <a:ext cx="7315200" cy="411480"/>
          </a:xfrm>
          <a:prstGeom prst="rect">
            <a:avLst>
              <a:gd name="adj" fmla="val 11111"/>
            </a:avLst>
          </a:prstGeom>
          <a:solidFill>
            <a:srgbClr val="F7F8FA"/>
          </a:solidFill>
          <a:ln/>
          <a:effectLst>
            <a:outerShdw sx="100000" sy="100000" kx="0" ky="0" algn="bl" rotWithShape="0" blurRad="76200" dist="25400" dir="8100000">
              <a:srgbClr val="000000">
                <a:alpha val="10000"/>
              </a:srgbClr>
            </a:outerShdw>
          </a:effectLst>
        </p:spPr>
      </p:sp>
      <p:sp>
        <p:nvSpPr>
          <p:cNvPr id="12" name="Text 10"/>
          <p:cNvSpPr/>
          <p:nvPr/>
        </p:nvSpPr>
        <p:spPr>
          <a:xfrm>
            <a:off x="1097280" y="2953512"/>
            <a:ext cx="6949440" cy="411480"/>
          </a:xfrm>
          <a:prstGeom prst="rect">
            <a:avLst/>
          </a:prstGeom>
          <a:noFill/>
          <a:ln/>
        </p:spPr>
        <p:txBody>
          <a:bodyPr wrap="square" rtlCol="0" anchor="ctr"/>
          <a:lstStyle/>
          <a:p>
            <a:pPr indent="0" marL="0">
              <a:buNone/>
            </a:pPr>
            <a:r>
              <a:rPr lang="en-US" sz="1400" dirty="0">
                <a:solidFill>
                  <a:srgbClr val="2D3748"/>
                </a:solidFill>
                <a:latin typeface="Arial" pitchFamily="34" charset="0"/>
                <a:ea typeface="Arial" pitchFamily="34" charset="-122"/>
                <a:cs typeface="Arial" pitchFamily="34" charset="-120"/>
              </a:rPr>
              <a:t>↓  CS daalt, winst binnenlandse aanbieder stijgt</a:t>
            </a:r>
            <a:endParaRPr lang="en-US" sz="1400" dirty="0"/>
          </a:p>
        </p:txBody>
      </p:sp>
      <p:sp>
        <p:nvSpPr>
          <p:cNvPr id="13" name="Shape 11"/>
          <p:cNvSpPr/>
          <p:nvPr/>
        </p:nvSpPr>
        <p:spPr>
          <a:xfrm>
            <a:off x="914400" y="3474720"/>
            <a:ext cx="7315200" cy="411480"/>
          </a:xfrm>
          <a:prstGeom prst="rect">
            <a:avLst>
              <a:gd name="adj" fmla="val 11111"/>
            </a:avLst>
          </a:prstGeom>
          <a:solidFill>
            <a:srgbClr val="1A5276"/>
          </a:solidFill>
          <a:ln/>
          <a:effectLst>
            <a:outerShdw sx="100000" sy="100000" kx="0" ky="0" algn="bl" rotWithShape="0" blurRad="76200" dist="25400" dir="8100000">
              <a:srgbClr val="000000">
                <a:alpha val="10000"/>
              </a:srgbClr>
            </a:outerShdw>
          </a:effectLst>
        </p:spPr>
      </p:sp>
      <p:sp>
        <p:nvSpPr>
          <p:cNvPr id="14" name="Text 12"/>
          <p:cNvSpPr/>
          <p:nvPr/>
        </p:nvSpPr>
        <p:spPr>
          <a:xfrm>
            <a:off x="1097280" y="3474720"/>
            <a:ext cx="6949440" cy="41148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  Economische doelmatigheid daalt: verlies surplus &gt; belastingopbrengst</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0"/>
            <a:ext cx="8229600" cy="68580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Surplus: voor vs. na tarief</a:t>
            </a:r>
            <a:endParaRPr lang="en-US" sz="2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914400"/>
          <a:ext cx="8229600" cy="914400"/>
        </p:xfrm>
        <a:graphic>
          <a:graphicData uri="http://schemas.openxmlformats.org/drawingml/2006/table">
            <a:tbl>
              <a:tblPr/>
              <a:tblGrid>
                <a:gridCol w="2194560"/>
                <a:gridCol w="2011680"/>
                <a:gridCol w="2011680"/>
                <a:gridCol w="2011680"/>
              </a:tblGrid>
              <a:tr h="384048">
                <a:tc>
                  <a:txBody>
                    <a:bodyPr/>
                    <a:lstStyle/>
                    <a:p>
                      <a:pPr algn="ctr" indent="0" marL="0">
                        <a:buNone/>
                      </a:pPr>
                      <a:endParaRPr lang="en-US" sz="1300" dirty="0">
                        <a:latin typeface="Arial" charset="0"/>
                        <a:ea typeface="Arial" charset="0"/>
                        <a:cs typeface="Arial" charset="0"/>
                      </a:endParaRPr>
                    </a:p>
                  </a:txBody>
                  <a:tcPr marL="91440" marR="91440" marT="45720" marB="4572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tcPr>
                </a:tc>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Zonder tarief</a:t>
                      </a:r>
                      <a:endParaRPr lang="en-US" sz="1300" dirty="0">
                        <a:latin typeface="Arial" charset="0"/>
                        <a:ea typeface="Arial" charset="0"/>
                        <a:cs typeface="Arial" charset="0"/>
                      </a:endParaRPr>
                    </a:p>
                  </a:txBody>
                  <a:tcPr marL="91440" marR="91440" marT="45720" marB="4572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A5276"/>
                    </a:solidFill>
                  </a:tcPr>
                </a:tc>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Met tarief (€32)</a:t>
                      </a:r>
                      <a:endParaRPr lang="en-US" sz="1300" dirty="0">
                        <a:latin typeface="Arial" charset="0"/>
                        <a:ea typeface="Arial" charset="0"/>
                        <a:cs typeface="Arial" charset="0"/>
                      </a:endParaRPr>
                    </a:p>
                  </a:txBody>
                  <a:tcPr marL="91440" marR="91440" marT="45720" marB="4572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A5276"/>
                    </a:solidFill>
                  </a:tcPr>
                </a:tc>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Verschil</a:t>
                      </a:r>
                      <a:endParaRPr lang="en-US" sz="1300" dirty="0">
                        <a:latin typeface="Arial" charset="0"/>
                        <a:ea typeface="Arial" charset="0"/>
                        <a:cs typeface="Arial" charset="0"/>
                      </a:endParaRPr>
                    </a:p>
                  </a:txBody>
                  <a:tcPr marL="91440" marR="91440" marT="45720" marB="4572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A5276"/>
                    </a:solidFill>
                  </a:tcPr>
                </a:tc>
              </a:tr>
              <a:tr h="384048">
                <a:tc>
                  <a:txBody>
                    <a:bodyPr/>
                    <a:lstStyle/>
                    <a:p>
                      <a:pPr algn="ctr" indent="0" marL="0">
                        <a:buNone/>
                      </a:pPr>
                      <a:r>
                        <a:rPr lang="en-US" sz="1300" b="1" dirty="0">
                          <a:solidFill>
                            <a:srgbClr val="000000"/>
                          </a:solidFill>
                          <a:latin typeface="Arial" pitchFamily="34" charset="0"/>
                          <a:ea typeface="Arial" pitchFamily="34" charset="-122"/>
                          <a:cs typeface="Arial" pitchFamily="34" charset="-120"/>
                        </a:rPr>
                        <a:t>q_VS</a:t>
                      </a:r>
                      <a:endParaRPr lang="en-US" sz="1300" dirty="0">
                        <a:latin typeface="Arial" charset="0"/>
                        <a:ea typeface="Arial" charset="0"/>
                        <a:cs typeface="Arial" charset="0"/>
                      </a:endParaRPr>
                    </a:p>
                  </a:txBody>
                  <a:tcPr marL="91440" marR="91440" marT="45720" marB="4572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tcPr>
                </a:tc>
                <a:tc>
                  <a:txBody>
                    <a:bodyPr/>
                    <a:lstStyle/>
                    <a:p>
                      <a:pPr algn="ctr" indent="0" marL="0">
                        <a:buNone/>
                      </a:pPr>
                      <a:r>
                        <a:rPr lang="en-US" sz="1300" dirty="0">
                          <a:solidFill>
                            <a:srgbClr val="000000"/>
                          </a:solidFill>
                          <a:latin typeface="Arial" pitchFamily="34" charset="0"/>
                          <a:ea typeface="Arial" pitchFamily="34" charset="-122"/>
                          <a:cs typeface="Arial" pitchFamily="34" charset="-120"/>
                        </a:rPr>
                        <a:t>50</a:t>
                      </a:r>
                      <a:endParaRPr lang="en-US" sz="1300" dirty="0">
                        <a:latin typeface="Arial" charset="0"/>
                        <a:ea typeface="Arial" charset="0"/>
                        <a:cs typeface="Arial" charset="0"/>
                      </a:endParaRPr>
                    </a:p>
                  </a:txBody>
                  <a:tcPr marL="91440" marR="91440" marT="45720" marB="4572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tcPr>
                </a:tc>
                <a:tc>
                  <a:txBody>
                    <a:bodyPr/>
                    <a:lstStyle/>
                    <a:p>
                      <a:pPr algn="ctr" indent="0" marL="0">
                        <a:buNone/>
                      </a:pPr>
                      <a:r>
                        <a:rPr lang="en-US" sz="1300" dirty="0">
                          <a:solidFill>
                            <a:srgbClr val="000000"/>
                          </a:solidFill>
                          <a:latin typeface="Arial" pitchFamily="34" charset="0"/>
                          <a:ea typeface="Arial" pitchFamily="34" charset="-122"/>
                          <a:cs typeface="Arial" pitchFamily="34" charset="-120"/>
                        </a:rPr>
                        <a:t>54</a:t>
                      </a:r>
                      <a:endParaRPr lang="en-US" sz="1300" dirty="0">
                        <a:latin typeface="Arial" charset="0"/>
                        <a:ea typeface="Arial" charset="0"/>
                        <a:cs typeface="Arial" charset="0"/>
                      </a:endParaRPr>
                    </a:p>
                  </a:txBody>
                  <a:tcPr marL="91440" marR="91440" marT="45720" marB="4572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tcPr>
                </a:tc>
                <a:tc>
                  <a:txBody>
                    <a:bodyPr/>
                    <a:lstStyle/>
                    <a:p>
                      <a:pPr algn="ctr" indent="0" marL="0">
                        <a:buNone/>
                      </a:pPr>
                      <a:r>
                        <a:rPr lang="en-US" sz="1300" dirty="0">
                          <a:solidFill>
                            <a:srgbClr val="1E8449"/>
                          </a:solidFill>
                          <a:latin typeface="Arial" pitchFamily="34" charset="0"/>
                          <a:ea typeface="Arial" pitchFamily="34" charset="-122"/>
                          <a:cs typeface="Arial" pitchFamily="34" charset="-120"/>
                        </a:rPr>
                        <a:t>+4</a:t>
                      </a:r>
                      <a:endParaRPr lang="en-US" sz="1300" dirty="0">
                        <a:latin typeface="Arial" charset="0"/>
                        <a:ea typeface="Arial" charset="0"/>
                        <a:cs typeface="Arial" charset="0"/>
                      </a:endParaRPr>
                    </a:p>
                  </a:txBody>
                  <a:tcPr marL="91440" marR="91440" marT="45720" marB="4572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tcPr>
                </a:tc>
              </a:tr>
              <a:tr h="384048">
                <a:tc>
                  <a:txBody>
                    <a:bodyPr/>
                    <a:lstStyle/>
                    <a:p>
                      <a:pPr algn="ctr" indent="0" marL="0">
                        <a:buNone/>
                      </a:pPr>
                      <a:r>
                        <a:rPr lang="en-US" sz="1300" b="1" dirty="0">
                          <a:solidFill>
                            <a:srgbClr val="000000"/>
                          </a:solidFill>
                          <a:latin typeface="Arial" pitchFamily="34" charset="0"/>
                          <a:ea typeface="Arial" pitchFamily="34" charset="-122"/>
                          <a:cs typeface="Arial" pitchFamily="34" charset="-120"/>
                        </a:rPr>
                        <a:t>q_China</a:t>
                      </a:r>
                      <a:endParaRPr lang="en-US" sz="1300" dirty="0">
                        <a:latin typeface="Arial" charset="0"/>
                        <a:ea typeface="Arial" charset="0"/>
                        <a:cs typeface="Arial" charset="0"/>
                      </a:endParaRPr>
                    </a:p>
                  </a:txBody>
                  <a:tcPr marL="91440" marR="91440" marT="45720" marB="4572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tcPr>
                </a:tc>
                <a:tc>
                  <a:txBody>
                    <a:bodyPr/>
                    <a:lstStyle/>
                    <a:p>
                      <a:pPr algn="ctr" indent="0" marL="0">
                        <a:buNone/>
                      </a:pPr>
                      <a:r>
                        <a:rPr lang="en-US" sz="1300" dirty="0">
                          <a:solidFill>
                            <a:srgbClr val="000000"/>
                          </a:solidFill>
                          <a:latin typeface="Arial" pitchFamily="34" charset="0"/>
                          <a:ea typeface="Arial" pitchFamily="34" charset="-122"/>
                          <a:cs typeface="Arial" pitchFamily="34" charset="-120"/>
                        </a:rPr>
                        <a:t>50</a:t>
                      </a:r>
                      <a:endParaRPr lang="en-US" sz="1300" dirty="0">
                        <a:latin typeface="Arial" charset="0"/>
                        <a:ea typeface="Arial" charset="0"/>
                        <a:cs typeface="Arial" charset="0"/>
                      </a:endParaRPr>
                    </a:p>
                  </a:txBody>
                  <a:tcPr marL="91440" marR="91440" marT="45720" marB="4572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tcPr>
                </a:tc>
                <a:tc>
                  <a:txBody>
                    <a:bodyPr/>
                    <a:lstStyle/>
                    <a:p>
                      <a:pPr algn="ctr" indent="0" marL="0">
                        <a:buNone/>
                      </a:pPr>
                      <a:r>
                        <a:rPr lang="en-US" sz="1300" dirty="0">
                          <a:solidFill>
                            <a:srgbClr val="000000"/>
                          </a:solidFill>
                          <a:latin typeface="Arial" pitchFamily="34" charset="0"/>
                          <a:ea typeface="Arial" pitchFamily="34" charset="-122"/>
                          <a:cs typeface="Arial" pitchFamily="34" charset="-120"/>
                        </a:rPr>
                        <a:t>38</a:t>
                      </a:r>
                      <a:endParaRPr lang="en-US" sz="1300" dirty="0">
                        <a:latin typeface="Arial" charset="0"/>
                        <a:ea typeface="Arial" charset="0"/>
                        <a:cs typeface="Arial" charset="0"/>
                      </a:endParaRPr>
                    </a:p>
                  </a:txBody>
                  <a:tcPr marL="91440" marR="91440" marT="45720" marB="4572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tcPr>
                </a:tc>
                <a:tc>
                  <a:txBody>
                    <a:bodyPr/>
                    <a:lstStyle/>
                    <a:p>
                      <a:pPr algn="ctr" indent="0" marL="0">
                        <a:buNone/>
                      </a:pPr>
                      <a:r>
                        <a:rPr lang="en-US" sz="1300" dirty="0">
                          <a:solidFill>
                            <a:srgbClr val="D9534F"/>
                          </a:solidFill>
                          <a:latin typeface="Arial" pitchFamily="34" charset="0"/>
                          <a:ea typeface="Arial" pitchFamily="34" charset="-122"/>
                          <a:cs typeface="Arial" pitchFamily="34" charset="-120"/>
                        </a:rPr>
                        <a:t>−12</a:t>
                      </a:r>
                      <a:endParaRPr lang="en-US" sz="1300" dirty="0">
                        <a:latin typeface="Arial" charset="0"/>
                        <a:ea typeface="Arial" charset="0"/>
                        <a:cs typeface="Arial" charset="0"/>
                      </a:endParaRPr>
                    </a:p>
                  </a:txBody>
                  <a:tcPr marL="91440" marR="91440" marT="45720" marB="4572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tcPr>
                </a:tc>
              </a:tr>
              <a:tr h="384048">
                <a:tc>
                  <a:txBody>
                    <a:bodyPr/>
                    <a:lstStyle/>
                    <a:p>
                      <a:pPr algn="ctr" indent="0" marL="0">
                        <a:buNone/>
                      </a:pPr>
                      <a:r>
                        <a:rPr lang="en-US" sz="1300" b="1" dirty="0">
                          <a:solidFill>
                            <a:srgbClr val="000000"/>
                          </a:solidFill>
                          <a:latin typeface="Arial" pitchFamily="34" charset="0"/>
                          <a:ea typeface="Arial" pitchFamily="34" charset="-122"/>
                          <a:cs typeface="Arial" pitchFamily="34" charset="-120"/>
                        </a:rPr>
                        <a:t>Prijs</a:t>
                      </a:r>
                      <a:endParaRPr lang="en-US" sz="1300" dirty="0">
                        <a:latin typeface="Arial" charset="0"/>
                        <a:ea typeface="Arial" charset="0"/>
                        <a:cs typeface="Arial" charset="0"/>
                      </a:endParaRPr>
                    </a:p>
                  </a:txBody>
                  <a:tcPr marL="91440" marR="91440" marT="45720" marB="4572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tcPr>
                </a:tc>
                <a:tc>
                  <a:txBody>
                    <a:bodyPr/>
                    <a:lstStyle/>
                    <a:p>
                      <a:pPr algn="ctr" indent="0" marL="0">
                        <a:buNone/>
                      </a:pPr>
                      <a:r>
                        <a:rPr lang="en-US" sz="1300" dirty="0">
                          <a:solidFill>
                            <a:srgbClr val="000000"/>
                          </a:solidFill>
                          <a:latin typeface="Arial" pitchFamily="34" charset="0"/>
                          <a:ea typeface="Arial" pitchFamily="34" charset="-122"/>
                          <a:cs typeface="Arial" pitchFamily="34" charset="-120"/>
                        </a:rPr>
                        <a:t>€100</a:t>
                      </a:r>
                      <a:endParaRPr lang="en-US" sz="1300" dirty="0">
                        <a:latin typeface="Arial" charset="0"/>
                        <a:ea typeface="Arial" charset="0"/>
                        <a:cs typeface="Arial" charset="0"/>
                      </a:endParaRPr>
                    </a:p>
                  </a:txBody>
                  <a:tcPr marL="91440" marR="91440" marT="45720" marB="4572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tcPr>
                </a:tc>
                <a:tc>
                  <a:txBody>
                    <a:bodyPr/>
                    <a:lstStyle/>
                    <a:p>
                      <a:pPr algn="ctr" indent="0" marL="0">
                        <a:buNone/>
                      </a:pPr>
                      <a:r>
                        <a:rPr lang="en-US" sz="1300" dirty="0">
                          <a:solidFill>
                            <a:srgbClr val="000000"/>
                          </a:solidFill>
                          <a:latin typeface="Arial" pitchFamily="34" charset="0"/>
                          <a:ea typeface="Arial" pitchFamily="34" charset="-122"/>
                          <a:cs typeface="Arial" pitchFamily="34" charset="-120"/>
                        </a:rPr>
                        <a:t>€108</a:t>
                      </a:r>
                      <a:endParaRPr lang="en-US" sz="1300" dirty="0">
                        <a:latin typeface="Arial" charset="0"/>
                        <a:ea typeface="Arial" charset="0"/>
                        <a:cs typeface="Arial" charset="0"/>
                      </a:endParaRPr>
                    </a:p>
                  </a:txBody>
                  <a:tcPr marL="91440" marR="91440" marT="45720" marB="4572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tcPr>
                </a:tc>
                <a:tc>
                  <a:txBody>
                    <a:bodyPr/>
                    <a:lstStyle/>
                    <a:p>
                      <a:pPr algn="ctr" indent="0" marL="0">
                        <a:buNone/>
                      </a:pPr>
                      <a:r>
                        <a:rPr lang="en-US" sz="1300" dirty="0">
                          <a:solidFill>
                            <a:srgbClr val="D9534F"/>
                          </a:solidFill>
                          <a:latin typeface="Arial" pitchFamily="34" charset="0"/>
                          <a:ea typeface="Arial" pitchFamily="34" charset="-122"/>
                          <a:cs typeface="Arial" pitchFamily="34" charset="-120"/>
                        </a:rPr>
                        <a:t>+€8</a:t>
                      </a:r>
                      <a:endParaRPr lang="en-US" sz="1300" dirty="0">
                        <a:latin typeface="Arial" charset="0"/>
                        <a:ea typeface="Arial" charset="0"/>
                        <a:cs typeface="Arial" charset="0"/>
                      </a:endParaRPr>
                    </a:p>
                  </a:txBody>
                  <a:tcPr marL="91440" marR="91440" marT="45720" marB="4572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tcPr>
                </a:tc>
              </a:tr>
              <a:tr h="384048">
                <a:tc>
                  <a:txBody>
                    <a:bodyPr/>
                    <a:lstStyle/>
                    <a:p>
                      <a:pPr algn="ctr" indent="0" marL="0">
                        <a:buNone/>
                      </a:pPr>
                      <a:r>
                        <a:rPr lang="en-US" sz="1300" b="1" dirty="0">
                          <a:solidFill>
                            <a:srgbClr val="000000"/>
                          </a:solidFill>
                          <a:latin typeface="Arial" pitchFamily="34" charset="0"/>
                          <a:ea typeface="Arial" pitchFamily="34" charset="-122"/>
                          <a:cs typeface="Arial" pitchFamily="34" charset="-120"/>
                        </a:rPr>
                        <a:t>CS</a:t>
                      </a:r>
                      <a:endParaRPr lang="en-US" sz="1300" dirty="0">
                        <a:latin typeface="Arial" charset="0"/>
                        <a:ea typeface="Arial" charset="0"/>
                        <a:cs typeface="Arial" charset="0"/>
                      </a:endParaRPr>
                    </a:p>
                  </a:txBody>
                  <a:tcPr marL="91440" marR="91440" marT="45720" marB="4572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tcPr>
                </a:tc>
                <a:tc>
                  <a:txBody>
                    <a:bodyPr/>
                    <a:lstStyle/>
                    <a:p>
                      <a:pPr algn="ctr" indent="0" marL="0">
                        <a:buNone/>
                      </a:pPr>
                      <a:r>
                        <a:rPr lang="en-US" sz="1300" dirty="0">
                          <a:solidFill>
                            <a:srgbClr val="000000"/>
                          </a:solidFill>
                          <a:latin typeface="Arial" pitchFamily="34" charset="0"/>
                          <a:ea typeface="Arial" pitchFamily="34" charset="-122"/>
                          <a:cs typeface="Arial" pitchFamily="34" charset="-120"/>
                        </a:rPr>
                        <a:t>€5.000</a:t>
                      </a:r>
                      <a:endParaRPr lang="en-US" sz="1300" dirty="0">
                        <a:latin typeface="Arial" charset="0"/>
                        <a:ea typeface="Arial" charset="0"/>
                        <a:cs typeface="Arial" charset="0"/>
                      </a:endParaRPr>
                    </a:p>
                  </a:txBody>
                  <a:tcPr marL="91440" marR="91440" marT="45720" marB="4572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tcPr>
                </a:tc>
                <a:tc>
                  <a:txBody>
                    <a:bodyPr/>
                    <a:lstStyle/>
                    <a:p>
                      <a:pPr algn="ctr" indent="0" marL="0">
                        <a:buNone/>
                      </a:pPr>
                      <a:r>
                        <a:rPr lang="en-US" sz="1300" dirty="0">
                          <a:solidFill>
                            <a:srgbClr val="000000"/>
                          </a:solidFill>
                          <a:latin typeface="Arial" pitchFamily="34" charset="0"/>
                          <a:ea typeface="Arial" pitchFamily="34" charset="-122"/>
                          <a:cs typeface="Arial" pitchFamily="34" charset="-120"/>
                        </a:rPr>
                        <a:t>€4.232</a:t>
                      </a:r>
                      <a:endParaRPr lang="en-US" sz="1300" dirty="0">
                        <a:latin typeface="Arial" charset="0"/>
                        <a:ea typeface="Arial" charset="0"/>
                        <a:cs typeface="Arial" charset="0"/>
                      </a:endParaRPr>
                    </a:p>
                  </a:txBody>
                  <a:tcPr marL="91440" marR="91440" marT="45720" marB="4572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tcPr>
                </a:tc>
                <a:tc>
                  <a:txBody>
                    <a:bodyPr/>
                    <a:lstStyle/>
                    <a:p>
                      <a:pPr algn="ctr" indent="0" marL="0">
                        <a:buNone/>
                      </a:pPr>
                      <a:r>
                        <a:rPr lang="en-US" sz="1300" dirty="0">
                          <a:solidFill>
                            <a:srgbClr val="D9534F"/>
                          </a:solidFill>
                          <a:latin typeface="Arial" pitchFamily="34" charset="0"/>
                          <a:ea typeface="Arial" pitchFamily="34" charset="-122"/>
                          <a:cs typeface="Arial" pitchFamily="34" charset="-120"/>
                        </a:rPr>
                        <a:t>−€768</a:t>
                      </a:r>
                      <a:endParaRPr lang="en-US" sz="1300" dirty="0">
                        <a:latin typeface="Arial" charset="0"/>
                        <a:ea typeface="Arial" charset="0"/>
                        <a:cs typeface="Arial" charset="0"/>
                      </a:endParaRPr>
                    </a:p>
                  </a:txBody>
                  <a:tcPr marL="91440" marR="91440" marT="45720" marB="4572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tcPr>
                </a:tc>
              </a:tr>
              <a:tr h="384048">
                <a:tc>
                  <a:txBody>
                    <a:bodyPr/>
                    <a:lstStyle/>
                    <a:p>
                      <a:pPr algn="ctr" indent="0" marL="0">
                        <a:buNone/>
                      </a:pPr>
                      <a:r>
                        <a:rPr lang="en-US" sz="1300" b="1" dirty="0">
                          <a:solidFill>
                            <a:srgbClr val="000000"/>
                          </a:solidFill>
                          <a:latin typeface="Arial" pitchFamily="34" charset="0"/>
                          <a:ea typeface="Arial" pitchFamily="34" charset="-122"/>
                          <a:cs typeface="Arial" pitchFamily="34" charset="-120"/>
                        </a:rPr>
                        <a:t>PS</a:t>
                      </a:r>
                      <a:endParaRPr lang="en-US" sz="1300" dirty="0">
                        <a:latin typeface="Arial" charset="0"/>
                        <a:ea typeface="Arial" charset="0"/>
                        <a:cs typeface="Arial" charset="0"/>
                      </a:endParaRPr>
                    </a:p>
                  </a:txBody>
                  <a:tcPr marL="91440" marR="91440" marT="45720" marB="4572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tcPr>
                </a:tc>
                <a:tc>
                  <a:txBody>
                    <a:bodyPr/>
                    <a:lstStyle/>
                    <a:p>
                      <a:pPr algn="ctr" indent="0" marL="0">
                        <a:buNone/>
                      </a:pPr>
                      <a:r>
                        <a:rPr lang="en-US" sz="1300" dirty="0">
                          <a:solidFill>
                            <a:srgbClr val="000000"/>
                          </a:solidFill>
                          <a:latin typeface="Arial" pitchFamily="34" charset="0"/>
                          <a:ea typeface="Arial" pitchFamily="34" charset="-122"/>
                          <a:cs typeface="Arial" pitchFamily="34" charset="-120"/>
                        </a:rPr>
                        <a:t>€7.500</a:t>
                      </a:r>
                      <a:endParaRPr lang="en-US" sz="1300" dirty="0">
                        <a:latin typeface="Arial" charset="0"/>
                        <a:ea typeface="Arial" charset="0"/>
                        <a:cs typeface="Arial" charset="0"/>
                      </a:endParaRPr>
                    </a:p>
                  </a:txBody>
                  <a:tcPr marL="91440" marR="91440" marT="45720" marB="4572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tcPr>
                </a:tc>
                <a:tc>
                  <a:txBody>
                    <a:bodyPr/>
                    <a:lstStyle/>
                    <a:p>
                      <a:pPr algn="ctr" indent="0" marL="0">
                        <a:buNone/>
                      </a:pPr>
                      <a:r>
                        <a:rPr lang="en-US" sz="1300" dirty="0">
                          <a:solidFill>
                            <a:srgbClr val="000000"/>
                          </a:solidFill>
                          <a:latin typeface="Arial" pitchFamily="34" charset="0"/>
                          <a:ea typeface="Arial" pitchFamily="34" charset="-122"/>
                          <a:cs typeface="Arial" pitchFamily="34" charset="-120"/>
                        </a:rPr>
                        <a:t>€6.540</a:t>
                      </a:r>
                      <a:endParaRPr lang="en-US" sz="1300" dirty="0">
                        <a:latin typeface="Arial" charset="0"/>
                        <a:ea typeface="Arial" charset="0"/>
                        <a:cs typeface="Arial" charset="0"/>
                      </a:endParaRPr>
                    </a:p>
                  </a:txBody>
                  <a:tcPr marL="91440" marR="91440" marT="45720" marB="4572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tcPr>
                </a:tc>
                <a:tc>
                  <a:txBody>
                    <a:bodyPr/>
                    <a:lstStyle/>
                    <a:p>
                      <a:pPr algn="ctr" indent="0" marL="0">
                        <a:buNone/>
                      </a:pPr>
                      <a:r>
                        <a:rPr lang="en-US" sz="1300" dirty="0">
                          <a:solidFill>
                            <a:srgbClr val="D9534F"/>
                          </a:solidFill>
                          <a:latin typeface="Arial" pitchFamily="34" charset="0"/>
                          <a:ea typeface="Arial" pitchFamily="34" charset="-122"/>
                          <a:cs typeface="Arial" pitchFamily="34" charset="-120"/>
                        </a:rPr>
                        <a:t>−€960</a:t>
                      </a:r>
                      <a:endParaRPr lang="en-US" sz="1300" dirty="0">
                        <a:latin typeface="Arial" charset="0"/>
                        <a:ea typeface="Arial" charset="0"/>
                        <a:cs typeface="Arial" charset="0"/>
                      </a:endParaRPr>
                    </a:p>
                  </a:txBody>
                  <a:tcPr marL="91440" marR="91440" marT="45720" marB="4572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tcPr>
                </a:tc>
              </a:tr>
              <a:tr h="384048">
                <a:tc>
                  <a:txBody>
                    <a:bodyPr/>
                    <a:lstStyle/>
                    <a:p>
                      <a:pPr algn="ctr" indent="0" marL="0">
                        <a:buNone/>
                      </a:pPr>
                      <a:r>
                        <a:rPr lang="en-US" sz="1300" b="1" dirty="0">
                          <a:solidFill>
                            <a:srgbClr val="000000"/>
                          </a:solidFill>
                          <a:latin typeface="Arial" pitchFamily="34" charset="0"/>
                          <a:ea typeface="Arial" pitchFamily="34" charset="-122"/>
                          <a:cs typeface="Arial" pitchFamily="34" charset="-120"/>
                        </a:rPr>
                        <a:t>Totaal surplus</a:t>
                      </a:r>
                      <a:endParaRPr lang="en-US" sz="1300" dirty="0">
                        <a:latin typeface="Arial" charset="0"/>
                        <a:ea typeface="Arial" charset="0"/>
                        <a:cs typeface="Arial" charset="0"/>
                      </a:endParaRPr>
                    </a:p>
                  </a:txBody>
                  <a:tcPr marL="91440" marR="91440" marT="45720" marB="4572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tcPr>
                </a:tc>
                <a:tc>
                  <a:txBody>
                    <a:bodyPr/>
                    <a:lstStyle/>
                    <a:p>
                      <a:pPr algn="ctr" indent="0" marL="0">
                        <a:buNone/>
                      </a:pPr>
                      <a:r>
                        <a:rPr lang="en-US" sz="1300" b="1" dirty="0">
                          <a:solidFill>
                            <a:srgbClr val="000000"/>
                          </a:solidFill>
                          <a:latin typeface="Arial" pitchFamily="34" charset="0"/>
                          <a:ea typeface="Arial" pitchFamily="34" charset="-122"/>
                          <a:cs typeface="Arial" pitchFamily="34" charset="-120"/>
                        </a:rPr>
                        <a:t>€12.500</a:t>
                      </a:r>
                      <a:endParaRPr lang="en-US" sz="1300" dirty="0">
                        <a:latin typeface="Arial" charset="0"/>
                        <a:ea typeface="Arial" charset="0"/>
                        <a:cs typeface="Arial" charset="0"/>
                      </a:endParaRPr>
                    </a:p>
                  </a:txBody>
                  <a:tcPr marL="91440" marR="91440" marT="45720" marB="4572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tcPr>
                </a:tc>
                <a:tc>
                  <a:txBody>
                    <a:bodyPr/>
                    <a:lstStyle/>
                    <a:p>
                      <a:pPr algn="ctr" indent="0" marL="0">
                        <a:buNone/>
                      </a:pPr>
                      <a:r>
                        <a:rPr lang="en-US" sz="1300" b="1" dirty="0">
                          <a:solidFill>
                            <a:srgbClr val="000000"/>
                          </a:solidFill>
                          <a:latin typeface="Arial" pitchFamily="34" charset="0"/>
                          <a:ea typeface="Arial" pitchFamily="34" charset="-122"/>
                          <a:cs typeface="Arial" pitchFamily="34" charset="-120"/>
                        </a:rPr>
                        <a:t>€10.772</a:t>
                      </a:r>
                      <a:endParaRPr lang="en-US" sz="1300" dirty="0">
                        <a:latin typeface="Arial" charset="0"/>
                        <a:ea typeface="Arial" charset="0"/>
                        <a:cs typeface="Arial" charset="0"/>
                      </a:endParaRPr>
                    </a:p>
                  </a:txBody>
                  <a:tcPr marL="91440" marR="91440" marT="45720" marB="4572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tcPr>
                </a:tc>
                <a:tc>
                  <a:txBody>
                    <a:bodyPr/>
                    <a:lstStyle/>
                    <a:p>
                      <a:pPr algn="ctr" indent="0" marL="0">
                        <a:buNone/>
                      </a:pPr>
                      <a:r>
                        <a:rPr lang="en-US" sz="1300" b="1" dirty="0">
                          <a:solidFill>
                            <a:srgbClr val="D9534F"/>
                          </a:solidFill>
                          <a:latin typeface="Arial" pitchFamily="34" charset="0"/>
                          <a:ea typeface="Arial" pitchFamily="34" charset="-122"/>
                          <a:cs typeface="Arial" pitchFamily="34" charset="-120"/>
                        </a:rPr>
                        <a:t>−€1.728</a:t>
                      </a:r>
                      <a:endParaRPr lang="en-US" sz="1300" dirty="0">
                        <a:latin typeface="Arial" charset="0"/>
                        <a:ea typeface="Arial" charset="0"/>
                        <a:cs typeface="Arial" charset="0"/>
                      </a:endParaRPr>
                    </a:p>
                  </a:txBody>
                  <a:tcPr marL="91440" marR="91440" marT="45720" marB="4572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tcPr>
                </a:tc>
              </a:tr>
              <a:tr h="384048">
                <a:tc>
                  <a:txBody>
                    <a:bodyPr/>
                    <a:lstStyle/>
                    <a:p>
                      <a:pPr algn="ctr" indent="0" marL="0">
                        <a:buNone/>
                      </a:pPr>
                      <a:r>
                        <a:rPr lang="en-US" sz="1300" b="1" dirty="0">
                          <a:solidFill>
                            <a:srgbClr val="000000"/>
                          </a:solidFill>
                          <a:latin typeface="Arial" pitchFamily="34" charset="0"/>
                          <a:ea typeface="Arial" pitchFamily="34" charset="-122"/>
                          <a:cs typeface="Arial" pitchFamily="34" charset="-120"/>
                        </a:rPr>
                        <a:t>Belasting</a:t>
                      </a:r>
                      <a:endParaRPr lang="en-US" sz="1300" dirty="0">
                        <a:latin typeface="Arial" charset="0"/>
                        <a:ea typeface="Arial" charset="0"/>
                        <a:cs typeface="Arial" charset="0"/>
                      </a:endParaRPr>
                    </a:p>
                  </a:txBody>
                  <a:tcPr marL="91440" marR="91440" marT="45720" marB="4572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tcPr>
                </a:tc>
                <a:tc>
                  <a:txBody>
                    <a:bodyPr/>
                    <a:lstStyle/>
                    <a:p>
                      <a:pPr algn="ctr" indent="0" marL="0">
                        <a:buNone/>
                      </a:pPr>
                      <a:r>
                        <a:rPr lang="en-US" sz="1300" dirty="0">
                          <a:solidFill>
                            <a:srgbClr val="000000"/>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91440" marR="91440" marT="45720" marB="4572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tcPr>
                </a:tc>
                <a:tc>
                  <a:txBody>
                    <a:bodyPr/>
                    <a:lstStyle/>
                    <a:p>
                      <a:pPr algn="ctr" indent="0" marL="0">
                        <a:buNone/>
                      </a:pPr>
                      <a:r>
                        <a:rPr lang="en-US" sz="1300" dirty="0">
                          <a:solidFill>
                            <a:srgbClr val="000000"/>
                          </a:solidFill>
                          <a:latin typeface="Arial" pitchFamily="34" charset="0"/>
                          <a:ea typeface="Arial" pitchFamily="34" charset="-122"/>
                          <a:cs typeface="Arial" pitchFamily="34" charset="-120"/>
                        </a:rPr>
                        <a:t>€1.216</a:t>
                      </a:r>
                      <a:endParaRPr lang="en-US" sz="1300" dirty="0">
                        <a:latin typeface="Arial" charset="0"/>
                        <a:ea typeface="Arial" charset="0"/>
                        <a:cs typeface="Arial" charset="0"/>
                      </a:endParaRPr>
                    </a:p>
                  </a:txBody>
                  <a:tcPr marL="91440" marR="91440" marT="45720" marB="4572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tcPr>
                </a:tc>
                <a:tc>
                  <a:txBody>
                    <a:bodyPr/>
                    <a:lstStyle/>
                    <a:p>
                      <a:pPr algn="ctr" indent="0" marL="0">
                        <a:buNone/>
                      </a:pPr>
                      <a:r>
                        <a:rPr lang="en-US" sz="1300" dirty="0">
                          <a:solidFill>
                            <a:srgbClr val="1E8449"/>
                          </a:solidFill>
                          <a:latin typeface="Arial" pitchFamily="34" charset="0"/>
                          <a:ea typeface="Arial" pitchFamily="34" charset="-122"/>
                          <a:cs typeface="Arial" pitchFamily="34" charset="-120"/>
                        </a:rPr>
                        <a:t>+€1.216</a:t>
                      </a:r>
                      <a:endParaRPr lang="en-US" sz="1300" dirty="0">
                        <a:latin typeface="Arial" charset="0"/>
                        <a:ea typeface="Arial" charset="0"/>
                        <a:cs typeface="Arial" charset="0"/>
                      </a:endParaRPr>
                    </a:p>
                  </a:txBody>
                  <a:tcPr marL="91440" marR="91440" marT="45720" marB="45720" anchor="ctr">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tcPr>
                </a:tc>
              </a:tr>
            </a:tbl>
          </a:graphicData>
        </a:graphic>
      </p:graphicFrame>
      <p:sp>
        <p:nvSpPr>
          <p:cNvPr id="4" name="Shape 1"/>
          <p:cNvSpPr/>
          <p:nvPr/>
        </p:nvSpPr>
        <p:spPr>
          <a:xfrm>
            <a:off x="457200" y="4114800"/>
            <a:ext cx="8229600" cy="502920"/>
          </a:xfrm>
          <a:prstGeom prst="rect">
            <a:avLst>
              <a:gd name="adj" fmla="val 9091"/>
            </a:avLst>
          </a:prstGeom>
          <a:solidFill>
            <a:srgbClr val="EBF5FB"/>
          </a:solidFill>
          <a:ln/>
          <a:effectLst>
            <a:outerShdw sx="100000" sy="100000" kx="0" ky="0" algn="bl" rotWithShape="0" blurRad="76200" dist="25400" dir="8100000">
              <a:srgbClr val="000000">
                <a:alpha val="10000"/>
              </a:srgbClr>
            </a:outerShdw>
          </a:effectLst>
        </p:spPr>
      </p:sp>
      <p:sp>
        <p:nvSpPr>
          <p:cNvPr id="5" name="Shape 2"/>
          <p:cNvSpPr/>
          <p:nvPr/>
        </p:nvSpPr>
        <p:spPr>
          <a:xfrm>
            <a:off x="457200" y="4114800"/>
            <a:ext cx="54864" cy="502920"/>
          </a:xfrm>
          <a:prstGeom prst="rect">
            <a:avLst/>
          </a:prstGeom>
          <a:solidFill>
            <a:srgbClr val="D9534F"/>
          </a:solidFill>
          <a:ln/>
        </p:spPr>
      </p:sp>
      <p:sp>
        <p:nvSpPr>
          <p:cNvPr id="6" name="Text 3"/>
          <p:cNvSpPr/>
          <p:nvPr/>
        </p:nvSpPr>
        <p:spPr>
          <a:xfrm>
            <a:off x="685800" y="4114800"/>
            <a:ext cx="7772400" cy="502920"/>
          </a:xfrm>
          <a:prstGeom prst="rect">
            <a:avLst/>
          </a:prstGeom>
          <a:noFill/>
          <a:ln/>
        </p:spPr>
        <p:txBody>
          <a:bodyPr wrap="square" rtlCol="0" anchor="ctr"/>
          <a:lstStyle/>
          <a:p>
            <a:pPr indent="0" marL="0">
              <a:buNone/>
            </a:pPr>
            <a:r>
              <a:rPr lang="en-US" sz="1400" b="1" dirty="0">
                <a:solidFill>
                  <a:srgbClr val="2D3748"/>
                </a:solidFill>
                <a:latin typeface="Arial" pitchFamily="34" charset="0"/>
                <a:ea typeface="Arial" pitchFamily="34" charset="-122"/>
                <a:cs typeface="Arial" pitchFamily="34" charset="-120"/>
              </a:rPr>
              <a:t>Surplusverlies (€1.728) &gt; belastingopbrengst (€1.216) → doelmatigheid daalt</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0"/>
            <a:ext cx="8229600" cy="68580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Wisselkoersen en handelsbeleid</a:t>
            </a:r>
            <a:endParaRPr lang="en-US" sz="2400" dirty="0"/>
          </a:p>
        </p:txBody>
      </p:sp>
      <p:sp>
        <p:nvSpPr>
          <p:cNvPr id="3" name="Shape 1"/>
          <p:cNvSpPr/>
          <p:nvPr/>
        </p:nvSpPr>
        <p:spPr>
          <a:xfrm>
            <a:off x="457200" y="1005840"/>
            <a:ext cx="3931920" cy="2011680"/>
          </a:xfrm>
          <a:prstGeom prst="rect">
            <a:avLst>
              <a:gd name="adj" fmla="val 2273"/>
            </a:avLst>
          </a:prstGeom>
          <a:solidFill>
            <a:srgbClr val="F9F6F1"/>
          </a:solidFill>
          <a:ln/>
          <a:effectLst>
            <a:outerShdw sx="100000" sy="100000" kx="0" ky="0" algn="bl" rotWithShape="0" blurRad="76200" dist="25400" dir="8100000">
              <a:srgbClr val="000000">
                <a:alpha val="10000"/>
              </a:srgbClr>
            </a:outerShdw>
          </a:effectLst>
        </p:spPr>
      </p:sp>
      <p:sp>
        <p:nvSpPr>
          <p:cNvPr id="4" name="Shape 2"/>
          <p:cNvSpPr/>
          <p:nvPr/>
        </p:nvSpPr>
        <p:spPr>
          <a:xfrm>
            <a:off x="457200" y="1005840"/>
            <a:ext cx="54864" cy="2011680"/>
          </a:xfrm>
          <a:prstGeom prst="rect">
            <a:avLst/>
          </a:prstGeom>
          <a:solidFill>
            <a:srgbClr val="1A5276"/>
          </a:solidFill>
          <a:ln/>
        </p:spPr>
      </p:sp>
      <p:sp>
        <p:nvSpPr>
          <p:cNvPr id="5" name="Text 3"/>
          <p:cNvSpPr/>
          <p:nvPr/>
        </p:nvSpPr>
        <p:spPr>
          <a:xfrm>
            <a:off x="640080" y="1143000"/>
            <a:ext cx="3611880" cy="365760"/>
          </a:xfrm>
          <a:prstGeom prst="rect">
            <a:avLst/>
          </a:prstGeom>
          <a:noFill/>
          <a:ln/>
        </p:spPr>
        <p:txBody>
          <a:bodyPr wrap="square" rtlCol="0" anchor="t"/>
          <a:lstStyle/>
          <a:p>
            <a:pPr indent="0" marL="0">
              <a:buNone/>
            </a:pPr>
            <a:r>
              <a:rPr lang="en-US" sz="2000" b="1" dirty="0">
                <a:solidFill>
                  <a:srgbClr val="1A5276"/>
                </a:solidFill>
                <a:latin typeface="Arial" pitchFamily="34" charset="0"/>
                <a:ea typeface="Arial" pitchFamily="34" charset="-122"/>
                <a:cs typeface="Arial" pitchFamily="34" charset="-120"/>
              </a:rPr>
              <a:t>Wisselkoersberekening</a:t>
            </a:r>
            <a:endParaRPr lang="en-US" sz="2000" dirty="0"/>
          </a:p>
        </p:txBody>
      </p:sp>
      <p:sp>
        <p:nvSpPr>
          <p:cNvPr id="6" name="Text 4"/>
          <p:cNvSpPr/>
          <p:nvPr/>
        </p:nvSpPr>
        <p:spPr>
          <a:xfrm>
            <a:off x="640080" y="1554480"/>
            <a:ext cx="3611880" cy="1325880"/>
          </a:xfrm>
          <a:prstGeom prst="rect">
            <a:avLst/>
          </a:prstGeom>
          <a:noFill/>
          <a:ln/>
        </p:spPr>
        <p:txBody>
          <a:bodyPr wrap="square" rtlCol="0" anchor="t"/>
          <a:lstStyle/>
          <a:p>
            <a:pPr algn="l" indent="0" marL="0">
              <a:lnSpc>
                <a:spcPct val="115000"/>
              </a:lnSpc>
              <a:buNone/>
            </a:pPr>
            <a:r>
              <a:rPr lang="en-US" sz="1400" dirty="0">
                <a:solidFill>
                  <a:srgbClr val="2D3748"/>
                </a:solidFill>
                <a:latin typeface="Arial" pitchFamily="34" charset="0"/>
                <a:ea typeface="Arial" pitchFamily="34" charset="-122"/>
                <a:cs typeface="Arial" pitchFamily="34" charset="-120"/>
              </a:rPr>
              <a:t>Vraag = Aanbod valutamarkt
</a:t>
            </a:r>
            <a:pPr algn="l" indent="0" marL="0">
              <a:lnSpc>
                <a:spcPct val="115000"/>
              </a:lnSpc>
              <a:buNone/>
            </a:pPr>
            <a:r>
              <a:rPr lang="en-US" sz="1400" b="1" dirty="0">
                <a:solidFill>
                  <a:srgbClr val="1A5276"/>
                </a:solidFill>
                <a:latin typeface="Arial" pitchFamily="34" charset="0"/>
                <a:ea typeface="Arial" pitchFamily="34" charset="-122"/>
                <a:cs typeface="Arial" pitchFamily="34" charset="-120"/>
              </a:rPr>
              <a:t>→ Evenwichtskoers (p*)
</a:t>
            </a:r>
            <a:pPr algn="l" indent="0" marL="0">
              <a:lnSpc>
                <a:spcPct val="115000"/>
              </a:lnSpc>
              <a:buNone/>
            </a:pPr>
            <a:r>
              <a:rPr lang="en-US" sz="1400" dirty="0">
                <a:solidFill>
                  <a:srgbClr val="2D3748"/>
                </a:solidFill>
                <a:latin typeface="Arial" pitchFamily="34" charset="0"/>
                <a:ea typeface="Arial" pitchFamily="34" charset="-122"/>
                <a:cs typeface="Arial" pitchFamily="34" charset="-120"/>
              </a:rPr>
              <a:t>Extra aanbod → koers daalt</a:t>
            </a:r>
            <a:endParaRPr lang="en-US" sz="1400" dirty="0"/>
          </a:p>
        </p:txBody>
      </p:sp>
      <p:sp>
        <p:nvSpPr>
          <p:cNvPr id="7" name="Shape 5"/>
          <p:cNvSpPr/>
          <p:nvPr/>
        </p:nvSpPr>
        <p:spPr>
          <a:xfrm>
            <a:off x="4754880" y="1005840"/>
            <a:ext cx="3931920" cy="2011680"/>
          </a:xfrm>
          <a:prstGeom prst="rect">
            <a:avLst>
              <a:gd name="adj" fmla="val 2273"/>
            </a:avLst>
          </a:prstGeom>
          <a:solidFill>
            <a:srgbClr val="E8F8F0"/>
          </a:solidFill>
          <a:ln/>
          <a:effectLst>
            <a:outerShdw sx="100000" sy="100000" kx="0" ky="0" algn="bl" rotWithShape="0" blurRad="76200" dist="25400" dir="8100000">
              <a:srgbClr val="000000">
                <a:alpha val="10000"/>
              </a:srgbClr>
            </a:outerShdw>
          </a:effectLst>
        </p:spPr>
      </p:sp>
      <p:sp>
        <p:nvSpPr>
          <p:cNvPr id="8" name="Shape 6"/>
          <p:cNvSpPr/>
          <p:nvPr/>
        </p:nvSpPr>
        <p:spPr>
          <a:xfrm>
            <a:off x="4754880" y="1005840"/>
            <a:ext cx="54864" cy="2011680"/>
          </a:xfrm>
          <a:prstGeom prst="rect">
            <a:avLst/>
          </a:prstGeom>
          <a:solidFill>
            <a:srgbClr val="1E8449"/>
          </a:solidFill>
          <a:ln/>
        </p:spPr>
      </p:sp>
      <p:sp>
        <p:nvSpPr>
          <p:cNvPr id="9" name="Text 7"/>
          <p:cNvSpPr/>
          <p:nvPr/>
        </p:nvSpPr>
        <p:spPr>
          <a:xfrm>
            <a:off x="4937760" y="1143000"/>
            <a:ext cx="3611880" cy="365760"/>
          </a:xfrm>
          <a:prstGeom prst="rect">
            <a:avLst/>
          </a:prstGeom>
          <a:noFill/>
          <a:ln/>
        </p:spPr>
        <p:txBody>
          <a:bodyPr wrap="square" rtlCol="0" anchor="t"/>
          <a:lstStyle/>
          <a:p>
            <a:pPr indent="0" marL="0">
              <a:buNone/>
            </a:pPr>
            <a:r>
              <a:rPr lang="en-US" sz="2000" b="1" dirty="0">
                <a:solidFill>
                  <a:srgbClr val="1E8449"/>
                </a:solidFill>
                <a:latin typeface="Arial" pitchFamily="34" charset="0"/>
                <a:ea typeface="Arial" pitchFamily="34" charset="-122"/>
                <a:cs typeface="Arial" pitchFamily="34" charset="-120"/>
              </a:rPr>
              <a:t>Handelsverdragen (bijv. CETA)</a:t>
            </a:r>
            <a:endParaRPr lang="en-US" sz="2000" dirty="0"/>
          </a:p>
        </p:txBody>
      </p:sp>
      <p:sp>
        <p:nvSpPr>
          <p:cNvPr id="10" name="Text 8"/>
          <p:cNvSpPr/>
          <p:nvPr/>
        </p:nvSpPr>
        <p:spPr>
          <a:xfrm>
            <a:off x="4937760" y="1554480"/>
            <a:ext cx="3611880" cy="1325880"/>
          </a:xfrm>
          <a:prstGeom prst="rect">
            <a:avLst/>
          </a:prstGeom>
          <a:noFill/>
          <a:ln/>
        </p:spPr>
        <p:txBody>
          <a:bodyPr wrap="square" rtlCol="0" anchor="t"/>
          <a:lstStyle/>
          <a:p>
            <a:pPr algn="l" indent="0" marL="0">
              <a:lnSpc>
                <a:spcPct val="115000"/>
              </a:lnSpc>
              <a:buNone/>
            </a:pPr>
            <a:r>
              <a:rPr lang="en-US" sz="1400" dirty="0">
                <a:solidFill>
                  <a:srgbClr val="2D3748"/>
                </a:solidFill>
                <a:latin typeface="Arial" pitchFamily="34" charset="0"/>
                <a:ea typeface="Arial" pitchFamily="34" charset="-122"/>
                <a:cs typeface="Arial" pitchFamily="34" charset="-120"/>
              </a:rPr>
              <a:t>Minder handelsbarrières
</a:t>
            </a:r>
            <a:pPr algn="l" indent="0" marL="0">
              <a:lnSpc>
                <a:spcPct val="115000"/>
              </a:lnSpc>
              <a:buNone/>
            </a:pPr>
            <a:r>
              <a:rPr lang="en-US" sz="1400" dirty="0">
                <a:solidFill>
                  <a:srgbClr val="2D3748"/>
                </a:solidFill>
                <a:latin typeface="Arial" pitchFamily="34" charset="0"/>
                <a:ea typeface="Arial" pitchFamily="34" charset="-122"/>
                <a:cs typeface="Arial" pitchFamily="34" charset="-120"/>
              </a:rPr>
              <a:t>→ Meer export en import
</a:t>
            </a:r>
            <a:pPr algn="l" indent="0" marL="0">
              <a:lnSpc>
                <a:spcPct val="115000"/>
              </a:lnSpc>
              <a:buNone/>
            </a:pPr>
            <a:r>
              <a:rPr lang="en-US" sz="1400" b="1" dirty="0">
                <a:solidFill>
                  <a:srgbClr val="1E8449"/>
                </a:solidFill>
                <a:latin typeface="Arial" pitchFamily="34" charset="0"/>
                <a:ea typeface="Arial" pitchFamily="34" charset="-122"/>
                <a:cs typeface="Arial" pitchFamily="34" charset="-120"/>
              </a:rPr>
              <a:t>→ Hogere welvaart</a:t>
            </a:r>
            <a:endParaRPr lang="en-US" sz="1400" dirty="0"/>
          </a:p>
        </p:txBody>
      </p:sp>
      <p:sp>
        <p:nvSpPr>
          <p:cNvPr id="11" name="Shape 9"/>
          <p:cNvSpPr/>
          <p:nvPr/>
        </p:nvSpPr>
        <p:spPr>
          <a:xfrm>
            <a:off x="457200" y="3291840"/>
            <a:ext cx="8229600" cy="1097280"/>
          </a:xfrm>
          <a:prstGeom prst="rect">
            <a:avLst>
              <a:gd name="adj" fmla="val 4167"/>
            </a:avLst>
          </a:prstGeom>
          <a:solidFill>
            <a:srgbClr val="FDE8E8"/>
          </a:solidFill>
          <a:ln/>
          <a:effectLst>
            <a:outerShdw sx="100000" sy="100000" kx="0" ky="0" algn="bl" rotWithShape="0" blurRad="76200" dist="25400" dir="8100000">
              <a:srgbClr val="000000">
                <a:alpha val="10000"/>
              </a:srgbClr>
            </a:outerShdw>
          </a:effectLst>
        </p:spPr>
      </p:sp>
      <p:sp>
        <p:nvSpPr>
          <p:cNvPr id="12" name="Shape 10"/>
          <p:cNvSpPr/>
          <p:nvPr/>
        </p:nvSpPr>
        <p:spPr>
          <a:xfrm>
            <a:off x="457200" y="3291840"/>
            <a:ext cx="54864" cy="1097280"/>
          </a:xfrm>
          <a:prstGeom prst="rect">
            <a:avLst/>
          </a:prstGeom>
          <a:solidFill>
            <a:srgbClr val="D9534F"/>
          </a:solidFill>
          <a:ln/>
        </p:spPr>
      </p:sp>
      <p:sp>
        <p:nvSpPr>
          <p:cNvPr id="13" name="Text 11"/>
          <p:cNvSpPr/>
          <p:nvPr/>
        </p:nvSpPr>
        <p:spPr>
          <a:xfrm>
            <a:off x="685800" y="3383280"/>
            <a:ext cx="7772400" cy="914400"/>
          </a:xfrm>
          <a:prstGeom prst="rect">
            <a:avLst/>
          </a:prstGeom>
          <a:noFill/>
          <a:ln/>
        </p:spPr>
        <p:txBody>
          <a:bodyPr wrap="square" rtlCol="0" anchor="t"/>
          <a:lstStyle/>
          <a:p>
            <a:pPr indent="0" marL="0">
              <a:buNone/>
            </a:pPr>
            <a:r>
              <a:rPr lang="en-US" sz="1600" b="1" dirty="0">
                <a:solidFill>
                  <a:srgbClr val="D9534F"/>
                </a:solidFill>
                <a:latin typeface="Arial" pitchFamily="34" charset="0"/>
                <a:ea typeface="Arial" pitchFamily="34" charset="-122"/>
                <a:cs typeface="Arial" pitchFamily="34" charset="-120"/>
              </a:rPr>
              <a:t>Wisselkoersmanipulatie
</a:t>
            </a:r>
            <a:pPr indent="0" marL="0">
              <a:buNone/>
            </a:pPr>
            <a:r>
              <a:rPr lang="en-US" sz="1400" dirty="0">
                <a:solidFill>
                  <a:srgbClr val="2D3748"/>
                </a:solidFill>
                <a:latin typeface="Arial" pitchFamily="34" charset="0"/>
                <a:ea typeface="Arial" pitchFamily="34" charset="-122"/>
                <a:cs typeface="Arial" pitchFamily="34" charset="-120"/>
              </a:rPr>
              <a:t>= overheid drukt eigen munt kunstmatig omlaag → export goedkoper
</a:t>
            </a:r>
            <a:pPr indent="0" marL="0">
              <a:buNone/>
            </a:pPr>
            <a:r>
              <a:rPr lang="en-US" sz="1400" dirty="0">
                <a:solidFill>
                  <a:srgbClr val="2D3748"/>
                </a:solidFill>
                <a:latin typeface="Arial" pitchFamily="34" charset="0"/>
                <a:ea typeface="Arial" pitchFamily="34" charset="-122"/>
                <a:cs typeface="Arial" pitchFamily="34" charset="-120"/>
              </a:rPr>
              <a:t>→ oneerlijke concurrentie, maar consument in importland profiteert</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0"/>
            <a:ext cx="8229600" cy="68580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Cournot met invoerrecht</a:t>
            </a:r>
            <a:endParaRPr lang="en-US" sz="2400" dirty="0"/>
          </a:p>
        </p:txBody>
      </p:sp>
      <p:sp>
        <p:nvSpPr>
          <p:cNvPr id="3" name="Shape 1"/>
          <p:cNvSpPr/>
          <p:nvPr/>
        </p:nvSpPr>
        <p:spPr>
          <a:xfrm>
            <a:off x="640080" y="1005840"/>
            <a:ext cx="7863840" cy="1005840"/>
          </a:xfrm>
          <a:prstGeom prst="rect">
            <a:avLst>
              <a:gd name="adj" fmla="val 4545"/>
            </a:avLst>
          </a:prstGeom>
          <a:solidFill>
            <a:srgbClr val="EBF5FB"/>
          </a:solidFill>
          <a:ln/>
          <a:effectLst>
            <a:outerShdw sx="100000" sy="100000" kx="0" ky="0" algn="bl" rotWithShape="0" blurRad="76200" dist="25400" dir="8100000">
              <a:srgbClr val="000000">
                <a:alpha val="10000"/>
              </a:srgbClr>
            </a:outerShdw>
          </a:effectLst>
        </p:spPr>
      </p:sp>
      <p:sp>
        <p:nvSpPr>
          <p:cNvPr id="4" name="Shape 2"/>
          <p:cNvSpPr/>
          <p:nvPr/>
        </p:nvSpPr>
        <p:spPr>
          <a:xfrm>
            <a:off x="640080" y="1005840"/>
            <a:ext cx="54864" cy="1005840"/>
          </a:xfrm>
          <a:prstGeom prst="rect">
            <a:avLst/>
          </a:prstGeom>
          <a:solidFill>
            <a:srgbClr val="154360"/>
          </a:solidFill>
          <a:ln/>
        </p:spPr>
      </p:sp>
      <p:sp>
        <p:nvSpPr>
          <p:cNvPr id="5" name="Text 3"/>
          <p:cNvSpPr/>
          <p:nvPr/>
        </p:nvSpPr>
        <p:spPr>
          <a:xfrm>
            <a:off x="868680" y="1051560"/>
            <a:ext cx="7406640" cy="914400"/>
          </a:xfrm>
          <a:prstGeom prst="rect">
            <a:avLst/>
          </a:prstGeom>
          <a:noFill/>
          <a:ln/>
        </p:spPr>
        <p:txBody>
          <a:bodyPr wrap="square" rtlCol="0" anchor="ctr"/>
          <a:lstStyle/>
          <a:p>
            <a:pPr indent="0" marL="0">
              <a:buNone/>
            </a:pPr>
            <a:r>
              <a:rPr lang="en-US" sz="1600" b="1" dirty="0">
                <a:solidFill>
                  <a:srgbClr val="154360"/>
                </a:solidFill>
                <a:latin typeface="Arial" pitchFamily="34" charset="0"/>
                <a:ea typeface="Arial" pitchFamily="34" charset="-122"/>
                <a:cs typeface="Arial" pitchFamily="34" charset="-120"/>
              </a:rPr>
              <a:t>Bij een Cournotduopolie met invoerrecht:
</a:t>
            </a:r>
            <a:pPr indent="0" marL="0">
              <a:buNone/>
            </a:pPr>
            <a:r>
              <a:rPr lang="en-US" sz="1400" dirty="0">
                <a:solidFill>
                  <a:srgbClr val="2D3748"/>
                </a:solidFill>
                <a:latin typeface="Arial" pitchFamily="34" charset="0"/>
                <a:ea typeface="Arial" pitchFamily="34" charset="-122"/>
                <a:cs typeface="Arial" pitchFamily="34" charset="-120"/>
              </a:rPr>
              <a:t>De kosten van de buitenlandse aanbieder stijgen → reactielijn verschuift naar links</a:t>
            </a:r>
            <a:endParaRPr lang="en-US" sz="1600" dirty="0"/>
          </a:p>
        </p:txBody>
      </p:sp>
      <p:sp>
        <p:nvSpPr>
          <p:cNvPr id="6" name="Shape 4"/>
          <p:cNvSpPr/>
          <p:nvPr/>
        </p:nvSpPr>
        <p:spPr>
          <a:xfrm>
            <a:off x="640080" y="2286000"/>
            <a:ext cx="7863840" cy="402336"/>
          </a:xfrm>
          <a:prstGeom prst="rect">
            <a:avLst>
              <a:gd name="adj" fmla="val 11364"/>
            </a:avLst>
          </a:prstGeom>
          <a:solidFill>
            <a:srgbClr val="F7F8FA"/>
          </a:solidFill>
          <a:ln/>
          <a:effectLst>
            <a:outerShdw sx="100000" sy="100000" kx="0" ky="0" algn="bl" rotWithShape="0" blurRad="76200" dist="25400" dir="8100000">
              <a:srgbClr val="000000">
                <a:alpha val="10000"/>
              </a:srgbClr>
            </a:outerShdw>
          </a:effectLst>
        </p:spPr>
      </p:sp>
      <p:sp>
        <p:nvSpPr>
          <p:cNvPr id="7" name="Shape 5"/>
          <p:cNvSpPr/>
          <p:nvPr/>
        </p:nvSpPr>
        <p:spPr>
          <a:xfrm>
            <a:off x="640080" y="2286000"/>
            <a:ext cx="54864" cy="402336"/>
          </a:xfrm>
          <a:prstGeom prst="rect">
            <a:avLst/>
          </a:prstGeom>
          <a:solidFill>
            <a:srgbClr val="1A5276"/>
          </a:solidFill>
          <a:ln/>
        </p:spPr>
      </p:sp>
      <p:sp>
        <p:nvSpPr>
          <p:cNvPr id="8" name="Text 6"/>
          <p:cNvSpPr/>
          <p:nvPr/>
        </p:nvSpPr>
        <p:spPr>
          <a:xfrm>
            <a:off x="868680" y="2286000"/>
            <a:ext cx="7406640" cy="402336"/>
          </a:xfrm>
          <a:prstGeom prst="rect">
            <a:avLst/>
          </a:prstGeom>
          <a:noFill/>
          <a:ln/>
        </p:spPr>
        <p:txBody>
          <a:bodyPr wrap="square" rtlCol="0" anchor="ctr"/>
          <a:lstStyle/>
          <a:p>
            <a:pPr indent="0" marL="0">
              <a:buNone/>
            </a:pPr>
            <a:r>
              <a:rPr lang="en-US" sz="1400" dirty="0">
                <a:solidFill>
                  <a:srgbClr val="2D3748"/>
                </a:solidFill>
                <a:latin typeface="Arial" pitchFamily="34" charset="0"/>
                <a:ea typeface="Arial" pitchFamily="34" charset="-122"/>
                <a:cs typeface="Arial" pitchFamily="34" charset="-120"/>
              </a:rPr>
              <a:t>Hogere prijs</a:t>
            </a:r>
            <a:endParaRPr lang="en-US" sz="1400" dirty="0"/>
          </a:p>
        </p:txBody>
      </p:sp>
      <p:sp>
        <p:nvSpPr>
          <p:cNvPr id="9" name="Shape 7"/>
          <p:cNvSpPr/>
          <p:nvPr/>
        </p:nvSpPr>
        <p:spPr>
          <a:xfrm>
            <a:off x="640080" y="2761488"/>
            <a:ext cx="7863840" cy="402336"/>
          </a:xfrm>
          <a:prstGeom prst="rect">
            <a:avLst>
              <a:gd name="adj" fmla="val 11364"/>
            </a:avLst>
          </a:prstGeom>
          <a:solidFill>
            <a:srgbClr val="F7F8FA"/>
          </a:solidFill>
          <a:ln/>
          <a:effectLst>
            <a:outerShdw sx="100000" sy="100000" kx="0" ky="0" algn="bl" rotWithShape="0" blurRad="76200" dist="25400" dir="8100000">
              <a:srgbClr val="000000">
                <a:alpha val="10000"/>
              </a:srgbClr>
            </a:outerShdw>
          </a:effectLst>
        </p:spPr>
      </p:sp>
      <p:sp>
        <p:nvSpPr>
          <p:cNvPr id="10" name="Shape 8"/>
          <p:cNvSpPr/>
          <p:nvPr/>
        </p:nvSpPr>
        <p:spPr>
          <a:xfrm>
            <a:off x="640080" y="2761488"/>
            <a:ext cx="54864" cy="402336"/>
          </a:xfrm>
          <a:prstGeom prst="rect">
            <a:avLst/>
          </a:prstGeom>
          <a:solidFill>
            <a:srgbClr val="1A5276"/>
          </a:solidFill>
          <a:ln/>
        </p:spPr>
      </p:sp>
      <p:sp>
        <p:nvSpPr>
          <p:cNvPr id="11" name="Text 9"/>
          <p:cNvSpPr/>
          <p:nvPr/>
        </p:nvSpPr>
        <p:spPr>
          <a:xfrm>
            <a:off x="868680" y="2761488"/>
            <a:ext cx="7406640" cy="402336"/>
          </a:xfrm>
          <a:prstGeom prst="rect">
            <a:avLst/>
          </a:prstGeom>
          <a:noFill/>
          <a:ln/>
        </p:spPr>
        <p:txBody>
          <a:bodyPr wrap="square" rtlCol="0" anchor="ctr"/>
          <a:lstStyle/>
          <a:p>
            <a:pPr indent="0" marL="0">
              <a:buNone/>
            </a:pPr>
            <a:r>
              <a:rPr lang="en-US" sz="1400" dirty="0">
                <a:solidFill>
                  <a:srgbClr val="2D3748"/>
                </a:solidFill>
                <a:latin typeface="Arial" pitchFamily="34" charset="0"/>
                <a:ea typeface="Arial" pitchFamily="34" charset="-122"/>
                <a:cs typeface="Arial" pitchFamily="34" charset="-120"/>
              </a:rPr>
              <a:t>Lagere totale hoeveelheid</a:t>
            </a:r>
            <a:endParaRPr lang="en-US" sz="1400" dirty="0"/>
          </a:p>
        </p:txBody>
      </p:sp>
      <p:sp>
        <p:nvSpPr>
          <p:cNvPr id="12" name="Shape 10"/>
          <p:cNvSpPr/>
          <p:nvPr/>
        </p:nvSpPr>
        <p:spPr>
          <a:xfrm>
            <a:off x="640080" y="3236976"/>
            <a:ext cx="7863840" cy="402336"/>
          </a:xfrm>
          <a:prstGeom prst="rect">
            <a:avLst>
              <a:gd name="adj" fmla="val 11364"/>
            </a:avLst>
          </a:prstGeom>
          <a:solidFill>
            <a:srgbClr val="F7F8FA"/>
          </a:solidFill>
          <a:ln/>
          <a:effectLst>
            <a:outerShdw sx="100000" sy="100000" kx="0" ky="0" algn="bl" rotWithShape="0" blurRad="76200" dist="25400" dir="8100000">
              <a:srgbClr val="000000">
                <a:alpha val="10000"/>
              </a:srgbClr>
            </a:outerShdw>
          </a:effectLst>
        </p:spPr>
      </p:sp>
      <p:sp>
        <p:nvSpPr>
          <p:cNvPr id="13" name="Shape 11"/>
          <p:cNvSpPr/>
          <p:nvPr/>
        </p:nvSpPr>
        <p:spPr>
          <a:xfrm>
            <a:off x="640080" y="3236976"/>
            <a:ext cx="54864" cy="402336"/>
          </a:xfrm>
          <a:prstGeom prst="rect">
            <a:avLst/>
          </a:prstGeom>
          <a:solidFill>
            <a:srgbClr val="1A5276"/>
          </a:solidFill>
          <a:ln/>
        </p:spPr>
      </p:sp>
      <p:sp>
        <p:nvSpPr>
          <p:cNvPr id="14" name="Text 12"/>
          <p:cNvSpPr/>
          <p:nvPr/>
        </p:nvSpPr>
        <p:spPr>
          <a:xfrm>
            <a:off x="868680" y="3236976"/>
            <a:ext cx="7406640" cy="402336"/>
          </a:xfrm>
          <a:prstGeom prst="rect">
            <a:avLst/>
          </a:prstGeom>
          <a:noFill/>
          <a:ln/>
        </p:spPr>
        <p:txBody>
          <a:bodyPr wrap="square" rtlCol="0" anchor="ctr"/>
          <a:lstStyle/>
          <a:p>
            <a:pPr indent="0" marL="0">
              <a:buNone/>
            </a:pPr>
            <a:r>
              <a:rPr lang="en-US" sz="1400" dirty="0">
                <a:solidFill>
                  <a:srgbClr val="2D3748"/>
                </a:solidFill>
                <a:latin typeface="Arial" pitchFamily="34" charset="0"/>
                <a:ea typeface="Arial" pitchFamily="34" charset="-122"/>
                <a:cs typeface="Arial" pitchFamily="34" charset="-120"/>
              </a:rPr>
              <a:t>Meer productie door de binnenlandse aanbieder</a:t>
            </a:r>
            <a:endParaRPr lang="en-US" sz="1400" dirty="0"/>
          </a:p>
        </p:txBody>
      </p:sp>
      <p:sp>
        <p:nvSpPr>
          <p:cNvPr id="15" name="Shape 13"/>
          <p:cNvSpPr/>
          <p:nvPr/>
        </p:nvSpPr>
        <p:spPr>
          <a:xfrm>
            <a:off x="640080" y="3712464"/>
            <a:ext cx="7863840" cy="402336"/>
          </a:xfrm>
          <a:prstGeom prst="rect">
            <a:avLst>
              <a:gd name="adj" fmla="val 11364"/>
            </a:avLst>
          </a:prstGeom>
          <a:solidFill>
            <a:srgbClr val="F7F8FA"/>
          </a:solidFill>
          <a:ln/>
          <a:effectLst>
            <a:outerShdw sx="100000" sy="100000" kx="0" ky="0" algn="bl" rotWithShape="0" blurRad="76200" dist="25400" dir="8100000">
              <a:srgbClr val="000000">
                <a:alpha val="10000"/>
              </a:srgbClr>
            </a:outerShdw>
          </a:effectLst>
        </p:spPr>
      </p:sp>
      <p:sp>
        <p:nvSpPr>
          <p:cNvPr id="16" name="Shape 14"/>
          <p:cNvSpPr/>
          <p:nvPr/>
        </p:nvSpPr>
        <p:spPr>
          <a:xfrm>
            <a:off x="640080" y="3712464"/>
            <a:ext cx="54864" cy="402336"/>
          </a:xfrm>
          <a:prstGeom prst="rect">
            <a:avLst/>
          </a:prstGeom>
          <a:solidFill>
            <a:srgbClr val="1A5276"/>
          </a:solidFill>
          <a:ln/>
        </p:spPr>
      </p:sp>
      <p:sp>
        <p:nvSpPr>
          <p:cNvPr id="17" name="Text 15"/>
          <p:cNvSpPr/>
          <p:nvPr/>
        </p:nvSpPr>
        <p:spPr>
          <a:xfrm>
            <a:off x="868680" y="3712464"/>
            <a:ext cx="7406640" cy="402336"/>
          </a:xfrm>
          <a:prstGeom prst="rect">
            <a:avLst/>
          </a:prstGeom>
          <a:noFill/>
          <a:ln/>
        </p:spPr>
        <p:txBody>
          <a:bodyPr wrap="square" rtlCol="0" anchor="ctr"/>
          <a:lstStyle/>
          <a:p>
            <a:pPr indent="0" marL="0">
              <a:buNone/>
            </a:pPr>
            <a:r>
              <a:rPr lang="en-US" sz="1400" dirty="0">
                <a:solidFill>
                  <a:srgbClr val="2D3748"/>
                </a:solidFill>
                <a:latin typeface="Arial" pitchFamily="34" charset="0"/>
                <a:ea typeface="Arial" pitchFamily="34" charset="-122"/>
                <a:cs typeface="Arial" pitchFamily="34" charset="-120"/>
              </a:rPr>
              <a:t>Minder door de buitenlandse aanbieder</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40080" y="457200"/>
            <a:ext cx="7863840" cy="640080"/>
          </a:xfrm>
          <a:prstGeom prst="rect">
            <a:avLst/>
          </a:prstGeom>
          <a:noFill/>
          <a:ln/>
        </p:spPr>
        <p:txBody>
          <a:bodyPr wrap="square" rtlCol="0" anchor="ctr"/>
          <a:lstStyle/>
          <a:p>
            <a:pPr indent="0" marL="0">
              <a:buNone/>
            </a:pPr>
            <a:r>
              <a:rPr lang="en-US" sz="2800" b="1" dirty="0">
                <a:solidFill>
                  <a:srgbClr val="FFFFFF"/>
                </a:solidFill>
                <a:latin typeface="Arial" pitchFamily="34" charset="0"/>
                <a:ea typeface="Arial" pitchFamily="34" charset="-122"/>
                <a:cs typeface="Arial" pitchFamily="34" charset="-120"/>
              </a:rPr>
              <a:t>Samenvatting</a:t>
            </a:r>
            <a:endParaRPr lang="en-US" sz="2800" dirty="0"/>
          </a:p>
        </p:txBody>
      </p:sp>
      <p:sp>
        <p:nvSpPr>
          <p:cNvPr id="3" name="Text 1"/>
          <p:cNvSpPr/>
          <p:nvPr/>
        </p:nvSpPr>
        <p:spPr>
          <a:xfrm>
            <a:off x="640080" y="1051560"/>
            <a:ext cx="7863840" cy="365760"/>
          </a:xfrm>
          <a:prstGeom prst="rect">
            <a:avLst/>
          </a:prstGeom>
          <a:noFill/>
          <a:ln/>
        </p:spPr>
        <p:txBody>
          <a:bodyPr wrap="square" rtlCol="0" anchor="ctr"/>
          <a:lstStyle/>
          <a:p>
            <a:pPr indent="0" marL="0">
              <a:buNone/>
            </a:pPr>
            <a:r>
              <a:rPr lang="en-US" sz="1400" i="1" dirty="0">
                <a:solidFill>
                  <a:srgbClr val="718096"/>
                </a:solidFill>
                <a:latin typeface="Arial" pitchFamily="34" charset="0"/>
                <a:ea typeface="Arial" pitchFamily="34" charset="-122"/>
                <a:cs typeface="Arial" pitchFamily="34" charset="-120"/>
              </a:rPr>
              <a:t>Beheers je dit voordat je gaat oefenen?</a:t>
            </a:r>
            <a:endParaRPr lang="en-US" sz="1400" dirty="0"/>
          </a:p>
        </p:txBody>
      </p:sp>
      <p:sp>
        <p:nvSpPr>
          <p:cNvPr id="4" name="Text 2"/>
          <p:cNvSpPr/>
          <p:nvPr/>
        </p:nvSpPr>
        <p:spPr>
          <a:xfrm>
            <a:off x="640080" y="1554480"/>
            <a:ext cx="7863840" cy="2926080"/>
          </a:xfrm>
          <a:prstGeom prst="rect">
            <a:avLst/>
          </a:prstGeom>
          <a:noFill/>
          <a:ln/>
        </p:spPr>
        <p:txBody>
          <a:bodyPr wrap="square" rtlCol="0" anchor="t"/>
          <a:lstStyle/>
          <a:p>
            <a:pPr algn="l" marL="342900" indent="-342900">
              <a:lnSpc>
                <a:spcPct val="160000"/>
              </a:lnSpc>
              <a:spcAft>
                <a:spcPts val="600"/>
              </a:spcAft>
              <a:buSzPct val="100000"/>
              <a:buChar char="•"/>
            </a:pPr>
            <a:r>
              <a:rPr lang="en-US" sz="1500" dirty="0">
                <a:solidFill>
                  <a:srgbClr val="FFFFFF"/>
                </a:solidFill>
                <a:latin typeface="Arial" pitchFamily="34" charset="0"/>
                <a:ea typeface="Arial" pitchFamily="34" charset="-122"/>
                <a:cs typeface="Arial" pitchFamily="34" charset="-120"/>
              </a:rPr>
              <a:t>Invoerrechten beschermen eigen industrie, maar verlagen doelmatigheid</a:t>
            </a:r>
            <a:pPr algn="l" marL="342900" indent="-342900">
              <a:lnSpc>
                <a:spcPct val="160000"/>
              </a:lnSpc>
              <a:spcAft>
                <a:spcPts val="600"/>
              </a:spcAft>
              <a:buSzPct val="100000"/>
              <a:buChar char="•"/>
            </a:pPr>
            <a:r>
              <a:rPr lang="en-US" sz="1500" dirty="0">
                <a:solidFill>
                  <a:srgbClr val="FFFFFF"/>
                </a:solidFill>
                <a:latin typeface="Arial" pitchFamily="34" charset="0"/>
                <a:ea typeface="Arial" pitchFamily="34" charset="-122"/>
                <a:cs typeface="Arial" pitchFamily="34" charset="-120"/>
              </a:rPr>
              <a:t>Bij Cournot met tarief: reactielijn buitenlander verschuift naar binnen</a:t>
            </a:r>
            <a:pPr algn="l" marL="342900" indent="-342900">
              <a:lnSpc>
                <a:spcPct val="160000"/>
              </a:lnSpc>
              <a:spcAft>
                <a:spcPts val="600"/>
              </a:spcAft>
              <a:buSzPct val="100000"/>
              <a:buChar char="•"/>
            </a:pPr>
            <a:r>
              <a:rPr lang="en-US" sz="1500" dirty="0">
                <a:solidFill>
                  <a:srgbClr val="FFFFFF"/>
                </a:solidFill>
                <a:latin typeface="Arial" pitchFamily="34" charset="0"/>
                <a:ea typeface="Arial" pitchFamily="34" charset="-122"/>
                <a:cs typeface="Arial" pitchFamily="34" charset="-120"/>
              </a:rPr>
              <a:t>Surplusverlies is groter dan de belastingopbrengst</a:t>
            </a:r>
            <a:pPr algn="l" marL="342900" indent="-342900">
              <a:lnSpc>
                <a:spcPct val="160000"/>
              </a:lnSpc>
              <a:spcAft>
                <a:spcPts val="600"/>
              </a:spcAft>
              <a:buSzPct val="100000"/>
              <a:buChar char="•"/>
            </a:pPr>
            <a:r>
              <a:rPr lang="en-US" sz="1500" dirty="0">
                <a:solidFill>
                  <a:srgbClr val="FFFFFF"/>
                </a:solidFill>
                <a:latin typeface="Arial" pitchFamily="34" charset="0"/>
                <a:ea typeface="Arial" pitchFamily="34" charset="-122"/>
                <a:cs typeface="Arial" pitchFamily="34" charset="-120"/>
              </a:rPr>
              <a:t>Wisselkoersen: bepaald door vraag en aanbod op valutamarkt</a:t>
            </a:r>
            <a:pPr algn="l" marL="342900" indent="-342900">
              <a:lnSpc>
                <a:spcPct val="160000"/>
              </a:lnSpc>
              <a:spcAft>
                <a:spcPts val="600"/>
              </a:spcAft>
              <a:buSzPct val="100000"/>
              <a:buChar char="•"/>
            </a:pPr>
            <a:r>
              <a:rPr lang="en-US" sz="1500" dirty="0">
                <a:solidFill>
                  <a:srgbClr val="FFFFFF"/>
                </a:solidFill>
                <a:latin typeface="Arial" pitchFamily="34" charset="0"/>
                <a:ea typeface="Arial" pitchFamily="34" charset="-122"/>
                <a:cs typeface="Arial" pitchFamily="34" charset="-120"/>
              </a:rPr>
              <a:t>Handelsverdragen verlagen barrières; wisselkoersmanipulatie is oneerlijk</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2026-03-23T18:51:48Z</dcterms:created>
  <dcterms:modified xsi:type="dcterms:W3CDTF">2026-03-23T18:51:48Z</dcterms:modified>
</cp:coreProperties>
</file>