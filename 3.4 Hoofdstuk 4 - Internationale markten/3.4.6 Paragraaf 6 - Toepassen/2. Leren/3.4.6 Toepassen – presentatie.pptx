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bij de toepassingsles van hoofdstuk 4. Dit is een samenvattende paragraaf: geen nieuwe theorie, maar herhaling en toepassing van alle stof uit 3.4.1 t/m 3.4.5. We oefenen met herkenning, vergelijking en examenstrategieën.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Overzicht van alle paragrafen uit hoofdstuk 4. We behandelen vandaag de kernbegrippen uit alle zes paragrafen. De nadruk ligt op herkenning en toepassing, niet op nieuwe theorie. Let op: paragraaf 3.4.6 is gemarkeerd als de actieve 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zijn de zes kernvaardigheden van het hele hoofdstuk. Elk punt komt terug in de opgaven. Leerlingen die deze zes punten beheersen, zijn goed voorbereid op het examen. Loop ze klassikaal door en vraag of ze zich alles herinneren.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vergelijkingstabel is het kernonderscheid van dit hoofdstuk. Inter-industriële handel gaat over verschillende producten (gedreven door comparatief voordeel). Intra-industriële handel gaat over dezelfde soort producten (gedreven door productdifferentiatie en consumentenvoorkeuren). Vraag leerlingen om het type te herkennen bij voorbeelden. Dit is een veelgestelde examenvraag.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vierstappenplan voor comparatief voordeel. Dit moet je uit je hoofd kennen. De ruilverhouding is cruciaal: die moet TUSSEN de opofferingskosten liggen, anders heeft een van de twee landen geen voordeel bij handel. Oefen dit met concrete getallen uit de opgaven.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Exportwaarde = prijs maal volume. Cruciaal onderscheid: als het VOLUME daalt, daalt ook de werkgelegenheid, want er wordt minder geproduceerd. Als alleen de PRIJS daalt, blijft de productie en werkgelegenheid gelijk — alleen de omzet wordt lager. Dit wordt vaak gevraagd op het examen. Geef het voorbeeld: exportwaarde daalt 8%, volume daalt 10% — dus prijzen zijn gestegen.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Handelsbalans: export minus import. Overschot = je verdient buitenlands geld. Tekort = je moet lenen. De VS heeft structureel een tekort en bouwt daardoor schuld op bij andere landen, vooral China. Nederland heeft juist een overschot dankzij sterke export. Vraag leerlingen welke gevolgen een langdurig tekort heeft.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Handelspolitiek: maatregelen als handelsoorlogen, Brexit en CETA hebben een directe impact op handelsstromen. Beschrijf altijd de hele causale keten: maatregel → effect op handel → specifiek gevolg. Op het examen verlies je punten als je stappen overslaat. Oefen dit met concrete voorbeelden.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Globalisering heeft tegengestelde effecten: lonen van hoogopgeleiden stijgen (meer vraag, beperkt aanbod), lonen van laagopgeleiden staan onder druk (concurrentie lage-lonenlanden). Gebruik altijd BEIDE kanten bij evaluatievragen. Noem concreet: innovatie versus outsourcing, kwaliteitseisen versus kostendruk.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Examenstrategie: herken het type vraag en pas de juiste aanpak toe. 'Leg uit' = oorzaak + gevolg. 'Bereken' = tussenstappen laten zien. 'Beschrijf' = concreet effect + voor wie. 'Verklaar met tabel' = verwijs naar specifieke getallen uit de tabel. Leerlingen verliezen vaak punten door stappen over te slaan of te vaag te antwoorden.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veelgemaakte fouten. Bespreek ze klassikaal. (1) Inter en intra verwarren: gebruik het ezelsbruggetje 'inter = internationaal, verschillende producten'. (2) Ruilverhouding: altijd controleren of deze tussen de opofferingskosten ligt. (3) Volume vs prijs: volume = banen, prijs = omzet. (4) Causale keten: noem elke stap, niet alleen het eindresultaat.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zes kernpunten van het hele hoofdstuk. Als leerlingen deze zes punten kunnen uitleggen en toepassen, zijn ze goed voorbereid op de opgaven en het examen. Loop ze na en vraag of er nog onduidelijkheden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Slotdia. Verwijs leerlingen naar de presentatie als naslagwerk bij het oefenen. Zij kunnen de vergelijkingstabel, het vierstappenplan en de examenstrategiekaart gebruiken als houvast bij de opgaven.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5276"/>
          </a:solidFill>
          <a:ln/>
        </p:spPr>
      </p:sp>
      <p:sp>
        <p:nvSpPr>
          <p:cNvPr id="3" name="Shape 1"/>
          <p:cNvSpPr/>
          <p:nvPr/>
        </p:nvSpPr>
        <p:spPr>
          <a:xfrm>
            <a:off x="0" y="4709160"/>
            <a:ext cx="9144000" cy="434340"/>
          </a:xfrm>
          <a:prstGeom prst="rect">
            <a:avLst/>
          </a:prstGeom>
          <a:solidFill>
            <a:srgbClr val="151D4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914400"/>
            <a:ext cx="7863840" cy="2011680"/>
          </a:xfrm>
          <a:prstGeom prst="rect">
            <a:avLst/>
          </a:prstGeom>
          <a:noFill/>
          <a:ln/>
        </p:spPr>
        <p:txBody>
          <a:bodyPr wrap="square" rtlCol="0" anchor="ctr"/>
          <a:lstStyle/>
          <a:p>
            <a:pPr indent="0" marL="0">
              <a:lnSpc>
                <a:spcPct val="115000"/>
              </a:lnSpc>
              <a:buNone/>
            </a:pPr>
            <a:r>
              <a:rPr lang="en-US" sz="4000" b="1" dirty="0">
                <a:solidFill>
                  <a:srgbClr val="FFFFFF"/>
                </a:solidFill>
                <a:latin typeface="Arial" pitchFamily="34" charset="0"/>
                <a:ea typeface="Arial" pitchFamily="34" charset="-122"/>
                <a:cs typeface="Arial" pitchFamily="34" charset="-120"/>
              </a:rPr>
              <a:t>Toepassen</a:t>
            </a:r>
            <a:endParaRPr lang="en-US" sz="4000" dirty="0"/>
          </a:p>
          <a:p>
            <a:pPr indent="0" marL="0">
              <a:lnSpc>
                <a:spcPct val="115000"/>
              </a:lnSpc>
              <a:buNone/>
            </a:pPr>
            <a:r>
              <a:rPr lang="en-US" sz="4000" b="1" dirty="0">
                <a:solidFill>
                  <a:srgbClr val="FFFFFF"/>
                </a:solidFill>
                <a:latin typeface="Arial" pitchFamily="34" charset="0"/>
                <a:ea typeface="Arial" pitchFamily="34" charset="-122"/>
                <a:cs typeface="Arial" pitchFamily="34" charset="-120"/>
              </a:rPr>
              <a:t>Internationale markten</a:t>
            </a:r>
            <a:endParaRPr lang="en-US" sz="4000" dirty="0"/>
          </a:p>
        </p:txBody>
      </p:sp>
      <p:sp>
        <p:nvSpPr>
          <p:cNvPr id="3" name="Text 1"/>
          <p:cNvSpPr/>
          <p:nvPr/>
        </p:nvSpPr>
        <p:spPr>
          <a:xfrm>
            <a:off x="640080" y="2926080"/>
            <a:ext cx="7863840" cy="457200"/>
          </a:xfrm>
          <a:prstGeom prst="rect">
            <a:avLst/>
          </a:prstGeom>
          <a:noFill/>
          <a:ln/>
        </p:spPr>
        <p:txBody>
          <a:bodyPr wrap="square" rtlCol="0" anchor="ctr"/>
          <a:lstStyle/>
          <a:p>
            <a:pPr indent="0" marL="0">
              <a:buNone/>
            </a:pPr>
            <a:r>
              <a:rPr lang="en-US" sz="2000" dirty="0">
                <a:solidFill>
                  <a:srgbClr val="718096"/>
                </a:solidFill>
                <a:latin typeface="Arial" pitchFamily="34" charset="0"/>
                <a:ea typeface="Arial" pitchFamily="34" charset="-122"/>
                <a:cs typeface="Arial" pitchFamily="34" charset="-120"/>
              </a:rPr>
              <a:t>Paragraaf 3.4.6 — Overzicht hoofdstuk 4</a:t>
            </a:r>
            <a:endParaRPr lang="en-US" sz="2000" dirty="0"/>
          </a:p>
        </p:txBody>
      </p:sp>
      <p:sp>
        <p:nvSpPr>
          <p:cNvPr id="4" name="Text 2"/>
          <p:cNvSpPr/>
          <p:nvPr/>
        </p:nvSpPr>
        <p:spPr>
          <a:xfrm>
            <a:off x="640080" y="4709160"/>
            <a:ext cx="7863840" cy="434340"/>
          </a:xfrm>
          <a:prstGeom prst="rect">
            <a:avLst/>
          </a:prstGeom>
          <a:noFill/>
          <a:ln/>
        </p:spPr>
        <p:txBody>
          <a:bodyPr wrap="square" rtlCol="0" anchor="ctr"/>
          <a:lstStyle/>
          <a:p>
            <a:pPr indent="0" marL="0">
              <a:buNone/>
            </a:pPr>
            <a:r>
              <a:rPr lang="en-US" sz="1200" dirty="0">
                <a:solidFill>
                  <a:srgbClr val="718096"/>
                </a:solidFill>
                <a:latin typeface="Arial" pitchFamily="34" charset="0"/>
                <a:ea typeface="Arial" pitchFamily="34" charset="-122"/>
                <a:cs typeface="Arial" pitchFamily="34" charset="-120"/>
              </a:rPr>
              <a:t>Hoofdstuk 4: Internationale markten  |  Economie VWO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Overzicht hoofdstuk 4</a:t>
            </a:r>
            <a:endParaRPr lang="en-US" sz="2400" dirty="0"/>
          </a:p>
        </p:txBody>
      </p:sp>
      <p:sp>
        <p:nvSpPr>
          <p:cNvPr id="3" name="Shape 1"/>
          <p:cNvSpPr/>
          <p:nvPr/>
        </p:nvSpPr>
        <p:spPr>
          <a:xfrm>
            <a:off x="640080" y="914400"/>
            <a:ext cx="7863840" cy="502920"/>
          </a:xfrm>
          <a:prstGeom prst="rect">
            <a:avLst>
              <a:gd name="adj" fmla="val 9091"/>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640080" y="914400"/>
            <a:ext cx="54864" cy="502920"/>
          </a:xfrm>
          <a:prstGeom prst="rect">
            <a:avLst/>
          </a:prstGeom>
          <a:solidFill>
            <a:srgbClr val="1A5276"/>
          </a:solidFill>
          <a:ln/>
        </p:spPr>
      </p:sp>
      <p:sp>
        <p:nvSpPr>
          <p:cNvPr id="5" name="Text 3"/>
          <p:cNvSpPr/>
          <p:nvPr/>
        </p:nvSpPr>
        <p:spPr>
          <a:xfrm>
            <a:off x="868680" y="914400"/>
            <a:ext cx="4114800" cy="502920"/>
          </a:xfrm>
          <a:prstGeom prst="rect">
            <a:avLst/>
          </a:prstGeom>
          <a:noFill/>
          <a:ln/>
        </p:spPr>
        <p:txBody>
          <a:bodyPr wrap="square" rtlCol="0" anchor="ctr"/>
          <a:lstStyle/>
          <a:p>
            <a:pPr indent="0" marL="0">
              <a:buNone/>
            </a:pPr>
            <a:r>
              <a:rPr lang="en-US" sz="1500" b="1" dirty="0">
                <a:solidFill>
                  <a:srgbClr val="2D3748"/>
                </a:solidFill>
                <a:latin typeface="Arial" pitchFamily="34" charset="0"/>
                <a:ea typeface="Arial" pitchFamily="34" charset="-122"/>
                <a:cs typeface="Arial" pitchFamily="34" charset="-120"/>
              </a:rPr>
              <a:t>3.4.1  Internationale handel</a:t>
            </a:r>
            <a:endParaRPr lang="en-US" sz="1500" dirty="0"/>
          </a:p>
        </p:txBody>
      </p:sp>
      <p:sp>
        <p:nvSpPr>
          <p:cNvPr id="6" name="Text 4"/>
          <p:cNvSpPr/>
          <p:nvPr/>
        </p:nvSpPr>
        <p:spPr>
          <a:xfrm>
            <a:off x="5029200" y="914400"/>
            <a:ext cx="3291840" cy="50292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Waarom handelen landen?</a:t>
            </a:r>
            <a:endParaRPr lang="en-US" sz="1400" dirty="0"/>
          </a:p>
        </p:txBody>
      </p:sp>
      <p:sp>
        <p:nvSpPr>
          <p:cNvPr id="7" name="Shape 5"/>
          <p:cNvSpPr/>
          <p:nvPr/>
        </p:nvSpPr>
        <p:spPr>
          <a:xfrm>
            <a:off x="640080" y="1536192"/>
            <a:ext cx="7863840" cy="502920"/>
          </a:xfrm>
          <a:prstGeom prst="rect">
            <a:avLst>
              <a:gd name="adj" fmla="val 9091"/>
            </a:avLst>
          </a:prstGeom>
          <a:solidFill>
            <a:srgbClr val="F9F6F1"/>
          </a:solidFill>
          <a:ln/>
          <a:effectLst>
            <a:outerShdw sx="100000" sy="100000" kx="0" ky="0" algn="bl" rotWithShape="0" blurRad="76200" dist="25400" dir="8100000">
              <a:srgbClr val="000000">
                <a:alpha val="10000"/>
              </a:srgbClr>
            </a:outerShdw>
          </a:effectLst>
        </p:spPr>
      </p:sp>
      <p:sp>
        <p:nvSpPr>
          <p:cNvPr id="8" name="Shape 6"/>
          <p:cNvSpPr/>
          <p:nvPr/>
        </p:nvSpPr>
        <p:spPr>
          <a:xfrm>
            <a:off x="640080" y="1536192"/>
            <a:ext cx="54864" cy="502920"/>
          </a:xfrm>
          <a:prstGeom prst="rect">
            <a:avLst/>
          </a:prstGeom>
          <a:solidFill>
            <a:srgbClr val="1A5276"/>
          </a:solidFill>
          <a:ln/>
        </p:spPr>
      </p:sp>
      <p:sp>
        <p:nvSpPr>
          <p:cNvPr id="9" name="Text 7"/>
          <p:cNvSpPr/>
          <p:nvPr/>
        </p:nvSpPr>
        <p:spPr>
          <a:xfrm>
            <a:off x="868680" y="1536192"/>
            <a:ext cx="4114800" cy="502920"/>
          </a:xfrm>
          <a:prstGeom prst="rect">
            <a:avLst/>
          </a:prstGeom>
          <a:noFill/>
          <a:ln/>
        </p:spPr>
        <p:txBody>
          <a:bodyPr wrap="square" rtlCol="0" anchor="ctr"/>
          <a:lstStyle/>
          <a:p>
            <a:pPr indent="0" marL="0">
              <a:buNone/>
            </a:pPr>
            <a:r>
              <a:rPr lang="en-US" sz="1500" b="1" dirty="0">
                <a:solidFill>
                  <a:srgbClr val="2D3748"/>
                </a:solidFill>
                <a:latin typeface="Arial" pitchFamily="34" charset="0"/>
                <a:ea typeface="Arial" pitchFamily="34" charset="-122"/>
                <a:cs typeface="Arial" pitchFamily="34" charset="-120"/>
              </a:rPr>
              <a:t>3.4.2  Inter-industriële handel</a:t>
            </a:r>
            <a:endParaRPr lang="en-US" sz="1500" dirty="0"/>
          </a:p>
        </p:txBody>
      </p:sp>
      <p:sp>
        <p:nvSpPr>
          <p:cNvPr id="10" name="Text 8"/>
          <p:cNvSpPr/>
          <p:nvPr/>
        </p:nvSpPr>
        <p:spPr>
          <a:xfrm>
            <a:off x="5029200" y="1536192"/>
            <a:ext cx="3291840" cy="50292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Comparatief voordeel</a:t>
            </a:r>
            <a:endParaRPr lang="en-US" sz="1400" dirty="0"/>
          </a:p>
        </p:txBody>
      </p:sp>
      <p:sp>
        <p:nvSpPr>
          <p:cNvPr id="11" name="Shape 9"/>
          <p:cNvSpPr/>
          <p:nvPr/>
        </p:nvSpPr>
        <p:spPr>
          <a:xfrm>
            <a:off x="640080" y="2157984"/>
            <a:ext cx="7863840" cy="502920"/>
          </a:xfrm>
          <a:prstGeom prst="rect">
            <a:avLst>
              <a:gd name="adj" fmla="val 9091"/>
            </a:avLst>
          </a:prstGeom>
          <a:solidFill>
            <a:srgbClr val="F9F6F1"/>
          </a:solidFill>
          <a:ln/>
          <a:effectLst>
            <a:outerShdw sx="100000" sy="100000" kx="0" ky="0" algn="bl" rotWithShape="0" blurRad="76200" dist="25400" dir="8100000">
              <a:srgbClr val="000000">
                <a:alpha val="10000"/>
              </a:srgbClr>
            </a:outerShdw>
          </a:effectLst>
        </p:spPr>
      </p:sp>
      <p:sp>
        <p:nvSpPr>
          <p:cNvPr id="12" name="Shape 10"/>
          <p:cNvSpPr/>
          <p:nvPr/>
        </p:nvSpPr>
        <p:spPr>
          <a:xfrm>
            <a:off x="640080" y="2157984"/>
            <a:ext cx="54864" cy="502920"/>
          </a:xfrm>
          <a:prstGeom prst="rect">
            <a:avLst/>
          </a:prstGeom>
          <a:solidFill>
            <a:srgbClr val="1A5276"/>
          </a:solidFill>
          <a:ln/>
        </p:spPr>
      </p:sp>
      <p:sp>
        <p:nvSpPr>
          <p:cNvPr id="13" name="Text 11"/>
          <p:cNvSpPr/>
          <p:nvPr/>
        </p:nvSpPr>
        <p:spPr>
          <a:xfrm>
            <a:off x="868680" y="2157984"/>
            <a:ext cx="4114800" cy="502920"/>
          </a:xfrm>
          <a:prstGeom prst="rect">
            <a:avLst/>
          </a:prstGeom>
          <a:noFill/>
          <a:ln/>
        </p:spPr>
        <p:txBody>
          <a:bodyPr wrap="square" rtlCol="0" anchor="ctr"/>
          <a:lstStyle/>
          <a:p>
            <a:pPr indent="0" marL="0">
              <a:buNone/>
            </a:pPr>
            <a:r>
              <a:rPr lang="en-US" sz="1500" b="1" dirty="0">
                <a:solidFill>
                  <a:srgbClr val="2D3748"/>
                </a:solidFill>
                <a:latin typeface="Arial" pitchFamily="34" charset="0"/>
                <a:ea typeface="Arial" pitchFamily="34" charset="-122"/>
                <a:cs typeface="Arial" pitchFamily="34" charset="-120"/>
              </a:rPr>
              <a:t>3.4.3  Intra-industriële handel</a:t>
            </a:r>
            <a:endParaRPr lang="en-US" sz="1500" dirty="0"/>
          </a:p>
        </p:txBody>
      </p:sp>
      <p:sp>
        <p:nvSpPr>
          <p:cNvPr id="14" name="Text 12"/>
          <p:cNvSpPr/>
          <p:nvPr/>
        </p:nvSpPr>
        <p:spPr>
          <a:xfrm>
            <a:off x="5029200" y="2157984"/>
            <a:ext cx="3291840" cy="50292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Dezelfde producten</a:t>
            </a:r>
            <a:endParaRPr lang="en-US" sz="1400" dirty="0"/>
          </a:p>
        </p:txBody>
      </p:sp>
      <p:sp>
        <p:nvSpPr>
          <p:cNvPr id="15" name="Shape 13"/>
          <p:cNvSpPr/>
          <p:nvPr/>
        </p:nvSpPr>
        <p:spPr>
          <a:xfrm>
            <a:off x="640080" y="2779776"/>
            <a:ext cx="7863840" cy="502920"/>
          </a:xfrm>
          <a:prstGeom prst="rect">
            <a:avLst>
              <a:gd name="adj" fmla="val 9091"/>
            </a:avLst>
          </a:prstGeom>
          <a:solidFill>
            <a:srgbClr val="F9F6F1"/>
          </a:solidFill>
          <a:ln/>
          <a:effectLst>
            <a:outerShdw sx="100000" sy="100000" kx="0" ky="0" algn="bl" rotWithShape="0" blurRad="76200" dist="25400" dir="8100000">
              <a:srgbClr val="000000">
                <a:alpha val="10000"/>
              </a:srgbClr>
            </a:outerShdw>
          </a:effectLst>
        </p:spPr>
      </p:sp>
      <p:sp>
        <p:nvSpPr>
          <p:cNvPr id="16" name="Shape 14"/>
          <p:cNvSpPr/>
          <p:nvPr/>
        </p:nvSpPr>
        <p:spPr>
          <a:xfrm>
            <a:off x="640080" y="2779776"/>
            <a:ext cx="54864" cy="502920"/>
          </a:xfrm>
          <a:prstGeom prst="rect">
            <a:avLst/>
          </a:prstGeom>
          <a:solidFill>
            <a:srgbClr val="1A5276"/>
          </a:solidFill>
          <a:ln/>
        </p:spPr>
      </p:sp>
      <p:sp>
        <p:nvSpPr>
          <p:cNvPr id="17" name="Text 15"/>
          <p:cNvSpPr/>
          <p:nvPr/>
        </p:nvSpPr>
        <p:spPr>
          <a:xfrm>
            <a:off x="868680" y="2779776"/>
            <a:ext cx="4114800" cy="502920"/>
          </a:xfrm>
          <a:prstGeom prst="rect">
            <a:avLst/>
          </a:prstGeom>
          <a:noFill/>
          <a:ln/>
        </p:spPr>
        <p:txBody>
          <a:bodyPr wrap="square" rtlCol="0" anchor="ctr"/>
          <a:lstStyle/>
          <a:p>
            <a:pPr indent="0" marL="0">
              <a:buNone/>
            </a:pPr>
            <a:r>
              <a:rPr lang="en-US" sz="1500" b="1" dirty="0">
                <a:solidFill>
                  <a:srgbClr val="2D3748"/>
                </a:solidFill>
                <a:latin typeface="Arial" pitchFamily="34" charset="0"/>
                <a:ea typeface="Arial" pitchFamily="34" charset="-122"/>
                <a:cs typeface="Arial" pitchFamily="34" charset="-120"/>
              </a:rPr>
              <a:t>3.4.4  Internationale productieketens</a:t>
            </a:r>
            <a:endParaRPr lang="en-US" sz="1500" dirty="0"/>
          </a:p>
        </p:txBody>
      </p:sp>
      <p:sp>
        <p:nvSpPr>
          <p:cNvPr id="18" name="Text 16"/>
          <p:cNvSpPr/>
          <p:nvPr/>
        </p:nvSpPr>
        <p:spPr>
          <a:xfrm>
            <a:off x="5029200" y="2779776"/>
            <a:ext cx="3291840" cy="50292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Fragmentatie</a:t>
            </a:r>
            <a:endParaRPr lang="en-US" sz="1400" dirty="0"/>
          </a:p>
        </p:txBody>
      </p:sp>
      <p:sp>
        <p:nvSpPr>
          <p:cNvPr id="19" name="Shape 17"/>
          <p:cNvSpPr/>
          <p:nvPr/>
        </p:nvSpPr>
        <p:spPr>
          <a:xfrm>
            <a:off x="640080" y="3401568"/>
            <a:ext cx="7863840" cy="502920"/>
          </a:xfrm>
          <a:prstGeom prst="rect">
            <a:avLst>
              <a:gd name="adj" fmla="val 9091"/>
            </a:avLst>
          </a:prstGeom>
          <a:solidFill>
            <a:srgbClr val="F9F6F1"/>
          </a:solidFill>
          <a:ln/>
          <a:effectLst>
            <a:outerShdw sx="100000" sy="100000" kx="0" ky="0" algn="bl" rotWithShape="0" blurRad="76200" dist="25400" dir="8100000">
              <a:srgbClr val="000000">
                <a:alpha val="10000"/>
              </a:srgbClr>
            </a:outerShdw>
          </a:effectLst>
        </p:spPr>
      </p:sp>
      <p:sp>
        <p:nvSpPr>
          <p:cNvPr id="20" name="Shape 18"/>
          <p:cNvSpPr/>
          <p:nvPr/>
        </p:nvSpPr>
        <p:spPr>
          <a:xfrm>
            <a:off x="640080" y="3401568"/>
            <a:ext cx="54864" cy="502920"/>
          </a:xfrm>
          <a:prstGeom prst="rect">
            <a:avLst/>
          </a:prstGeom>
          <a:solidFill>
            <a:srgbClr val="1A5276"/>
          </a:solidFill>
          <a:ln/>
        </p:spPr>
      </p:sp>
      <p:sp>
        <p:nvSpPr>
          <p:cNvPr id="21" name="Text 19"/>
          <p:cNvSpPr/>
          <p:nvPr/>
        </p:nvSpPr>
        <p:spPr>
          <a:xfrm>
            <a:off x="868680" y="3401568"/>
            <a:ext cx="4114800" cy="502920"/>
          </a:xfrm>
          <a:prstGeom prst="rect">
            <a:avLst/>
          </a:prstGeom>
          <a:noFill/>
          <a:ln/>
        </p:spPr>
        <p:txBody>
          <a:bodyPr wrap="square" rtlCol="0" anchor="ctr"/>
          <a:lstStyle/>
          <a:p>
            <a:pPr indent="0" marL="0">
              <a:buNone/>
            </a:pPr>
            <a:r>
              <a:rPr lang="en-US" sz="1500" b="1" dirty="0">
                <a:solidFill>
                  <a:srgbClr val="2D3748"/>
                </a:solidFill>
                <a:latin typeface="Arial" pitchFamily="34" charset="0"/>
                <a:ea typeface="Arial" pitchFamily="34" charset="-122"/>
                <a:cs typeface="Arial" pitchFamily="34" charset="-120"/>
              </a:rPr>
              <a:t>3.4.5  Internationaal handelsbeleid</a:t>
            </a:r>
            <a:endParaRPr lang="en-US" sz="1500" dirty="0"/>
          </a:p>
        </p:txBody>
      </p:sp>
      <p:sp>
        <p:nvSpPr>
          <p:cNvPr id="22" name="Text 20"/>
          <p:cNvSpPr/>
          <p:nvPr/>
        </p:nvSpPr>
        <p:spPr>
          <a:xfrm>
            <a:off x="5029200" y="3401568"/>
            <a:ext cx="3291840" cy="50292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Protectie vs. vrijhandel</a:t>
            </a:r>
            <a:endParaRPr lang="en-US" sz="1400" dirty="0"/>
          </a:p>
        </p:txBody>
      </p:sp>
      <p:sp>
        <p:nvSpPr>
          <p:cNvPr id="23" name="Shape 21"/>
          <p:cNvSpPr/>
          <p:nvPr/>
        </p:nvSpPr>
        <p:spPr>
          <a:xfrm>
            <a:off x="640080" y="4023360"/>
            <a:ext cx="7863840" cy="502920"/>
          </a:xfrm>
          <a:prstGeom prst="rect">
            <a:avLst>
              <a:gd name="adj" fmla="val 9091"/>
            </a:avLst>
          </a:prstGeom>
          <a:solidFill>
            <a:srgbClr val="1A5276"/>
          </a:solidFill>
          <a:ln/>
          <a:effectLst>
            <a:outerShdw sx="100000" sy="100000" kx="0" ky="0" algn="bl" rotWithShape="0" blurRad="76200" dist="25400" dir="8100000">
              <a:srgbClr val="000000">
                <a:alpha val="10000"/>
              </a:srgbClr>
            </a:outerShdw>
          </a:effectLst>
        </p:spPr>
      </p:sp>
      <p:sp>
        <p:nvSpPr>
          <p:cNvPr id="24" name="Text 22"/>
          <p:cNvSpPr/>
          <p:nvPr/>
        </p:nvSpPr>
        <p:spPr>
          <a:xfrm>
            <a:off x="868680" y="4023360"/>
            <a:ext cx="4114800" cy="5029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3.4.6  Toepassen</a:t>
            </a:r>
            <a:endParaRPr lang="en-US" sz="1500" dirty="0"/>
          </a:p>
        </p:txBody>
      </p:sp>
      <p:sp>
        <p:nvSpPr>
          <p:cNvPr id="25" name="Text 23"/>
          <p:cNvSpPr/>
          <p:nvPr/>
        </p:nvSpPr>
        <p:spPr>
          <a:xfrm>
            <a:off x="5029200" y="4023360"/>
            <a:ext cx="3291840" cy="50292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Deze les!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moet je kunnen?</a:t>
            </a:r>
            <a:endParaRPr lang="en-US" sz="24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2000" b="1" dirty="0">
                <a:solidFill>
                  <a:srgbClr val="1A5276"/>
                </a:solidFill>
                <a:latin typeface="Arial" pitchFamily="34" charset="0"/>
                <a:ea typeface="Arial" pitchFamily="34" charset="-122"/>
                <a:cs typeface="Arial" pitchFamily="34" charset="-120"/>
              </a:rPr>
              <a:t>Leerdoelen</a:t>
            </a:r>
            <a:endParaRPr lang="en-US" sz="2000" dirty="0"/>
          </a:p>
        </p:txBody>
      </p:sp>
      <p:sp>
        <p:nvSpPr>
          <p:cNvPr id="4" name="Text 2"/>
          <p:cNvSpPr/>
          <p:nvPr/>
        </p:nvSpPr>
        <p:spPr>
          <a:xfrm>
            <a:off x="640080" y="1371600"/>
            <a:ext cx="7863840" cy="3200400"/>
          </a:xfrm>
          <a:prstGeom prst="rect">
            <a:avLst/>
          </a:prstGeom>
          <a:noFill/>
          <a:ln/>
        </p:spPr>
        <p:txBody>
          <a:bodyPr wrap="square" rtlCol="0" anchor="t"/>
          <a:lstStyle/>
          <a:p>
            <a:pPr algn="l" marL="342900" indent="-342900">
              <a:lnSpc>
                <a:spcPct val="150000"/>
              </a:lnSpc>
              <a:spcAft>
                <a:spcPts val="600"/>
              </a:spcAft>
              <a:buSzPct val="100000"/>
              <a:buChar char="•"/>
            </a:pPr>
            <a:r>
              <a:rPr lang="en-US" sz="1500" dirty="0">
                <a:solidFill>
                  <a:srgbClr val="2D3748"/>
                </a:solidFill>
                <a:latin typeface="Arial" pitchFamily="34" charset="0"/>
                <a:ea typeface="Arial" pitchFamily="34" charset="-122"/>
                <a:cs typeface="Arial" pitchFamily="34" charset="-120"/>
              </a:rPr>
              <a:t>Het verschil uitleggen tussen inter- en intra-industriële handel</a:t>
            </a:r>
            <a:pPr algn="l" marL="342900" indent="-342900">
              <a:lnSpc>
                <a:spcPct val="150000"/>
              </a:lnSpc>
              <a:spcAft>
                <a:spcPts val="600"/>
              </a:spcAft>
              <a:buSzPct val="100000"/>
              <a:buChar char="•"/>
            </a:pPr>
            <a:r>
              <a:rPr lang="en-US" sz="1500" dirty="0">
                <a:solidFill>
                  <a:srgbClr val="2D3748"/>
                </a:solidFill>
                <a:latin typeface="Arial" pitchFamily="34" charset="0"/>
                <a:ea typeface="Arial" pitchFamily="34" charset="-122"/>
                <a:cs typeface="Arial" pitchFamily="34" charset="-120"/>
              </a:rPr>
              <a:t>Opofferingskosten berekenen en comparatief voordeel bepalen</a:t>
            </a:r>
            <a:pPr algn="l" marL="342900" indent="-342900">
              <a:lnSpc>
                <a:spcPct val="150000"/>
              </a:lnSpc>
              <a:spcAft>
                <a:spcPts val="600"/>
              </a:spcAft>
              <a:buSzPct val="100000"/>
              <a:buChar char="•"/>
            </a:pPr>
            <a:r>
              <a:rPr lang="en-US" sz="1500" dirty="0">
                <a:solidFill>
                  <a:srgbClr val="2D3748"/>
                </a:solidFill>
                <a:latin typeface="Arial" pitchFamily="34" charset="0"/>
                <a:ea typeface="Arial" pitchFamily="34" charset="-122"/>
                <a:cs typeface="Arial" pitchFamily="34" charset="-120"/>
              </a:rPr>
              <a:t>De ruilvoet bepalen waarbinnen handel voordelig is</a:t>
            </a:r>
            <a:pPr algn="l" marL="342900" indent="-342900">
              <a:lnSpc>
                <a:spcPct val="150000"/>
              </a:lnSpc>
              <a:spcAft>
                <a:spcPts val="600"/>
              </a:spcAft>
              <a:buSzPct val="100000"/>
              <a:buChar char="•"/>
            </a:pPr>
            <a:r>
              <a:rPr lang="en-US" sz="1500" dirty="0">
                <a:solidFill>
                  <a:srgbClr val="2D3748"/>
                </a:solidFill>
                <a:latin typeface="Arial" pitchFamily="34" charset="0"/>
                <a:ea typeface="Arial" pitchFamily="34" charset="-122"/>
                <a:cs typeface="Arial" pitchFamily="34" charset="-120"/>
              </a:rPr>
              <a:t>Exportwaarde ontleden in prijs en volume</a:t>
            </a:r>
            <a:pPr algn="l" marL="342900" indent="-342900">
              <a:lnSpc>
                <a:spcPct val="150000"/>
              </a:lnSpc>
              <a:spcAft>
                <a:spcPts val="600"/>
              </a:spcAft>
              <a:buSzPct val="100000"/>
              <a:buChar char="•"/>
            </a:pPr>
            <a:r>
              <a:rPr lang="en-US" sz="1500" dirty="0">
                <a:solidFill>
                  <a:srgbClr val="2D3748"/>
                </a:solidFill>
                <a:latin typeface="Arial" pitchFamily="34" charset="0"/>
                <a:ea typeface="Arial" pitchFamily="34" charset="-122"/>
                <a:cs typeface="Arial" pitchFamily="34" charset="-120"/>
              </a:rPr>
              <a:t>Effecten van handelspolitiek stapsgewijs beschrijven</a:t>
            </a:r>
            <a:pPr algn="l" marL="342900" indent="-342900">
              <a:lnSpc>
                <a:spcPct val="150000"/>
              </a:lnSpc>
              <a:spcAft>
                <a:spcPts val="600"/>
              </a:spcAft>
              <a:buSzPct val="100000"/>
              <a:buChar char="•"/>
            </a:pPr>
            <a:r>
              <a:rPr lang="en-US" sz="1500" dirty="0">
                <a:solidFill>
                  <a:srgbClr val="2D3748"/>
                </a:solidFill>
                <a:latin typeface="Arial" pitchFamily="34" charset="0"/>
                <a:ea typeface="Arial" pitchFamily="34" charset="-122"/>
                <a:cs typeface="Arial" pitchFamily="34" charset="-120"/>
              </a:rPr>
              <a:t>Globalisering koppelen aan de arbeidsmarkt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Inter- vs intra-industriële handel</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828800"/>
                <a:gridCol w="3200400"/>
                <a:gridCol w="3200400"/>
              </a:tblGrid>
              <a:tr h="411480">
                <a:tc>
                  <a:txBody>
                    <a:bodyPr/>
                    <a:lstStyle/>
                    <a:p>
                      <a:pPr indent="0" marL="0">
                        <a:buNone/>
                      </a:pPr>
                      <a:endParaRPr lang="en-US" sz="14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Inter-industriële handel</a:t>
                      </a:r>
                      <a:endParaRPr lang="en-US" sz="14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Intra-industriële handel</a:t>
                      </a:r>
                      <a:endParaRPr lang="en-US" sz="14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E2761"/>
                    </a:solidFill>
                  </a:tcPr>
                </a:tc>
              </a:tr>
              <a:tr h="411480">
                <a:tc>
                  <a:txBody>
                    <a:bodyPr/>
                    <a:lstStyle/>
                    <a:p>
                      <a:pPr indent="0" marL="0">
                        <a:buNone/>
                      </a:pPr>
                      <a:r>
                        <a:rPr lang="en-US" sz="1300" b="1" dirty="0">
                          <a:solidFill>
                            <a:srgbClr val="2D3748"/>
                          </a:solidFill>
                          <a:latin typeface="Arial" pitchFamily="34" charset="0"/>
                          <a:ea typeface="Arial" pitchFamily="34" charset="-122"/>
                          <a:cs typeface="Arial" pitchFamily="34" charset="-120"/>
                        </a:rPr>
                        <a:t>Wat?</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Verschillende producten</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Dezelfde soort producten</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r>
              <a:tr h="411480">
                <a:tc>
                  <a:txBody>
                    <a:bodyPr/>
                    <a:lstStyle/>
                    <a:p>
                      <a:pPr indent="0" marL="0">
                        <a:buNone/>
                      </a:pPr>
                      <a:r>
                        <a:rPr lang="en-US" sz="1300" b="1" dirty="0">
                          <a:solidFill>
                            <a:srgbClr val="2D3748"/>
                          </a:solidFill>
                          <a:latin typeface="Arial" pitchFamily="34" charset="0"/>
                          <a:ea typeface="Arial" pitchFamily="34" charset="-122"/>
                          <a:cs typeface="Arial" pitchFamily="34" charset="-120"/>
                        </a:rPr>
                        <a:t>Waarom?</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Comparatief voordeel</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Productdifferentiatie</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D3748"/>
                          </a:solidFill>
                          <a:latin typeface="Arial" pitchFamily="34" charset="0"/>
                          <a:ea typeface="Arial" pitchFamily="34" charset="-122"/>
                          <a:cs typeface="Arial" pitchFamily="34" charset="-120"/>
                        </a:rPr>
                        <a:t>Voorbeeld</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NL exporteert fietsen,</a:t>
                      </a:r>
                      <a:endParaRPr lang="en-US" sz="1300" dirty="0">
                        <a:latin typeface="Arial" charset="0"/>
                        <a:ea typeface="Arial" charset="0"/>
                        <a:cs typeface="Arial" charset="0"/>
                      </a:endParaRPr>
                    </a:p>
                    <a:p>
                      <a:pPr indent="0" marL="0">
                        <a:buNone/>
                      </a:pPr>
                      <a:r>
                        <a:rPr lang="en-US" sz="1300" dirty="0">
                          <a:solidFill>
                            <a:srgbClr val="2D3748"/>
                          </a:solidFill>
                          <a:latin typeface="Arial" pitchFamily="34" charset="0"/>
                          <a:ea typeface="Arial" pitchFamily="34" charset="-122"/>
                          <a:cs typeface="Arial" pitchFamily="34" charset="-120"/>
                        </a:rPr>
                        <a:t>Indonesië exporteert koffie</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NL importeert én exporteert</a:t>
                      </a:r>
                      <a:endParaRPr lang="en-US" sz="1300" dirty="0">
                        <a:latin typeface="Arial" charset="0"/>
                        <a:ea typeface="Arial" charset="0"/>
                        <a:cs typeface="Arial" charset="0"/>
                      </a:endParaRPr>
                    </a:p>
                    <a:p>
                      <a:pPr indent="0" marL="0">
                        <a:buNone/>
                      </a:pPr>
                      <a:r>
                        <a:rPr lang="en-US" sz="1300" dirty="0">
                          <a:solidFill>
                            <a:srgbClr val="2D3748"/>
                          </a:solidFill>
                          <a:latin typeface="Arial" pitchFamily="34" charset="0"/>
                          <a:ea typeface="Arial" pitchFamily="34" charset="-122"/>
                          <a:cs typeface="Arial" pitchFamily="34" charset="-120"/>
                        </a:rPr>
                        <a:t>auto’s (BMW vs Volvo)</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r>
              <a:tr h="411480">
                <a:tc>
                  <a:txBody>
                    <a:bodyPr/>
                    <a:lstStyle/>
                    <a:p>
                      <a:pPr indent="0" marL="0">
                        <a:buNone/>
                      </a:pPr>
                      <a:r>
                        <a:rPr lang="en-US" sz="1300" b="1" dirty="0">
                          <a:solidFill>
                            <a:srgbClr val="2D3748"/>
                          </a:solidFill>
                          <a:latin typeface="Arial" pitchFamily="34" charset="0"/>
                          <a:ea typeface="Arial" pitchFamily="34" charset="-122"/>
                          <a:cs typeface="Arial" pitchFamily="34" charset="-120"/>
                        </a:rPr>
                        <a:t>Basis</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Opofferingskosten</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Consumentenvoorkeuren</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D3748"/>
                          </a:solidFill>
                          <a:latin typeface="Arial" pitchFamily="34" charset="0"/>
                          <a:ea typeface="Arial" pitchFamily="34" charset="-122"/>
                          <a:cs typeface="Arial" pitchFamily="34" charset="-120"/>
                        </a:rPr>
                        <a:t>Tussen welke</a:t>
                      </a:r>
                      <a:endParaRPr lang="en-US" sz="1300" dirty="0">
                        <a:latin typeface="Arial" charset="0"/>
                        <a:ea typeface="Arial" charset="0"/>
                        <a:cs typeface="Arial" charset="0"/>
                      </a:endParaRPr>
                    </a:p>
                    <a:p>
                      <a:pPr indent="0" marL="0">
                        <a:buNone/>
                      </a:pPr>
                      <a:r>
                        <a:rPr lang="en-US" sz="1300" b="1" dirty="0">
                          <a:solidFill>
                            <a:srgbClr val="2D3748"/>
                          </a:solidFill>
                          <a:latin typeface="Arial" pitchFamily="34" charset="0"/>
                          <a:ea typeface="Arial" pitchFamily="34" charset="-122"/>
                          <a:cs typeface="Arial" pitchFamily="34" charset="-120"/>
                        </a:rPr>
                        <a:t>landen?</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Ongelijksoortige landen</a:t>
                      </a:r>
                      <a:endParaRPr lang="en-US" sz="1300" dirty="0">
                        <a:latin typeface="Arial" charset="0"/>
                        <a:ea typeface="Arial" charset="0"/>
                        <a:cs typeface="Arial" charset="0"/>
                      </a:endParaRPr>
                    </a:p>
                    <a:p>
                      <a:pPr indent="0" marL="0">
                        <a:buNone/>
                      </a:pPr>
                      <a:r>
                        <a:rPr lang="en-US" sz="1300" dirty="0">
                          <a:solidFill>
                            <a:srgbClr val="2D3748"/>
                          </a:solidFill>
                          <a:latin typeface="Arial" pitchFamily="34" charset="0"/>
                          <a:ea typeface="Arial" pitchFamily="34" charset="-122"/>
                          <a:cs typeface="Arial" pitchFamily="34" charset="-120"/>
                        </a:rPr>
                        <a:t>(bijv. arm en rijk)</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c>
                  <a:txBody>
                    <a:bodyPr/>
                    <a:lstStyle/>
                    <a:p>
                      <a:pPr indent="0" marL="0">
                        <a:buNone/>
                      </a:pPr>
                      <a:r>
                        <a:rPr lang="en-US" sz="1300" dirty="0">
                          <a:solidFill>
                            <a:srgbClr val="2D3748"/>
                          </a:solidFill>
                          <a:latin typeface="Arial" pitchFamily="34" charset="0"/>
                          <a:ea typeface="Arial" pitchFamily="34" charset="-122"/>
                          <a:cs typeface="Arial" pitchFamily="34" charset="-120"/>
                        </a:rPr>
                        <a:t>Gelijksoortige landen</a:t>
                      </a:r>
                      <a:endParaRPr lang="en-US" sz="1300" dirty="0">
                        <a:latin typeface="Arial" charset="0"/>
                        <a:ea typeface="Arial" charset="0"/>
                        <a:cs typeface="Arial" charset="0"/>
                      </a:endParaRPr>
                    </a:p>
                    <a:p>
                      <a:pPr indent="0" marL="0">
                        <a:buNone/>
                      </a:pPr>
                      <a:r>
                        <a:rPr lang="en-US" sz="1300" dirty="0">
                          <a:solidFill>
                            <a:srgbClr val="2D3748"/>
                          </a:solidFill>
                          <a:latin typeface="Arial" pitchFamily="34" charset="0"/>
                          <a:ea typeface="Arial" pitchFamily="34" charset="-122"/>
                          <a:cs typeface="Arial" pitchFamily="34" charset="-120"/>
                        </a:rPr>
                        <a:t>(bijv. EU-landen onderling)</a:t>
                      </a:r>
                      <a:endParaRPr lang="en-US" sz="1300" dirty="0">
                        <a:latin typeface="Arial" charset="0"/>
                        <a:ea typeface="Arial" charset="0"/>
                        <a:cs typeface="Arial" charset="0"/>
                      </a:endParaRPr>
                    </a:p>
                  </a:txBody>
                  <a:tcPr marL="91440" marR="91440" marT="45720" marB="4572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7FAFC"/>
                    </a:solidFill>
                  </a:tcPr>
                </a:tc>
              </a:tr>
            </a:tbl>
          </a:graphicData>
        </a:graphic>
      </p:graphicFrame>
      <p:sp>
        <p:nvSpPr>
          <p:cNvPr id="4" name="Text 1"/>
          <p:cNvSpPr/>
          <p:nvPr/>
        </p:nvSpPr>
        <p:spPr>
          <a:xfrm>
            <a:off x="457200" y="4251960"/>
            <a:ext cx="8229600" cy="411480"/>
          </a:xfrm>
          <a:prstGeom prst="rect">
            <a:avLst/>
          </a:prstGeom>
          <a:noFill/>
          <a:ln/>
        </p:spPr>
        <p:txBody>
          <a:bodyPr wrap="square" rtlCol="0" anchor="ctr"/>
          <a:lstStyle/>
          <a:p>
            <a:pPr indent="0" marL="0">
              <a:buNone/>
            </a:pPr>
            <a:r>
              <a:rPr lang="en-US" sz="1200" i="1" dirty="0">
                <a:solidFill>
                  <a:srgbClr val="718096"/>
                </a:solidFill>
                <a:latin typeface="Arial" pitchFamily="34" charset="0"/>
                <a:ea typeface="Arial" pitchFamily="34" charset="-122"/>
                <a:cs typeface="Arial" pitchFamily="34" charset="-120"/>
              </a:rPr>
              <a:t>Herken het type: ruilen landen VERSCHILLENDE producten? → inter. Dezelfde soort? → intra.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Recap: comparatief voordeel</a:t>
            </a:r>
            <a:endParaRPr lang="en-US" sz="2400" dirty="0"/>
          </a:p>
        </p:txBody>
      </p:sp>
      <p:sp>
        <p:nvSpPr>
          <p:cNvPr id="3" name="Shape 1"/>
          <p:cNvSpPr/>
          <p:nvPr/>
        </p:nvSpPr>
        <p:spPr>
          <a:xfrm>
            <a:off x="1371600" y="1051560"/>
            <a:ext cx="6400800" cy="548640"/>
          </a:xfrm>
          <a:prstGeom prst="rect">
            <a:avLst>
              <a:gd name="adj" fmla="val 8333"/>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1554480" y="1051560"/>
            <a:ext cx="6035040" cy="54864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Stap 1: Bereken opofferingskosten per product per land</a:t>
            </a:r>
            <a:endParaRPr lang="en-US" sz="1600" dirty="0"/>
          </a:p>
        </p:txBody>
      </p:sp>
      <p:sp>
        <p:nvSpPr>
          <p:cNvPr id="5" name="Text 3"/>
          <p:cNvSpPr/>
          <p:nvPr/>
        </p:nvSpPr>
        <p:spPr>
          <a:xfrm>
            <a:off x="1371600" y="1600200"/>
            <a:ext cx="6400800" cy="137160"/>
          </a:xfrm>
          <a:prstGeom prst="rect">
            <a:avLst/>
          </a:prstGeom>
          <a:noFill/>
          <a:ln/>
        </p:spPr>
        <p:txBody>
          <a:bodyPr wrap="square" rtlCol="0" anchor="ctr"/>
          <a:lstStyle/>
          <a:p>
            <a:pPr algn="ctr" indent="0" marL="0">
              <a:buNone/>
            </a:pPr>
            <a:r>
              <a:rPr lang="en-US" sz="1800" b="1" dirty="0">
                <a:solidFill>
                  <a:srgbClr val="1A5276"/>
                </a:solidFill>
                <a:latin typeface="Arial" pitchFamily="34" charset="0"/>
                <a:ea typeface="Arial" pitchFamily="34" charset="-122"/>
                <a:cs typeface="Arial" pitchFamily="34" charset="-120"/>
              </a:rPr>
              <a:t>↓</a:t>
            </a:r>
            <a:endParaRPr lang="en-US" sz="1800" dirty="0"/>
          </a:p>
        </p:txBody>
      </p:sp>
      <p:sp>
        <p:nvSpPr>
          <p:cNvPr id="6" name="Shape 4"/>
          <p:cNvSpPr/>
          <p:nvPr/>
        </p:nvSpPr>
        <p:spPr>
          <a:xfrm>
            <a:off x="1371600" y="1737360"/>
            <a:ext cx="6400800" cy="548640"/>
          </a:xfrm>
          <a:prstGeom prst="rect">
            <a:avLst>
              <a:gd name="adj" fmla="val 8333"/>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7" name="Text 5"/>
          <p:cNvSpPr/>
          <p:nvPr/>
        </p:nvSpPr>
        <p:spPr>
          <a:xfrm>
            <a:off x="1554480" y="1737360"/>
            <a:ext cx="6035040" cy="54864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Stap 2: Vergelijk opofferingskosten tussen landen</a:t>
            </a:r>
            <a:endParaRPr lang="en-US" sz="1600" dirty="0"/>
          </a:p>
        </p:txBody>
      </p:sp>
      <p:sp>
        <p:nvSpPr>
          <p:cNvPr id="8" name="Text 6"/>
          <p:cNvSpPr/>
          <p:nvPr/>
        </p:nvSpPr>
        <p:spPr>
          <a:xfrm>
            <a:off x="1371600" y="2286000"/>
            <a:ext cx="6400800" cy="137160"/>
          </a:xfrm>
          <a:prstGeom prst="rect">
            <a:avLst/>
          </a:prstGeom>
          <a:noFill/>
          <a:ln/>
        </p:spPr>
        <p:txBody>
          <a:bodyPr wrap="square" rtlCol="0" anchor="ctr"/>
          <a:lstStyle/>
          <a:p>
            <a:pPr algn="ctr" indent="0" marL="0">
              <a:buNone/>
            </a:pPr>
            <a:r>
              <a:rPr lang="en-US" sz="1800" b="1" dirty="0">
                <a:solidFill>
                  <a:srgbClr val="1A5276"/>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1371600" y="2423160"/>
            <a:ext cx="6400800" cy="548640"/>
          </a:xfrm>
          <a:prstGeom prst="rect">
            <a:avLst>
              <a:gd name="adj" fmla="val 8333"/>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10" name="Text 8"/>
          <p:cNvSpPr/>
          <p:nvPr/>
        </p:nvSpPr>
        <p:spPr>
          <a:xfrm>
            <a:off x="1554480" y="2423160"/>
            <a:ext cx="6035040" cy="548640"/>
          </a:xfrm>
          <a:prstGeom prst="rect">
            <a:avLst/>
          </a:prstGeom>
          <a:noFill/>
          <a:ln/>
        </p:spPr>
        <p:txBody>
          <a:bodyPr wrap="square" rtlCol="0" anchor="ctr"/>
          <a:lstStyle/>
          <a:p>
            <a:pPr indent="0" marL="0">
              <a:buNone/>
            </a:pPr>
            <a:r>
              <a:rPr lang="en-US" sz="1600" dirty="0">
                <a:solidFill>
                  <a:srgbClr val="2D3748"/>
                </a:solidFill>
                <a:latin typeface="Arial" pitchFamily="34" charset="0"/>
                <a:ea typeface="Arial" pitchFamily="34" charset="-122"/>
                <a:cs typeface="Arial" pitchFamily="34" charset="-120"/>
              </a:rPr>
              <a:t>Stap 3: Laagste opofferingskosten = comparatief voordeel</a:t>
            </a:r>
            <a:endParaRPr lang="en-US" sz="1600" dirty="0"/>
          </a:p>
        </p:txBody>
      </p:sp>
      <p:sp>
        <p:nvSpPr>
          <p:cNvPr id="11" name="Text 9"/>
          <p:cNvSpPr/>
          <p:nvPr/>
        </p:nvSpPr>
        <p:spPr>
          <a:xfrm>
            <a:off x="1371600" y="2971800"/>
            <a:ext cx="6400800" cy="137160"/>
          </a:xfrm>
          <a:prstGeom prst="rect">
            <a:avLst/>
          </a:prstGeom>
          <a:noFill/>
          <a:ln/>
        </p:spPr>
        <p:txBody>
          <a:bodyPr wrap="square" rtlCol="0" anchor="ctr"/>
          <a:lstStyle/>
          <a:p>
            <a:pPr algn="ctr" indent="0" marL="0">
              <a:buNone/>
            </a:pPr>
            <a:r>
              <a:rPr lang="en-US" sz="1800" b="1" dirty="0">
                <a:solidFill>
                  <a:srgbClr val="1A5276"/>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1371600" y="3108960"/>
            <a:ext cx="6400800" cy="548640"/>
          </a:xfrm>
          <a:prstGeom prst="rect">
            <a:avLst>
              <a:gd name="adj" fmla="val 8333"/>
            </a:avLst>
          </a:prstGeom>
          <a:solidFill>
            <a:srgbClr val="1A5276"/>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13" name="Text 11"/>
          <p:cNvSpPr/>
          <p:nvPr/>
        </p:nvSpPr>
        <p:spPr>
          <a:xfrm>
            <a:off x="1554480" y="3108960"/>
            <a:ext cx="6035040"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Stap 4: Specialisatie + ruil = handelswinst!</a:t>
            </a:r>
            <a:endParaRPr lang="en-US" sz="1600" dirty="0"/>
          </a:p>
        </p:txBody>
      </p:sp>
      <p:sp>
        <p:nvSpPr>
          <p:cNvPr id="14" name="Shape 12"/>
          <p:cNvSpPr/>
          <p:nvPr/>
        </p:nvSpPr>
        <p:spPr>
          <a:xfrm>
            <a:off x="640080" y="3977640"/>
            <a:ext cx="7863840" cy="594360"/>
          </a:xfrm>
          <a:prstGeom prst="rect">
            <a:avLst>
              <a:gd name="adj" fmla="val 7692"/>
            </a:avLst>
          </a:prstGeom>
          <a:solidFill>
            <a:srgbClr val="EBF5FB"/>
          </a:solidFill>
          <a:ln/>
        </p:spPr>
      </p:sp>
      <p:sp>
        <p:nvSpPr>
          <p:cNvPr id="15" name="Shape 13"/>
          <p:cNvSpPr/>
          <p:nvPr/>
        </p:nvSpPr>
        <p:spPr>
          <a:xfrm>
            <a:off x="640080" y="3977640"/>
            <a:ext cx="54864" cy="594360"/>
          </a:xfrm>
          <a:prstGeom prst="rect">
            <a:avLst/>
          </a:prstGeom>
          <a:solidFill>
            <a:srgbClr val="1A5276"/>
          </a:solidFill>
          <a:ln/>
        </p:spPr>
      </p:sp>
      <p:sp>
        <p:nvSpPr>
          <p:cNvPr id="16" name="Text 14"/>
          <p:cNvSpPr/>
          <p:nvPr/>
        </p:nvSpPr>
        <p:spPr>
          <a:xfrm>
            <a:off x="868680" y="3977640"/>
            <a:ext cx="7498080" cy="594360"/>
          </a:xfrm>
          <a:prstGeom prst="rect">
            <a:avLst/>
          </a:prstGeom>
          <a:noFill/>
          <a:ln/>
        </p:spPr>
        <p:txBody>
          <a:bodyPr wrap="square" rtlCol="0" anchor="ctr"/>
          <a:lstStyle/>
          <a:p>
            <a:pPr indent="0" marL="0">
              <a:buNone/>
            </a:pPr>
            <a:r>
              <a:rPr lang="en-US" sz="1400" b="1" dirty="0">
                <a:solidFill>
                  <a:srgbClr val="154360"/>
                </a:solidFill>
                <a:latin typeface="Arial" pitchFamily="34" charset="0"/>
                <a:ea typeface="Arial" pitchFamily="34" charset="-122"/>
                <a:cs typeface="Arial" pitchFamily="34" charset="-120"/>
              </a:rPr>
              <a:t>Ruilverhouding: </a:t>
            </a:r>
            <a:pPr indent="0" marL="0">
              <a:buNone/>
            </a:pPr>
            <a:r>
              <a:rPr lang="en-US" sz="1400" dirty="0">
                <a:solidFill>
                  <a:srgbClr val="2D3748"/>
                </a:solidFill>
                <a:latin typeface="Arial" pitchFamily="34" charset="0"/>
                <a:ea typeface="Arial" pitchFamily="34" charset="-122"/>
                <a:cs typeface="Arial" pitchFamily="34" charset="-120"/>
              </a:rPr>
              <a:t>altijd TUSSEN de opofferingskosten van beide landen.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Exportwaarde = prijs × volume</a:t>
            </a:r>
            <a:endParaRPr lang="en-US" sz="2400" dirty="0"/>
          </a:p>
        </p:txBody>
      </p:sp>
      <p:sp>
        <p:nvSpPr>
          <p:cNvPr id="3" name="Shape 1"/>
          <p:cNvSpPr/>
          <p:nvPr/>
        </p:nvSpPr>
        <p:spPr>
          <a:xfrm>
            <a:off x="457200" y="914400"/>
            <a:ext cx="8229600" cy="640080"/>
          </a:xfrm>
          <a:prstGeom prst="rect">
            <a:avLst>
              <a:gd name="adj" fmla="val 7143"/>
            </a:avLst>
          </a:prstGeom>
          <a:solidFill>
            <a:srgbClr val="F7F8FA"/>
          </a:solidFill>
          <a:ln/>
        </p:spPr>
      </p:sp>
      <p:sp>
        <p:nvSpPr>
          <p:cNvPr id="4" name="Shape 2"/>
          <p:cNvSpPr/>
          <p:nvPr/>
        </p:nvSpPr>
        <p:spPr>
          <a:xfrm>
            <a:off x="457200" y="914400"/>
            <a:ext cx="54864" cy="640080"/>
          </a:xfrm>
          <a:prstGeom prst="rect">
            <a:avLst/>
          </a:prstGeom>
          <a:solidFill>
            <a:srgbClr val="1A5276"/>
          </a:solidFill>
          <a:ln/>
        </p:spPr>
      </p:sp>
      <p:sp>
        <p:nvSpPr>
          <p:cNvPr id="5" name="Text 3"/>
          <p:cNvSpPr/>
          <p:nvPr/>
        </p:nvSpPr>
        <p:spPr>
          <a:xfrm>
            <a:off x="685800" y="914400"/>
            <a:ext cx="7772400" cy="64008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Exportwaarde kan dalen door lagere prijzen, lager volume, of beide. Voor werkgelegenheid is het VOLUME het belangrijkst.</a:t>
            </a:r>
            <a:endParaRPr lang="en-US" sz="1400" dirty="0"/>
          </a:p>
        </p:txBody>
      </p:sp>
      <p:sp>
        <p:nvSpPr>
          <p:cNvPr id="6" name="Shape 4"/>
          <p:cNvSpPr/>
          <p:nvPr/>
        </p:nvSpPr>
        <p:spPr>
          <a:xfrm>
            <a:off x="457200" y="1828800"/>
            <a:ext cx="3931920" cy="2377440"/>
          </a:xfrm>
          <a:prstGeom prst="rect">
            <a:avLst>
              <a:gd name="adj" fmla="val 1923"/>
            </a:avLst>
          </a:prstGeom>
          <a:solidFill>
            <a:srgbClr val="FDE8E8"/>
          </a:solidFill>
          <a:ln/>
          <a:effectLst>
            <a:outerShdw sx="100000" sy="100000" kx="0" ky="0" algn="bl" rotWithShape="0" blurRad="76200" dist="25400" dir="8100000">
              <a:srgbClr val="000000">
                <a:alpha val="10000"/>
              </a:srgbClr>
            </a:outerShdw>
          </a:effectLst>
        </p:spPr>
      </p:sp>
      <p:sp>
        <p:nvSpPr>
          <p:cNvPr id="7" name="Shape 5"/>
          <p:cNvSpPr/>
          <p:nvPr/>
        </p:nvSpPr>
        <p:spPr>
          <a:xfrm>
            <a:off x="457200" y="1828800"/>
            <a:ext cx="54864" cy="2377440"/>
          </a:xfrm>
          <a:prstGeom prst="rect">
            <a:avLst/>
          </a:prstGeom>
          <a:solidFill>
            <a:srgbClr val="D9534F"/>
          </a:solidFill>
          <a:ln/>
        </p:spPr>
      </p:sp>
      <p:sp>
        <p:nvSpPr>
          <p:cNvPr id="8" name="Text 6"/>
          <p:cNvSpPr/>
          <p:nvPr/>
        </p:nvSpPr>
        <p:spPr>
          <a:xfrm>
            <a:off x="640080" y="1938528"/>
            <a:ext cx="3611880" cy="365760"/>
          </a:xfrm>
          <a:prstGeom prst="rect">
            <a:avLst/>
          </a:prstGeom>
          <a:noFill/>
          <a:ln/>
        </p:spPr>
        <p:txBody>
          <a:bodyPr wrap="square" rtlCol="0" anchor="t"/>
          <a:lstStyle/>
          <a:p>
            <a:pPr indent="0" marL="0">
              <a:buNone/>
            </a:pPr>
            <a:r>
              <a:rPr lang="en-US" sz="2000" b="1" dirty="0">
                <a:solidFill>
                  <a:srgbClr val="D9534F"/>
                </a:solidFill>
                <a:latin typeface="Arial" pitchFamily="34" charset="0"/>
                <a:ea typeface="Arial" pitchFamily="34" charset="-122"/>
                <a:cs typeface="Arial" pitchFamily="34" charset="-120"/>
              </a:rPr>
              <a:t>Volume daalt</a:t>
            </a:r>
            <a:endParaRPr lang="en-US" sz="2000" dirty="0"/>
          </a:p>
        </p:txBody>
      </p:sp>
      <p:sp>
        <p:nvSpPr>
          <p:cNvPr id="9" name="Text 7"/>
          <p:cNvSpPr/>
          <p:nvPr/>
        </p:nvSpPr>
        <p:spPr>
          <a:xfrm>
            <a:off x="640080" y="2331720"/>
            <a:ext cx="3611880" cy="1737360"/>
          </a:xfrm>
          <a:prstGeom prst="rect">
            <a:avLst/>
          </a:prstGeom>
          <a:noFill/>
          <a:ln/>
        </p:spPr>
        <p:txBody>
          <a:bodyPr wrap="square" rtlCol="0" anchor="t"/>
          <a:lstStyle/>
          <a:p>
            <a:pPr algn="l" marL="342900" indent="-342900">
              <a:lnSpc>
                <a:spcPct val="115000"/>
              </a:lnSpc>
              <a:buSzPct val="100000"/>
              <a:buChar char="•"/>
            </a:pPr>
            <a:r>
              <a:rPr lang="en-US" sz="1400" dirty="0">
                <a:solidFill>
                  <a:srgbClr val="2D3748"/>
                </a:solidFill>
                <a:latin typeface="Arial" pitchFamily="34" charset="0"/>
                <a:ea typeface="Arial" pitchFamily="34" charset="-122"/>
                <a:cs typeface="Arial" pitchFamily="34" charset="-120"/>
              </a:rPr>
              <a:t>Minder productie nodig</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marL="342900" indent="-342900">
              <a:lnSpc>
                <a:spcPct val="115000"/>
              </a:lnSpc>
              <a:buSzPct val="100000"/>
              <a:buChar char="•"/>
            </a:pPr>
            <a:r>
              <a:rPr lang="en-US" sz="1400" dirty="0">
                <a:solidFill>
                  <a:srgbClr val="2D3748"/>
                </a:solidFill>
                <a:latin typeface="Arial" pitchFamily="34" charset="0"/>
                <a:ea typeface="Arial" pitchFamily="34" charset="-122"/>
                <a:cs typeface="Arial" pitchFamily="34" charset="-120"/>
              </a:rPr>
              <a:t>Minder werkgelegenheid</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marL="342900" indent="-342900">
              <a:lnSpc>
                <a:spcPct val="115000"/>
              </a:lnSpc>
              <a:buSzPct val="100000"/>
              <a:buChar char="•"/>
            </a:pPr>
            <a:r>
              <a:rPr lang="en-US" sz="1400" dirty="0">
                <a:solidFill>
                  <a:srgbClr val="2D3748"/>
                </a:solidFill>
                <a:latin typeface="Arial" pitchFamily="34" charset="0"/>
                <a:ea typeface="Arial" pitchFamily="34" charset="-122"/>
                <a:cs typeface="Arial" pitchFamily="34" charset="-120"/>
              </a:rPr>
              <a:t>Effect op arbeidsmarkt</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400" b="1" dirty="0">
                <a:solidFill>
                  <a:srgbClr val="D9534F"/>
                </a:solidFill>
                <a:latin typeface="Arial" pitchFamily="34" charset="0"/>
                <a:ea typeface="Arial" pitchFamily="34" charset="-122"/>
                <a:cs typeface="Arial" pitchFamily="34" charset="-120"/>
              </a:rPr>
              <a:t>→ Direct effect op banen</a:t>
            </a:r>
            <a:endParaRPr lang="en-US" sz="1400" dirty="0"/>
          </a:p>
        </p:txBody>
      </p:sp>
      <p:sp>
        <p:nvSpPr>
          <p:cNvPr id="10" name="Shape 8"/>
          <p:cNvSpPr/>
          <p:nvPr/>
        </p:nvSpPr>
        <p:spPr>
          <a:xfrm>
            <a:off x="4754880" y="1828800"/>
            <a:ext cx="3931920" cy="2377440"/>
          </a:xfrm>
          <a:prstGeom prst="rect">
            <a:avLst>
              <a:gd name="adj" fmla="val 1923"/>
            </a:avLst>
          </a:prstGeom>
          <a:solidFill>
            <a:srgbClr val="E8F8F0"/>
          </a:solidFill>
          <a:ln/>
          <a:effectLst>
            <a:outerShdw sx="100000" sy="100000" kx="0" ky="0" algn="bl" rotWithShape="0" blurRad="76200" dist="25400" dir="8100000">
              <a:srgbClr val="000000">
                <a:alpha val="10000"/>
              </a:srgbClr>
            </a:outerShdw>
          </a:effectLst>
        </p:spPr>
      </p:sp>
      <p:sp>
        <p:nvSpPr>
          <p:cNvPr id="11" name="Shape 9"/>
          <p:cNvSpPr/>
          <p:nvPr/>
        </p:nvSpPr>
        <p:spPr>
          <a:xfrm>
            <a:off x="4754880" y="1828800"/>
            <a:ext cx="54864" cy="2377440"/>
          </a:xfrm>
          <a:prstGeom prst="rect">
            <a:avLst/>
          </a:prstGeom>
          <a:solidFill>
            <a:srgbClr val="1E8449"/>
          </a:solidFill>
          <a:ln/>
        </p:spPr>
      </p:sp>
      <p:sp>
        <p:nvSpPr>
          <p:cNvPr id="12" name="Text 10"/>
          <p:cNvSpPr/>
          <p:nvPr/>
        </p:nvSpPr>
        <p:spPr>
          <a:xfrm>
            <a:off x="4937760" y="1938528"/>
            <a:ext cx="3611880" cy="365760"/>
          </a:xfrm>
          <a:prstGeom prst="rect">
            <a:avLst/>
          </a:prstGeom>
          <a:noFill/>
          <a:ln/>
        </p:spPr>
        <p:txBody>
          <a:bodyPr wrap="square" rtlCol="0" anchor="t"/>
          <a:lstStyle/>
          <a:p>
            <a:pPr indent="0" marL="0">
              <a:buNone/>
            </a:pPr>
            <a:r>
              <a:rPr lang="en-US" sz="2000" b="1" dirty="0">
                <a:solidFill>
                  <a:srgbClr val="1E8449"/>
                </a:solidFill>
                <a:latin typeface="Arial" pitchFamily="34" charset="0"/>
                <a:ea typeface="Arial" pitchFamily="34" charset="-122"/>
                <a:cs typeface="Arial" pitchFamily="34" charset="-120"/>
              </a:rPr>
              <a:t>Prijs daalt</a:t>
            </a:r>
            <a:endParaRPr lang="en-US" sz="2000" dirty="0"/>
          </a:p>
        </p:txBody>
      </p:sp>
      <p:sp>
        <p:nvSpPr>
          <p:cNvPr id="13" name="Text 11"/>
          <p:cNvSpPr/>
          <p:nvPr/>
        </p:nvSpPr>
        <p:spPr>
          <a:xfrm>
            <a:off x="4937760" y="2331720"/>
            <a:ext cx="3611880" cy="1737360"/>
          </a:xfrm>
          <a:prstGeom prst="rect">
            <a:avLst/>
          </a:prstGeom>
          <a:noFill/>
          <a:ln/>
        </p:spPr>
        <p:txBody>
          <a:bodyPr wrap="square" rtlCol="0" anchor="t"/>
          <a:lstStyle/>
          <a:p>
            <a:pPr algn="l" marL="342900" indent="-342900">
              <a:lnSpc>
                <a:spcPct val="115000"/>
              </a:lnSpc>
              <a:buSzPct val="100000"/>
              <a:buChar char="•"/>
            </a:pPr>
            <a:r>
              <a:rPr lang="en-US" sz="1400" dirty="0">
                <a:solidFill>
                  <a:srgbClr val="2D3748"/>
                </a:solidFill>
                <a:latin typeface="Arial" pitchFamily="34" charset="0"/>
                <a:ea typeface="Arial" pitchFamily="34" charset="-122"/>
                <a:cs typeface="Arial" pitchFamily="34" charset="-120"/>
              </a:rPr>
              <a:t>Zelfde productie nodig</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marL="342900" indent="-342900">
              <a:lnSpc>
                <a:spcPct val="115000"/>
              </a:lnSpc>
              <a:buSzPct val="100000"/>
              <a:buChar char="•"/>
            </a:pPr>
            <a:r>
              <a:rPr lang="en-US" sz="1400" dirty="0">
                <a:solidFill>
                  <a:srgbClr val="2D3748"/>
                </a:solidFill>
                <a:latin typeface="Arial" pitchFamily="34" charset="0"/>
                <a:ea typeface="Arial" pitchFamily="34" charset="-122"/>
                <a:cs typeface="Arial" pitchFamily="34" charset="-120"/>
              </a:rPr>
              <a:t>Werkgelegenheid stabiel</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marL="342900" indent="-342900">
              <a:lnSpc>
                <a:spcPct val="115000"/>
              </a:lnSpc>
              <a:buSzPct val="100000"/>
              <a:buChar char="•"/>
            </a:pPr>
            <a:r>
              <a:rPr lang="en-US" sz="1400" dirty="0">
                <a:solidFill>
                  <a:srgbClr val="2D3748"/>
                </a:solidFill>
                <a:latin typeface="Arial" pitchFamily="34" charset="0"/>
                <a:ea typeface="Arial" pitchFamily="34" charset="-122"/>
                <a:cs typeface="Arial" pitchFamily="34" charset="-120"/>
              </a:rPr>
              <a:t>Alleen omzet daalt</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400" b="1" dirty="0">
                <a:solidFill>
                  <a:srgbClr val="1E8449"/>
                </a:solidFill>
                <a:latin typeface="Arial" pitchFamily="34" charset="0"/>
                <a:ea typeface="Arial" pitchFamily="34" charset="-122"/>
                <a:cs typeface="Arial" pitchFamily="34" charset="-120"/>
              </a:rPr>
              <a:t>→ Geen direct effect op banen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Handelsbalans</a:t>
            </a:r>
            <a:endParaRPr lang="en-US" sz="2400" dirty="0"/>
          </a:p>
        </p:txBody>
      </p:sp>
      <p:sp>
        <p:nvSpPr>
          <p:cNvPr id="3" name="Shape 1"/>
          <p:cNvSpPr/>
          <p:nvPr/>
        </p:nvSpPr>
        <p:spPr>
          <a:xfrm>
            <a:off x="457200" y="960120"/>
            <a:ext cx="3931920" cy="2194560"/>
          </a:xfrm>
          <a:prstGeom prst="rect">
            <a:avLst>
              <a:gd name="adj" fmla="val 2083"/>
            </a:avLst>
          </a:prstGeom>
          <a:solidFill>
            <a:srgbClr val="E8F8F0"/>
          </a:solidFill>
          <a:ln/>
          <a:effectLst>
            <a:outerShdw sx="100000" sy="100000" kx="0" ky="0" algn="bl" rotWithShape="0" blurRad="76200" dist="25400" dir="8100000">
              <a:srgbClr val="000000">
                <a:alpha val="10000"/>
              </a:srgbClr>
            </a:outerShdw>
          </a:effectLst>
        </p:spPr>
      </p:sp>
      <p:sp>
        <p:nvSpPr>
          <p:cNvPr id="4" name="Shape 2"/>
          <p:cNvSpPr/>
          <p:nvPr/>
        </p:nvSpPr>
        <p:spPr>
          <a:xfrm>
            <a:off x="457200" y="960120"/>
            <a:ext cx="54864" cy="2194560"/>
          </a:xfrm>
          <a:prstGeom prst="rect">
            <a:avLst/>
          </a:prstGeom>
          <a:solidFill>
            <a:srgbClr val="1E8449"/>
          </a:solidFill>
          <a:ln/>
        </p:spPr>
      </p:sp>
      <p:sp>
        <p:nvSpPr>
          <p:cNvPr id="5" name="Text 3"/>
          <p:cNvSpPr/>
          <p:nvPr/>
        </p:nvSpPr>
        <p:spPr>
          <a:xfrm>
            <a:off x="640080" y="1069848"/>
            <a:ext cx="3611880" cy="365760"/>
          </a:xfrm>
          <a:prstGeom prst="rect">
            <a:avLst/>
          </a:prstGeom>
          <a:noFill/>
          <a:ln/>
        </p:spPr>
        <p:txBody>
          <a:bodyPr wrap="square" rtlCol="0" anchor="t"/>
          <a:lstStyle/>
          <a:p>
            <a:pPr indent="0" marL="0">
              <a:buNone/>
            </a:pPr>
            <a:r>
              <a:rPr lang="en-US" sz="2000" b="1" dirty="0">
                <a:solidFill>
                  <a:srgbClr val="1E8449"/>
                </a:solidFill>
                <a:latin typeface="Arial" pitchFamily="34" charset="0"/>
                <a:ea typeface="Arial" pitchFamily="34" charset="-122"/>
                <a:cs typeface="Arial" pitchFamily="34" charset="-120"/>
              </a:rPr>
              <a:t>Export &gt; Import</a:t>
            </a:r>
            <a:endParaRPr lang="en-US" sz="2000" dirty="0"/>
          </a:p>
        </p:txBody>
      </p:sp>
      <p:sp>
        <p:nvSpPr>
          <p:cNvPr id="6" name="Text 4"/>
          <p:cNvSpPr/>
          <p:nvPr/>
        </p:nvSpPr>
        <p:spPr>
          <a:xfrm>
            <a:off x="640080" y="1463040"/>
            <a:ext cx="3611880" cy="1554480"/>
          </a:xfrm>
          <a:prstGeom prst="rect">
            <a:avLst/>
          </a:prstGeom>
          <a:noFill/>
          <a:ln/>
        </p:spPr>
        <p:txBody>
          <a:bodyPr wrap="square" rtlCol="0" anchor="t"/>
          <a:lstStyle/>
          <a:p>
            <a:pPr algn="l" indent="0" marL="0">
              <a:lnSpc>
                <a:spcPct val="115000"/>
              </a:lnSpc>
              <a:buNone/>
            </a:pPr>
            <a:r>
              <a:rPr lang="en-US" sz="1600" b="1" dirty="0">
                <a:solidFill>
                  <a:srgbClr val="2D3748"/>
                </a:solidFill>
                <a:latin typeface="Arial" pitchFamily="34" charset="0"/>
                <a:ea typeface="Arial" pitchFamily="34" charset="-122"/>
                <a:cs typeface="Arial" pitchFamily="34" charset="-120"/>
              </a:rPr>
              <a:t>Handelsoverschot</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Land verdient buitenlands geld.</a:t>
            </a:r>
            <a:endParaRPr lang="en-US" sz="1400" dirty="0"/>
          </a:p>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Kan investeren of sparen.</a:t>
            </a:r>
            <a:endParaRPr lang="en-US" sz="1400" dirty="0"/>
          </a:p>
        </p:txBody>
      </p:sp>
      <p:sp>
        <p:nvSpPr>
          <p:cNvPr id="7" name="Shape 5"/>
          <p:cNvSpPr/>
          <p:nvPr/>
        </p:nvSpPr>
        <p:spPr>
          <a:xfrm>
            <a:off x="4754880" y="960120"/>
            <a:ext cx="3931920" cy="2194560"/>
          </a:xfrm>
          <a:prstGeom prst="rect">
            <a:avLst>
              <a:gd name="adj" fmla="val 2083"/>
            </a:avLst>
          </a:prstGeom>
          <a:solidFill>
            <a:srgbClr val="FDE8E8"/>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960120"/>
            <a:ext cx="54864" cy="2194560"/>
          </a:xfrm>
          <a:prstGeom prst="rect">
            <a:avLst/>
          </a:prstGeom>
          <a:solidFill>
            <a:srgbClr val="D9534F"/>
          </a:solidFill>
          <a:ln/>
        </p:spPr>
      </p:sp>
      <p:sp>
        <p:nvSpPr>
          <p:cNvPr id="9" name="Text 7"/>
          <p:cNvSpPr/>
          <p:nvPr/>
        </p:nvSpPr>
        <p:spPr>
          <a:xfrm>
            <a:off x="4937760" y="1069848"/>
            <a:ext cx="3611880" cy="365760"/>
          </a:xfrm>
          <a:prstGeom prst="rect">
            <a:avLst/>
          </a:prstGeom>
          <a:noFill/>
          <a:ln/>
        </p:spPr>
        <p:txBody>
          <a:bodyPr wrap="square" rtlCol="0" anchor="t"/>
          <a:lstStyle/>
          <a:p>
            <a:pPr indent="0" marL="0">
              <a:buNone/>
            </a:pPr>
            <a:r>
              <a:rPr lang="en-US" sz="2000" b="1" dirty="0">
                <a:solidFill>
                  <a:srgbClr val="D9534F"/>
                </a:solidFill>
                <a:latin typeface="Arial" pitchFamily="34" charset="0"/>
                <a:ea typeface="Arial" pitchFamily="34" charset="-122"/>
                <a:cs typeface="Arial" pitchFamily="34" charset="-120"/>
              </a:rPr>
              <a:t>Import &gt; Export</a:t>
            </a:r>
            <a:endParaRPr lang="en-US" sz="2000" dirty="0"/>
          </a:p>
        </p:txBody>
      </p:sp>
      <p:sp>
        <p:nvSpPr>
          <p:cNvPr id="10" name="Text 8"/>
          <p:cNvSpPr/>
          <p:nvPr/>
        </p:nvSpPr>
        <p:spPr>
          <a:xfrm>
            <a:off x="4937760" y="1463040"/>
            <a:ext cx="3611880" cy="1554480"/>
          </a:xfrm>
          <a:prstGeom prst="rect">
            <a:avLst/>
          </a:prstGeom>
          <a:noFill/>
          <a:ln/>
        </p:spPr>
        <p:txBody>
          <a:bodyPr wrap="square" rtlCol="0" anchor="t"/>
          <a:lstStyle/>
          <a:p>
            <a:pPr algn="l" indent="0" marL="0">
              <a:lnSpc>
                <a:spcPct val="115000"/>
              </a:lnSpc>
              <a:buNone/>
            </a:pPr>
            <a:r>
              <a:rPr lang="en-US" sz="1600" b="1" dirty="0">
                <a:solidFill>
                  <a:srgbClr val="2D3748"/>
                </a:solidFill>
                <a:latin typeface="Arial" pitchFamily="34" charset="0"/>
                <a:ea typeface="Arial" pitchFamily="34" charset="-122"/>
                <a:cs typeface="Arial" pitchFamily="34" charset="-120"/>
              </a:rPr>
              <a:t>Handelstekort</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Land moet lenen of</a:t>
            </a:r>
            <a:endParaRPr lang="en-US" sz="1400" dirty="0"/>
          </a:p>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schulden opbouwen.</a:t>
            </a:r>
            <a:endParaRPr lang="en-US" sz="1400" dirty="0"/>
          </a:p>
        </p:txBody>
      </p:sp>
      <p:sp>
        <p:nvSpPr>
          <p:cNvPr id="11" name="Shape 9"/>
          <p:cNvSpPr/>
          <p:nvPr/>
        </p:nvSpPr>
        <p:spPr>
          <a:xfrm>
            <a:off x="457200" y="3429000"/>
            <a:ext cx="8229600" cy="1097280"/>
          </a:xfrm>
          <a:prstGeom prst="rect">
            <a:avLst>
              <a:gd name="adj" fmla="val 4167"/>
            </a:avLst>
          </a:prstGeom>
          <a:solidFill>
            <a:srgbClr val="F9F6F1"/>
          </a:solidFill>
          <a:ln/>
          <a:effectLst>
            <a:outerShdw sx="100000" sy="100000" kx="0" ky="0" algn="bl" rotWithShape="0" blurRad="76200" dist="25400" dir="8100000">
              <a:srgbClr val="000000">
                <a:alpha val="10000"/>
              </a:srgbClr>
            </a:outerShdw>
          </a:effectLst>
        </p:spPr>
      </p:sp>
      <p:sp>
        <p:nvSpPr>
          <p:cNvPr id="12" name="Shape 10"/>
          <p:cNvSpPr/>
          <p:nvPr/>
        </p:nvSpPr>
        <p:spPr>
          <a:xfrm>
            <a:off x="457200" y="3429000"/>
            <a:ext cx="54864" cy="1097280"/>
          </a:xfrm>
          <a:prstGeom prst="rect">
            <a:avLst/>
          </a:prstGeom>
          <a:solidFill>
            <a:srgbClr val="1A5276"/>
          </a:solidFill>
          <a:ln/>
        </p:spPr>
      </p:sp>
      <p:sp>
        <p:nvSpPr>
          <p:cNvPr id="13" name="Text 11"/>
          <p:cNvSpPr/>
          <p:nvPr/>
        </p:nvSpPr>
        <p:spPr>
          <a:xfrm>
            <a:off x="685800" y="3474720"/>
            <a:ext cx="7772400" cy="320040"/>
          </a:xfrm>
          <a:prstGeom prst="rect">
            <a:avLst/>
          </a:prstGeom>
          <a:noFill/>
          <a:ln/>
        </p:spPr>
        <p:txBody>
          <a:bodyPr wrap="square" rtlCol="0" anchor="ctr"/>
          <a:lstStyle/>
          <a:p>
            <a:pPr indent="0" marL="0">
              <a:buNone/>
            </a:pPr>
            <a:r>
              <a:rPr lang="en-US" sz="1600" b="1" dirty="0">
                <a:solidFill>
                  <a:srgbClr val="1A5276"/>
                </a:solidFill>
                <a:latin typeface="Arial" pitchFamily="34" charset="0"/>
                <a:ea typeface="Arial" pitchFamily="34" charset="-122"/>
                <a:cs typeface="Arial" pitchFamily="34" charset="-120"/>
              </a:rPr>
              <a:t>Voorbeeld</a:t>
            </a:r>
            <a:endParaRPr lang="en-US" sz="1600" dirty="0"/>
          </a:p>
        </p:txBody>
      </p:sp>
      <p:sp>
        <p:nvSpPr>
          <p:cNvPr id="14" name="Text 12"/>
          <p:cNvSpPr/>
          <p:nvPr/>
        </p:nvSpPr>
        <p:spPr>
          <a:xfrm>
            <a:off x="685800" y="3794760"/>
            <a:ext cx="7772400" cy="640080"/>
          </a:xfrm>
          <a:prstGeom prst="rect">
            <a:avLst/>
          </a:prstGeom>
          <a:noFill/>
          <a:ln/>
        </p:spPr>
        <p:txBody>
          <a:bodyPr wrap="square" rtlCol="0" anchor="ctr"/>
          <a:lstStyle/>
          <a:p>
            <a:pPr indent="0" marL="0">
              <a:lnSpc>
                <a:spcPct val="130000"/>
              </a:lnSpc>
              <a:buNone/>
            </a:pPr>
            <a:r>
              <a:rPr lang="en-US" sz="1300" dirty="0">
                <a:solidFill>
                  <a:srgbClr val="2D3748"/>
                </a:solidFill>
                <a:latin typeface="Arial" pitchFamily="34" charset="0"/>
                <a:ea typeface="Arial" pitchFamily="34" charset="-122"/>
                <a:cs typeface="Arial" pitchFamily="34" charset="-120"/>
              </a:rPr>
              <a:t>VS: structureel handelstekort → bouwt schuld op bij andere landen (vooral China).</a:t>
            </a:r>
            <a:endParaRPr lang="en-US" sz="1300" dirty="0"/>
          </a:p>
          <a:p>
            <a:pPr indent="0" marL="0">
              <a:lnSpc>
                <a:spcPct val="130000"/>
              </a:lnSpc>
              <a:buNone/>
            </a:pPr>
            <a:r>
              <a:rPr lang="en-US" sz="1300" dirty="0">
                <a:solidFill>
                  <a:srgbClr val="2D3748"/>
                </a:solidFill>
                <a:latin typeface="Arial" pitchFamily="34" charset="0"/>
                <a:ea typeface="Arial" pitchFamily="34" charset="-122"/>
                <a:cs typeface="Arial" pitchFamily="34" charset="-120"/>
              </a:rPr>
              <a:t>Nederland: structureel handelsoverschot → verdient aan export.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Effecten handelspolitiek</a:t>
            </a:r>
            <a:endParaRPr lang="en-US" sz="2400" dirty="0"/>
          </a:p>
        </p:txBody>
      </p:sp>
      <p:sp>
        <p:nvSpPr>
          <p:cNvPr id="3" name="Shape 1"/>
          <p:cNvSpPr/>
          <p:nvPr/>
        </p:nvSpPr>
        <p:spPr>
          <a:xfrm>
            <a:off x="914400" y="1097280"/>
            <a:ext cx="7315200" cy="594360"/>
          </a:xfrm>
          <a:prstGeom prst="rect">
            <a:avLst>
              <a:gd name="adj" fmla="val 7692"/>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4" name="Text 2"/>
          <p:cNvSpPr/>
          <p:nvPr/>
        </p:nvSpPr>
        <p:spPr>
          <a:xfrm>
            <a:off x="1143000" y="1097280"/>
            <a:ext cx="6858000" cy="594360"/>
          </a:xfrm>
          <a:prstGeom prst="rect">
            <a:avLst/>
          </a:prstGeom>
          <a:noFill/>
          <a:ln/>
        </p:spPr>
        <p:txBody>
          <a:bodyPr wrap="square" rtlCol="0" anchor="ctr"/>
          <a:lstStyle/>
          <a:p>
            <a:pPr indent="0" marL="0">
              <a:buNone/>
            </a:pPr>
            <a:r>
              <a:rPr lang="en-US" sz="1500" dirty="0">
                <a:solidFill>
                  <a:srgbClr val="2D3748"/>
                </a:solidFill>
                <a:latin typeface="Arial" pitchFamily="34" charset="0"/>
                <a:ea typeface="Arial" pitchFamily="34" charset="-122"/>
                <a:cs typeface="Arial" pitchFamily="34" charset="-120"/>
              </a:rPr>
              <a:t>Maatregel: handelsoorlog / Brexit / invoerrecht / verdrag</a:t>
            </a:r>
            <a:endParaRPr lang="en-US" sz="1500" dirty="0"/>
          </a:p>
        </p:txBody>
      </p:sp>
      <p:sp>
        <p:nvSpPr>
          <p:cNvPr id="5" name="Text 3"/>
          <p:cNvSpPr/>
          <p:nvPr/>
        </p:nvSpPr>
        <p:spPr>
          <a:xfrm>
            <a:off x="914400" y="1691640"/>
            <a:ext cx="7315200" cy="164592"/>
          </a:xfrm>
          <a:prstGeom prst="rect">
            <a:avLst/>
          </a:prstGeom>
          <a:noFill/>
          <a:ln/>
        </p:spPr>
        <p:txBody>
          <a:bodyPr wrap="square" rtlCol="0" anchor="ctr"/>
          <a:lstStyle/>
          <a:p>
            <a:pPr algn="ctr" indent="0" marL="0">
              <a:buNone/>
            </a:pPr>
            <a:r>
              <a:rPr lang="en-US" sz="1800" b="1" dirty="0">
                <a:solidFill>
                  <a:srgbClr val="1A5276"/>
                </a:solidFill>
                <a:latin typeface="Arial" pitchFamily="34" charset="0"/>
                <a:ea typeface="Arial" pitchFamily="34" charset="-122"/>
                <a:cs typeface="Arial" pitchFamily="34" charset="-120"/>
              </a:rPr>
              <a:t>↓</a:t>
            </a:r>
            <a:endParaRPr lang="en-US" sz="1800" dirty="0"/>
          </a:p>
        </p:txBody>
      </p:sp>
      <p:sp>
        <p:nvSpPr>
          <p:cNvPr id="6" name="Shape 4"/>
          <p:cNvSpPr/>
          <p:nvPr/>
        </p:nvSpPr>
        <p:spPr>
          <a:xfrm>
            <a:off x="914400" y="1856232"/>
            <a:ext cx="7315200" cy="594360"/>
          </a:xfrm>
          <a:prstGeom prst="rect">
            <a:avLst>
              <a:gd name="adj" fmla="val 7692"/>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7" name="Text 5"/>
          <p:cNvSpPr/>
          <p:nvPr/>
        </p:nvSpPr>
        <p:spPr>
          <a:xfrm>
            <a:off x="1143000" y="1856232"/>
            <a:ext cx="6858000" cy="594360"/>
          </a:xfrm>
          <a:prstGeom prst="rect">
            <a:avLst/>
          </a:prstGeom>
          <a:noFill/>
          <a:ln/>
        </p:spPr>
        <p:txBody>
          <a:bodyPr wrap="square" rtlCol="0" anchor="ctr"/>
          <a:lstStyle/>
          <a:p>
            <a:pPr indent="0" marL="0">
              <a:buNone/>
            </a:pPr>
            <a:r>
              <a:rPr lang="en-US" sz="1500" dirty="0">
                <a:solidFill>
                  <a:srgbClr val="2D3748"/>
                </a:solidFill>
                <a:latin typeface="Arial" pitchFamily="34" charset="0"/>
                <a:ea typeface="Arial" pitchFamily="34" charset="-122"/>
                <a:cs typeface="Arial" pitchFamily="34" charset="-120"/>
              </a:rPr>
              <a:t>Hogere tarieven en/of minder vrijhandel</a:t>
            </a:r>
            <a:endParaRPr lang="en-US" sz="1500" dirty="0"/>
          </a:p>
        </p:txBody>
      </p:sp>
      <p:sp>
        <p:nvSpPr>
          <p:cNvPr id="8" name="Text 6"/>
          <p:cNvSpPr/>
          <p:nvPr/>
        </p:nvSpPr>
        <p:spPr>
          <a:xfrm>
            <a:off x="914400" y="2450592"/>
            <a:ext cx="7315200" cy="164592"/>
          </a:xfrm>
          <a:prstGeom prst="rect">
            <a:avLst/>
          </a:prstGeom>
          <a:noFill/>
          <a:ln/>
        </p:spPr>
        <p:txBody>
          <a:bodyPr wrap="square" rtlCol="0" anchor="ctr"/>
          <a:lstStyle/>
          <a:p>
            <a:pPr algn="ctr" indent="0" marL="0">
              <a:buNone/>
            </a:pPr>
            <a:r>
              <a:rPr lang="en-US" sz="1800" b="1" dirty="0">
                <a:solidFill>
                  <a:srgbClr val="1A5276"/>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914400" y="2615184"/>
            <a:ext cx="7315200" cy="594360"/>
          </a:xfrm>
          <a:prstGeom prst="rect">
            <a:avLst>
              <a:gd name="adj" fmla="val 7692"/>
            </a:avLst>
          </a:prstGeom>
          <a:solidFill>
            <a:srgbClr val="F9F6F1"/>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10" name="Text 8"/>
          <p:cNvSpPr/>
          <p:nvPr/>
        </p:nvSpPr>
        <p:spPr>
          <a:xfrm>
            <a:off x="1143000" y="2615184"/>
            <a:ext cx="6858000" cy="594360"/>
          </a:xfrm>
          <a:prstGeom prst="rect">
            <a:avLst/>
          </a:prstGeom>
          <a:noFill/>
          <a:ln/>
        </p:spPr>
        <p:txBody>
          <a:bodyPr wrap="square" rtlCol="0" anchor="ctr"/>
          <a:lstStyle/>
          <a:p>
            <a:pPr indent="0" marL="0">
              <a:buNone/>
            </a:pPr>
            <a:r>
              <a:rPr lang="en-US" sz="1500" dirty="0">
                <a:solidFill>
                  <a:srgbClr val="2D3748"/>
                </a:solidFill>
                <a:latin typeface="Arial" pitchFamily="34" charset="0"/>
                <a:ea typeface="Arial" pitchFamily="34" charset="-122"/>
                <a:cs typeface="Arial" pitchFamily="34" charset="-120"/>
              </a:rPr>
              <a:t>Minder handel tussen de landen</a:t>
            </a:r>
            <a:endParaRPr lang="en-US" sz="1500" dirty="0"/>
          </a:p>
        </p:txBody>
      </p:sp>
      <p:sp>
        <p:nvSpPr>
          <p:cNvPr id="11" name="Text 9"/>
          <p:cNvSpPr/>
          <p:nvPr/>
        </p:nvSpPr>
        <p:spPr>
          <a:xfrm>
            <a:off x="914400" y="3209544"/>
            <a:ext cx="7315200" cy="164592"/>
          </a:xfrm>
          <a:prstGeom prst="rect">
            <a:avLst/>
          </a:prstGeom>
          <a:noFill/>
          <a:ln/>
        </p:spPr>
        <p:txBody>
          <a:bodyPr wrap="square" rtlCol="0" anchor="ctr"/>
          <a:lstStyle/>
          <a:p>
            <a:pPr algn="ctr" indent="0" marL="0">
              <a:buNone/>
            </a:pPr>
            <a:r>
              <a:rPr lang="en-US" sz="1800" b="1" dirty="0">
                <a:solidFill>
                  <a:srgbClr val="1A5276"/>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914400" y="3374136"/>
            <a:ext cx="7315200" cy="594360"/>
          </a:xfrm>
          <a:prstGeom prst="rect">
            <a:avLst>
              <a:gd name="adj" fmla="val 7692"/>
            </a:avLst>
          </a:prstGeom>
          <a:solidFill>
            <a:srgbClr val="1A5276"/>
          </a:solidFill>
          <a:ln w="12700">
            <a:solidFill>
              <a:srgbClr val="1A5276"/>
            </a:solidFill>
            <a:prstDash val="solid"/>
          </a:ln>
          <a:effectLst>
            <a:outerShdw sx="100000" sy="100000" kx="0" ky="0" algn="bl" rotWithShape="0" blurRad="76200" dist="25400" dir="8100000">
              <a:srgbClr val="000000">
                <a:alpha val="10000"/>
              </a:srgbClr>
            </a:outerShdw>
          </a:effectLst>
        </p:spPr>
      </p:sp>
      <p:sp>
        <p:nvSpPr>
          <p:cNvPr id="13" name="Text 11"/>
          <p:cNvSpPr/>
          <p:nvPr/>
        </p:nvSpPr>
        <p:spPr>
          <a:xfrm>
            <a:off x="1143000" y="3374136"/>
            <a:ext cx="6858000" cy="5943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Gevolg: minder overslag, minder werkgelegenheid, hogere prijzen</a:t>
            </a:r>
            <a:endParaRPr lang="en-US" sz="1500" dirty="0"/>
          </a:p>
        </p:txBody>
      </p:sp>
      <p:sp>
        <p:nvSpPr>
          <p:cNvPr id="14" name="Text 12"/>
          <p:cNvSpPr/>
          <p:nvPr/>
        </p:nvSpPr>
        <p:spPr>
          <a:xfrm>
            <a:off x="640080" y="4389120"/>
            <a:ext cx="7863840" cy="365760"/>
          </a:xfrm>
          <a:prstGeom prst="rect">
            <a:avLst/>
          </a:prstGeom>
          <a:noFill/>
          <a:ln/>
        </p:spPr>
        <p:txBody>
          <a:bodyPr wrap="square" rtlCol="0" anchor="ctr"/>
          <a:lstStyle/>
          <a:p>
            <a:pPr indent="0" marL="0">
              <a:buNone/>
            </a:pPr>
            <a:r>
              <a:rPr lang="en-US" sz="1300" b="1" dirty="0">
                <a:solidFill>
                  <a:srgbClr val="154360"/>
                </a:solidFill>
                <a:latin typeface="Arial" pitchFamily="34" charset="0"/>
                <a:ea typeface="Arial" pitchFamily="34" charset="-122"/>
                <a:cs typeface="Arial" pitchFamily="34" charset="-120"/>
              </a:rPr>
              <a:t>Examenstrategie: </a:t>
            </a:r>
            <a:pPr indent="0" marL="0">
              <a:buNone/>
            </a:pPr>
            <a:r>
              <a:rPr lang="en-US" sz="1300" dirty="0">
                <a:solidFill>
                  <a:srgbClr val="2D3748"/>
                </a:solidFill>
                <a:latin typeface="Arial" pitchFamily="34" charset="0"/>
                <a:ea typeface="Arial" pitchFamily="34" charset="-122"/>
                <a:cs typeface="Arial" pitchFamily="34" charset="-120"/>
              </a:rPr>
              <a:t>beschrijf altijd de hele causale keten, niet alleen het eindresultaat.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Globalisering en arbeidsmarkt</a:t>
            </a:r>
            <a:endParaRPr lang="en-US" sz="2400" dirty="0"/>
          </a:p>
        </p:txBody>
      </p:sp>
      <p:sp>
        <p:nvSpPr>
          <p:cNvPr id="3" name="Shape 1"/>
          <p:cNvSpPr/>
          <p:nvPr/>
        </p:nvSpPr>
        <p:spPr>
          <a:xfrm>
            <a:off x="457200" y="960120"/>
            <a:ext cx="3931920" cy="3200400"/>
          </a:xfrm>
          <a:prstGeom prst="rect">
            <a:avLst>
              <a:gd name="adj" fmla="val 1429"/>
            </a:avLst>
          </a:prstGeom>
          <a:solidFill>
            <a:srgbClr val="E8F8F0"/>
          </a:solidFill>
          <a:ln/>
          <a:effectLst>
            <a:outerShdw sx="100000" sy="100000" kx="0" ky="0" algn="bl" rotWithShape="0" blurRad="76200" dist="25400" dir="8100000">
              <a:srgbClr val="000000">
                <a:alpha val="10000"/>
              </a:srgbClr>
            </a:outerShdw>
          </a:effectLst>
        </p:spPr>
      </p:sp>
      <p:sp>
        <p:nvSpPr>
          <p:cNvPr id="4" name="Shape 2"/>
          <p:cNvSpPr/>
          <p:nvPr/>
        </p:nvSpPr>
        <p:spPr>
          <a:xfrm>
            <a:off x="457200" y="960120"/>
            <a:ext cx="54864" cy="3200400"/>
          </a:xfrm>
          <a:prstGeom prst="rect">
            <a:avLst/>
          </a:prstGeom>
          <a:solidFill>
            <a:srgbClr val="1E8449"/>
          </a:solidFill>
          <a:ln/>
        </p:spPr>
      </p:sp>
      <p:sp>
        <p:nvSpPr>
          <p:cNvPr id="5" name="Text 3"/>
          <p:cNvSpPr/>
          <p:nvPr/>
        </p:nvSpPr>
        <p:spPr>
          <a:xfrm>
            <a:off x="640080" y="1069848"/>
            <a:ext cx="3611880" cy="365760"/>
          </a:xfrm>
          <a:prstGeom prst="rect">
            <a:avLst/>
          </a:prstGeom>
          <a:noFill/>
          <a:ln/>
        </p:spPr>
        <p:txBody>
          <a:bodyPr wrap="square" rtlCol="0" anchor="t"/>
          <a:lstStyle/>
          <a:p>
            <a:pPr indent="0" marL="0">
              <a:buNone/>
            </a:pPr>
            <a:r>
              <a:rPr lang="en-US" sz="2000" b="1" dirty="0">
                <a:solidFill>
                  <a:srgbClr val="1E8449"/>
                </a:solidFill>
                <a:latin typeface="Arial" pitchFamily="34" charset="0"/>
                <a:ea typeface="Arial" pitchFamily="34" charset="-122"/>
                <a:cs typeface="Arial" pitchFamily="34" charset="-120"/>
              </a:rPr>
              <a:t>Hoogopgeleiden</a:t>
            </a:r>
            <a:endParaRPr lang="en-US" sz="2000" dirty="0"/>
          </a:p>
        </p:txBody>
      </p:sp>
      <p:sp>
        <p:nvSpPr>
          <p:cNvPr id="6" name="Text 4"/>
          <p:cNvSpPr/>
          <p:nvPr/>
        </p:nvSpPr>
        <p:spPr>
          <a:xfrm>
            <a:off x="640080" y="1463040"/>
            <a:ext cx="3611880" cy="2560320"/>
          </a:xfrm>
          <a:prstGeom prst="rect">
            <a:avLst/>
          </a:prstGeom>
          <a:noFill/>
          <a:ln/>
        </p:spPr>
        <p:txBody>
          <a:bodyPr wrap="square" rtlCol="0" anchor="t"/>
          <a:lstStyle/>
          <a:p>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Innovatie en technologie</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Meer vraag naar kwaliteit</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Beperkt aanbod (bevolking stabiel)</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500" b="1" dirty="0">
                <a:solidFill>
                  <a:srgbClr val="1E8449"/>
                </a:solidFill>
                <a:latin typeface="Arial" pitchFamily="34" charset="0"/>
                <a:ea typeface="Arial" pitchFamily="34" charset="-122"/>
                <a:cs typeface="Arial" pitchFamily="34" charset="-120"/>
              </a:rPr>
              <a:t>Resultaat: lonen stijgen</a:t>
            </a:r>
            <a:endParaRPr lang="en-US" sz="1400" dirty="0"/>
          </a:p>
        </p:txBody>
      </p:sp>
      <p:sp>
        <p:nvSpPr>
          <p:cNvPr id="7" name="Shape 5"/>
          <p:cNvSpPr/>
          <p:nvPr/>
        </p:nvSpPr>
        <p:spPr>
          <a:xfrm>
            <a:off x="4754880" y="960120"/>
            <a:ext cx="3931920" cy="3200400"/>
          </a:xfrm>
          <a:prstGeom prst="rect">
            <a:avLst>
              <a:gd name="adj" fmla="val 1429"/>
            </a:avLst>
          </a:prstGeom>
          <a:solidFill>
            <a:srgbClr val="FDE8E8"/>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960120"/>
            <a:ext cx="54864" cy="3200400"/>
          </a:xfrm>
          <a:prstGeom prst="rect">
            <a:avLst/>
          </a:prstGeom>
          <a:solidFill>
            <a:srgbClr val="D9534F"/>
          </a:solidFill>
          <a:ln/>
        </p:spPr>
      </p:sp>
      <p:sp>
        <p:nvSpPr>
          <p:cNvPr id="9" name="Text 7"/>
          <p:cNvSpPr/>
          <p:nvPr/>
        </p:nvSpPr>
        <p:spPr>
          <a:xfrm>
            <a:off x="4937760" y="1069848"/>
            <a:ext cx="3611880" cy="365760"/>
          </a:xfrm>
          <a:prstGeom prst="rect">
            <a:avLst/>
          </a:prstGeom>
          <a:noFill/>
          <a:ln/>
        </p:spPr>
        <p:txBody>
          <a:bodyPr wrap="square" rtlCol="0" anchor="t"/>
          <a:lstStyle/>
          <a:p>
            <a:pPr indent="0" marL="0">
              <a:buNone/>
            </a:pPr>
            <a:r>
              <a:rPr lang="en-US" sz="2000" b="1" dirty="0">
                <a:solidFill>
                  <a:srgbClr val="D9534F"/>
                </a:solidFill>
                <a:latin typeface="Arial" pitchFamily="34" charset="0"/>
                <a:ea typeface="Arial" pitchFamily="34" charset="-122"/>
                <a:cs typeface="Arial" pitchFamily="34" charset="-120"/>
              </a:rPr>
              <a:t>Laagopgeleiden</a:t>
            </a:r>
            <a:endParaRPr lang="en-US" sz="2000" dirty="0"/>
          </a:p>
        </p:txBody>
      </p:sp>
      <p:sp>
        <p:nvSpPr>
          <p:cNvPr id="10" name="Text 8"/>
          <p:cNvSpPr/>
          <p:nvPr/>
        </p:nvSpPr>
        <p:spPr>
          <a:xfrm>
            <a:off x="4937760" y="1463040"/>
            <a:ext cx="3611880" cy="2560320"/>
          </a:xfrm>
          <a:prstGeom prst="rect">
            <a:avLst/>
          </a:prstGeom>
          <a:noFill/>
          <a:ln/>
        </p:spPr>
        <p:txBody>
          <a:bodyPr wrap="square" rtlCol="0" anchor="t"/>
          <a:lstStyle/>
          <a:p>
            <a:pPr algn="l" indent="0" marL="0">
              <a:lnSpc>
                <a:spcPct val="115000"/>
              </a:lnSpc>
              <a:buNone/>
            </a:pPr>
            <a:r>
              <a:rPr lang="en-US" sz="1400" b="1" dirty="0">
                <a:solidFill>
                  <a:srgbClr val="2D3748"/>
                </a:solidFill>
                <a:latin typeface="Arial" pitchFamily="34" charset="0"/>
                <a:ea typeface="Arial" pitchFamily="34" charset="-122"/>
                <a:cs typeface="Arial" pitchFamily="34" charset="-120"/>
              </a:rPr>
              <a:t>Liberalisering en outsourcing</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Concurrentie lage-lonenlanden</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Productie verschuift naar buitenland</a:t>
            </a:r>
            <a:pPr algn="l" indent="0" marL="0">
              <a:lnSpc>
                <a:spcPct val="115000"/>
              </a:lnSpc>
              <a:buNone/>
            </a:pPr>
            <a:r>
              <a:rPr lang="en-US" sz="600" dirty="0">
                <a:solidFill>
                  <a:srgbClr val="2D3748"/>
                </a:solidFill>
                <a:latin typeface="Arial" pitchFamily="34" charset="0"/>
                <a:ea typeface="Arial" pitchFamily="34" charset="-122"/>
                <a:cs typeface="Arial" pitchFamily="34" charset="-120"/>
              </a:rPr>
              <a:t>
</a:t>
            </a:r>
            <a:pPr algn="l" indent="0" marL="0">
              <a:lnSpc>
                <a:spcPct val="115000"/>
              </a:lnSpc>
              <a:buNone/>
            </a:pPr>
            <a:r>
              <a:rPr lang="en-US" sz="1500" b="1" dirty="0">
                <a:solidFill>
                  <a:srgbClr val="D9534F"/>
                </a:solidFill>
                <a:latin typeface="Arial" pitchFamily="34" charset="0"/>
                <a:ea typeface="Arial" pitchFamily="34" charset="-122"/>
                <a:cs typeface="Arial" pitchFamily="34" charset="-120"/>
              </a:rPr>
              <a:t>Resultaat: lonen onder druk</a:t>
            </a:r>
            <a:endParaRPr lang="en-US" sz="1400" dirty="0"/>
          </a:p>
        </p:txBody>
      </p:sp>
      <p:sp>
        <p:nvSpPr>
          <p:cNvPr id="11" name="Text 9"/>
          <p:cNvSpPr/>
          <p:nvPr/>
        </p:nvSpPr>
        <p:spPr>
          <a:xfrm>
            <a:off x="457200" y="4343400"/>
            <a:ext cx="8229600" cy="365760"/>
          </a:xfrm>
          <a:prstGeom prst="rect">
            <a:avLst/>
          </a:prstGeom>
          <a:noFill/>
          <a:ln/>
        </p:spPr>
        <p:txBody>
          <a:bodyPr wrap="square" rtlCol="0" anchor="ctr"/>
          <a:lstStyle/>
          <a:p>
            <a:pPr indent="0" marL="0">
              <a:buNone/>
            </a:pPr>
            <a:r>
              <a:rPr lang="en-US" sz="1200" i="1" dirty="0">
                <a:solidFill>
                  <a:srgbClr val="718096"/>
                </a:solidFill>
                <a:latin typeface="Arial" pitchFamily="34" charset="0"/>
                <a:ea typeface="Arial" pitchFamily="34" charset="-122"/>
                <a:cs typeface="Arial" pitchFamily="34" charset="-120"/>
              </a:rPr>
              <a:t>Gebruik BEIDE kanten van het verhaal bij evaluatievragen over globalisering.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Examenstrategie</a:t>
            </a:r>
            <a:endParaRPr lang="en-US" sz="2400" dirty="0"/>
          </a:p>
        </p:txBody>
      </p:sp>
      <p:sp>
        <p:nvSpPr>
          <p:cNvPr id="3" name="Shape 1"/>
          <p:cNvSpPr/>
          <p:nvPr/>
        </p:nvSpPr>
        <p:spPr>
          <a:xfrm>
            <a:off x="640080" y="1005840"/>
            <a:ext cx="2926080" cy="685800"/>
          </a:xfrm>
          <a:prstGeom prst="rect">
            <a:avLst>
              <a:gd name="adj" fmla="val 6667"/>
            </a:avLst>
          </a:prstGeom>
          <a:solidFill>
            <a:srgbClr val="1A5276"/>
          </a:solidFill>
          <a:ln/>
          <a:effectLst>
            <a:outerShdw sx="100000" sy="100000" kx="0" ky="0" algn="bl" rotWithShape="0" blurRad="76200" dist="25400" dir="8100000">
              <a:srgbClr val="000000">
                <a:alpha val="10000"/>
              </a:srgbClr>
            </a:outerShdw>
          </a:effectLst>
        </p:spPr>
      </p:sp>
      <p:sp>
        <p:nvSpPr>
          <p:cNvPr id="4" name="Text 2"/>
          <p:cNvSpPr/>
          <p:nvPr/>
        </p:nvSpPr>
        <p:spPr>
          <a:xfrm>
            <a:off x="822960" y="1005840"/>
            <a:ext cx="2560320" cy="6858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"Leg uit..."</a:t>
            </a:r>
            <a:endParaRPr lang="en-US" sz="1600" dirty="0"/>
          </a:p>
        </p:txBody>
      </p:sp>
      <p:sp>
        <p:nvSpPr>
          <p:cNvPr id="5" name="Text 3"/>
          <p:cNvSpPr/>
          <p:nvPr/>
        </p:nvSpPr>
        <p:spPr>
          <a:xfrm>
            <a:off x="3566160" y="1005840"/>
            <a:ext cx="457200" cy="685800"/>
          </a:xfrm>
          <a:prstGeom prst="rect">
            <a:avLst/>
          </a:prstGeom>
          <a:noFill/>
          <a:ln/>
        </p:spPr>
        <p:txBody>
          <a:bodyPr wrap="square" rtlCol="0" anchor="ctr"/>
          <a:lstStyle/>
          <a:p>
            <a:pPr algn="ctr" indent="0" marL="0">
              <a:buNone/>
            </a:pPr>
            <a:r>
              <a:rPr lang="en-US" sz="2000" b="1" dirty="0">
                <a:solidFill>
                  <a:srgbClr val="1A5276"/>
                </a:solidFill>
                <a:latin typeface="Arial" pitchFamily="34" charset="0"/>
                <a:ea typeface="Arial" pitchFamily="34" charset="-122"/>
                <a:cs typeface="Arial" pitchFamily="34" charset="-120"/>
              </a:rPr>
              <a:t>→</a:t>
            </a:r>
            <a:endParaRPr lang="en-US" sz="2000" dirty="0"/>
          </a:p>
        </p:txBody>
      </p:sp>
      <p:sp>
        <p:nvSpPr>
          <p:cNvPr id="6" name="Shape 4"/>
          <p:cNvSpPr/>
          <p:nvPr/>
        </p:nvSpPr>
        <p:spPr>
          <a:xfrm>
            <a:off x="4023360" y="1005840"/>
            <a:ext cx="4663440" cy="685800"/>
          </a:xfrm>
          <a:prstGeom prst="rect">
            <a:avLst>
              <a:gd name="adj" fmla="val 6667"/>
            </a:avLst>
          </a:prstGeom>
          <a:solidFill>
            <a:srgbClr val="F9F6F1"/>
          </a:solidFill>
          <a:ln/>
          <a:effectLst>
            <a:outerShdw sx="100000" sy="100000" kx="0" ky="0" algn="bl" rotWithShape="0" blurRad="76200" dist="25400" dir="8100000">
              <a:srgbClr val="000000">
                <a:alpha val="10000"/>
              </a:srgbClr>
            </a:outerShdw>
          </a:effectLst>
        </p:spPr>
      </p:sp>
      <p:sp>
        <p:nvSpPr>
          <p:cNvPr id="7" name="Shape 5"/>
          <p:cNvSpPr/>
          <p:nvPr/>
        </p:nvSpPr>
        <p:spPr>
          <a:xfrm>
            <a:off x="4023360" y="1005840"/>
            <a:ext cx="54864" cy="685800"/>
          </a:xfrm>
          <a:prstGeom prst="rect">
            <a:avLst/>
          </a:prstGeom>
          <a:solidFill>
            <a:srgbClr val="1A5276"/>
          </a:solidFill>
          <a:ln/>
        </p:spPr>
      </p:sp>
      <p:sp>
        <p:nvSpPr>
          <p:cNvPr id="8" name="Text 6"/>
          <p:cNvSpPr/>
          <p:nvPr/>
        </p:nvSpPr>
        <p:spPr>
          <a:xfrm>
            <a:off x="4251960" y="1005840"/>
            <a:ext cx="4297680" cy="685800"/>
          </a:xfrm>
          <a:prstGeom prst="rect">
            <a:avLst/>
          </a:prstGeom>
          <a:noFill/>
          <a:ln/>
        </p:spPr>
        <p:txBody>
          <a:bodyPr wrap="square" rtlCol="0" anchor="ctr"/>
          <a:lstStyle/>
          <a:p>
            <a:pPr indent="0" marL="0">
              <a:buNone/>
            </a:pPr>
            <a:r>
              <a:rPr lang="en-US" sz="1500" dirty="0">
                <a:solidFill>
                  <a:srgbClr val="2D3748"/>
                </a:solidFill>
                <a:latin typeface="Arial" pitchFamily="34" charset="0"/>
                <a:ea typeface="Arial" pitchFamily="34" charset="-122"/>
                <a:cs typeface="Arial" pitchFamily="34" charset="-120"/>
              </a:rPr>
              <a:t>Noem oorzaak + gevolg + verband</a:t>
            </a:r>
            <a:endParaRPr lang="en-US" sz="1500" dirty="0"/>
          </a:p>
        </p:txBody>
      </p:sp>
      <p:sp>
        <p:nvSpPr>
          <p:cNvPr id="9" name="Shape 7"/>
          <p:cNvSpPr/>
          <p:nvPr/>
        </p:nvSpPr>
        <p:spPr>
          <a:xfrm>
            <a:off x="640080" y="1874520"/>
            <a:ext cx="2926080" cy="685800"/>
          </a:xfrm>
          <a:prstGeom prst="rect">
            <a:avLst>
              <a:gd name="adj" fmla="val 6667"/>
            </a:avLst>
          </a:prstGeom>
          <a:solidFill>
            <a:srgbClr val="1A5276"/>
          </a:solidFill>
          <a:ln/>
          <a:effectLst>
            <a:outerShdw sx="100000" sy="100000" kx="0" ky="0" algn="bl" rotWithShape="0" blurRad="76200" dist="25400" dir="8100000">
              <a:srgbClr val="000000">
                <a:alpha val="10000"/>
              </a:srgbClr>
            </a:outerShdw>
          </a:effectLst>
        </p:spPr>
      </p:sp>
      <p:sp>
        <p:nvSpPr>
          <p:cNvPr id="10" name="Text 8"/>
          <p:cNvSpPr/>
          <p:nvPr/>
        </p:nvSpPr>
        <p:spPr>
          <a:xfrm>
            <a:off x="822960" y="1874520"/>
            <a:ext cx="2560320" cy="6858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"Bereken..."</a:t>
            </a:r>
            <a:endParaRPr lang="en-US" sz="1600" dirty="0"/>
          </a:p>
        </p:txBody>
      </p:sp>
      <p:sp>
        <p:nvSpPr>
          <p:cNvPr id="11" name="Text 9"/>
          <p:cNvSpPr/>
          <p:nvPr/>
        </p:nvSpPr>
        <p:spPr>
          <a:xfrm>
            <a:off x="3566160" y="1874520"/>
            <a:ext cx="457200" cy="685800"/>
          </a:xfrm>
          <a:prstGeom prst="rect">
            <a:avLst/>
          </a:prstGeom>
          <a:noFill/>
          <a:ln/>
        </p:spPr>
        <p:txBody>
          <a:bodyPr wrap="square" rtlCol="0" anchor="ctr"/>
          <a:lstStyle/>
          <a:p>
            <a:pPr algn="ctr" indent="0" marL="0">
              <a:buNone/>
            </a:pPr>
            <a:r>
              <a:rPr lang="en-US" sz="2000" b="1" dirty="0">
                <a:solidFill>
                  <a:srgbClr val="1A5276"/>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4023360" y="1874520"/>
            <a:ext cx="4663440" cy="685800"/>
          </a:xfrm>
          <a:prstGeom prst="rect">
            <a:avLst>
              <a:gd name="adj" fmla="val 6667"/>
            </a:avLst>
          </a:prstGeom>
          <a:solidFill>
            <a:srgbClr val="F9F6F1"/>
          </a:solidFill>
          <a:ln/>
          <a:effectLst>
            <a:outerShdw sx="100000" sy="100000" kx="0" ky="0" algn="bl" rotWithShape="0" blurRad="76200" dist="25400" dir="8100000">
              <a:srgbClr val="000000">
                <a:alpha val="10000"/>
              </a:srgbClr>
            </a:outerShdw>
          </a:effectLst>
        </p:spPr>
      </p:sp>
      <p:sp>
        <p:nvSpPr>
          <p:cNvPr id="13" name="Shape 11"/>
          <p:cNvSpPr/>
          <p:nvPr/>
        </p:nvSpPr>
        <p:spPr>
          <a:xfrm>
            <a:off x="4023360" y="1874520"/>
            <a:ext cx="54864" cy="685800"/>
          </a:xfrm>
          <a:prstGeom prst="rect">
            <a:avLst/>
          </a:prstGeom>
          <a:solidFill>
            <a:srgbClr val="1A5276"/>
          </a:solidFill>
          <a:ln/>
        </p:spPr>
      </p:sp>
      <p:sp>
        <p:nvSpPr>
          <p:cNvPr id="14" name="Text 12"/>
          <p:cNvSpPr/>
          <p:nvPr/>
        </p:nvSpPr>
        <p:spPr>
          <a:xfrm>
            <a:off x="4251960" y="1874520"/>
            <a:ext cx="4297680" cy="685800"/>
          </a:xfrm>
          <a:prstGeom prst="rect">
            <a:avLst/>
          </a:prstGeom>
          <a:noFill/>
          <a:ln/>
        </p:spPr>
        <p:txBody>
          <a:bodyPr wrap="square" rtlCol="0" anchor="ctr"/>
          <a:lstStyle/>
          <a:p>
            <a:pPr indent="0" marL="0">
              <a:buNone/>
            </a:pPr>
            <a:r>
              <a:rPr lang="en-US" sz="1500" dirty="0">
                <a:solidFill>
                  <a:srgbClr val="2D3748"/>
                </a:solidFill>
                <a:latin typeface="Arial" pitchFamily="34" charset="0"/>
                <a:ea typeface="Arial" pitchFamily="34" charset="-122"/>
                <a:cs typeface="Arial" pitchFamily="34" charset="-120"/>
              </a:rPr>
              <a:t>Laat ALLE tussenstappen zien</a:t>
            </a:r>
            <a:endParaRPr lang="en-US" sz="1500" dirty="0"/>
          </a:p>
        </p:txBody>
      </p:sp>
      <p:sp>
        <p:nvSpPr>
          <p:cNvPr id="15" name="Shape 13"/>
          <p:cNvSpPr/>
          <p:nvPr/>
        </p:nvSpPr>
        <p:spPr>
          <a:xfrm>
            <a:off x="640080" y="2743200"/>
            <a:ext cx="2926080" cy="685800"/>
          </a:xfrm>
          <a:prstGeom prst="rect">
            <a:avLst>
              <a:gd name="adj" fmla="val 6667"/>
            </a:avLst>
          </a:prstGeom>
          <a:solidFill>
            <a:srgbClr val="1A5276"/>
          </a:solidFill>
          <a:ln/>
          <a:effectLst>
            <a:outerShdw sx="100000" sy="100000" kx="0" ky="0" algn="bl" rotWithShape="0" blurRad="76200" dist="25400" dir="8100000">
              <a:srgbClr val="000000">
                <a:alpha val="10000"/>
              </a:srgbClr>
            </a:outerShdw>
          </a:effectLst>
        </p:spPr>
      </p:sp>
      <p:sp>
        <p:nvSpPr>
          <p:cNvPr id="16" name="Text 14"/>
          <p:cNvSpPr/>
          <p:nvPr/>
        </p:nvSpPr>
        <p:spPr>
          <a:xfrm>
            <a:off x="822960" y="2743200"/>
            <a:ext cx="2560320" cy="6858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"Beschrijf een gevolg..."</a:t>
            </a:r>
            <a:endParaRPr lang="en-US" sz="1600" dirty="0"/>
          </a:p>
        </p:txBody>
      </p:sp>
      <p:sp>
        <p:nvSpPr>
          <p:cNvPr id="17" name="Text 15"/>
          <p:cNvSpPr/>
          <p:nvPr/>
        </p:nvSpPr>
        <p:spPr>
          <a:xfrm>
            <a:off x="3566160" y="2743200"/>
            <a:ext cx="457200" cy="685800"/>
          </a:xfrm>
          <a:prstGeom prst="rect">
            <a:avLst/>
          </a:prstGeom>
          <a:noFill/>
          <a:ln/>
        </p:spPr>
        <p:txBody>
          <a:bodyPr wrap="square" rtlCol="0" anchor="ctr"/>
          <a:lstStyle/>
          <a:p>
            <a:pPr algn="ctr" indent="0" marL="0">
              <a:buNone/>
            </a:pPr>
            <a:r>
              <a:rPr lang="en-US" sz="2000" b="1" dirty="0">
                <a:solidFill>
                  <a:srgbClr val="1A5276"/>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4023360" y="2743200"/>
            <a:ext cx="4663440" cy="685800"/>
          </a:xfrm>
          <a:prstGeom prst="rect">
            <a:avLst>
              <a:gd name="adj" fmla="val 6667"/>
            </a:avLst>
          </a:prstGeom>
          <a:solidFill>
            <a:srgbClr val="F9F6F1"/>
          </a:solidFill>
          <a:ln/>
          <a:effectLst>
            <a:outerShdw sx="100000" sy="100000" kx="0" ky="0" algn="bl" rotWithShape="0" blurRad="76200" dist="25400" dir="8100000">
              <a:srgbClr val="000000">
                <a:alpha val="10000"/>
              </a:srgbClr>
            </a:outerShdw>
          </a:effectLst>
        </p:spPr>
      </p:sp>
      <p:sp>
        <p:nvSpPr>
          <p:cNvPr id="19" name="Shape 17"/>
          <p:cNvSpPr/>
          <p:nvPr/>
        </p:nvSpPr>
        <p:spPr>
          <a:xfrm>
            <a:off x="4023360" y="2743200"/>
            <a:ext cx="54864" cy="685800"/>
          </a:xfrm>
          <a:prstGeom prst="rect">
            <a:avLst/>
          </a:prstGeom>
          <a:solidFill>
            <a:srgbClr val="1A5276"/>
          </a:solidFill>
          <a:ln/>
        </p:spPr>
      </p:sp>
      <p:sp>
        <p:nvSpPr>
          <p:cNvPr id="20" name="Text 18"/>
          <p:cNvSpPr/>
          <p:nvPr/>
        </p:nvSpPr>
        <p:spPr>
          <a:xfrm>
            <a:off x="4251960" y="2743200"/>
            <a:ext cx="4297680" cy="685800"/>
          </a:xfrm>
          <a:prstGeom prst="rect">
            <a:avLst/>
          </a:prstGeom>
          <a:noFill/>
          <a:ln/>
        </p:spPr>
        <p:txBody>
          <a:bodyPr wrap="square" rtlCol="0" anchor="ctr"/>
          <a:lstStyle/>
          <a:p>
            <a:pPr indent="0" marL="0">
              <a:buNone/>
            </a:pPr>
            <a:r>
              <a:rPr lang="en-US" sz="1500" dirty="0">
                <a:solidFill>
                  <a:srgbClr val="2D3748"/>
                </a:solidFill>
                <a:latin typeface="Arial" pitchFamily="34" charset="0"/>
                <a:ea typeface="Arial" pitchFamily="34" charset="-122"/>
                <a:cs typeface="Arial" pitchFamily="34" charset="-120"/>
              </a:rPr>
              <a:t>Noem concreet effect + voor wie</a:t>
            </a:r>
            <a:endParaRPr lang="en-US" sz="1500" dirty="0"/>
          </a:p>
        </p:txBody>
      </p:sp>
      <p:sp>
        <p:nvSpPr>
          <p:cNvPr id="21" name="Shape 19"/>
          <p:cNvSpPr/>
          <p:nvPr/>
        </p:nvSpPr>
        <p:spPr>
          <a:xfrm>
            <a:off x="640080" y="3611880"/>
            <a:ext cx="2926080" cy="685800"/>
          </a:xfrm>
          <a:prstGeom prst="rect">
            <a:avLst>
              <a:gd name="adj" fmla="val 6667"/>
            </a:avLst>
          </a:prstGeom>
          <a:solidFill>
            <a:srgbClr val="1A5276"/>
          </a:solidFill>
          <a:ln/>
          <a:effectLst>
            <a:outerShdw sx="100000" sy="100000" kx="0" ky="0" algn="bl" rotWithShape="0" blurRad="76200" dist="25400" dir="8100000">
              <a:srgbClr val="000000">
                <a:alpha val="10000"/>
              </a:srgbClr>
            </a:outerShdw>
          </a:effectLst>
        </p:spPr>
      </p:sp>
      <p:sp>
        <p:nvSpPr>
          <p:cNvPr id="22" name="Text 20"/>
          <p:cNvSpPr/>
          <p:nvPr/>
        </p:nvSpPr>
        <p:spPr>
          <a:xfrm>
            <a:off x="822960" y="3611880"/>
            <a:ext cx="2560320" cy="6858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"Verklaar met de tabel..."</a:t>
            </a:r>
            <a:endParaRPr lang="en-US" sz="1600" dirty="0"/>
          </a:p>
        </p:txBody>
      </p:sp>
      <p:sp>
        <p:nvSpPr>
          <p:cNvPr id="23" name="Text 21"/>
          <p:cNvSpPr/>
          <p:nvPr/>
        </p:nvSpPr>
        <p:spPr>
          <a:xfrm>
            <a:off x="3566160" y="3611880"/>
            <a:ext cx="457200" cy="685800"/>
          </a:xfrm>
          <a:prstGeom prst="rect">
            <a:avLst/>
          </a:prstGeom>
          <a:noFill/>
          <a:ln/>
        </p:spPr>
        <p:txBody>
          <a:bodyPr wrap="square" rtlCol="0" anchor="ctr"/>
          <a:lstStyle/>
          <a:p>
            <a:pPr algn="ctr" indent="0" marL="0">
              <a:buNone/>
            </a:pPr>
            <a:r>
              <a:rPr lang="en-US" sz="2000" b="1" dirty="0">
                <a:solidFill>
                  <a:srgbClr val="1A5276"/>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4023360" y="3611880"/>
            <a:ext cx="4663440" cy="685800"/>
          </a:xfrm>
          <a:prstGeom prst="rect">
            <a:avLst>
              <a:gd name="adj" fmla="val 6667"/>
            </a:avLst>
          </a:prstGeom>
          <a:solidFill>
            <a:srgbClr val="F9F6F1"/>
          </a:solidFill>
          <a:ln/>
          <a:effectLst>
            <a:outerShdw sx="100000" sy="100000" kx="0" ky="0" algn="bl" rotWithShape="0" blurRad="76200" dist="25400" dir="8100000">
              <a:srgbClr val="000000">
                <a:alpha val="10000"/>
              </a:srgbClr>
            </a:outerShdw>
          </a:effectLst>
        </p:spPr>
      </p:sp>
      <p:sp>
        <p:nvSpPr>
          <p:cNvPr id="25" name="Shape 23"/>
          <p:cNvSpPr/>
          <p:nvPr/>
        </p:nvSpPr>
        <p:spPr>
          <a:xfrm>
            <a:off x="4023360" y="3611880"/>
            <a:ext cx="54864" cy="685800"/>
          </a:xfrm>
          <a:prstGeom prst="rect">
            <a:avLst/>
          </a:prstGeom>
          <a:solidFill>
            <a:srgbClr val="1A5276"/>
          </a:solidFill>
          <a:ln/>
        </p:spPr>
      </p:sp>
      <p:sp>
        <p:nvSpPr>
          <p:cNvPr id="26" name="Text 24"/>
          <p:cNvSpPr/>
          <p:nvPr/>
        </p:nvSpPr>
        <p:spPr>
          <a:xfrm>
            <a:off x="4251960" y="3611880"/>
            <a:ext cx="4297680" cy="685800"/>
          </a:xfrm>
          <a:prstGeom prst="rect">
            <a:avLst/>
          </a:prstGeom>
          <a:noFill/>
          <a:ln/>
        </p:spPr>
        <p:txBody>
          <a:bodyPr wrap="square" rtlCol="0" anchor="ctr"/>
          <a:lstStyle/>
          <a:p>
            <a:pPr indent="0" marL="0">
              <a:buNone/>
            </a:pPr>
            <a:r>
              <a:rPr lang="en-US" sz="1500" dirty="0">
                <a:solidFill>
                  <a:srgbClr val="2D3748"/>
                </a:solidFill>
                <a:latin typeface="Arial" pitchFamily="34" charset="0"/>
                <a:ea typeface="Arial" pitchFamily="34" charset="-122"/>
                <a:cs typeface="Arial" pitchFamily="34" charset="-120"/>
              </a:rPr>
              <a:t>Verwijs naar specifieke getallen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Valkuilen</a:t>
            </a:r>
            <a:endParaRPr lang="en-US" sz="2400" dirty="0"/>
          </a:p>
        </p:txBody>
      </p:sp>
      <p:sp>
        <p:nvSpPr>
          <p:cNvPr id="3" name="Shape 1"/>
          <p:cNvSpPr/>
          <p:nvPr/>
        </p:nvSpPr>
        <p:spPr>
          <a:xfrm>
            <a:off x="457200" y="914400"/>
            <a:ext cx="8229600" cy="841248"/>
          </a:xfrm>
          <a:prstGeom prst="rect">
            <a:avLst>
              <a:gd name="adj" fmla="val 5435"/>
            </a:avLst>
          </a:prstGeom>
          <a:solidFill>
            <a:srgbClr val="FDE8E8"/>
          </a:solidFill>
          <a:ln/>
          <a:effectLst>
            <a:outerShdw sx="100000" sy="100000" kx="0" ky="0" algn="bl" rotWithShape="0" blurRad="76200" dist="25400" dir="8100000">
              <a:srgbClr val="000000">
                <a:alpha val="10000"/>
              </a:srgbClr>
            </a:outerShdw>
          </a:effectLst>
        </p:spPr>
      </p:sp>
      <p:sp>
        <p:nvSpPr>
          <p:cNvPr id="4" name="Shape 2"/>
          <p:cNvSpPr/>
          <p:nvPr/>
        </p:nvSpPr>
        <p:spPr>
          <a:xfrm>
            <a:off x="457200" y="914400"/>
            <a:ext cx="54864" cy="841248"/>
          </a:xfrm>
          <a:prstGeom prst="rect">
            <a:avLst/>
          </a:prstGeom>
          <a:solidFill>
            <a:srgbClr val="D9534F"/>
          </a:solidFill>
          <a:ln/>
        </p:spPr>
      </p:sp>
      <p:sp>
        <p:nvSpPr>
          <p:cNvPr id="5" name="Text 3"/>
          <p:cNvSpPr/>
          <p:nvPr/>
        </p:nvSpPr>
        <p:spPr>
          <a:xfrm>
            <a:off x="658368" y="969264"/>
            <a:ext cx="7863840" cy="274320"/>
          </a:xfrm>
          <a:prstGeom prst="rect">
            <a:avLst/>
          </a:prstGeom>
          <a:noFill/>
          <a:ln/>
        </p:spPr>
        <p:txBody>
          <a:bodyPr wrap="square" rtlCol="0" anchor="t"/>
          <a:lstStyle/>
          <a:p>
            <a:pPr indent="0" marL="0">
              <a:buNone/>
            </a:pPr>
            <a:r>
              <a:rPr lang="en-US" sz="1500" b="1" dirty="0">
                <a:solidFill>
                  <a:srgbClr val="D9534F"/>
                </a:solidFill>
                <a:latin typeface="Arial" pitchFamily="34" charset="0"/>
                <a:ea typeface="Arial" pitchFamily="34" charset="-122"/>
                <a:cs typeface="Arial" pitchFamily="34" charset="-120"/>
              </a:rPr>
              <a:t>Inter en intra verwarren</a:t>
            </a:r>
            <a:endParaRPr lang="en-US" sz="1500" dirty="0"/>
          </a:p>
        </p:txBody>
      </p:sp>
      <p:sp>
        <p:nvSpPr>
          <p:cNvPr id="6" name="Text 4"/>
          <p:cNvSpPr/>
          <p:nvPr/>
        </p:nvSpPr>
        <p:spPr>
          <a:xfrm>
            <a:off x="658368" y="1261872"/>
            <a:ext cx="7863840" cy="429768"/>
          </a:xfrm>
          <a:prstGeom prst="rect">
            <a:avLst/>
          </a:prstGeom>
          <a:noFill/>
          <a:ln/>
        </p:spPr>
        <p:txBody>
          <a:bodyPr wrap="square" rtlCol="0" anchor="t"/>
          <a:lstStyle/>
          <a:p>
            <a:pPr indent="0" marL="0">
              <a:buNone/>
            </a:pPr>
            <a:r>
              <a:rPr lang="en-US" sz="1300" dirty="0">
                <a:solidFill>
                  <a:srgbClr val="2D3748"/>
                </a:solidFill>
                <a:latin typeface="Arial" pitchFamily="34" charset="0"/>
                <a:ea typeface="Arial" pitchFamily="34" charset="-122"/>
                <a:cs typeface="Arial" pitchFamily="34" charset="-120"/>
              </a:rPr>
              <a:t>Inter = verschillende producten (comparatief voordeel). Intra = dezelfde soort (productdifferentiatie). Let op het verschil!</a:t>
            </a:r>
            <a:endParaRPr lang="en-US" sz="1300" dirty="0"/>
          </a:p>
        </p:txBody>
      </p:sp>
      <p:sp>
        <p:nvSpPr>
          <p:cNvPr id="7" name="Shape 5"/>
          <p:cNvSpPr/>
          <p:nvPr/>
        </p:nvSpPr>
        <p:spPr>
          <a:xfrm>
            <a:off x="457200" y="1865376"/>
            <a:ext cx="8229600" cy="841248"/>
          </a:xfrm>
          <a:prstGeom prst="rect">
            <a:avLst>
              <a:gd name="adj" fmla="val 5435"/>
            </a:avLst>
          </a:prstGeom>
          <a:solidFill>
            <a:srgbClr val="FDE8E8"/>
          </a:solidFill>
          <a:ln/>
          <a:effectLst>
            <a:outerShdw sx="100000" sy="100000" kx="0" ky="0" algn="bl" rotWithShape="0" blurRad="76200" dist="25400" dir="8100000">
              <a:srgbClr val="000000">
                <a:alpha val="10000"/>
              </a:srgbClr>
            </a:outerShdw>
          </a:effectLst>
        </p:spPr>
      </p:sp>
      <p:sp>
        <p:nvSpPr>
          <p:cNvPr id="8" name="Shape 6"/>
          <p:cNvSpPr/>
          <p:nvPr/>
        </p:nvSpPr>
        <p:spPr>
          <a:xfrm>
            <a:off x="457200" y="1865376"/>
            <a:ext cx="54864" cy="841248"/>
          </a:xfrm>
          <a:prstGeom prst="rect">
            <a:avLst/>
          </a:prstGeom>
          <a:solidFill>
            <a:srgbClr val="D9534F"/>
          </a:solidFill>
          <a:ln/>
        </p:spPr>
      </p:sp>
      <p:sp>
        <p:nvSpPr>
          <p:cNvPr id="9" name="Text 7"/>
          <p:cNvSpPr/>
          <p:nvPr/>
        </p:nvSpPr>
        <p:spPr>
          <a:xfrm>
            <a:off x="658368" y="1920240"/>
            <a:ext cx="7863840" cy="274320"/>
          </a:xfrm>
          <a:prstGeom prst="rect">
            <a:avLst/>
          </a:prstGeom>
          <a:noFill/>
          <a:ln/>
        </p:spPr>
        <p:txBody>
          <a:bodyPr wrap="square" rtlCol="0" anchor="t"/>
          <a:lstStyle/>
          <a:p>
            <a:pPr indent="0" marL="0">
              <a:buNone/>
            </a:pPr>
            <a:r>
              <a:rPr lang="en-US" sz="1500" b="1" dirty="0">
                <a:solidFill>
                  <a:srgbClr val="D9534F"/>
                </a:solidFill>
                <a:latin typeface="Arial" pitchFamily="34" charset="0"/>
                <a:ea typeface="Arial" pitchFamily="34" charset="-122"/>
                <a:cs typeface="Arial" pitchFamily="34" charset="-120"/>
              </a:rPr>
              <a:t>Ruilverhouding buiten de grenzen</a:t>
            </a:r>
            <a:endParaRPr lang="en-US" sz="1500" dirty="0"/>
          </a:p>
        </p:txBody>
      </p:sp>
      <p:sp>
        <p:nvSpPr>
          <p:cNvPr id="10" name="Text 8"/>
          <p:cNvSpPr/>
          <p:nvPr/>
        </p:nvSpPr>
        <p:spPr>
          <a:xfrm>
            <a:off x="658368" y="2212848"/>
            <a:ext cx="7863840" cy="429768"/>
          </a:xfrm>
          <a:prstGeom prst="rect">
            <a:avLst/>
          </a:prstGeom>
          <a:noFill/>
          <a:ln/>
        </p:spPr>
        <p:txBody>
          <a:bodyPr wrap="square" rtlCol="0" anchor="t"/>
          <a:lstStyle/>
          <a:p>
            <a:pPr indent="0" marL="0">
              <a:buNone/>
            </a:pPr>
            <a:r>
              <a:rPr lang="en-US" sz="1300" dirty="0">
                <a:solidFill>
                  <a:srgbClr val="2D3748"/>
                </a:solidFill>
                <a:latin typeface="Arial" pitchFamily="34" charset="0"/>
                <a:ea typeface="Arial" pitchFamily="34" charset="-122"/>
                <a:cs typeface="Arial" pitchFamily="34" charset="-120"/>
              </a:rPr>
              <a:t>De ruilvoet moet TUSSEN de opofferingskosten liggen. Anders heeft één land geen voordeel.</a:t>
            </a:r>
            <a:endParaRPr lang="en-US" sz="1300" dirty="0"/>
          </a:p>
        </p:txBody>
      </p:sp>
      <p:sp>
        <p:nvSpPr>
          <p:cNvPr id="11" name="Shape 9"/>
          <p:cNvSpPr/>
          <p:nvPr/>
        </p:nvSpPr>
        <p:spPr>
          <a:xfrm>
            <a:off x="457200" y="2816352"/>
            <a:ext cx="8229600" cy="841248"/>
          </a:xfrm>
          <a:prstGeom prst="rect">
            <a:avLst>
              <a:gd name="adj" fmla="val 5435"/>
            </a:avLst>
          </a:prstGeom>
          <a:solidFill>
            <a:srgbClr val="FDE8E8"/>
          </a:solidFill>
          <a:ln/>
          <a:effectLst>
            <a:outerShdw sx="100000" sy="100000" kx="0" ky="0" algn="bl" rotWithShape="0" blurRad="76200" dist="25400" dir="8100000">
              <a:srgbClr val="000000">
                <a:alpha val="10000"/>
              </a:srgbClr>
            </a:outerShdw>
          </a:effectLst>
        </p:spPr>
      </p:sp>
      <p:sp>
        <p:nvSpPr>
          <p:cNvPr id="12" name="Shape 10"/>
          <p:cNvSpPr/>
          <p:nvPr/>
        </p:nvSpPr>
        <p:spPr>
          <a:xfrm>
            <a:off x="457200" y="2816352"/>
            <a:ext cx="54864" cy="841248"/>
          </a:xfrm>
          <a:prstGeom prst="rect">
            <a:avLst/>
          </a:prstGeom>
          <a:solidFill>
            <a:srgbClr val="D9534F"/>
          </a:solidFill>
          <a:ln/>
        </p:spPr>
      </p:sp>
      <p:sp>
        <p:nvSpPr>
          <p:cNvPr id="13" name="Text 11"/>
          <p:cNvSpPr/>
          <p:nvPr/>
        </p:nvSpPr>
        <p:spPr>
          <a:xfrm>
            <a:off x="658368" y="2871216"/>
            <a:ext cx="7863840" cy="274320"/>
          </a:xfrm>
          <a:prstGeom prst="rect">
            <a:avLst/>
          </a:prstGeom>
          <a:noFill/>
          <a:ln/>
        </p:spPr>
        <p:txBody>
          <a:bodyPr wrap="square" rtlCol="0" anchor="t"/>
          <a:lstStyle/>
          <a:p>
            <a:pPr indent="0" marL="0">
              <a:buNone/>
            </a:pPr>
            <a:r>
              <a:rPr lang="en-US" sz="1500" b="1" dirty="0">
                <a:solidFill>
                  <a:srgbClr val="D9534F"/>
                </a:solidFill>
                <a:latin typeface="Arial" pitchFamily="34" charset="0"/>
                <a:ea typeface="Arial" pitchFamily="34" charset="-122"/>
                <a:cs typeface="Arial" pitchFamily="34" charset="-120"/>
              </a:rPr>
              <a:t>Volume en prijs door elkaar halen</a:t>
            </a:r>
            <a:endParaRPr lang="en-US" sz="1500" dirty="0"/>
          </a:p>
        </p:txBody>
      </p:sp>
      <p:sp>
        <p:nvSpPr>
          <p:cNvPr id="14" name="Text 12"/>
          <p:cNvSpPr/>
          <p:nvPr/>
        </p:nvSpPr>
        <p:spPr>
          <a:xfrm>
            <a:off x="658368" y="3163824"/>
            <a:ext cx="7863840" cy="429768"/>
          </a:xfrm>
          <a:prstGeom prst="rect">
            <a:avLst/>
          </a:prstGeom>
          <a:noFill/>
          <a:ln/>
        </p:spPr>
        <p:txBody>
          <a:bodyPr wrap="square" rtlCol="0" anchor="t"/>
          <a:lstStyle/>
          <a:p>
            <a:pPr indent="0" marL="0">
              <a:buNone/>
            </a:pPr>
            <a:r>
              <a:rPr lang="en-US" sz="1300" dirty="0">
                <a:solidFill>
                  <a:srgbClr val="2D3748"/>
                </a:solidFill>
                <a:latin typeface="Arial" pitchFamily="34" charset="0"/>
                <a:ea typeface="Arial" pitchFamily="34" charset="-122"/>
                <a:cs typeface="Arial" pitchFamily="34" charset="-120"/>
              </a:rPr>
              <a:t>Volume bepaalt werkgelegenheid. Prijs bepaalt omzet. Exportwaarde = prijs × volume.</a:t>
            </a:r>
            <a:endParaRPr lang="en-US" sz="1300" dirty="0"/>
          </a:p>
        </p:txBody>
      </p:sp>
      <p:sp>
        <p:nvSpPr>
          <p:cNvPr id="15" name="Shape 13"/>
          <p:cNvSpPr/>
          <p:nvPr/>
        </p:nvSpPr>
        <p:spPr>
          <a:xfrm>
            <a:off x="457200" y="3767328"/>
            <a:ext cx="8229600" cy="841248"/>
          </a:xfrm>
          <a:prstGeom prst="rect">
            <a:avLst>
              <a:gd name="adj" fmla="val 5435"/>
            </a:avLst>
          </a:prstGeom>
          <a:solidFill>
            <a:srgbClr val="FDE8E8"/>
          </a:solidFill>
          <a:ln/>
          <a:effectLst>
            <a:outerShdw sx="100000" sy="100000" kx="0" ky="0" algn="bl" rotWithShape="0" blurRad="76200" dist="25400" dir="8100000">
              <a:srgbClr val="000000">
                <a:alpha val="10000"/>
              </a:srgbClr>
            </a:outerShdw>
          </a:effectLst>
        </p:spPr>
      </p:sp>
      <p:sp>
        <p:nvSpPr>
          <p:cNvPr id="16" name="Shape 14"/>
          <p:cNvSpPr/>
          <p:nvPr/>
        </p:nvSpPr>
        <p:spPr>
          <a:xfrm>
            <a:off x="457200" y="3767328"/>
            <a:ext cx="54864" cy="841248"/>
          </a:xfrm>
          <a:prstGeom prst="rect">
            <a:avLst/>
          </a:prstGeom>
          <a:solidFill>
            <a:srgbClr val="D9534F"/>
          </a:solidFill>
          <a:ln/>
        </p:spPr>
      </p:sp>
      <p:sp>
        <p:nvSpPr>
          <p:cNvPr id="17" name="Text 15"/>
          <p:cNvSpPr/>
          <p:nvPr/>
        </p:nvSpPr>
        <p:spPr>
          <a:xfrm>
            <a:off x="658368" y="3822192"/>
            <a:ext cx="7863840" cy="274320"/>
          </a:xfrm>
          <a:prstGeom prst="rect">
            <a:avLst/>
          </a:prstGeom>
          <a:noFill/>
          <a:ln/>
        </p:spPr>
        <p:txBody>
          <a:bodyPr wrap="square" rtlCol="0" anchor="t"/>
          <a:lstStyle/>
          <a:p>
            <a:pPr indent="0" marL="0">
              <a:buNone/>
            </a:pPr>
            <a:r>
              <a:rPr lang="en-US" sz="1500" b="1" dirty="0">
                <a:solidFill>
                  <a:srgbClr val="D9534F"/>
                </a:solidFill>
                <a:latin typeface="Arial" pitchFamily="34" charset="0"/>
                <a:ea typeface="Arial" pitchFamily="34" charset="-122"/>
                <a:cs typeface="Arial" pitchFamily="34" charset="-120"/>
              </a:rPr>
              <a:t>Causale keten onvolledig</a:t>
            </a:r>
            <a:endParaRPr lang="en-US" sz="1500" dirty="0"/>
          </a:p>
        </p:txBody>
      </p:sp>
      <p:sp>
        <p:nvSpPr>
          <p:cNvPr id="18" name="Text 16"/>
          <p:cNvSpPr/>
          <p:nvPr/>
        </p:nvSpPr>
        <p:spPr>
          <a:xfrm>
            <a:off x="658368" y="4114800"/>
            <a:ext cx="7863840" cy="429768"/>
          </a:xfrm>
          <a:prstGeom prst="rect">
            <a:avLst/>
          </a:prstGeom>
          <a:noFill/>
          <a:ln/>
        </p:spPr>
        <p:txBody>
          <a:bodyPr wrap="square" rtlCol="0" anchor="t"/>
          <a:lstStyle/>
          <a:p>
            <a:pPr indent="0" marL="0">
              <a:buNone/>
            </a:pPr>
            <a:r>
              <a:rPr lang="en-US" sz="1300" dirty="0">
                <a:solidFill>
                  <a:srgbClr val="2D3748"/>
                </a:solidFill>
                <a:latin typeface="Arial" pitchFamily="34" charset="0"/>
                <a:ea typeface="Arial" pitchFamily="34" charset="-122"/>
                <a:cs typeface="Arial" pitchFamily="34" charset="-120"/>
              </a:rPr>
              <a:t>Beschrijf ALLE stappen: maatregel → effect op handel → gevolg voor sector/land. Sla geen stap over.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274320"/>
            <a:ext cx="786384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Samenvatting</a:t>
            </a:r>
            <a:endParaRPr lang="en-US" sz="2800" dirty="0"/>
          </a:p>
        </p:txBody>
      </p:sp>
      <p:sp>
        <p:nvSpPr>
          <p:cNvPr id="3" name="Text 1"/>
          <p:cNvSpPr/>
          <p:nvPr/>
        </p:nvSpPr>
        <p:spPr>
          <a:xfrm>
            <a:off x="640080" y="777240"/>
            <a:ext cx="7863840" cy="36576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Beheers je dit voordat je gaat oefenen?</a:t>
            </a:r>
            <a:endParaRPr lang="en-US" sz="1400" dirty="0"/>
          </a:p>
        </p:txBody>
      </p:sp>
      <p:sp>
        <p:nvSpPr>
          <p:cNvPr id="4" name="Text 2"/>
          <p:cNvSpPr/>
          <p:nvPr/>
        </p:nvSpPr>
        <p:spPr>
          <a:xfrm>
            <a:off x="640080" y="1371600"/>
            <a:ext cx="7863840" cy="3200400"/>
          </a:xfrm>
          <a:prstGeom prst="rect">
            <a:avLst/>
          </a:prstGeom>
          <a:noFill/>
          <a:ln/>
        </p:spPr>
        <p:txBody>
          <a:bodyPr wrap="square" rtlCol="0" anchor="t"/>
          <a:lstStyle/>
          <a:p>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Inter-industriële handel → verschillende producten (comparatief voordeel)</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Intra-industriële handel → dezelfde producten (productdifferentiatie)</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Exportwaarde = prijs × volume (volume bepaalt werkgelegenheid)</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Handelsbalans: export &gt; import = overschot</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Handelspolitiek: beschrijf de hele causale keten</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Globalisering: hogere lonen hoogopgeleiden, lagere lonen laagopgeleiden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1371600"/>
            <a:ext cx="7863840" cy="109728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Succes met de opgaven!</a:t>
            </a:r>
            <a:endParaRPr lang="en-US" sz="3600" dirty="0"/>
          </a:p>
        </p:txBody>
      </p:sp>
      <p:sp>
        <p:nvSpPr>
          <p:cNvPr id="3" name="Text 1"/>
          <p:cNvSpPr/>
          <p:nvPr/>
        </p:nvSpPr>
        <p:spPr>
          <a:xfrm>
            <a:off x="640080" y="2560320"/>
            <a:ext cx="7863840" cy="457200"/>
          </a:xfrm>
          <a:prstGeom prst="rect">
            <a:avLst/>
          </a:prstGeom>
          <a:noFill/>
          <a:ln/>
        </p:spPr>
        <p:txBody>
          <a:bodyPr wrap="square" rtlCol="0" anchor="ctr"/>
          <a:lstStyle/>
          <a:p>
            <a:pPr indent="0" marL="0">
              <a:buNone/>
            </a:pPr>
            <a:r>
              <a:rPr lang="en-US" sz="1800" dirty="0">
                <a:solidFill>
                  <a:srgbClr val="718096"/>
                </a:solidFill>
                <a:latin typeface="Arial" pitchFamily="34" charset="0"/>
                <a:ea typeface="Arial" pitchFamily="34" charset="-122"/>
                <a:cs typeface="Arial" pitchFamily="34" charset="-120"/>
              </a:rPr>
              <a:t>Paragraaf 3.4.6 — Toepassen</a:t>
            </a:r>
            <a:endParaRPr lang="en-US" sz="1800" dirty="0"/>
          </a:p>
        </p:txBody>
      </p:sp>
      <p:sp>
        <p:nvSpPr>
          <p:cNvPr id="4" name="Text 2"/>
          <p:cNvSpPr/>
          <p:nvPr/>
        </p:nvSpPr>
        <p:spPr>
          <a:xfrm>
            <a:off x="640080" y="3200400"/>
            <a:ext cx="7863840" cy="45720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Gebruik de presentatie als naslagwerk bij het maken van de opgaven.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Presentatie 3.4.6 Toepassen</dc:title>
  <dc:subject>PptxGenJS Presentation</dc:subject>
  <dc:creator>Economie VWO</dc:creator>
  <cp:lastModifiedBy>Economie VWO</cp:lastModifiedBy>
  <cp:revision>1</cp:revision>
  <dcterms:created xsi:type="dcterms:W3CDTF">2026-03-23T12:17:35Z</dcterms:created>
  <dcterms:modified xsi:type="dcterms:W3CDTF">2026-03-23T12:17:35Z</dcterms:modified>
</cp:coreProperties>
</file>