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Welkom bij paragraaf 3.4.4 over internationale productieketens. Bedrijven verdelen hun productieproces over meerdere landen om kosten te verlagen.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Vijf leerdoelen. Belangrijk: je moet niet alleen weten WAT een productieketen is, maar ook WHY bedrijven dit doen en welke VOORWAARDEN er nodig zijn.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Een productieketen verdeelt het productieproces over meerdere landen. Elk land maakt het onderdeel waarvoor het de laagste kosten heeft.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stroomdiagram laat de hele keten zien. Elk land specialiseert in één onderdeel. De drie voordelen: comparatief voordeel per onderdeel, schaalvoordelen door specialisatie, en lagere totale productiekosten.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Drie voorwaarden zijn nodig: goede communicatie, lage transportkosten, en betrouwbare coördinatie. Zonder deze voorwaarden is het te duur en te ingewikkeld om productie te verdelen.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Gevolgen per type land: rijke landen houden de hoogwaardige taken. Opkomende landen krijgen de arbeidsintensieve taken. Dit creëert banen maar kan leiden tot baanverlies in rijke landen voor laaggeschoolde arbeid.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Samenvatting. Onthoud: productieketens zijn het gevolg van comparatief voordeel op ONDERDEEL-niveau, niet alleen op productniveau.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Internationale
</a:t>
            </a:r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productieketens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3.4.4 — Internationale markten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4: Internationale markten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moet je kunnen?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Uitleggen wat een internationale productieketen is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Verklaren waarom bedrijven productie over landen verdelen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Voorwaarden noemen voor internationale productieketens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vergelijken: internationaal vs. nationaal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Gevolgen analyseren voor werkgelegenheid per land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is een productieketen?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108960"/>
          </a:xfrm>
          <a:prstGeom prst="rect">
            <a:avLst>
              <a:gd name="adj" fmla="val 147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310896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bedrijf verdeelt het productieproces over meerdere landen.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 land maakt het onderdeel waarvoor het de laagste comparatieve kosten heeft.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Meer specialisatie, lagere kosten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108960"/>
          </a:xfrm>
          <a:prstGeom prst="rect">
            <a:avLst>
              <a:gd name="adj" fmla="val 1471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310896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Voorbeeld: laptop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→ Taiwan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(kapitaalintensief)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Batterijen → Zuid-Korea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(geavanceerde technologie)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Behuizing → Vietnam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(arbeidsintensief)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Montage → Mexico</a:t>
            </a:r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(lage loonkosten)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Productieketen: van grondstof tot klant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20040" y="1005840"/>
            <a:ext cx="1389888" cy="1097280"/>
          </a:xfrm>
          <a:prstGeom prst="rect">
            <a:avLst>
              <a:gd name="adj" fmla="val 41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20040" y="1005840"/>
            <a:ext cx="1389888" cy="54864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20040" y="1143000"/>
            <a:ext cx="13898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20040" y="1600200"/>
            <a:ext cx="138988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709928" y="1280160"/>
            <a:ext cx="164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874520" y="1005840"/>
            <a:ext cx="1389888" cy="1097280"/>
          </a:xfrm>
          <a:prstGeom prst="rect">
            <a:avLst>
              <a:gd name="adj" fmla="val 41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874520" y="1005840"/>
            <a:ext cx="1389888" cy="54864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74520" y="1143000"/>
            <a:ext cx="13898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Batterijen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1600200"/>
            <a:ext cx="138988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Zuid-Korea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1280160"/>
            <a:ext cx="164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429000" y="1005840"/>
            <a:ext cx="1389888" cy="1097280"/>
          </a:xfrm>
          <a:prstGeom prst="rect">
            <a:avLst>
              <a:gd name="adj" fmla="val 41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429000" y="1005840"/>
            <a:ext cx="1389888" cy="54864"/>
          </a:xfrm>
          <a:prstGeom prst="rect">
            <a:avLst/>
          </a:prstGeom>
          <a:solidFill>
            <a:srgbClr val="1E8449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29000" y="1143000"/>
            <a:ext cx="13898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Behuizing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29000" y="1600200"/>
            <a:ext cx="138988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Vietnam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18888" y="1280160"/>
            <a:ext cx="164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983480" y="1005840"/>
            <a:ext cx="1389888" cy="1097280"/>
          </a:xfrm>
          <a:prstGeom prst="rect">
            <a:avLst>
              <a:gd name="adj" fmla="val 41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983480" y="1005840"/>
            <a:ext cx="1389888" cy="54864"/>
          </a:xfrm>
          <a:prstGeom prst="rect">
            <a:avLst/>
          </a:prstGeom>
          <a:solidFill>
            <a:srgbClr val="7B2D8E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983480" y="1143000"/>
            <a:ext cx="13898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B2D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83480" y="1600200"/>
            <a:ext cx="138988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Mexico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73368" y="1280160"/>
            <a:ext cx="164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37960" y="1005840"/>
            <a:ext cx="1389888" cy="1097280"/>
          </a:xfrm>
          <a:prstGeom prst="rect">
            <a:avLst>
              <a:gd name="adj" fmla="val 41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537960" y="1005840"/>
            <a:ext cx="1389888" cy="54864"/>
          </a:xfrm>
          <a:prstGeom prst="rect">
            <a:avLst/>
          </a:prstGeom>
          <a:solidFill>
            <a:srgbClr val="154360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37960" y="1143000"/>
            <a:ext cx="13898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37960" y="1600200"/>
            <a:ext cx="138988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&amp; Singapore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 land specialiseert in het onderdeel met de laagste comparatieve kosten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Waarom werkt dit?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40080" y="3383280"/>
            <a:ext cx="7863840" cy="384048"/>
          </a:xfrm>
          <a:prstGeom prst="rect">
            <a:avLst>
              <a:gd name="adj" fmla="val 11905"/>
            </a:avLst>
          </a:prstGeom>
          <a:solidFill>
            <a:srgbClr val="F7F8FA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40080" y="3383280"/>
            <a:ext cx="54864" cy="384048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68680" y="3383280"/>
            <a:ext cx="7406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Comparatief voordeel per onderdeel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40080" y="3840480"/>
            <a:ext cx="7863840" cy="384048"/>
          </a:xfrm>
          <a:prstGeom prst="rect">
            <a:avLst>
              <a:gd name="adj" fmla="val 11905"/>
            </a:avLst>
          </a:prstGeom>
          <a:solidFill>
            <a:srgbClr val="F7F8FA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640080" y="3840480"/>
            <a:ext cx="54864" cy="384048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68680" y="3840480"/>
            <a:ext cx="7406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Schaalvoordelen door specialisatie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40080" y="4297680"/>
            <a:ext cx="7863840" cy="384048"/>
          </a:xfrm>
          <a:prstGeom prst="rect">
            <a:avLst>
              <a:gd name="adj" fmla="val 11905"/>
            </a:avLst>
          </a:prstGeom>
          <a:solidFill>
            <a:srgbClr val="F7F8FA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40080" y="4297680"/>
            <a:ext cx="54864" cy="384048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68680" y="4297680"/>
            <a:ext cx="7406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totale productiekosten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Voorwaarden voor productieketens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7863840" cy="512064"/>
          </a:xfrm>
          <a:prstGeom prst="rect">
            <a:avLst>
              <a:gd name="adj" fmla="val 8929"/>
            </a:avLst>
          </a:prstGeom>
          <a:solidFill>
            <a:srgbClr val="F7F8FA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1005840"/>
            <a:ext cx="54864" cy="512064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005840"/>
            <a:ext cx="7406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Goede communicatiemiddelen (internet, video)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7863840" cy="512064"/>
          </a:xfrm>
          <a:prstGeom prst="rect">
            <a:avLst>
              <a:gd name="adj" fmla="val 8929"/>
            </a:avLst>
          </a:prstGeom>
          <a:solidFill>
            <a:srgbClr val="F7F8FA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645920"/>
            <a:ext cx="54864" cy="512064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1645920"/>
            <a:ext cx="7406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transportkosten (containers, vracht)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286000"/>
            <a:ext cx="7863840" cy="512064"/>
          </a:xfrm>
          <a:prstGeom prst="rect">
            <a:avLst>
              <a:gd name="adj" fmla="val 8929"/>
            </a:avLst>
          </a:prstGeom>
          <a:solidFill>
            <a:srgbClr val="F7F8FA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" y="2286000"/>
            <a:ext cx="54864" cy="512064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2286000"/>
            <a:ext cx="7406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Betrouwbare coördinatie tussen landen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7863840" cy="512064"/>
          </a:xfrm>
          <a:prstGeom prst="rect">
            <a:avLst>
              <a:gd name="adj" fmla="val 8929"/>
            </a:avLst>
          </a:prstGeom>
          <a:solidFill>
            <a:srgbClr val="F7F8FA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2926080"/>
            <a:ext cx="54864" cy="512064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68680" y="2926080"/>
            <a:ext cx="7406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Politieke stabiliteit en handelsverdragen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7863840" cy="640080"/>
          </a:xfrm>
          <a:prstGeom prst="rect">
            <a:avLst>
              <a:gd name="adj" fmla="val 7143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3657600"/>
            <a:ext cx="54864" cy="64008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8680" y="365760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Zonder deze voorwaarden: productie in één land goedkoper
</a:t>
            </a:r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Vroeger waren communicatie en transport te duur → productieketens niet mogelijk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Gevolgen voor verschillende landen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926080"/>
          </a:xfrm>
          <a:prstGeom prst="rect">
            <a:avLst/>
          </a:prstGeom>
          <a:solidFill>
            <a:srgbClr val="1E844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Voordelen productieketens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Werkgelegenheid in ontwikkelingslanden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Kennisoverdracht en technologie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Economische groei door export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prijzen voor consumenten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92608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Risico’s en kritiek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Afhankelijkheid van lage lonen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Kwetsbaarheid bij verstoringen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Ongelijke verdeling van winsten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Milieu: meer transport = meer CO₂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Productieketens creëren welvaart, maar de verdeling ervan is niet altijd eerlijk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Internationale productieketen = productieproces verdeeld over meerdere landen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 land specialiseert in onderdelen met de laagste comparatieve kosten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Voorwaarden: goede communicatie, lage transportkosten, coördinatie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Voordelen: lagere kosten, werkgelegenheid, kennisoverdracht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Kritiek: loonongelijkheid, milieu, kwetsbaarheid bij verstoringen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2026-03-23T18:51:44Z</dcterms:created>
  <dcterms:modified xsi:type="dcterms:W3CDTF">2026-03-23T18:51:44Z</dcterms:modified>
</cp:coreProperties>
</file>