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3.4.3 over intra-industriële handel. Dit is handel in DEZELFDE soort producten, bijvoorbeeld als Nederland zowel auto’s importeert als exporteert.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vijf leerdoelen voor deze les. We behandelen het onderscheid met inter-industriële handel, de drie stimulerende factoren, de monopolie/duopolie-berekening en het euro-effect.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kernonderscheid: inter = verschillende producten (bloemen tegen auto’s), intra = dezelfde producten (fietsen tegen fietsen). Bij intra-industriële handel werkt comparatief voordeel NIET als verklaring, want hetzelfde product gaat twee kanten 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Waarom verklaart comparatief voordeel intra-handel niet? Omdat hetzelfde product in TWEE richtingen verhandeld wordt. Andere verklaringen nodig: productdifferentiatie en schaalvoordelen.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factoren die intra-industriële handel stimuleren: 1) Productdifferentiatie — honderden modellen. 2) Schaalvoordelen — grote fabrieken, weinig per land. 3) Lage transactiekosten — binnen de EU geen invoertarieven. Voorbeeld: Duitsland exporteert BMW’s, importeert Renaults.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een Cournotduopolie daalt de prijs en stijgt de hoeveelheid vergeleken met monopolie. Consumentensurplus stijgt, totaal surplus stijgt. Meer concurrentie = meer welvaart. Dit is het economisch argument voor vrije handel.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Monopoliegrafiek: de monopolist maximaliseert winst bij MO = MK. De MO heeft dubbele helling, zelfde y-intercept als de vraaglijn. De prijs wordt afgelezen op de vraaglijn bij Q* = 60, dus p* = 120, NIET MK =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euro vermindert wisselkoersrisico en maakt prijzen vergelijkbaar. Dit stimuleert handel tussen eurolanden. Maar er is ook een nadeel: landen verliezen hun eigen monetair beleid.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fouten. Comparatief voordeel verklaart inter-handel, niet intra-handel. De prijs lees je af op de vraaglijn, niet op MK. En de euro heeft naast voordelen ook nadelen.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Samenvatting. Zorg dat je het verschil tussen inter en intra kunt uitleggen, de drie factoren kunt noemen, en de monopolie/duopolie-berekening kunt maken.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Intra-industriële handel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3.4.3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4: Internationale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verschil uitleggen tussen intra- en inter-industriële handel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waarom comparatief voordeel intra-handel niet verklaart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 factoren noemen die intra-industriële handel stimuleren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vs. Cournotduopolie: prijs, hoeveelheid en welvaart vergelijken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de euro op intra-industriële handel verklaren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 vs. inter: het verschil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Inter-industriële handel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Handel in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verschillende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exporteert bloemen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importeert auto’s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Verklaard door 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Intra-industriële handel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Handel in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dezelfde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exporteert fietsen (Gazelle)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importeert fietsen (Cube)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verklaard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door comparatief voordeel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voordeel: de grens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00584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voordeel: land specialiseert in het goedkoopste product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50876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73152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 → exporteren  |  Product B → importeren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73152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228600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Maar: Nederland exporteert én importeert fietsen!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2926080"/>
            <a:ext cx="73152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2926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Hetzelfde product wordt verhandeld in twee richtingen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42900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566160"/>
            <a:ext cx="73152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97280" y="3566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 verklaring nodig: productdifferentiatie + schaalvoordelen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 factoren voor meer handel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88720" y="960120"/>
            <a:ext cx="7498080" cy="1097280"/>
          </a:xfrm>
          <a:prstGeom prst="rect">
            <a:avLst>
              <a:gd name="adj" fmla="val 4167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96012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05156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Productdifferentiatie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463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varianten → productie verspreid over landen → onderlinge ruil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88720" y="2194560"/>
            <a:ext cx="7498080" cy="1097280"/>
          </a:xfrm>
          <a:prstGeom prst="rect">
            <a:avLst>
              <a:gd name="adj" fmla="val 4167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2194560"/>
            <a:ext cx="54864" cy="10972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228600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Schaalvoordelen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69748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Grotere schaal → minder aanbieders per land → noodzaak tot ruil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188720" y="3429000"/>
            <a:ext cx="7498080" cy="1097280"/>
          </a:xfrm>
          <a:prstGeom prst="rect">
            <a:avLst>
              <a:gd name="adj" fmla="val 4167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188720" y="3429000"/>
            <a:ext cx="54864" cy="10972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352044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transactiekosten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3192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kosten → goedkopere handel → meer intra-industriële handel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vs. Cournotduopolie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743200"/>
          </a:xfrm>
          <a:prstGeom prst="rect">
            <a:avLst>
              <a:gd name="adj" fmla="val 1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aanbieder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prijs (p* = 120)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hoeveelheid (Q* = 60)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Laag consumentensurplus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doelmatigheid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743200"/>
          </a:xfrm>
          <a:prstGeom prst="rect">
            <a:avLst>
              <a:gd name="adj" fmla="val 1667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7432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Cournotduopolie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Buitenlandse concurrent treedt toe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hoeveelheid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 consumentensurplus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doelmatigheid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82296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97764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977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 uit het buitenland verhoogt de economische doelmatigheid.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 MO = MK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029200" cy="2743200"/>
          </a:xfrm>
          <a:prstGeom prst="rect">
            <a:avLst>
              <a:gd name="adj" fmla="val 1667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2743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0584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Gegeven: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180 − Q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 = Q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1: 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afleiden
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 = −2Q + 180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2: 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
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−2Q + 180 = Q  →  Q* = 60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3: 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op vraaglijn
</a:t>
            </a:r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p* = 180 − 60 = 120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2926080" cy="1645920"/>
          </a:xfrm>
          <a:prstGeom prst="rect">
            <a:avLst>
              <a:gd name="adj" fmla="val 2778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760720" y="914400"/>
            <a:ext cx="54864" cy="1645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0" y="10515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0" y="146304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lees je af op de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vraaglijn (V)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NIET op de MK-lijn!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Q* = 60: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p* = 180 − 60 = 120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MK = 60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0" y="2834640"/>
            <a:ext cx="2926080" cy="822960"/>
          </a:xfrm>
          <a:prstGeom prst="rect">
            <a:avLst>
              <a:gd name="adj" fmla="val 5556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60720" y="28346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Q* = 60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p* = 120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de euro op handel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530352"/>
          </a:xfrm>
          <a:prstGeom prst="rect">
            <a:avLst>
              <a:gd name="adj" fmla="val 862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vervangt 12 nationale munten (2002)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5486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5486400" cy="530352"/>
          </a:xfrm>
          <a:prstGeom prst="rect">
            <a:avLst>
              <a:gd name="adj" fmla="val 862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64208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wisselkoersrisico meer</a:t>
            </a:r>
            <a:pPr algn="l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(+)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5486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486400" cy="530352"/>
          </a:xfrm>
          <a:prstGeom prst="rect">
            <a:avLst>
              <a:gd name="adj" fmla="val 862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22576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transactiekosten</a:t>
            </a:r>
            <a:pPr algn="l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(+)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852928"/>
            <a:ext cx="5486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5486400" cy="530352"/>
          </a:xfrm>
          <a:prstGeom prst="rect">
            <a:avLst>
              <a:gd name="adj" fmla="val 862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980944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prijstransparantie</a:t>
            </a:r>
            <a:pPr algn="l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(+)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511296"/>
            <a:ext cx="5486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39312"/>
            <a:ext cx="5486400" cy="530352"/>
          </a:xfrm>
          <a:prstGeom prst="rect">
            <a:avLst>
              <a:gd name="adj" fmla="val 8621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639312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Intra-industriële handel neemt toe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1005840"/>
            <a:ext cx="2468880" cy="2286000"/>
          </a:xfrm>
          <a:prstGeom prst="rect">
            <a:avLst>
              <a:gd name="adj" fmla="val 2000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05840"/>
            <a:ext cx="54864" cy="228600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1430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Kanttekening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1554480"/>
            <a:ext cx="2148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Landen verliezen hun eigen monetair beleid.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eigen rente of wisselkoers meer als instrument.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(+) = positief verband met intra-industriële handel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"Intra-handel wordt verklaard door comparatief voordeel"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Intra-industriële handel wordt verklaard door productdifferentiatie, schaalvoordelen en lage transactiekosten.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176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"Bij MO = MK lees je de prijs af op de MK-lijn"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487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De prijs lees je af op de vraaglijn (V). Bij Q* = 60 is p* = 180 − 60 = 120, niet MK = 60.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46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319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 euro heeft alleen voordelen"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630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Landen verliezen ook hun eigen monetair beleid: geen eigen rente of wisselkoers meer als instrument.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Intra-industriële handel = dezelfde producten importeren én exporteren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 verklaart dit niet — andere oorzaken nodig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 factoren: productdifferentiatie, schaalvoordelen, lage transactiekosten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Buitenlandse toetreding (duopolie) → lagere prijs, hoger CS, meer doelmatigheid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euro stimuleert intra-handel door lagere kosten en transparantie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2026-03-23T18:55:17Z</dcterms:created>
  <dcterms:modified xsi:type="dcterms:W3CDTF">2026-03-23T18:55:17Z</dcterms:modified>
</cp:coreProperties>
</file>