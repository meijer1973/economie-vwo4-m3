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Welkom bij paragraaf 3.4.3 over intra-industriële handel. Dit is handel in DEZELFDE soort producten, bijvoorbeeld als Nederland zowel auto’s importeert als exporteert.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vijf leerdoelen voor deze les. We behandelen het onderscheid met inter-industriële handel, de drie stimulerende factoren, de monopolie/duopolie-berekening en het euro-effect.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Het kernonderscheid: inter = verschillende producten (bloemen tegen auto’s), intra = dezelfde producten (fietsen tegen fietsen). Bij intra-industriële handel werkt comparatief voordeel NIET als verklaring, want hetzelfde product gaat twee kanten 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Waarom verklaart comparatief voordeel intra-handel niet? Omdat hetzelfde product in TWEE richtingen verhandeld wordt. Andere verklaringen nodig: productdifferentiatie en schaalvoordelen.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Drie factoren die intra-industriële handel stimuleren: 1) Productdifferentiatie — honderden modellen. 2) Schaalvoordelen — grote fabrieken, weinig per land. 3) Lage transactiekosten — binnen de EU geen invoertarieven. Voorbeeld: Duitsland exporteert BMW’s, importeert Renaults.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Bij een Cournotduopolie daalt de prijs en stijgt de hoeveelheid vergeleken met monopolie. Consumentensurplus stijgt, totaal surplus stijgt. Meer concurrentie = meer welvaart. Dit is het economisch argument voor vrije handel.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Monopoliegrafiek: de monopolist maximaliseert winst bij MO = MK. De MO heeft dubbele helling, zelfde y-intercept als de vraaglijn. De prijs wordt afgelezen op de vraaglijn bij Q* = 60, dus p* = 120, NIET MK = 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euro vermindert wisselkoersrisico en maakt prijzen vergelijkbaar. Dit stimuleert handel tussen eurolanden. Maar er is ook een nadeel: landen verliezen hun eigen monetair beleid.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Drie veelgemaakte fouten. Comparatief voordeel verklaart inter-handel, niet intra-handel. De prijs lees je af op de vraaglijn, niet op MK. En de euro heeft naast voordelen ook nadelen.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Samenvatting. Zorg dat je het verschil tussen inter en intra kunt uitleggen, de drie factoren kunt noemen, en de monopolie/duopolie-berekening kunt maken.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1D4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276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Intra-industriële handel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Paragraaf 3.4.3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Hoofdstuk 4: Internationale markten  |  Economie VWO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moet je kunnen?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Leerdoelen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verschil uitleggen tussen intra- en inter-industriële handel</a:t>
            </a:r>
          </a:p>
          <a:p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Uitleggen waarom comparatief voordeel intra-handel niet verklaart</a:t>
            </a:r>
          </a:p>
          <a:p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Drie factoren noemen die intra-industriële handel stimuleren</a:t>
            </a:r>
          </a:p>
          <a:p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Monopolie vs. Cournotduopolie: prijs, hoeveelheid en welvaart vergelijken</a:t>
            </a:r>
          </a:p>
          <a:p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effect van de euro op intra-industriële handel verklaren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 vs. inter: het verschil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926080"/>
          </a:xfrm>
          <a:prstGeom prst="rect">
            <a:avLst>
              <a:gd name="adj" fmla="val 1563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1005840"/>
            <a:ext cx="54864" cy="29260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Inter-industriële handel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118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Handel in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verschillende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producten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exporteert bloemen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importeert auto’s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Verklaard door 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comparatief voordeel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2926080"/>
          </a:xfrm>
          <a:prstGeom prst="rect">
            <a:avLst>
              <a:gd name="adj" fmla="val 1563"/>
            </a:avLst>
          </a:prstGeom>
          <a:solidFill>
            <a:srgbClr val="EBF5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754880" y="1005840"/>
            <a:ext cx="54864" cy="29260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Intra-industriële handel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6118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Handel in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dezelfde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producten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exporteert fietsen (Gazelle)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importeert fietsen (Cube)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Niet verklaard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door comparatief voordeel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Comparatief voordeel: de grens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005840"/>
            <a:ext cx="7315200" cy="502920"/>
          </a:xfrm>
          <a:prstGeom prst="rect">
            <a:avLst>
              <a:gd name="adj" fmla="val 9091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00584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Comparatief voordeel: land specialiseert in het goedkoopste product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7315200" cy="502920"/>
          </a:xfrm>
          <a:prstGeom prst="rect">
            <a:avLst>
              <a:gd name="adj" fmla="val 9091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97280" y="164592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A → exporteren  |  Product B → importeren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286000"/>
            <a:ext cx="7315200" cy="502920"/>
          </a:xfrm>
          <a:prstGeom prst="rect">
            <a:avLst>
              <a:gd name="adj" fmla="val 9091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228600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Maar: Nederland exporteert én importeert fietsen!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788920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926080"/>
            <a:ext cx="7315200" cy="502920"/>
          </a:xfrm>
          <a:prstGeom prst="rect">
            <a:avLst>
              <a:gd name="adj" fmla="val 9091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97280" y="292608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Hetzelfde product wordt verhandeld in twee richtingen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429000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566160"/>
            <a:ext cx="7315200" cy="502920"/>
          </a:xfrm>
          <a:prstGeom prst="rect">
            <a:avLst>
              <a:gd name="adj" fmla="val 9091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97280" y="356616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Andere verklaring nodig: productdifferentiatie + schaalvoordelen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Drie factoren voor meer handel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88720" y="960120"/>
            <a:ext cx="7498080" cy="1097280"/>
          </a:xfrm>
          <a:prstGeom prst="rect">
            <a:avLst>
              <a:gd name="adj" fmla="val 4167"/>
            </a:avLst>
          </a:prstGeom>
          <a:solidFill>
            <a:srgbClr val="EBF5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88720" y="960120"/>
            <a:ext cx="54864" cy="10972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417320" y="105156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Productdifferentiatie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46304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varianten → productie verspreid over landen → onderlinge ruil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2194560"/>
            <a:ext cx="7498080" cy="1097280"/>
          </a:xfrm>
          <a:prstGeom prst="rect">
            <a:avLst>
              <a:gd name="adj" fmla="val 4167"/>
            </a:avLst>
          </a:prstGeom>
          <a:solidFill>
            <a:srgbClr val="FEF5E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188720" y="2194560"/>
            <a:ext cx="54864" cy="10972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417320" y="228600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Schaalvoordelen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269748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Grotere schaal → minder aanbieders per land → noodzaak tot ruil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188720" y="3429000"/>
            <a:ext cx="7498080" cy="1097280"/>
          </a:xfrm>
          <a:prstGeom prst="rect">
            <a:avLst>
              <a:gd name="adj" fmla="val 4167"/>
            </a:avLst>
          </a:prstGeom>
          <a:solidFill>
            <a:srgbClr val="E8F8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188720" y="3429000"/>
            <a:ext cx="54864" cy="109728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417320" y="35204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transactiekosten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393192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Lagere kosten → goedkopere handel → meer intra-industriële handel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Monopolie vs. Cournotduopolie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743200"/>
          </a:xfrm>
          <a:prstGeom prst="rect">
            <a:avLst>
              <a:gd name="adj" fmla="val 1667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1005840"/>
            <a:ext cx="54864" cy="27432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118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Eén aanbieder</a:t>
            </a:r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Hoge prijs (p* = 120)</a:t>
            </a:r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hoeveelheid (Q* = 60)</a:t>
            </a:r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Laag consumentensurplus</a:t>
            </a:r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doelmatigheid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2743200"/>
          </a:xfrm>
          <a:prstGeom prst="rect">
            <a:avLst>
              <a:gd name="adj" fmla="val 1667"/>
            </a:avLst>
          </a:prstGeom>
          <a:solidFill>
            <a:srgbClr val="E8F8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754880" y="1005840"/>
            <a:ext cx="54864" cy="274320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Cournotduopolie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6118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Buitenlandse concurrent treedt toe</a:t>
            </a:r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Lagere prijs</a:t>
            </a:r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Hogere hoeveelheid</a:t>
            </a:r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Hoger consumentensurplus</a:t>
            </a:r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Hogere doelmatigheid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8229600" cy="457200"/>
          </a:xfrm>
          <a:prstGeom prst="rect">
            <a:avLst>
              <a:gd name="adj" fmla="val 10000"/>
            </a:avLst>
          </a:prstGeom>
          <a:solidFill>
            <a:srgbClr val="EBF5FB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3977640"/>
            <a:ext cx="54864" cy="45720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8368" y="3977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Toetreding uit het buitenland verhoogt de economische doelmatigheid.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Monopolie: MO = MK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029200" cy="2743200"/>
          </a:xfrm>
          <a:prstGeom prst="rect">
            <a:avLst>
              <a:gd name="adj" fmla="val 1667"/>
            </a:avLst>
          </a:prstGeom>
          <a:solidFill>
            <a:srgbClr val="F7F8FA"/>
          </a:solidFill>
          <a:ln w="6350">
            <a:solidFill>
              <a:srgbClr val="CBD5E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54864" cy="274320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00584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Gegeven: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180 − Q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 = Q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1: </a:t>
            </a:r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afleiden
</a:t>
            </a:r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 = −2Q + 180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2: </a:t>
            </a:r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= MK
</a:t>
            </a:r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−2Q + 180 = Q  →  Q* = 60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3: </a:t>
            </a:r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Prijs op vraaglijn
</a:t>
            </a:r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p* = 180 − 60 = 120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60720" y="914400"/>
            <a:ext cx="2926080" cy="1645920"/>
          </a:xfrm>
          <a:prstGeom prst="rect">
            <a:avLst>
              <a:gd name="adj" fmla="val 2778"/>
            </a:avLst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760720" y="914400"/>
            <a:ext cx="54864" cy="164592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0" y="10515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op!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0" y="146304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prijs lees je af op de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vraaglijn (V)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NIET op de MK-lijn!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 Q* = 60: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p* = 180 − 60 = 120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niet MK = 60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60720" y="2834640"/>
            <a:ext cx="2926080" cy="822960"/>
          </a:xfrm>
          <a:prstGeom prst="rect">
            <a:avLst>
              <a:gd name="adj" fmla="val 5556"/>
            </a:avLst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760720" y="28346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Q* = 60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p* = 120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van de euro op handel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0" cy="530352"/>
          </a:xfrm>
          <a:prstGeom prst="rect">
            <a:avLst>
              <a:gd name="adj" fmla="val 8621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0584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 vervangt 12 nationale munten (2002)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5486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5486400" cy="530352"/>
          </a:xfrm>
          <a:prstGeom prst="rect">
            <a:avLst>
              <a:gd name="adj" fmla="val 8621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664208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wisselkoersrisico meer</a:t>
            </a:r>
            <a:pPr algn="l"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(+)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5486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22576"/>
            <a:ext cx="5486400" cy="530352"/>
          </a:xfrm>
          <a:prstGeom prst="rect">
            <a:avLst>
              <a:gd name="adj" fmla="val 8621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2322576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Lagere transactiekosten</a:t>
            </a:r>
            <a:pPr algn="l"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(+)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852928"/>
            <a:ext cx="5486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80944"/>
            <a:ext cx="5486400" cy="530352"/>
          </a:xfrm>
          <a:prstGeom prst="rect">
            <a:avLst>
              <a:gd name="adj" fmla="val 8621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2980944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prijstransparantie</a:t>
            </a:r>
            <a:pPr algn="l"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(+)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511296"/>
            <a:ext cx="5486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39312"/>
            <a:ext cx="5486400" cy="530352"/>
          </a:xfrm>
          <a:prstGeom prst="rect">
            <a:avLst>
              <a:gd name="adj" fmla="val 8621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3639312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Intra-industriële handel neemt toe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1005840"/>
            <a:ext cx="2468880" cy="2286000"/>
          </a:xfrm>
          <a:prstGeom prst="rect">
            <a:avLst>
              <a:gd name="adj" fmla="val 2000"/>
            </a:avLst>
          </a:prstGeom>
          <a:solidFill>
            <a:srgbClr val="F3E8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17920" y="1005840"/>
            <a:ext cx="54864" cy="2286000"/>
          </a:xfrm>
          <a:prstGeom prst="rect">
            <a:avLst/>
          </a:prstGeom>
          <a:solidFill>
            <a:srgbClr val="7B2D8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0" y="11430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Kanttekening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0" y="1554480"/>
            <a:ext cx="21488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Landen verliezen hun eigen monetair beleid.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eigen rente of wisselkoers meer als instrument.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(+) = positief verband met intra-industriële handel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Valkuilen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960120"/>
          </a:xfrm>
          <a:prstGeom prst="rect">
            <a:avLst>
              <a:gd name="adj" fmla="val 4762"/>
            </a:avLst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60120"/>
            <a:ext cx="54864" cy="96012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103327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"Intra-handel wordt verklaard door comparatief voordeel"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34416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Onjuist! Intra-industriële handel wordt verklaard door productdifferentiatie, schaalvoordelen en lage transactiekosten.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960120"/>
          </a:xfrm>
          <a:prstGeom prst="rect">
            <a:avLst>
              <a:gd name="adj" fmla="val 4762"/>
            </a:avLst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103120"/>
            <a:ext cx="54864" cy="96012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8368" y="217627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"Bij MO = MK lees je de prijs af op de MK-lijn"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248716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Onjuist! De prijs lees je af op de vraaglijn (V). Bij Q* = 60 is p* = 180 − 60 = 120, niet MK = 60.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8229600" cy="960120"/>
          </a:xfrm>
          <a:prstGeom prst="rect">
            <a:avLst>
              <a:gd name="adj" fmla="val 4762"/>
            </a:avLst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3246120"/>
            <a:ext cx="54864" cy="96012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8368" y="331927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 euro heeft alleen voordelen"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363016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Onjuist! Landen verliezen ook hun eigen monetair beleid: geen eigen rente of wisselkoers meer als instrument.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Beheers je dit voordat je gaat oefenen?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Intra-industriële handel = dezelfde producten importeren én exporteren</a:t>
            </a:r>
          </a:p>
          <a:p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Comparatief voordeel verklaart dit niet — andere oorzaken nodig</a:t>
            </a:r>
          </a:p>
          <a:p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Drie factoren: productdifferentiatie, schaalvoordelen, lage transactiekosten</a:t>
            </a:r>
          </a:p>
          <a:p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Buitenlandse toetreding (duopolie) → lagere prijs, hoger CS, meer doelmatigheid</a:t>
            </a:r>
          </a:p>
          <a:p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euro stimuleert intra-handel door lagere kosten en transparantie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2026-03-23T18:55:17Z</dcterms:created>
  <dcterms:modified xsi:type="dcterms:W3CDTF">2026-03-23T18:55:17Z</dcterms:modified>
</cp:coreProperties>
</file>