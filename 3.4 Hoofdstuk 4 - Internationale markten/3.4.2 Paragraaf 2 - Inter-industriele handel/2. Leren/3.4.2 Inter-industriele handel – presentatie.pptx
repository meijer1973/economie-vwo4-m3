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 bij paragraaf 3.4.2 over inter-industriële handel. Dit is de handel in VERSCHILLENDE producten tussen landen, gedreven door comparatieve voordelen.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zijn de zes vaardigheden die je gaat leren. Ze bouwen op elkaar voort: eerst begrijpen, dan berekenen, dan toepassen.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Inter-industriële handel = landen ruilen verschillende soorten producten. Het klassieke voorbeeld: Nederland exporteert fietsen, Indonesië exporteert koffie. De drijfveer is comparatief voordeel.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goed op het verschil! Absoluut voordeel = minder uren nodig. Comparatief voordeel = lagere OPOFFERINGSKOSTEN. Een land kan in alles slechter zijn maar toch een comparatief voordeel hebben bij het product met de laagste relatieve kosten.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het stappenplan voor het berekenen van opofferingskosten. Stap 1: zoek de arbeidsuren per product op. Stap 2: deel ze door elkaar. Stap 3: doe dit voor beide landen. Stap 4: het land met de laagste opofferingskosten heeft het comparatief voordeel.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Concreet voorbeeld met Frankrijk en Zweden. Frankrijk: 12.000/4.000 × 1.000 = 3.000 auto’s per straaljager. Zweden: 10.000/2.000 × 1.000 = 5.000. Dus Frankrijk offert MINDER op en heeft het comparatief voordeel in straaljagers.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stroomdiagram laat de hele route zien: van voordeel bepalen tot specialisatie en ruil. Belangrijk: specialisatie werkt alleen als de ruilverhouding voor BEIDE landen voordelig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ruilverhouding moet TUSSEN de opofferingskosten van beide landen liggen. In ons voorbeeld: tussen 3.000 en 5.000 auto’s per jet. Bij 4.000 auto’s per jet profiteren beide landen. Op de grens heeft één land geen voordeel meer.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Arbeidsbesparing berekenen in vijf stappen. Frankrijk bespaart 4.000 uur, Zweden 2.000 uur. Totaal 6.000 uur besparing door specialisatie en ruil. Let op: tel exportproductie mee!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Specialisatie is economisch voordelig, maar landen maken uitzonderingen. Drie belangrijke redenen: strategische goederen (defensie), werkgelegenheid beschermen, en afhankelijkheid voorkomen. Noem bij examenvragen altijd alle drie.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veelgemaakte fouten. Bespreek ze klassikaal: absoluut is niet hetzelfde als comparatief, ruilverhouding ligt ertussen, en specialisatie heeft ook nadelen.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Samenvatting van de vijf kernpunten. Zorg dat je elk punt kunt uitleggen én berekenen voordat je aan de opgaven begint.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Inter-industriële handel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Paragraaf 3.4.2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4: Internationale markten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24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960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Uitleggen wat inter-industriële handel 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18488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Comparatief voordeel bepalen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212848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Opofferingskosten berekenen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807208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 bij specialisatie berekenen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401568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337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Ruilverhouding bepalen en toetsen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995928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931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Arbeidsbesparing door handel berekenen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is inter-industriële handel?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926080"/>
          </a:xfrm>
          <a:prstGeom prst="rect">
            <a:avLst>
              <a:gd name="adj" fmla="val 156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29260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Landen ruilen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verschillende soorten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producten.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A exporteert product X,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B exporteert product Y.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Elk land maakt wat het 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relatief het best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926080"/>
          </a:xfrm>
          <a:prstGeom prst="rect">
            <a:avLst>
              <a:gd name="adj" fmla="val 1563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1005840"/>
            <a:ext cx="54864" cy="29260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Nederland exporteert fietsen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Indonesië exporteert koffie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Elk land maakt wat het RELATIEF het beste kan.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Comparatief voordeel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ect">
            <a:avLst>
              <a:gd name="adj" fmla="val 7143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land heeft een comparatief voordeel als het een product kan maken tegen lagere opofferingskosten dan een ander land.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2011680"/>
          </a:xfrm>
          <a:prstGeom prst="rect">
            <a:avLst>
              <a:gd name="adj" fmla="val 227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83080"/>
            <a:ext cx="54864" cy="20116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920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Absoluut voordeel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land produceert een goed met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minder arbeid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een ander land.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Wie is er sneller?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3931920" cy="2011680"/>
          </a:xfrm>
          <a:prstGeom prst="rect">
            <a:avLst>
              <a:gd name="adj" fmla="val 227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54880" y="1783080"/>
            <a:ext cx="54864" cy="20116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Comparatief voordeel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land produceert een goed tegen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opofferingskosten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een ander land.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Wie geeft er minder op?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land kan in alles duurder zijn maar toch een comparatief voordeel hebben!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Opofferingskosten berekenen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0" cy="548640"/>
          </a:xfrm>
          <a:prstGeom prst="rect">
            <a:avLst>
              <a:gd name="adj" fmla="val 8333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Hoeveel uur kost product A en B per land?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5029200" cy="548640"/>
          </a:xfrm>
          <a:prstGeom prst="rect">
            <a:avLst>
              <a:gd name="adj" fmla="val 8333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7647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Opofferingskosten = uren A / uren 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134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78024"/>
            <a:ext cx="5029200" cy="548640"/>
          </a:xfrm>
          <a:prstGeom prst="rect">
            <a:avLst>
              <a:gd name="adj" fmla="val 8333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47802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 dit voor beide landen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26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91256"/>
            <a:ext cx="5029200" cy="548640"/>
          </a:xfrm>
          <a:prstGeom prst="rect">
            <a:avLst>
              <a:gd name="adj" fmla="val 833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19125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Laagste opofferingskosten = comparatief voordeel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1051560"/>
            <a:ext cx="2926080" cy="3017520"/>
          </a:xfrm>
          <a:prstGeom prst="rect">
            <a:avLst>
              <a:gd name="adj" fmla="val 1563"/>
            </a:avLst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760720" y="1051560"/>
            <a:ext cx="54864" cy="30175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1554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Opofferingskosten A =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(uren A) / (uren B)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eenheid 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jet = 12.000 / 4.000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1.000 = 3.000 auto’s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Frankrijk vs Zweden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Straaljager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(×1000)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Opoffering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Frankrijk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12.000 uur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4.000 uur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52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jet = 3.000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Zweden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 uur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2.000 uur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jet = 5.000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2743200"/>
            <a:ext cx="7863840" cy="731520"/>
          </a:xfrm>
          <a:prstGeom prst="rect">
            <a:avLst>
              <a:gd name="adj" fmla="val 6250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640080" y="2743200"/>
            <a:ext cx="54864" cy="7315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41248" y="2743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Conclusie: </a:t>
            </a:r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Frankrijk heeft comparatief voordeel in straaljagers (3.000 &lt; 5.000)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Berekening: </a:t>
            </a:r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 12.000/4.000 × 1.000 = 3.000 auto’s per jet  |  ZW: 10.000/2.000 × 1.000 = 5.000 auto’s per jet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voordeel naar specialisatie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0" cy="548640"/>
          </a:xfrm>
          <a:prstGeom prst="rect">
            <a:avLst>
              <a:gd name="adj" fmla="val 8333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Bepaal comparatief voordeel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5029200" cy="548640"/>
          </a:xfrm>
          <a:prstGeom prst="rect">
            <a:avLst>
              <a:gd name="adj" fmla="val 8333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7647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 land specialiseert in dat product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134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78024"/>
            <a:ext cx="5029200" cy="548640"/>
          </a:xfrm>
          <a:prstGeom prst="rect">
            <a:avLst>
              <a:gd name="adj" fmla="val 8333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47802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 productie bij specialisatie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26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91256"/>
            <a:ext cx="5029200" cy="548640"/>
          </a:xfrm>
          <a:prstGeom prst="rect">
            <a:avLst>
              <a:gd name="adj" fmla="val 833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19125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Landen ruilen via een ruilverhouding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0720" y="1051560"/>
            <a:ext cx="2926080" cy="3017520"/>
          </a:xfrm>
          <a:prstGeom prst="rect">
            <a:avLst>
              <a:gd name="adj" fmla="val 1563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760720" y="1051560"/>
            <a:ext cx="54864" cy="30175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0" y="1188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op!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0" y="1600200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Specialisatie werkt alleen als de ruilverhouding voor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landen voordelig is.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Ruilverhouding bepalen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ect">
            <a:avLst>
              <a:gd name="adj" fmla="val 7143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Regel: de ruilverhouding moet liggen TUSSEN de opofferingskosten van beide landen.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6400800" cy="365760"/>
          </a:xfrm>
          <a:prstGeom prst="rect">
            <a:avLst>
              <a:gd name="adj" fmla="val 12500"/>
            </a:avLst>
          </a:prstGeom>
          <a:solidFill>
            <a:srgbClr val="CBD5E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651760" y="2468880"/>
            <a:ext cx="3200400" cy="548640"/>
          </a:xfrm>
          <a:prstGeom prst="rect">
            <a:avLst>
              <a:gd name="adj" fmla="val 8333"/>
            </a:avLst>
          </a:prstGeom>
          <a:solidFill>
            <a:srgbClr val="E8F8F0"/>
          </a:solidFill>
          <a:ln w="19050">
            <a:solidFill>
              <a:srgbClr val="1E844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5176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Geldige zone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8745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Frankrijk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18745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Zweden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bij 4.000 auto’s per jet profiteren beide landen.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Arbeidsbesparing berekenen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389120" cy="438912"/>
          </a:xfrm>
          <a:prstGeom prst="rect">
            <a:avLst>
              <a:gd name="adj" fmla="val 10417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10058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 totale uren ZONDER handel (autarkie)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43891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389120" cy="438912"/>
          </a:xfrm>
          <a:prstGeom prst="rect">
            <a:avLst>
              <a:gd name="adj" fmla="val 10417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53619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 totale uren MET specialisatie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43891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66544"/>
            <a:ext cx="4389120" cy="438912"/>
          </a:xfrm>
          <a:prstGeom prst="rect">
            <a:avLst>
              <a:gd name="adj" fmla="val 10417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206654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Besparing = autarkie − specialisatie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05456"/>
            <a:ext cx="43891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4389120" cy="438912"/>
          </a:xfrm>
          <a:prstGeom prst="rect">
            <a:avLst>
              <a:gd name="adj" fmla="val 10417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259689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 dit voor BEIDE landen apart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35808"/>
            <a:ext cx="43891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389120" cy="438912"/>
          </a:xfrm>
          <a:prstGeom prst="rect">
            <a:avLst>
              <a:gd name="adj" fmla="val 1041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312724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 besparingen op = winst van handel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005840"/>
          <a:ext cx="3566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91440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Autarkie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Besp.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 of niet specialiseren?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743200"/>
          </a:xfrm>
          <a:prstGeom prst="rect">
            <a:avLst>
              <a:gd name="adj" fmla="val 1667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27432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Voordelen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kosten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productie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welvaart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743200"/>
          </a:xfrm>
          <a:prstGeom prst="rect">
            <a:avLst>
              <a:gd name="adj" fmla="val 1667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1005840"/>
            <a:ext cx="54864" cy="2743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Redenen om toch zelf te produceren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 goederen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(defensie)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Werkgelegenheid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beschermen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Afhankelijkheid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voorkomen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Handel is voordelig, maar landen maken strategische uitzonderingen.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Valkuilen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960120"/>
          </a:xfrm>
          <a:prstGeom prst="rect">
            <a:avLst>
              <a:gd name="adj" fmla="val 476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60120"/>
            <a:ext cx="54864" cy="96012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1033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"Absoluut voordeel = comparatief voordeel"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344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Onjuist! Een land kan overal duurder zijn maar toch comparatief voordeel hebben bij het product met de laagste relatieve kosten.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960120"/>
          </a:xfrm>
          <a:prstGeom prst="rect">
            <a:avLst>
              <a:gd name="adj" fmla="val 476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" cy="96012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2176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"Ruilverhouding = opofferingskosten"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487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Onjuist! De ruilverhouding ligt TUSSEN de opofferingskosten van beide landen.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960120"/>
          </a:xfrm>
          <a:prstGeom prst="rect">
            <a:avLst>
              <a:gd name="adj" fmla="val 476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246120"/>
            <a:ext cx="54864" cy="96012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3319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"Specialisatie is altijd beter"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630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Onjuist! Strategische overwegingen en afhankelijkheid kunnen redenen zijn om niet te specialiseren.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Inter-industriële handel = ruil van verschillende producten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Comparatief voordeel = laagste opofferingskosten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Ruilverhouding tussen beide opofferingskosten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Specialisatie leidt tot arbeidsbesparing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 overwegingen beperken specialisatie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2026-03-23T18:55:13Z</dcterms:created>
  <dcterms:modified xsi:type="dcterms:W3CDTF">2026-03-23T18:55:13Z</dcterms:modified>
</cp:coreProperties>
</file>