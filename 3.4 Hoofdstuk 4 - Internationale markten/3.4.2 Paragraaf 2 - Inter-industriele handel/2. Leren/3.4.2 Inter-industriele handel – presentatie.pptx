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Welkom bij paragraaf 3.4.2 over inter-industriële handel. Dit is de handel in VERSCHILLENDE producten tussen landen, gedreven door comparatieve voordelen.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Dit zijn de zes vaardigheden die je gaat leren. Ze bouwen op elkaar voort: eerst begrijpen, dan berekenen, dan toepassen.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Inter-industriële handel = landen ruilen verschillende soorten producten. Het klassieke voorbeeld: Nederland exporteert fietsen, Indonesië exporteert koffie. De drijfveer is comparatief voordeel.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goed op het verschil! Absoluut voordeel = minder uren nodig. Comparatief voordeel = lagere OPOFFERINGSKOSTEN. Een land kan in alles slechter zijn maar toch een comparatief voordeel hebben bij het product met de laagste relatieve kosten.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Dit is het stappenplan voor het berekenen van opofferingskosten. Stap 1: zoek de arbeidsuren per product op. Stap 2: deel ze door elkaar. Stap 3: doe dit voor beide landen. Stap 4: het land met de laagste opofferingskosten heeft het comparatief voordeel.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Concreet voorbeeld met Frankrijk en Zweden. Frankrijk: 12.000/4.000 × 1.000 = 3.000 auto’s per straaljager. Zweden: 10.000/2.000 × 1.000 = 5.000. Dus Frankrijk offert MINDER op en heeft het comparatief voordeel in straaljagers.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Dit stroomdiagram laat de hele route zien: van voordeel bepalen tot specialisatie en ruil. Belangrijk: specialisatie werkt alleen als de ruilverhouding voor BEIDE landen voordelig 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 ruilverhouding moet TUSSEN de opofferingskosten van beide landen liggen. In ons voorbeeld: tussen 3.000 en 5.000 auto’s per jet. Bij 4.000 auto’s per jet profiteren beide landen. Op de grens heeft één land geen voordeel meer.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Arbeidsbesparing berekenen in vijf stappen. Frankrijk bespaart 4.000 uur, Zweden 2.000 uur. Totaal 6.000 uur besparing door specialisatie en ruil. Let op: tel exportproductie mee!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Specialisatie is economisch voordelig, maar landen maken uitzonderingen. Drie belangrijke redenen: strategische goederen (defensie), werkgelegenheid beschermen, en afhankelijkheid voorkomen. Noem bij examenvragen altijd alle drie.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Drie veelgemaakte fouten. Bespreek ze klassikaal: absoluut is niet hetzelfde als comparatief, ruilverhouding ligt ertussen, en specialisatie heeft ook nadelen.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Samenvatting van de vijf kernpunten. Zorg dat je elk punt kunt uitleggen én berekenen voordat je aan de opgaven begint.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51D4A"/>
          </a:solidFill>
          <a:ln/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5276"/>
          </a:solidFill>
          <a:ln/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97280"/>
            <a:ext cx="78638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Inter-industriële handel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292608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Paragraaf 3.4.2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4709160"/>
            <a:ext cx="7863840" cy="4343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Hoofdstuk 4: Internationale markten  |  Economie VWO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moet je kunnen?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640080" y="1024128"/>
            <a:ext cx="365760" cy="365760"/>
          </a:xfrm>
          <a:prstGeom prst="ellipse">
            <a:avLst/>
          </a:prstGeom>
          <a:solidFill>
            <a:srgbClr val="1A5276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02412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96012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Uitleggen wat inter-industriële handel is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1618488"/>
            <a:ext cx="365760" cy="365760"/>
          </a:xfrm>
          <a:prstGeom prst="ellipse">
            <a:avLst/>
          </a:prstGeom>
          <a:solidFill>
            <a:srgbClr val="1A5276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61848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43000" y="15544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Comparatief voordeel bepalen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40080" y="2212848"/>
            <a:ext cx="365760" cy="365760"/>
          </a:xfrm>
          <a:prstGeom prst="ellipse">
            <a:avLst/>
          </a:prstGeom>
          <a:solidFill>
            <a:srgbClr val="1A5276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21284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43000" y="214884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Opofferingskosten berekenen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40080" y="2807208"/>
            <a:ext cx="365760" cy="365760"/>
          </a:xfrm>
          <a:prstGeom prst="ellipse">
            <a:avLst/>
          </a:prstGeom>
          <a:solidFill>
            <a:srgbClr val="1A5276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80720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43000" y="274320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 bij specialisatie berekenen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40080" y="3401568"/>
            <a:ext cx="365760" cy="365760"/>
          </a:xfrm>
          <a:prstGeom prst="ellipse">
            <a:avLst/>
          </a:prstGeom>
          <a:solidFill>
            <a:srgbClr val="1A5276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40156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143000" y="333756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Ruilverhouding bepalen en toetsen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40080" y="3995928"/>
            <a:ext cx="365760" cy="365760"/>
          </a:xfrm>
          <a:prstGeom prst="ellipse">
            <a:avLst/>
          </a:prstGeom>
          <a:solidFill>
            <a:srgbClr val="1A5276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399592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143000" y="393192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Arbeidsbesparing door handel berekenen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is inter-industriële handel?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931920" cy="2926080"/>
          </a:xfrm>
          <a:prstGeom prst="rect">
            <a:avLst>
              <a:gd name="adj" fmla="val 1563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05840"/>
            <a:ext cx="54864" cy="292608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Definitie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1554480"/>
            <a:ext cx="3611880" cy="2240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Landen ruilen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verschillende soorten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producten.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 A exporteert product X,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 B exporteert product Y.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Elk land maakt wat het 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relatief het best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kan.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754880" y="1005840"/>
            <a:ext cx="3931920" cy="2926080"/>
          </a:xfrm>
          <a:prstGeom prst="rect">
            <a:avLst>
              <a:gd name="adj" fmla="val 1563"/>
            </a:avLst>
          </a:prstGeom>
          <a:solidFill>
            <a:srgbClr val="E8F8F0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754880" y="1005840"/>
            <a:ext cx="54864" cy="2926080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9" name="Text 7"/>
          <p:cNvSpPr/>
          <p:nvPr/>
        </p:nvSpPr>
        <p:spPr>
          <a:xfrm>
            <a:off x="4937760" y="114300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E84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Voorbeeld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937760" y="1554480"/>
            <a:ext cx="3611880" cy="2240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Nederland exporteert fietsen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Indonesië exporteert koffie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Elk land maakt wat het RELATIEF het beste kan.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Comparatief voordeel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640080"/>
          </a:xfrm>
          <a:prstGeom prst="rect">
            <a:avLst>
              <a:gd name="adj" fmla="val 7143"/>
            </a:avLst>
          </a:prstGeom>
          <a:solidFill>
            <a:srgbClr val="EBF5FB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914400"/>
            <a:ext cx="54864" cy="64008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5" name="Text 3"/>
          <p:cNvSpPr/>
          <p:nvPr/>
        </p:nvSpPr>
        <p:spPr>
          <a:xfrm>
            <a:off x="658368" y="91440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land heeft een comparatief voordeel als het een product kan maken tegen lagere opofferingskosten dan een ander land.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783080"/>
            <a:ext cx="3931920" cy="2011680"/>
          </a:xfrm>
          <a:prstGeom prst="rect">
            <a:avLst>
              <a:gd name="adj" fmla="val 2273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783080"/>
            <a:ext cx="54864" cy="2011680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92024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Absoluut voordeel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" y="2331720"/>
            <a:ext cx="361188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land produceert een goed met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minder arbeid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dan een ander land.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Wie is er sneller?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754880" y="1783080"/>
            <a:ext cx="3931920" cy="2011680"/>
          </a:xfrm>
          <a:prstGeom prst="rect">
            <a:avLst>
              <a:gd name="adj" fmla="val 2273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1783080"/>
            <a:ext cx="54864" cy="201168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12" name="Text 10"/>
          <p:cNvSpPr/>
          <p:nvPr/>
        </p:nvSpPr>
        <p:spPr>
          <a:xfrm>
            <a:off x="4937760" y="192024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Comparatief voordeel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937760" y="2331720"/>
            <a:ext cx="361188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land produceert een goed tegen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lagere opofferingskosten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dan een ander land.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Wie geeft er minder op?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40233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D95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land kan in alles duurder zijn maar toch een comparatief voordeel hebben!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Opofferingskosten berekenen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5029200" cy="548640"/>
          </a:xfrm>
          <a:prstGeom prst="rect">
            <a:avLst>
              <a:gd name="adj" fmla="val 8333"/>
            </a:avLst>
          </a:prstGeom>
          <a:solidFill>
            <a:srgbClr val="FFF8E1"/>
          </a:solidFill>
          <a:ln w="12700">
            <a:solidFill>
              <a:srgbClr val="F9A825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1051560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Hoeveel uur kost product A en B per land?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600200"/>
            <a:ext cx="5029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9A8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764792"/>
            <a:ext cx="5029200" cy="548640"/>
          </a:xfrm>
          <a:prstGeom prst="rect">
            <a:avLst>
              <a:gd name="adj" fmla="val 8333"/>
            </a:avLst>
          </a:prstGeom>
          <a:solidFill>
            <a:srgbClr val="FFF8E1"/>
          </a:solidFill>
          <a:ln w="12700">
            <a:solidFill>
              <a:srgbClr val="F9A825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764792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Opofferingskosten = uren A / uren B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2313432"/>
            <a:ext cx="5029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9A8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478024"/>
            <a:ext cx="5029200" cy="548640"/>
          </a:xfrm>
          <a:prstGeom prst="rect">
            <a:avLst>
              <a:gd name="adj" fmla="val 8333"/>
            </a:avLst>
          </a:prstGeom>
          <a:solidFill>
            <a:srgbClr val="FFF8E1"/>
          </a:solidFill>
          <a:ln w="12700">
            <a:solidFill>
              <a:srgbClr val="F9A825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478024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Bereken dit voor beide landen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3026664"/>
            <a:ext cx="5029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9A8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3191256"/>
            <a:ext cx="5029200" cy="548640"/>
          </a:xfrm>
          <a:prstGeom prst="rect">
            <a:avLst>
              <a:gd name="adj" fmla="val 8333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40080" y="3191256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Laagste opofferingskosten = comparatief voordeel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760720" y="1051560"/>
            <a:ext cx="2926080" cy="3017520"/>
          </a:xfrm>
          <a:prstGeom prst="rect">
            <a:avLst>
              <a:gd name="adj" fmla="val 1563"/>
            </a:avLst>
          </a:prstGeom>
          <a:solidFill>
            <a:srgbClr val="F7F8FA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760720" y="1051560"/>
            <a:ext cx="54864" cy="301752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16" name="Text 14"/>
          <p:cNvSpPr/>
          <p:nvPr/>
        </p:nvSpPr>
        <p:spPr>
          <a:xfrm>
            <a:off x="5989320" y="114300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Formule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989320" y="1554480"/>
            <a:ext cx="25603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Opofferingskosten A =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(uren A) / (uren B)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× eenheid B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989320" y="3017520"/>
            <a:ext cx="25603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Voorbeeld: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jet = 12.000 / 4.000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 1.000 = 3.000 auto’s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Voorbeeld: Frankrijk vs Zweden</a:t>
            </a:r>
            <a:endParaRPr lang="en-US" sz="2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097280"/>
          <a:ext cx="78638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011680"/>
                <a:gridCol w="2011680"/>
                <a:gridCol w="20116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Straaljager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 (×1000)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Opoffering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Frankrijk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12.000 uur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4.000 uur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527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jet = 3.000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5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Zweden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10.000 uur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2.000 uur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jet = 5.000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640080" y="2743200"/>
            <a:ext cx="7863840" cy="731520"/>
          </a:xfrm>
          <a:prstGeom prst="rect">
            <a:avLst>
              <a:gd name="adj" fmla="val 6250"/>
            </a:avLst>
          </a:prstGeom>
          <a:solidFill>
            <a:srgbClr val="EBF5FB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640080" y="2743200"/>
            <a:ext cx="54864" cy="73152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6" name="Text 3"/>
          <p:cNvSpPr/>
          <p:nvPr/>
        </p:nvSpPr>
        <p:spPr>
          <a:xfrm>
            <a:off x="841248" y="2743200"/>
            <a:ext cx="7498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Conclusie: </a:t>
            </a:r>
            <a:pPr indent="0" marL="0">
              <a:buNone/>
            </a:pPr>
            <a:r>
              <a:rPr lang="en-US" sz="15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Frankrijk heeft comparatief voordeel in straaljagers (3.000 &lt; 5.000)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40080" y="3657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Berekening: </a:t>
            </a:r>
            <a:pPr algn="l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FR: 12.000/4.000 × 1.000 = 3.000 auto’s per jet  |  ZW: 10.000/2.000 × 1.000 = 5.000 auto’s per jet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voordeel naar specialisatie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5029200" cy="548640"/>
          </a:xfrm>
          <a:prstGeom prst="rect">
            <a:avLst>
              <a:gd name="adj" fmla="val 8333"/>
            </a:avLst>
          </a:prstGeom>
          <a:solidFill>
            <a:srgbClr val="F9F6F1"/>
          </a:solidFill>
          <a:ln w="12700">
            <a:solidFill>
              <a:srgbClr val="1A5276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1051560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Bepaal comparatief voordeel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1600200"/>
            <a:ext cx="5029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764792"/>
            <a:ext cx="5029200" cy="548640"/>
          </a:xfrm>
          <a:prstGeom prst="rect">
            <a:avLst>
              <a:gd name="adj" fmla="val 8333"/>
            </a:avLst>
          </a:prstGeom>
          <a:solidFill>
            <a:srgbClr val="F9F6F1"/>
          </a:solidFill>
          <a:ln w="12700">
            <a:solidFill>
              <a:srgbClr val="1A5276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764792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 land specialiseert in dat product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2313432"/>
            <a:ext cx="5029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478024"/>
            <a:ext cx="5029200" cy="548640"/>
          </a:xfrm>
          <a:prstGeom prst="rect">
            <a:avLst>
              <a:gd name="adj" fmla="val 8333"/>
            </a:avLst>
          </a:prstGeom>
          <a:solidFill>
            <a:srgbClr val="F9F6F1"/>
          </a:solidFill>
          <a:ln w="12700">
            <a:solidFill>
              <a:srgbClr val="1A5276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478024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Bereken productie bij specialisatie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7200" y="3026664"/>
            <a:ext cx="5029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3191256"/>
            <a:ext cx="5029200" cy="548640"/>
          </a:xfrm>
          <a:prstGeom prst="rect">
            <a:avLst>
              <a:gd name="adj" fmla="val 8333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40080" y="3191256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Landen ruilen via een ruilverhouding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760720" y="1051560"/>
            <a:ext cx="2926080" cy="3017520"/>
          </a:xfrm>
          <a:prstGeom prst="rect">
            <a:avLst>
              <a:gd name="adj" fmla="val 1563"/>
            </a:avLst>
          </a:prstGeom>
          <a:solidFill>
            <a:srgbClr val="FEF5E7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760720" y="1051560"/>
            <a:ext cx="54864" cy="3017520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0" y="118872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 op!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5943600" y="1600200"/>
            <a:ext cx="2606040" cy="2331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Specialisatie werkt alleen als de ruilverhouding voor </a:t>
            </a:r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BEIDE</a:t>
            </a:r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landen voordelig is.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Ruilverhouding bepalen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640080"/>
          </a:xfrm>
          <a:prstGeom prst="rect">
            <a:avLst>
              <a:gd name="adj" fmla="val 7143"/>
            </a:avLst>
          </a:prstGeom>
          <a:solidFill>
            <a:srgbClr val="EBF5FB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914400"/>
            <a:ext cx="54864" cy="64008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5" name="Text 3"/>
          <p:cNvSpPr/>
          <p:nvPr/>
        </p:nvSpPr>
        <p:spPr>
          <a:xfrm>
            <a:off x="658368" y="91440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Regel: de ruilverhouding moet liggen TUSSEN de opofferingskosten van beide landen.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1371600" y="2560320"/>
            <a:ext cx="6400800" cy="365760"/>
          </a:xfrm>
          <a:prstGeom prst="rect">
            <a:avLst>
              <a:gd name="adj" fmla="val 12500"/>
            </a:avLst>
          </a:prstGeom>
          <a:solidFill>
            <a:srgbClr val="CBD5E0"/>
          </a:solidFill>
          <a:ln/>
        </p:spPr>
      </p:sp>
      <p:sp>
        <p:nvSpPr>
          <p:cNvPr id="7" name="Shape 5"/>
          <p:cNvSpPr/>
          <p:nvPr/>
        </p:nvSpPr>
        <p:spPr>
          <a:xfrm>
            <a:off x="2651760" y="2468880"/>
            <a:ext cx="3200400" cy="548640"/>
          </a:xfrm>
          <a:prstGeom prst="rect">
            <a:avLst>
              <a:gd name="adj" fmla="val 8333"/>
            </a:avLst>
          </a:prstGeom>
          <a:solidFill>
            <a:srgbClr val="E8F8F0"/>
          </a:solidFill>
          <a:ln w="19050">
            <a:solidFill>
              <a:srgbClr val="1E844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651760" y="246888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84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Geldige zone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011680" y="1874520"/>
            <a:ext cx="1280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3.000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Frankrijk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212080" y="1874520"/>
            <a:ext cx="1280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5.000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Zweden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3246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Voorbeeld: bij 4.000 auto’s per jet profiteren beide landen.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Arbeidsbesparing berekenen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389120" cy="438912"/>
          </a:xfrm>
          <a:prstGeom prst="rect">
            <a:avLst>
              <a:gd name="adj" fmla="val 10417"/>
            </a:avLst>
          </a:prstGeom>
          <a:solidFill>
            <a:srgbClr val="FFF8E1"/>
          </a:solidFill>
          <a:ln w="12700">
            <a:solidFill>
              <a:srgbClr val="F9A825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94360" y="1005840"/>
            <a:ext cx="4114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Bereken totale uren ZONDER handel (autarkie)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444752"/>
            <a:ext cx="4389120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A8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536192"/>
            <a:ext cx="4389120" cy="438912"/>
          </a:xfrm>
          <a:prstGeom prst="rect">
            <a:avLst>
              <a:gd name="adj" fmla="val 10417"/>
            </a:avLst>
          </a:prstGeom>
          <a:solidFill>
            <a:srgbClr val="FFF8E1"/>
          </a:solidFill>
          <a:ln w="12700">
            <a:solidFill>
              <a:srgbClr val="F9A825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536192"/>
            <a:ext cx="4114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Bereken totale uren MET specialisatie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975104"/>
            <a:ext cx="4389120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A8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066544"/>
            <a:ext cx="4389120" cy="438912"/>
          </a:xfrm>
          <a:prstGeom prst="rect">
            <a:avLst>
              <a:gd name="adj" fmla="val 10417"/>
            </a:avLst>
          </a:prstGeom>
          <a:solidFill>
            <a:srgbClr val="FFF8E1"/>
          </a:solidFill>
          <a:ln w="12700">
            <a:solidFill>
              <a:srgbClr val="F9A825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066544"/>
            <a:ext cx="4114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Besparing = autarkie − specialisatie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2505456"/>
            <a:ext cx="4389120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A8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2596896"/>
            <a:ext cx="4389120" cy="438912"/>
          </a:xfrm>
          <a:prstGeom prst="rect">
            <a:avLst>
              <a:gd name="adj" fmla="val 10417"/>
            </a:avLst>
          </a:prstGeom>
          <a:solidFill>
            <a:srgbClr val="FFF8E1"/>
          </a:solidFill>
          <a:ln w="12700">
            <a:solidFill>
              <a:srgbClr val="F9A825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" y="2596896"/>
            <a:ext cx="4114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 dit voor BEIDE landen apart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3035808"/>
            <a:ext cx="4389120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A8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3127248"/>
            <a:ext cx="4389120" cy="438912"/>
          </a:xfrm>
          <a:prstGeom prst="rect">
            <a:avLst>
              <a:gd name="adj" fmla="val 10417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94360" y="3127248"/>
            <a:ext cx="4114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 besparingen op = winst van handel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120640" y="1005840"/>
          <a:ext cx="356616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005840"/>
                <a:gridCol w="914400"/>
                <a:gridCol w="100584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Autarkie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Spec.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Besp.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60.000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56.000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844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8F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ZW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34.000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32.000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844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8F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94.000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88.000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844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 of niet specialiseren?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931920" cy="2743200"/>
          </a:xfrm>
          <a:prstGeom prst="rect">
            <a:avLst>
              <a:gd name="adj" fmla="val 1667"/>
            </a:avLst>
          </a:prstGeom>
          <a:solidFill>
            <a:srgbClr val="E8F8F0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05840"/>
            <a:ext cx="54864" cy="2743200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E84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Voordelen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1554480"/>
            <a:ext cx="3611880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Lagere kosten</a:t>
            </a:r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productie</a:t>
            </a:r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Hogere welvaart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754880" y="1005840"/>
            <a:ext cx="3931920" cy="2743200"/>
          </a:xfrm>
          <a:prstGeom prst="rect">
            <a:avLst>
              <a:gd name="adj" fmla="val 1667"/>
            </a:avLst>
          </a:prstGeom>
          <a:solidFill>
            <a:srgbClr val="FDE8E8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754880" y="1005840"/>
            <a:ext cx="54864" cy="2743200"/>
          </a:xfrm>
          <a:prstGeom prst="rect">
            <a:avLst/>
          </a:prstGeom>
          <a:solidFill>
            <a:srgbClr val="D9534F"/>
          </a:solidFill>
          <a:ln/>
        </p:spPr>
      </p:sp>
      <p:sp>
        <p:nvSpPr>
          <p:cNvPr id="9" name="Text 7"/>
          <p:cNvSpPr/>
          <p:nvPr/>
        </p:nvSpPr>
        <p:spPr>
          <a:xfrm>
            <a:off x="4937760" y="114300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D95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Redenen om toch zelf te produceren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937760" y="1554480"/>
            <a:ext cx="3611880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Strategische goederen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(defensie)
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Werkgelegenheid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beschermen
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Afhankelijkheid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voorkomen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40233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Handel is voordelig, maar landen maken strategische uitzonderingen.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Valkuilen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8229600" cy="960120"/>
          </a:xfrm>
          <a:prstGeom prst="rect">
            <a:avLst>
              <a:gd name="adj" fmla="val 4762"/>
            </a:avLst>
          </a:prstGeom>
          <a:solidFill>
            <a:srgbClr val="FDE8E8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960120"/>
            <a:ext cx="54864" cy="960120"/>
          </a:xfrm>
          <a:prstGeom prst="rect">
            <a:avLst/>
          </a:prstGeom>
          <a:solidFill>
            <a:srgbClr val="D9534F"/>
          </a:solidFill>
          <a:ln/>
        </p:spPr>
      </p:sp>
      <p:sp>
        <p:nvSpPr>
          <p:cNvPr id="5" name="Text 3"/>
          <p:cNvSpPr/>
          <p:nvPr/>
        </p:nvSpPr>
        <p:spPr>
          <a:xfrm>
            <a:off x="658368" y="1033272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95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"Absoluut voordeel = comparatief voordeel"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8368" y="134416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Onjuist! Een land kan overal duurder zijn maar toch comparatief voordeel hebben bij het product met de laagste relatieve kosten.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103120"/>
            <a:ext cx="8229600" cy="960120"/>
          </a:xfrm>
          <a:prstGeom prst="rect">
            <a:avLst>
              <a:gd name="adj" fmla="val 4762"/>
            </a:avLst>
          </a:prstGeom>
          <a:solidFill>
            <a:srgbClr val="FDE8E8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2103120"/>
            <a:ext cx="54864" cy="960120"/>
          </a:xfrm>
          <a:prstGeom prst="rect">
            <a:avLst/>
          </a:prstGeom>
          <a:solidFill>
            <a:srgbClr val="D9534F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" y="2176272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95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"Ruilverhouding = opofferingskosten"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58368" y="248716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Onjuist! De ruilverhouding ligt TUSSEN de opofferingskosten van beide landen.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3246120"/>
            <a:ext cx="8229600" cy="960120"/>
          </a:xfrm>
          <a:prstGeom prst="rect">
            <a:avLst>
              <a:gd name="adj" fmla="val 4762"/>
            </a:avLst>
          </a:prstGeom>
          <a:solidFill>
            <a:srgbClr val="FDE8E8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3246120"/>
            <a:ext cx="54864" cy="960120"/>
          </a:xfrm>
          <a:prstGeom prst="rect">
            <a:avLst/>
          </a:prstGeom>
          <a:solidFill>
            <a:srgbClr val="D9534F"/>
          </a:solidFill>
          <a:ln/>
        </p:spPr>
      </p:sp>
      <p:sp>
        <p:nvSpPr>
          <p:cNvPr id="13" name="Text 11"/>
          <p:cNvSpPr/>
          <p:nvPr/>
        </p:nvSpPr>
        <p:spPr>
          <a:xfrm>
            <a:off x="658368" y="3319272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95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"Specialisatie is altijd beter"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58368" y="363016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Onjuist! Strategische overwegingen en afhankelijkheid kunnen redenen zijn om niet te specialiseren.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Beheers je dit voordat je gaat oefenen?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60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Inter-industriële handel = ruil van verschillende producten</a:t>
            </a:r>
            <a:pPr algn="l" marL="342900" indent="-342900">
              <a:lnSpc>
                <a:spcPct val="160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Comparatief voordeel = laagste opofferingskosten</a:t>
            </a:r>
            <a:pPr algn="l" marL="342900" indent="-342900">
              <a:lnSpc>
                <a:spcPct val="160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Ruilverhouding tussen beide opofferingskosten</a:t>
            </a:r>
            <a:pPr algn="l" marL="342900" indent="-342900">
              <a:lnSpc>
                <a:spcPct val="160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Specialisatie leidt tot arbeidsbesparing</a:t>
            </a:r>
            <a:pPr algn="l" marL="342900" indent="-342900">
              <a:lnSpc>
                <a:spcPct val="160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Strategische overwegingen beperken specialisatie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2026-03-23T18:55:13Z</dcterms:created>
  <dcterms:modified xsi:type="dcterms:W3CDTF">2026-03-23T18:55:13Z</dcterms:modified>
</cp:coreProperties>
</file>