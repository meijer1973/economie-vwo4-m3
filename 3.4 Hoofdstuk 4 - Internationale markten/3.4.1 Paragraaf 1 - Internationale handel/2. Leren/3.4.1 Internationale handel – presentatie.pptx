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bij paragraaf 3.4.1 over internationale handel. Vandaag gaan we kijken waarom landen met elkaar handelen, welke factoren handelsstromen bepalen en wat de gevolgen zijn van arbeidsmigratie.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zijn de vijf vaardigheden die je na deze les moet beheersen. We beginnen bij de basis (waarom handel?) en bouwen op naar de graviteitsvergelijking.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Kleine landen zoals Nederland hebben een beperkte variatie aan grondstoffen. Ze moeten importeren en betalen dat door te exporteren. China handelt in absolute euro’s meer, maar relatief (als % van bbp) handelt Nederland veel meer.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vijf factoren die handelsstromen bepalen. Rotterdam scoort op alle vijf: zeehaven, achterland Duitsland/België, Betuweroute, EU-lid, en ze versterken elkaar. Noem bij examenvragen altijd meerdere factoren.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veelgemaakte fout: de waarde van goederen in een schip verwarren met de omzet van de haven. De haven verdient geld door diensten (laden, lossen, opslaan). De vrachtwaarde gaat naar de eigenaar van de goederen, niet naar de haven.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Arbeidsmigratie vergroot het arbeidsaanbod in Nederland. De aanbodcurve verschuift naar rechts: meer werkgelegenheid maar lagere lonen. Werkgevers profiteren, maar werknemers ondervinden meer concurrentie. Let op: buitenlandse werknemers bieden arbeid 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graviteitsvergelijking werkt als een analogie met de natuurkunde: hoe groter de economische omvang en hoe kleiner de afstand, hoe meer handel. Bij examenvragen over ‘noem vier factoren’ kun je deze vier altijd gebruiken. Geef bij elke factor een concreet voorbeeld.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Drie veelgemaakte fouten. Bespreek ze klassikaal: omzet is niet hetzelfde als vrachtwaarde, buitenlandse werknemers bieden arbeid aan (ze vragen het niet), en vergelijk handel altijd relatief.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deze vijf kernpunten na. Zorg dat leerlingen elk punt kunnen uitleggen voordat ze aan de opgaven beginnen. De graviteitsvergelijking is het meest abstracte onderdeel — geef extra aandacht aan de analogie met zwaartekracht.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5276"/>
          </a:solidFill>
          <a:ln/>
        </p:spPr>
      </p:sp>
      <p:sp>
        <p:nvSpPr>
          <p:cNvPr id="3" name="Shape 1"/>
          <p:cNvSpPr/>
          <p:nvPr/>
        </p:nvSpPr>
        <p:spPr>
          <a:xfrm>
            <a:off x="0" y="4709160"/>
            <a:ext cx="9144000" cy="434340"/>
          </a:xfrm>
          <a:prstGeom prst="rect">
            <a:avLst/>
          </a:prstGeom>
          <a:solidFill>
            <a:srgbClr val="151D4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527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097280"/>
            <a:ext cx="7863840" cy="182880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Internationale handel</a:t>
            </a:r>
            <a:endParaRPr lang="en-US" sz="4000" dirty="0"/>
          </a:p>
        </p:txBody>
      </p:sp>
      <p:sp>
        <p:nvSpPr>
          <p:cNvPr id="3" name="Text 1"/>
          <p:cNvSpPr/>
          <p:nvPr/>
        </p:nvSpPr>
        <p:spPr>
          <a:xfrm>
            <a:off x="640080" y="2926080"/>
            <a:ext cx="7863840" cy="457200"/>
          </a:xfrm>
          <a:prstGeom prst="rect">
            <a:avLst/>
          </a:prstGeom>
          <a:noFill/>
          <a:ln/>
        </p:spPr>
        <p:txBody>
          <a:bodyPr wrap="square" rtlCol="0" anchor="ctr"/>
          <a:lstStyle/>
          <a:p>
            <a:pPr indent="0" marL="0">
              <a:buNone/>
            </a:pPr>
            <a:r>
              <a:rPr lang="en-US" sz="2000" dirty="0">
                <a:solidFill>
                  <a:srgbClr val="718096"/>
                </a:solidFill>
                <a:latin typeface="Arial" pitchFamily="34" charset="0"/>
                <a:ea typeface="Arial" pitchFamily="34" charset="-122"/>
                <a:cs typeface="Arial" pitchFamily="34" charset="-120"/>
              </a:rPr>
              <a:t>Paragraaf 3.4.1</a:t>
            </a:r>
            <a:endParaRPr lang="en-US" sz="2000" dirty="0"/>
          </a:p>
        </p:txBody>
      </p:sp>
      <p:sp>
        <p:nvSpPr>
          <p:cNvPr id="4" name="Text 2"/>
          <p:cNvSpPr/>
          <p:nvPr/>
        </p:nvSpPr>
        <p:spPr>
          <a:xfrm>
            <a:off x="640080" y="4709160"/>
            <a:ext cx="7863840" cy="434340"/>
          </a:xfrm>
          <a:prstGeom prst="rect">
            <a:avLst/>
          </a:prstGeom>
          <a:noFill/>
          <a:ln/>
        </p:spPr>
        <p:txBody>
          <a:bodyPr wrap="square" rtlCol="0" anchor="ctr"/>
          <a:lstStyle/>
          <a:p>
            <a:pPr indent="0" marL="0">
              <a:buNone/>
            </a:pPr>
            <a:r>
              <a:rPr lang="en-US" sz="1200" dirty="0">
                <a:solidFill>
                  <a:srgbClr val="718096"/>
                </a:solidFill>
                <a:latin typeface="Arial" pitchFamily="34" charset="0"/>
                <a:ea typeface="Arial" pitchFamily="34" charset="-122"/>
                <a:cs typeface="Arial" pitchFamily="34" charset="-120"/>
              </a:rPr>
              <a:t>Hoofdstuk 4: Internationale markten  |  Economie VWO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Wat moet je kunnen?</a:t>
            </a:r>
            <a:endParaRPr lang="en-US" sz="24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2000" b="1" dirty="0">
                <a:solidFill>
                  <a:srgbClr val="1A5276"/>
                </a:solidFill>
                <a:latin typeface="Arial" pitchFamily="34" charset="0"/>
                <a:ea typeface="Arial" pitchFamily="34" charset="-122"/>
                <a:cs typeface="Arial" pitchFamily="34" charset="-120"/>
              </a:rPr>
              <a:t>Leerdoelen</a:t>
            </a:r>
            <a:endParaRPr lang="en-US" sz="2000" dirty="0"/>
          </a:p>
        </p:txBody>
      </p:sp>
      <p:sp>
        <p:nvSpPr>
          <p:cNvPr id="4" name="Text 2"/>
          <p:cNvSpPr/>
          <p:nvPr/>
        </p:nvSpPr>
        <p:spPr>
          <a:xfrm>
            <a:off x="640080" y="1371600"/>
            <a:ext cx="7863840" cy="2926080"/>
          </a:xfrm>
          <a:prstGeom prst="rect">
            <a:avLst/>
          </a:prstGeom>
          <a:noFill/>
          <a:ln/>
        </p:spPr>
        <p:txBody>
          <a:bodyPr wrap="square" rtlCol="0" anchor="t"/>
          <a:lstStyle/>
          <a:p>
            <a:pPr algn="l" marL="342900" indent="-342900">
              <a:lnSpc>
                <a:spcPct val="150000"/>
              </a:lnSpc>
              <a:spcAft>
                <a:spcPts val="800"/>
              </a:spcAft>
              <a:buSzPct val="100000"/>
              <a:buChar char="•"/>
            </a:pPr>
            <a:r>
              <a:rPr lang="en-US" sz="1500" dirty="0">
                <a:solidFill>
                  <a:srgbClr val="2D3748"/>
                </a:solidFill>
                <a:latin typeface="Arial" pitchFamily="34" charset="0"/>
                <a:ea typeface="Arial" pitchFamily="34" charset="-122"/>
                <a:cs typeface="Arial" pitchFamily="34" charset="-120"/>
              </a:rPr>
              <a:t>Uitleggen waarom kleine landen relatief meer handelen</a:t>
            </a:r>
          </a:p>
          <a:p>
            <a:pPr algn="l" marL="342900" indent="-342900">
              <a:lnSpc>
                <a:spcPct val="150000"/>
              </a:lnSpc>
              <a:spcAft>
                <a:spcPts val="800"/>
              </a:spcAft>
              <a:buSzPct val="100000"/>
              <a:buChar char="•"/>
            </a:pPr>
            <a:r>
              <a:rPr lang="en-US" sz="1500" dirty="0">
                <a:solidFill>
                  <a:srgbClr val="2D3748"/>
                </a:solidFill>
                <a:latin typeface="Arial" pitchFamily="34" charset="0"/>
                <a:ea typeface="Arial" pitchFamily="34" charset="-122"/>
                <a:cs typeface="Arial" pitchFamily="34" charset="-120"/>
              </a:rPr>
              <a:t>Vijf factoren voor handelsstromen benoemen en toelichten</a:t>
            </a:r>
          </a:p>
          <a:p>
            <a:pPr algn="l" marL="342900" indent="-342900">
              <a:lnSpc>
                <a:spcPct val="150000"/>
              </a:lnSpc>
              <a:spcAft>
                <a:spcPts val="800"/>
              </a:spcAft>
              <a:buSzPct val="100000"/>
              <a:buChar char="•"/>
            </a:pPr>
            <a:r>
              <a:rPr lang="en-US" sz="1500" dirty="0">
                <a:solidFill>
                  <a:srgbClr val="2D3748"/>
                </a:solidFill>
                <a:latin typeface="Arial" pitchFamily="34" charset="0"/>
                <a:ea typeface="Arial" pitchFamily="34" charset="-122"/>
                <a:cs typeface="Arial" pitchFamily="34" charset="-120"/>
              </a:rPr>
              <a:t>Het verschil tussen omzet en vrachtwaarde verklaren</a:t>
            </a:r>
          </a:p>
          <a:p>
            <a:pPr algn="l" marL="342900" indent="-342900">
              <a:lnSpc>
                <a:spcPct val="150000"/>
              </a:lnSpc>
              <a:spcAft>
                <a:spcPts val="800"/>
              </a:spcAft>
              <a:buSzPct val="100000"/>
              <a:buChar char="•"/>
            </a:pPr>
            <a:r>
              <a:rPr lang="en-US" sz="1500" dirty="0">
                <a:solidFill>
                  <a:srgbClr val="2D3748"/>
                </a:solidFill>
                <a:latin typeface="Arial" pitchFamily="34" charset="0"/>
                <a:ea typeface="Arial" pitchFamily="34" charset="-122"/>
                <a:cs typeface="Arial" pitchFamily="34" charset="-120"/>
              </a:rPr>
              <a:t>Effecten van arbeidsmigratie op loon en werkgelegenheid beschrijven</a:t>
            </a:r>
          </a:p>
          <a:p>
            <a:pPr algn="l" marL="342900" indent="-342900">
              <a:lnSpc>
                <a:spcPct val="150000"/>
              </a:lnSpc>
              <a:spcAft>
                <a:spcPts val="800"/>
              </a:spcAft>
              <a:buSzPct val="100000"/>
              <a:buChar char="•"/>
            </a:pPr>
            <a:r>
              <a:rPr lang="en-US" sz="1500" dirty="0">
                <a:solidFill>
                  <a:srgbClr val="2D3748"/>
                </a:solidFill>
                <a:latin typeface="Arial" pitchFamily="34" charset="0"/>
                <a:ea typeface="Arial" pitchFamily="34" charset="-122"/>
                <a:cs typeface="Arial" pitchFamily="34" charset="-120"/>
              </a:rPr>
              <a:t>De graviteitsvergelijking toepassen op bilaterale handel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Waarom handelen landen?</a:t>
            </a:r>
            <a:endParaRPr lang="en-US" sz="2400" dirty="0"/>
          </a:p>
        </p:txBody>
      </p:sp>
      <p:sp>
        <p:nvSpPr>
          <p:cNvPr id="3" name="Shape 1"/>
          <p:cNvSpPr/>
          <p:nvPr/>
        </p:nvSpPr>
        <p:spPr>
          <a:xfrm>
            <a:off x="1143000" y="1097280"/>
            <a:ext cx="6858000" cy="548640"/>
          </a:xfrm>
          <a:prstGeom prst="rect">
            <a:avLst>
              <a:gd name="adj" fmla="val 8333"/>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txBody>
          <a:bodyPr/>
          <a:p/>
        </p:txBody>
      </p:sp>
      <p:sp>
        <p:nvSpPr>
          <p:cNvPr id="4" name="Text 2"/>
          <p:cNvSpPr/>
          <p:nvPr/>
        </p:nvSpPr>
        <p:spPr>
          <a:xfrm>
            <a:off x="1325880" y="1097280"/>
            <a:ext cx="6492240" cy="548640"/>
          </a:xfrm>
          <a:prstGeom prst="rect">
            <a:avLst/>
          </a:prstGeom>
          <a:noFill/>
          <a:ln/>
        </p:spPr>
        <p:txBody>
          <a:bodyPr wrap="square" rtlCol="0" anchor="ctr"/>
          <a:lstStyle/>
          <a:p>
            <a:pPr algn="l" indent="0" marL="0">
              <a:buNone/>
            </a:pPr>
            <a:r>
              <a:rPr lang="en-US" sz="1500" dirty="0">
                <a:solidFill>
                  <a:srgbClr val="2D3748"/>
                </a:solidFill>
                <a:latin typeface="Arial" pitchFamily="34" charset="0"/>
                <a:ea typeface="Arial" pitchFamily="34" charset="-122"/>
                <a:cs typeface="Arial" pitchFamily="34" charset="-120"/>
              </a:rPr>
              <a:t>Klein land = weinig eigen variatie in productie</a:t>
            </a:r>
            <a:endParaRPr lang="en-US" sz="1500" dirty="0"/>
          </a:p>
        </p:txBody>
      </p:sp>
      <p:sp>
        <p:nvSpPr>
          <p:cNvPr id="5" name="Text 3"/>
          <p:cNvSpPr/>
          <p:nvPr/>
        </p:nvSpPr>
        <p:spPr>
          <a:xfrm>
            <a:off x="1143000" y="1645920"/>
            <a:ext cx="6858000" cy="164592"/>
          </a:xfrm>
          <a:prstGeom prst="rect">
            <a:avLst/>
          </a:prstGeom>
          <a:noFill/>
          <a:ln/>
        </p:spPr>
        <p:txBody>
          <a:bodyPr wrap="square" rtlCol="0" anchor="ctr"/>
          <a:lstStyle/>
          <a:p>
            <a:pPr algn="ctr" indent="0" marL="0">
              <a:buNone/>
            </a:pPr>
            <a:r>
              <a:rPr lang="en-US" sz="1600" b="1" dirty="0">
                <a:solidFill>
                  <a:srgbClr val="1A5276"/>
                </a:solidFill>
                <a:latin typeface="Arial" pitchFamily="34" charset="0"/>
                <a:ea typeface="Arial" pitchFamily="34" charset="-122"/>
                <a:cs typeface="Arial" pitchFamily="34" charset="-120"/>
              </a:rPr>
              <a:t>↓</a:t>
            </a:r>
            <a:endParaRPr lang="en-US" sz="1600" dirty="0"/>
          </a:p>
        </p:txBody>
      </p:sp>
      <p:sp>
        <p:nvSpPr>
          <p:cNvPr id="6" name="Shape 4"/>
          <p:cNvSpPr/>
          <p:nvPr/>
        </p:nvSpPr>
        <p:spPr>
          <a:xfrm>
            <a:off x="1143000" y="1810512"/>
            <a:ext cx="6858000" cy="548640"/>
          </a:xfrm>
          <a:prstGeom prst="rect">
            <a:avLst>
              <a:gd name="adj" fmla="val 8333"/>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txBody>
          <a:bodyPr/>
          <a:p/>
        </p:txBody>
      </p:sp>
      <p:sp>
        <p:nvSpPr>
          <p:cNvPr id="7" name="Text 5"/>
          <p:cNvSpPr/>
          <p:nvPr/>
        </p:nvSpPr>
        <p:spPr>
          <a:xfrm>
            <a:off x="1325880" y="1810512"/>
            <a:ext cx="6492240" cy="548640"/>
          </a:xfrm>
          <a:prstGeom prst="rect">
            <a:avLst/>
          </a:prstGeom>
          <a:noFill/>
          <a:ln/>
        </p:spPr>
        <p:txBody>
          <a:bodyPr wrap="square" rtlCol="0" anchor="ctr"/>
          <a:lstStyle/>
          <a:p>
            <a:pPr algn="l" indent="0" marL="0">
              <a:buNone/>
            </a:pPr>
            <a:r>
              <a:rPr lang="en-US" sz="1500" dirty="0">
                <a:solidFill>
                  <a:srgbClr val="2D3748"/>
                </a:solidFill>
                <a:latin typeface="Arial" pitchFamily="34" charset="0"/>
                <a:ea typeface="Arial" pitchFamily="34" charset="-122"/>
                <a:cs typeface="Arial" pitchFamily="34" charset="-120"/>
              </a:rPr>
              <a:t>Veel goederen moeten van elders komen (import)</a:t>
            </a:r>
            <a:endParaRPr lang="en-US" sz="1500" dirty="0"/>
          </a:p>
        </p:txBody>
      </p:sp>
      <p:sp>
        <p:nvSpPr>
          <p:cNvPr id="8" name="Text 6"/>
          <p:cNvSpPr/>
          <p:nvPr/>
        </p:nvSpPr>
        <p:spPr>
          <a:xfrm>
            <a:off x="1143000" y="2359152"/>
            <a:ext cx="6858000" cy="164592"/>
          </a:xfrm>
          <a:prstGeom prst="rect">
            <a:avLst/>
          </a:prstGeom>
          <a:noFill/>
          <a:ln/>
        </p:spPr>
        <p:txBody>
          <a:bodyPr wrap="square" rtlCol="0" anchor="ctr"/>
          <a:lstStyle/>
          <a:p>
            <a:pPr algn="ctr" indent="0" marL="0">
              <a:buNone/>
            </a:pPr>
            <a:r>
              <a:rPr lang="en-US" sz="1600" b="1" dirty="0">
                <a:solidFill>
                  <a:srgbClr val="1A5276"/>
                </a:solidFill>
                <a:latin typeface="Arial" pitchFamily="34" charset="0"/>
                <a:ea typeface="Arial" pitchFamily="34" charset="-122"/>
                <a:cs typeface="Arial" pitchFamily="34" charset="-120"/>
              </a:rPr>
              <a:t>↓</a:t>
            </a:r>
            <a:endParaRPr lang="en-US" sz="1600" dirty="0"/>
          </a:p>
        </p:txBody>
      </p:sp>
      <p:sp>
        <p:nvSpPr>
          <p:cNvPr id="9" name="Shape 7"/>
          <p:cNvSpPr/>
          <p:nvPr/>
        </p:nvSpPr>
        <p:spPr>
          <a:xfrm>
            <a:off x="1143000" y="2523744"/>
            <a:ext cx="6858000" cy="548640"/>
          </a:xfrm>
          <a:prstGeom prst="rect">
            <a:avLst>
              <a:gd name="adj" fmla="val 8333"/>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txBody>
          <a:bodyPr/>
          <a:p/>
        </p:txBody>
      </p:sp>
      <p:sp>
        <p:nvSpPr>
          <p:cNvPr id="10" name="Text 8"/>
          <p:cNvSpPr/>
          <p:nvPr/>
        </p:nvSpPr>
        <p:spPr>
          <a:xfrm>
            <a:off x="1325880" y="2523744"/>
            <a:ext cx="6492240" cy="548640"/>
          </a:xfrm>
          <a:prstGeom prst="rect">
            <a:avLst/>
          </a:prstGeom>
          <a:noFill/>
          <a:ln/>
        </p:spPr>
        <p:txBody>
          <a:bodyPr wrap="square" rtlCol="0" anchor="ctr"/>
          <a:lstStyle/>
          <a:p>
            <a:pPr algn="l" indent="0" marL="0">
              <a:buNone/>
            </a:pPr>
            <a:r>
              <a:rPr lang="en-US" sz="1500" dirty="0">
                <a:solidFill>
                  <a:srgbClr val="2D3748"/>
                </a:solidFill>
                <a:latin typeface="Arial" pitchFamily="34" charset="0"/>
                <a:ea typeface="Arial" pitchFamily="34" charset="-122"/>
                <a:cs typeface="Arial" pitchFamily="34" charset="-120"/>
              </a:rPr>
              <a:t>Om import te betalen, exporteert het land eigen producten</a:t>
            </a:r>
            <a:endParaRPr lang="en-US" sz="1500" dirty="0"/>
          </a:p>
        </p:txBody>
      </p:sp>
      <p:sp>
        <p:nvSpPr>
          <p:cNvPr id="11" name="Text 9"/>
          <p:cNvSpPr/>
          <p:nvPr/>
        </p:nvSpPr>
        <p:spPr>
          <a:xfrm>
            <a:off x="1143000" y="3072384"/>
            <a:ext cx="6858000" cy="164592"/>
          </a:xfrm>
          <a:prstGeom prst="rect">
            <a:avLst/>
          </a:prstGeom>
          <a:noFill/>
          <a:ln/>
        </p:spPr>
        <p:txBody>
          <a:bodyPr wrap="square" rtlCol="0" anchor="ctr"/>
          <a:lstStyle/>
          <a:p>
            <a:pPr algn="ctr" indent="0" marL="0">
              <a:buNone/>
            </a:pPr>
            <a:r>
              <a:rPr lang="en-US" sz="1600" b="1" dirty="0">
                <a:solidFill>
                  <a:srgbClr val="1A5276"/>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1143000" y="3236976"/>
            <a:ext cx="6858000" cy="548640"/>
          </a:xfrm>
          <a:prstGeom prst="rect">
            <a:avLst>
              <a:gd name="adj" fmla="val 8333"/>
            </a:avLst>
          </a:prstGeom>
          <a:solidFill>
            <a:srgbClr val="1A5276"/>
          </a:solidFill>
          <a:ln w="12700">
            <a:solidFill>
              <a:srgbClr val="1A5276"/>
            </a:solidFill>
            <a:prstDash val="solid"/>
          </a:ln>
          <a:effectLst>
            <a:outerShdw sx="100000" sy="100000" kx="0" ky="0" algn="bl" rotWithShape="0" blurRad="76200" dist="25400" dir="8100000">
              <a:srgbClr val="000000">
                <a:alpha val="10000"/>
              </a:srgbClr>
            </a:outerShdw>
          </a:effectLst>
        </p:spPr>
        <p:txBody>
          <a:bodyPr/>
          <a:p/>
        </p:txBody>
      </p:sp>
      <p:sp>
        <p:nvSpPr>
          <p:cNvPr id="13" name="Text 11"/>
          <p:cNvSpPr/>
          <p:nvPr/>
        </p:nvSpPr>
        <p:spPr>
          <a:xfrm>
            <a:off x="1325880" y="3236976"/>
            <a:ext cx="6492240" cy="54864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Conclusie: kleinere landen handelen relatief meer</a:t>
            </a:r>
            <a:endParaRPr lang="en-US" sz="1500" dirty="0"/>
          </a:p>
        </p:txBody>
      </p:sp>
      <p:sp>
        <p:nvSpPr>
          <p:cNvPr id="14" name="Text 12"/>
          <p:cNvSpPr/>
          <p:nvPr/>
        </p:nvSpPr>
        <p:spPr>
          <a:xfrm>
            <a:off x="457200" y="4251960"/>
            <a:ext cx="8229600" cy="365760"/>
          </a:xfrm>
          <a:prstGeom prst="rect">
            <a:avLst/>
          </a:prstGeom>
          <a:noFill/>
          <a:ln/>
        </p:spPr>
        <p:txBody>
          <a:bodyPr wrap="square" rtlCol="0" anchor="ctr"/>
          <a:lstStyle/>
          <a:p>
            <a:pPr indent="0" marL="0">
              <a:buNone/>
            </a:pPr>
            <a:r>
              <a:rPr lang="en-US" sz="1200" i="1" dirty="0">
                <a:solidFill>
                  <a:srgbClr val="718096"/>
                </a:solidFill>
                <a:latin typeface="Arial" pitchFamily="34" charset="0"/>
                <a:ea typeface="Arial" pitchFamily="34" charset="-122"/>
                <a:cs typeface="Arial" pitchFamily="34" charset="-120"/>
              </a:rPr>
              <a:t>Let op: vergelijk altijd relatief (handel als % van bbp), niet absoluut!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Vijf factoren voor handelsstromen</a:t>
            </a:r>
            <a:endParaRPr lang="en-US" sz="2400" dirty="0"/>
          </a:p>
        </p:txBody>
      </p:sp>
      <p:sp>
        <p:nvSpPr>
          <p:cNvPr id="3" name="Shape 1"/>
          <p:cNvSpPr/>
          <p:nvPr/>
        </p:nvSpPr>
        <p:spPr>
          <a:xfrm>
            <a:off x="457200" y="914400"/>
            <a:ext cx="3931920" cy="1051560"/>
          </a:xfrm>
          <a:prstGeom prst="rect">
            <a:avLst>
              <a:gd name="adj" fmla="val 4348"/>
            </a:avLst>
          </a:prstGeom>
          <a:solidFill>
            <a:srgbClr val="F9F6F1"/>
          </a:solidFill>
          <a:ln/>
          <a:effectLst>
            <a:outerShdw sx="100000" sy="100000" kx="0" ky="0" algn="bl" rotWithShape="0" blurRad="76200" dist="25400" dir="8100000">
              <a:srgbClr val="000000">
                <a:alpha val="10000"/>
              </a:srgbClr>
            </a:outerShdw>
          </a:effectLst>
        </p:spPr>
        <p:txBody>
          <a:bodyPr/>
          <a:p/>
        </p:txBody>
      </p:sp>
      <p:sp>
        <p:nvSpPr>
          <p:cNvPr id="4" name="Shape 2"/>
          <p:cNvSpPr/>
          <p:nvPr/>
        </p:nvSpPr>
        <p:spPr>
          <a:xfrm>
            <a:off x="457200" y="914400"/>
            <a:ext cx="54864" cy="1051560"/>
          </a:xfrm>
          <a:prstGeom prst="rect">
            <a:avLst/>
          </a:prstGeom>
          <a:solidFill>
            <a:srgbClr val="1A5276"/>
          </a:solidFill>
          <a:ln/>
        </p:spPr>
        <p:txBody>
          <a:bodyPr/>
          <a:p/>
        </p:txBody>
      </p:sp>
      <p:sp>
        <p:nvSpPr>
          <p:cNvPr id="5" name="Text 3"/>
          <p:cNvSpPr/>
          <p:nvPr/>
        </p:nvSpPr>
        <p:spPr>
          <a:xfrm>
            <a:off x="640080" y="105156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Ligging</a:t>
            </a:r>
            <a:endParaRPr lang="en-US" sz="2000" dirty="0"/>
          </a:p>
        </p:txBody>
      </p:sp>
      <p:sp>
        <p:nvSpPr>
          <p:cNvPr id="6" name="Text 4"/>
          <p:cNvSpPr/>
          <p:nvPr/>
        </p:nvSpPr>
        <p:spPr>
          <a:xfrm>
            <a:off x="640080" y="1463040"/>
            <a:ext cx="3611880" cy="365760"/>
          </a:xfrm>
          <a:prstGeom prst="rect">
            <a:avLst/>
          </a:prstGeom>
          <a:noFill/>
          <a:ln/>
        </p:spPr>
        <p:txBody>
          <a:bodyPr wrap="square" rtlCol="0" anchor="t"/>
          <a:lstStyle/>
          <a:p>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Aan zee of grote rivier → lagere transportkosten</a:t>
            </a:r>
            <a:endParaRPr lang="en-US" sz="1400" dirty="0"/>
          </a:p>
        </p:txBody>
      </p:sp>
      <p:sp>
        <p:nvSpPr>
          <p:cNvPr id="7" name="Shape 5"/>
          <p:cNvSpPr/>
          <p:nvPr/>
        </p:nvSpPr>
        <p:spPr>
          <a:xfrm>
            <a:off x="457200" y="2103120"/>
            <a:ext cx="3931920" cy="1051560"/>
          </a:xfrm>
          <a:prstGeom prst="rect">
            <a:avLst>
              <a:gd name="adj" fmla="val 4348"/>
            </a:avLst>
          </a:prstGeom>
          <a:solidFill>
            <a:srgbClr val="F9F6F1"/>
          </a:solidFill>
          <a:ln/>
          <a:effectLst>
            <a:outerShdw sx="100000" sy="100000" kx="0" ky="0" algn="bl" rotWithShape="0" blurRad="76200" dist="25400" dir="8100000">
              <a:srgbClr val="000000">
                <a:alpha val="10000"/>
              </a:srgbClr>
            </a:outerShdw>
          </a:effectLst>
        </p:spPr>
        <p:txBody>
          <a:bodyPr/>
          <a:p/>
        </p:txBody>
      </p:sp>
      <p:sp>
        <p:nvSpPr>
          <p:cNvPr id="8" name="Shape 6"/>
          <p:cNvSpPr/>
          <p:nvPr/>
        </p:nvSpPr>
        <p:spPr>
          <a:xfrm>
            <a:off x="457200" y="2103120"/>
            <a:ext cx="54864" cy="1051560"/>
          </a:xfrm>
          <a:prstGeom prst="rect">
            <a:avLst/>
          </a:prstGeom>
          <a:solidFill>
            <a:srgbClr val="1A5276"/>
          </a:solidFill>
          <a:ln/>
        </p:spPr>
        <p:txBody>
          <a:bodyPr/>
          <a:p/>
        </p:txBody>
      </p:sp>
      <p:sp>
        <p:nvSpPr>
          <p:cNvPr id="9" name="Text 7"/>
          <p:cNvSpPr/>
          <p:nvPr/>
        </p:nvSpPr>
        <p:spPr>
          <a:xfrm>
            <a:off x="640080" y="224028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Achterland</a:t>
            </a:r>
            <a:endParaRPr lang="en-US" sz="2000" dirty="0"/>
          </a:p>
        </p:txBody>
      </p:sp>
      <p:sp>
        <p:nvSpPr>
          <p:cNvPr id="10" name="Text 8"/>
          <p:cNvSpPr/>
          <p:nvPr/>
        </p:nvSpPr>
        <p:spPr>
          <a:xfrm>
            <a:off x="640080" y="2651760"/>
            <a:ext cx="3611880" cy="365760"/>
          </a:xfrm>
          <a:prstGeom prst="rect">
            <a:avLst/>
          </a:prstGeom>
          <a:noFill/>
          <a:ln/>
        </p:spPr>
        <p:txBody>
          <a:bodyPr wrap="square" rtlCol="0" anchor="t"/>
          <a:lstStyle/>
          <a:p>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Groot, welvarend achterland vraagt goederen</a:t>
            </a:r>
            <a:endParaRPr lang="en-US" sz="1400" dirty="0"/>
          </a:p>
        </p:txBody>
      </p:sp>
      <p:sp>
        <p:nvSpPr>
          <p:cNvPr id="11" name="Shape 9"/>
          <p:cNvSpPr/>
          <p:nvPr/>
        </p:nvSpPr>
        <p:spPr>
          <a:xfrm>
            <a:off x="457200" y="3291840"/>
            <a:ext cx="3931920" cy="1051560"/>
          </a:xfrm>
          <a:prstGeom prst="rect">
            <a:avLst>
              <a:gd name="adj" fmla="val 4348"/>
            </a:avLst>
          </a:prstGeom>
          <a:solidFill>
            <a:srgbClr val="F9F6F1"/>
          </a:solidFill>
          <a:ln/>
          <a:effectLst>
            <a:outerShdw sx="100000" sy="100000" kx="0" ky="0" algn="bl" rotWithShape="0" blurRad="76200" dist="25400" dir="8100000">
              <a:srgbClr val="000000">
                <a:alpha val="10000"/>
              </a:srgbClr>
            </a:outerShdw>
          </a:effectLst>
        </p:spPr>
        <p:txBody>
          <a:bodyPr/>
          <a:p/>
        </p:txBody>
      </p:sp>
      <p:sp>
        <p:nvSpPr>
          <p:cNvPr id="12" name="Shape 10"/>
          <p:cNvSpPr/>
          <p:nvPr/>
        </p:nvSpPr>
        <p:spPr>
          <a:xfrm>
            <a:off x="457200" y="3291840"/>
            <a:ext cx="54864" cy="1051560"/>
          </a:xfrm>
          <a:prstGeom prst="rect">
            <a:avLst/>
          </a:prstGeom>
          <a:solidFill>
            <a:srgbClr val="1A5276"/>
          </a:solidFill>
          <a:ln/>
        </p:spPr>
        <p:txBody>
          <a:bodyPr/>
          <a:p/>
        </p:txBody>
      </p:sp>
      <p:sp>
        <p:nvSpPr>
          <p:cNvPr id="13" name="Text 11"/>
          <p:cNvSpPr/>
          <p:nvPr/>
        </p:nvSpPr>
        <p:spPr>
          <a:xfrm>
            <a:off x="640080" y="342900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Infrastructuur</a:t>
            </a:r>
            <a:endParaRPr lang="en-US" sz="2000" dirty="0"/>
          </a:p>
        </p:txBody>
      </p:sp>
      <p:sp>
        <p:nvSpPr>
          <p:cNvPr id="14" name="Text 12"/>
          <p:cNvSpPr/>
          <p:nvPr/>
        </p:nvSpPr>
        <p:spPr>
          <a:xfrm>
            <a:off x="640080" y="3840480"/>
            <a:ext cx="3611880" cy="365760"/>
          </a:xfrm>
          <a:prstGeom prst="rect">
            <a:avLst/>
          </a:prstGeom>
          <a:noFill/>
          <a:ln/>
        </p:spPr>
        <p:txBody>
          <a:bodyPr wrap="square" rtlCol="0" anchor="t"/>
          <a:lstStyle/>
          <a:p>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Goede havens, spoorlijnen, wegen</a:t>
            </a:r>
            <a:endParaRPr lang="en-US" sz="1400" dirty="0"/>
          </a:p>
        </p:txBody>
      </p:sp>
      <p:sp>
        <p:nvSpPr>
          <p:cNvPr id="15" name="Shape 13"/>
          <p:cNvSpPr/>
          <p:nvPr/>
        </p:nvSpPr>
        <p:spPr>
          <a:xfrm>
            <a:off x="4754880" y="914400"/>
            <a:ext cx="3931920" cy="1051560"/>
          </a:xfrm>
          <a:prstGeom prst="rect">
            <a:avLst>
              <a:gd name="adj" fmla="val 4348"/>
            </a:avLst>
          </a:prstGeom>
          <a:solidFill>
            <a:srgbClr val="F9F6F1"/>
          </a:solidFill>
          <a:ln/>
          <a:effectLst>
            <a:outerShdw sx="100000" sy="100000" kx="0" ky="0" algn="bl" rotWithShape="0" blurRad="76200" dist="25400" dir="8100000">
              <a:srgbClr val="000000">
                <a:alpha val="10000"/>
              </a:srgbClr>
            </a:outerShdw>
          </a:effectLst>
        </p:spPr>
        <p:txBody>
          <a:bodyPr/>
          <a:p/>
        </p:txBody>
      </p:sp>
      <p:sp>
        <p:nvSpPr>
          <p:cNvPr id="16" name="Shape 14"/>
          <p:cNvSpPr/>
          <p:nvPr/>
        </p:nvSpPr>
        <p:spPr>
          <a:xfrm>
            <a:off x="4754880" y="914400"/>
            <a:ext cx="54864" cy="1051560"/>
          </a:xfrm>
          <a:prstGeom prst="rect">
            <a:avLst/>
          </a:prstGeom>
          <a:solidFill>
            <a:srgbClr val="1A5276"/>
          </a:solidFill>
          <a:ln/>
        </p:spPr>
        <p:txBody>
          <a:bodyPr/>
          <a:p/>
        </p:txBody>
      </p:sp>
      <p:sp>
        <p:nvSpPr>
          <p:cNvPr id="17" name="Text 15"/>
          <p:cNvSpPr/>
          <p:nvPr/>
        </p:nvSpPr>
        <p:spPr>
          <a:xfrm>
            <a:off x="4937760" y="105156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Handelsblok</a:t>
            </a:r>
            <a:endParaRPr lang="en-US" sz="2000" dirty="0"/>
          </a:p>
        </p:txBody>
      </p:sp>
      <p:sp>
        <p:nvSpPr>
          <p:cNvPr id="18" name="Text 16"/>
          <p:cNvSpPr/>
          <p:nvPr/>
        </p:nvSpPr>
        <p:spPr>
          <a:xfrm>
            <a:off x="4937760" y="1463040"/>
            <a:ext cx="3611880" cy="365760"/>
          </a:xfrm>
          <a:prstGeom prst="rect">
            <a:avLst/>
          </a:prstGeom>
          <a:noFill/>
          <a:ln/>
        </p:spPr>
        <p:txBody>
          <a:bodyPr wrap="square" rtlCol="0" anchor="t"/>
          <a:lstStyle/>
          <a:p>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EU-lid → geen handelsbarrières</a:t>
            </a:r>
            <a:endParaRPr lang="en-US" sz="1400" dirty="0"/>
          </a:p>
        </p:txBody>
      </p:sp>
      <p:sp>
        <p:nvSpPr>
          <p:cNvPr id="19" name="Shape 17"/>
          <p:cNvSpPr/>
          <p:nvPr/>
        </p:nvSpPr>
        <p:spPr>
          <a:xfrm>
            <a:off x="4754880" y="2103120"/>
            <a:ext cx="3931920" cy="1051560"/>
          </a:xfrm>
          <a:prstGeom prst="rect">
            <a:avLst>
              <a:gd name="adj" fmla="val 4348"/>
            </a:avLst>
          </a:prstGeom>
          <a:solidFill>
            <a:srgbClr val="F9F6F1"/>
          </a:solidFill>
          <a:ln/>
          <a:effectLst>
            <a:outerShdw sx="100000" sy="100000" kx="0" ky="0" algn="bl" rotWithShape="0" blurRad="76200" dist="25400" dir="8100000">
              <a:srgbClr val="000000">
                <a:alpha val="10000"/>
              </a:srgbClr>
            </a:outerShdw>
          </a:effectLst>
        </p:spPr>
        <p:txBody>
          <a:bodyPr/>
          <a:p/>
        </p:txBody>
      </p:sp>
      <p:sp>
        <p:nvSpPr>
          <p:cNvPr id="20" name="Shape 18"/>
          <p:cNvSpPr/>
          <p:nvPr/>
        </p:nvSpPr>
        <p:spPr>
          <a:xfrm>
            <a:off x="4754880" y="2103120"/>
            <a:ext cx="54864" cy="1051560"/>
          </a:xfrm>
          <a:prstGeom prst="rect">
            <a:avLst/>
          </a:prstGeom>
          <a:solidFill>
            <a:srgbClr val="1A5276"/>
          </a:solidFill>
          <a:ln/>
        </p:spPr>
        <p:txBody>
          <a:bodyPr/>
          <a:p/>
        </p:txBody>
      </p:sp>
      <p:sp>
        <p:nvSpPr>
          <p:cNvPr id="21" name="Text 19"/>
          <p:cNvSpPr/>
          <p:nvPr/>
        </p:nvSpPr>
        <p:spPr>
          <a:xfrm>
            <a:off x="4937760" y="224028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Combinatie</a:t>
            </a:r>
            <a:endParaRPr lang="en-US" sz="2000" dirty="0"/>
          </a:p>
        </p:txBody>
      </p:sp>
      <p:sp>
        <p:nvSpPr>
          <p:cNvPr id="22" name="Text 20"/>
          <p:cNvSpPr/>
          <p:nvPr/>
        </p:nvSpPr>
        <p:spPr>
          <a:xfrm>
            <a:off x="4937760" y="2651760"/>
            <a:ext cx="3611880" cy="365760"/>
          </a:xfrm>
          <a:prstGeom prst="rect">
            <a:avLst/>
          </a:prstGeom>
          <a:noFill/>
          <a:ln/>
        </p:spPr>
        <p:txBody>
          <a:bodyPr wrap="square" rtlCol="0" anchor="t"/>
          <a:lstStyle/>
          <a:p>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Meerdere factoren versterken elkaar</a:t>
            </a:r>
            <a:endParaRPr lang="en-US" sz="1400" dirty="0"/>
          </a:p>
        </p:txBody>
      </p:sp>
      <p:sp>
        <p:nvSpPr>
          <p:cNvPr id="23" name="Shape 21"/>
          <p:cNvSpPr/>
          <p:nvPr/>
        </p:nvSpPr>
        <p:spPr>
          <a:xfrm>
            <a:off x="4754880" y="3291840"/>
            <a:ext cx="3931920" cy="1051560"/>
          </a:xfrm>
          <a:prstGeom prst="rect">
            <a:avLst>
              <a:gd name="adj" fmla="val 4348"/>
            </a:avLst>
          </a:prstGeom>
          <a:solidFill>
            <a:srgbClr val="EBF5FB"/>
          </a:solidFill>
          <a:ln/>
          <a:effectLst>
            <a:outerShdw sx="100000" sy="100000" kx="0" ky="0" algn="bl" rotWithShape="0" blurRad="76200" dist="25400" dir="8100000">
              <a:srgbClr val="000000">
                <a:alpha val="10000"/>
              </a:srgbClr>
            </a:outerShdw>
          </a:effectLst>
        </p:spPr>
        <p:txBody>
          <a:bodyPr/>
          <a:p/>
        </p:txBody>
      </p:sp>
      <p:sp>
        <p:nvSpPr>
          <p:cNvPr id="24" name="Shape 22"/>
          <p:cNvSpPr/>
          <p:nvPr/>
        </p:nvSpPr>
        <p:spPr>
          <a:xfrm>
            <a:off x="4754880" y="3291840"/>
            <a:ext cx="54864" cy="1051560"/>
          </a:xfrm>
          <a:prstGeom prst="rect">
            <a:avLst/>
          </a:prstGeom>
          <a:solidFill>
            <a:srgbClr val="154360"/>
          </a:solidFill>
          <a:ln/>
        </p:spPr>
        <p:txBody>
          <a:bodyPr/>
          <a:p/>
        </p:txBody>
      </p:sp>
      <p:sp>
        <p:nvSpPr>
          <p:cNvPr id="25" name="Text 23"/>
          <p:cNvSpPr/>
          <p:nvPr/>
        </p:nvSpPr>
        <p:spPr>
          <a:xfrm>
            <a:off x="4937760" y="3383280"/>
            <a:ext cx="3611880" cy="320040"/>
          </a:xfrm>
          <a:prstGeom prst="rect">
            <a:avLst/>
          </a:prstGeom>
          <a:noFill/>
          <a:ln/>
        </p:spPr>
        <p:txBody>
          <a:bodyPr wrap="square" rtlCol="0" anchor="ctr"/>
          <a:lstStyle/>
          <a:p>
            <a:pPr indent="0" marL="0">
              <a:buNone/>
            </a:pPr>
            <a:r>
              <a:rPr lang="en-US" sz="1600" b="1" dirty="0">
                <a:solidFill>
                  <a:srgbClr val="154360"/>
                </a:solidFill>
                <a:latin typeface="Arial" pitchFamily="34" charset="0"/>
                <a:ea typeface="Arial" pitchFamily="34" charset="-122"/>
                <a:cs typeface="Arial" pitchFamily="34" charset="-120"/>
              </a:rPr>
              <a:t>Voorbeeld: Rotterdam</a:t>
            </a:r>
            <a:endParaRPr lang="en-US" sz="1600" dirty="0"/>
          </a:p>
        </p:txBody>
      </p:sp>
      <p:sp>
        <p:nvSpPr>
          <p:cNvPr id="26" name="Text 24"/>
          <p:cNvSpPr/>
          <p:nvPr/>
        </p:nvSpPr>
        <p:spPr>
          <a:xfrm>
            <a:off x="4937760" y="3749040"/>
            <a:ext cx="3611880" cy="45720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Alle 5 factoren aanwezig → grootste haven van Europa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Omzet vs. vrachtwaarde</a:t>
            </a:r>
            <a:endParaRPr lang="en-US" sz="2400" dirty="0"/>
          </a:p>
        </p:txBody>
      </p:sp>
      <p:sp>
        <p:nvSpPr>
          <p:cNvPr id="3" name="Shape 1"/>
          <p:cNvSpPr/>
          <p:nvPr/>
        </p:nvSpPr>
        <p:spPr>
          <a:xfrm>
            <a:off x="457200" y="1005840"/>
            <a:ext cx="3931920" cy="2377440"/>
          </a:xfrm>
          <a:prstGeom prst="rect">
            <a:avLst>
              <a:gd name="adj" fmla="val 1923"/>
            </a:avLst>
          </a:prstGeom>
          <a:solidFill>
            <a:srgbClr val="F9F6F1"/>
          </a:solidFill>
          <a:ln/>
          <a:effectLst>
            <a:outerShdw sx="100000" sy="100000" kx="0" ky="0" algn="bl" rotWithShape="0" blurRad="76200" dist="25400" dir="8100000">
              <a:srgbClr val="000000">
                <a:alpha val="10000"/>
              </a:srgbClr>
            </a:outerShdw>
          </a:effectLst>
        </p:spPr>
        <p:txBody>
          <a:bodyPr/>
          <a:p/>
        </p:txBody>
      </p:sp>
      <p:sp>
        <p:nvSpPr>
          <p:cNvPr id="4" name="Shape 2"/>
          <p:cNvSpPr/>
          <p:nvPr/>
        </p:nvSpPr>
        <p:spPr>
          <a:xfrm>
            <a:off x="457200" y="1005840"/>
            <a:ext cx="54864" cy="2377440"/>
          </a:xfrm>
          <a:prstGeom prst="rect">
            <a:avLst/>
          </a:prstGeom>
          <a:solidFill>
            <a:srgbClr val="1A5276"/>
          </a:solidFill>
          <a:ln/>
        </p:spPr>
        <p:txBody>
          <a:bodyPr/>
          <a:p/>
        </p:txBody>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Havenomzet</a:t>
            </a:r>
            <a:endParaRPr lang="en-US" sz="2000" dirty="0"/>
          </a:p>
        </p:txBody>
      </p:sp>
      <p:sp>
        <p:nvSpPr>
          <p:cNvPr id="6" name="Text 4"/>
          <p:cNvSpPr/>
          <p:nvPr/>
        </p:nvSpPr>
        <p:spPr>
          <a:xfrm>
            <a:off x="640080" y="1554480"/>
            <a:ext cx="3611880" cy="169164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Inkomsten uit </a:t>
            </a:r>
            <a:pPr algn="l" indent="0" marL="0">
              <a:lnSpc>
                <a:spcPct val="115000"/>
              </a:lnSpc>
              <a:buNone/>
            </a:pPr>
            <a:r>
              <a:rPr lang="en-US" sz="1400" b="1" dirty="0">
                <a:solidFill>
                  <a:srgbClr val="2D3748"/>
                </a:solidFill>
                <a:latin typeface="Arial" pitchFamily="34" charset="0"/>
                <a:ea typeface="Arial" pitchFamily="34" charset="-122"/>
                <a:cs typeface="Arial" pitchFamily="34" charset="-120"/>
              </a:rPr>
              <a:t>dienstverlening</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a:t>
            </a:r>
            <a:endParaRPr lang="en-US" sz="1400" dirty="0"/>
          </a:p>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laden, lossen, opslaan.</a:t>
            </a:r>
            <a:endParaRPr lang="en-US" sz="1400" dirty="0"/>
          </a:p>
          <a:p>
            <a:pPr algn="l" indent="0" marL="0">
              <a:lnSpc>
                <a:spcPct val="115000"/>
              </a:lnSpc>
              <a:buNone/>
            </a:pPr>
            <a:endParaRPr lang="en-US" sz="1400" dirty="0"/>
          </a:p>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Gaat naar de </a:t>
            </a:r>
            <a:endParaRPr lang="en-US" sz="1400" dirty="0"/>
          </a:p>
          <a:p>
            <a:pPr algn="l" indent="0" marL="0">
              <a:lnSpc>
                <a:spcPct val="115000"/>
              </a:lnSpc>
              <a:buNone/>
            </a:pPr>
            <a:r>
              <a:rPr lang="en-US" sz="1400" b="1" dirty="0">
                <a:solidFill>
                  <a:srgbClr val="2D3748"/>
                </a:solidFill>
                <a:latin typeface="Arial" pitchFamily="34" charset="0"/>
                <a:ea typeface="Arial" pitchFamily="34" charset="-122"/>
                <a:cs typeface="Arial" pitchFamily="34" charset="-120"/>
              </a:rPr>
              <a:t>haven/havenbedrijf</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a:t>
            </a:r>
            <a:endParaRPr lang="en-US" sz="1400" dirty="0"/>
          </a:p>
        </p:txBody>
      </p:sp>
      <p:sp>
        <p:nvSpPr>
          <p:cNvPr id="7" name="Shape 5"/>
          <p:cNvSpPr/>
          <p:nvPr/>
        </p:nvSpPr>
        <p:spPr>
          <a:xfrm>
            <a:off x="4754880" y="1005840"/>
            <a:ext cx="3931920" cy="2377440"/>
          </a:xfrm>
          <a:prstGeom prst="rect">
            <a:avLst>
              <a:gd name="adj" fmla="val 1923"/>
            </a:avLst>
          </a:prstGeom>
          <a:solidFill>
            <a:srgbClr val="FEF5E7"/>
          </a:solidFill>
          <a:ln/>
          <a:effectLst>
            <a:outerShdw sx="100000" sy="100000" kx="0" ky="0" algn="bl" rotWithShape="0" blurRad="76200" dist="25400" dir="8100000">
              <a:srgbClr val="000000">
                <a:alpha val="10000"/>
              </a:srgbClr>
            </a:outerShdw>
          </a:effectLst>
        </p:spPr>
        <p:txBody>
          <a:bodyPr/>
          <a:p/>
        </p:txBody>
      </p:sp>
      <p:sp>
        <p:nvSpPr>
          <p:cNvPr id="8" name="Shape 6"/>
          <p:cNvSpPr/>
          <p:nvPr/>
        </p:nvSpPr>
        <p:spPr>
          <a:xfrm>
            <a:off x="4754880" y="1005840"/>
            <a:ext cx="54864" cy="2377440"/>
          </a:xfrm>
          <a:prstGeom prst="rect">
            <a:avLst/>
          </a:prstGeom>
          <a:solidFill>
            <a:srgbClr val="E67E22"/>
          </a:solidFill>
          <a:ln/>
        </p:spPr>
        <p:txBody>
          <a:bodyPr/>
          <a:p/>
        </p:txBody>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E67E22"/>
                </a:solidFill>
                <a:latin typeface="Arial" pitchFamily="34" charset="0"/>
                <a:ea typeface="Arial" pitchFamily="34" charset="-122"/>
                <a:cs typeface="Arial" pitchFamily="34" charset="-120"/>
              </a:rPr>
              <a:t>Vrachtwaarde</a:t>
            </a:r>
            <a:endParaRPr lang="en-US" sz="2000" dirty="0"/>
          </a:p>
        </p:txBody>
      </p:sp>
      <p:sp>
        <p:nvSpPr>
          <p:cNvPr id="10" name="Text 8"/>
          <p:cNvSpPr/>
          <p:nvPr/>
        </p:nvSpPr>
        <p:spPr>
          <a:xfrm>
            <a:off x="4937760" y="1554480"/>
            <a:ext cx="3611880" cy="169164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Totale </a:t>
            </a:r>
            <a:pPr algn="l" indent="0" marL="0">
              <a:lnSpc>
                <a:spcPct val="115000"/>
              </a:lnSpc>
              <a:buNone/>
            </a:pPr>
            <a:r>
              <a:rPr lang="en-US" sz="1400" b="1" dirty="0">
                <a:solidFill>
                  <a:srgbClr val="2D3748"/>
                </a:solidFill>
                <a:latin typeface="Arial" pitchFamily="34" charset="0"/>
                <a:ea typeface="Arial" pitchFamily="34" charset="-122"/>
                <a:cs typeface="Arial" pitchFamily="34" charset="-120"/>
              </a:rPr>
              <a:t>waarde van de goederen</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 in de schepen.</a:t>
            </a:r>
            <a:endParaRPr lang="en-US" sz="1400" dirty="0"/>
          </a:p>
          <a:p>
            <a:pPr algn="l" indent="0" marL="0">
              <a:lnSpc>
                <a:spcPct val="115000"/>
              </a:lnSpc>
              <a:buNone/>
            </a:pPr>
            <a:endParaRPr lang="en-US" sz="1400" dirty="0"/>
          </a:p>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Gaat naar de </a:t>
            </a:r>
            <a:endParaRPr lang="en-US" sz="1400" dirty="0"/>
          </a:p>
          <a:p>
            <a:pPr algn="l" indent="0" marL="0">
              <a:lnSpc>
                <a:spcPct val="115000"/>
              </a:lnSpc>
              <a:buNone/>
            </a:pPr>
            <a:r>
              <a:rPr lang="en-US" sz="1400" b="1" dirty="0">
                <a:solidFill>
                  <a:srgbClr val="2D3748"/>
                </a:solidFill>
                <a:latin typeface="Arial" pitchFamily="34" charset="0"/>
                <a:ea typeface="Arial" pitchFamily="34" charset="-122"/>
                <a:cs typeface="Arial" pitchFamily="34" charset="-120"/>
              </a:rPr>
              <a:t>eigenaar van de vracht</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457200" y="3657600"/>
            <a:ext cx="8229600" cy="640080"/>
          </a:xfrm>
          <a:prstGeom prst="rect">
            <a:avLst>
              <a:gd name="adj" fmla="val 7143"/>
            </a:avLst>
          </a:prstGeom>
          <a:solidFill>
            <a:srgbClr val="FDE8E8"/>
          </a:solidFill>
          <a:ln/>
        </p:spPr>
        <p:txBody>
          <a:bodyPr/>
          <a:p/>
        </p:txBody>
      </p:sp>
      <p:sp>
        <p:nvSpPr>
          <p:cNvPr id="12" name="Shape 10"/>
          <p:cNvSpPr/>
          <p:nvPr/>
        </p:nvSpPr>
        <p:spPr>
          <a:xfrm>
            <a:off x="457200" y="3657600"/>
            <a:ext cx="54864" cy="640080"/>
          </a:xfrm>
          <a:prstGeom prst="rect">
            <a:avLst/>
          </a:prstGeom>
          <a:solidFill>
            <a:srgbClr val="D9534F"/>
          </a:solidFill>
          <a:ln/>
        </p:spPr>
        <p:txBody>
          <a:bodyPr/>
          <a:p/>
        </p:txBody>
      </p:sp>
      <p:sp>
        <p:nvSpPr>
          <p:cNvPr id="13" name="Text 11"/>
          <p:cNvSpPr/>
          <p:nvPr/>
        </p:nvSpPr>
        <p:spPr>
          <a:xfrm>
            <a:off x="658368" y="3657600"/>
            <a:ext cx="7863840" cy="640080"/>
          </a:xfrm>
          <a:prstGeom prst="rect">
            <a:avLst/>
          </a:prstGeom>
          <a:noFill/>
          <a:ln/>
        </p:spPr>
        <p:txBody>
          <a:bodyPr wrap="square" rtlCol="0" anchor="ctr"/>
          <a:lstStyle/>
          <a:p>
            <a:pPr algn="l" indent="0" marL="0">
              <a:buNone/>
            </a:pPr>
            <a:r>
              <a:rPr lang="en-US" sz="1300" b="1" dirty="0">
                <a:solidFill>
                  <a:srgbClr val="D9534F"/>
                </a:solidFill>
                <a:latin typeface="Arial" pitchFamily="34" charset="0"/>
                <a:ea typeface="Arial" pitchFamily="34" charset="-122"/>
                <a:cs typeface="Arial" pitchFamily="34" charset="-120"/>
              </a:rPr>
              <a:t>Valkuil: </a:t>
            </a:r>
            <a:pPr algn="l" indent="0" marL="0">
              <a:buNone/>
            </a:pPr>
            <a:r>
              <a:rPr lang="en-US" sz="1300" dirty="0">
                <a:solidFill>
                  <a:srgbClr val="2D3748"/>
                </a:solidFill>
                <a:latin typeface="Arial" pitchFamily="34" charset="0"/>
                <a:ea typeface="Arial" pitchFamily="34" charset="-122"/>
                <a:cs typeface="Arial" pitchFamily="34" charset="-120"/>
              </a:rPr>
              <a:t>€ 707,2 mln / 29.476 schepen = € 23.992 is géén “omzet per schip” in de zin van vrachtwaarde!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Effecten van arbeidsmigratie</a:t>
            </a:r>
            <a:endParaRPr lang="en-US" sz="2400" dirty="0"/>
          </a:p>
        </p:txBody>
      </p:sp>
      <p:sp>
        <p:nvSpPr>
          <p:cNvPr id="3" name="Shape 1"/>
          <p:cNvSpPr/>
          <p:nvPr/>
        </p:nvSpPr>
        <p:spPr>
          <a:xfrm>
            <a:off x="685800" y="1051560"/>
            <a:ext cx="3474720" cy="457200"/>
          </a:xfrm>
          <a:prstGeom prst="rect">
            <a:avLst>
              <a:gd name="adj" fmla="val 10000"/>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txBody>
          <a:bodyPr/>
          <a:p/>
        </p:txBody>
      </p:sp>
      <p:sp>
        <p:nvSpPr>
          <p:cNvPr id="4" name="Text 2"/>
          <p:cNvSpPr/>
          <p:nvPr/>
        </p:nvSpPr>
        <p:spPr>
          <a:xfrm>
            <a:off x="822960" y="1051560"/>
            <a:ext cx="3200400" cy="457200"/>
          </a:xfrm>
          <a:prstGeom prst="rect">
            <a:avLst/>
          </a:prstGeom>
          <a:noFill/>
          <a:ln/>
        </p:spPr>
        <p:txBody>
          <a:bodyPr wrap="square" rtlCol="0" anchor="ctr"/>
          <a:lstStyle/>
          <a:p>
            <a:pPr algn="l" indent="0" marL="0">
              <a:buNone/>
            </a:pPr>
            <a:r>
              <a:rPr lang="en-US" sz="1300" dirty="0">
                <a:solidFill>
                  <a:srgbClr val="2D3748"/>
                </a:solidFill>
                <a:latin typeface="Arial" pitchFamily="34" charset="0"/>
                <a:ea typeface="Arial" pitchFamily="34" charset="-122"/>
                <a:cs typeface="Arial" pitchFamily="34" charset="-120"/>
              </a:rPr>
              <a:t>Buitenlandse werknemers komen</a:t>
            </a:r>
            <a:endParaRPr lang="en-US" sz="1300" dirty="0"/>
          </a:p>
        </p:txBody>
      </p:sp>
      <p:sp>
        <p:nvSpPr>
          <p:cNvPr id="5" name="Text 3"/>
          <p:cNvSpPr/>
          <p:nvPr/>
        </p:nvSpPr>
        <p:spPr>
          <a:xfrm>
            <a:off x="685800" y="1508760"/>
            <a:ext cx="3474720" cy="164592"/>
          </a:xfrm>
          <a:prstGeom prst="rect">
            <a:avLst/>
          </a:prstGeom>
          <a:noFill/>
          <a:ln/>
        </p:spPr>
        <p:txBody>
          <a:bodyPr wrap="square" rtlCol="0" anchor="ctr"/>
          <a:lstStyle/>
          <a:p>
            <a:pPr algn="ctr" indent="0" marL="0">
              <a:buNone/>
            </a:pPr>
            <a:r>
              <a:rPr lang="en-US" sz="1400" b="1" dirty="0">
                <a:solidFill>
                  <a:srgbClr val="1A5276"/>
                </a:solidFill>
                <a:latin typeface="Arial" pitchFamily="34" charset="0"/>
                <a:ea typeface="Arial" pitchFamily="34" charset="-122"/>
                <a:cs typeface="Arial" pitchFamily="34" charset="-120"/>
              </a:rPr>
              <a:t>↓</a:t>
            </a:r>
            <a:endParaRPr lang="en-US" sz="1400" dirty="0"/>
          </a:p>
        </p:txBody>
      </p:sp>
      <p:sp>
        <p:nvSpPr>
          <p:cNvPr id="6" name="Shape 4"/>
          <p:cNvSpPr/>
          <p:nvPr/>
        </p:nvSpPr>
        <p:spPr>
          <a:xfrm>
            <a:off x="685800" y="1673352"/>
            <a:ext cx="3474720" cy="457200"/>
          </a:xfrm>
          <a:prstGeom prst="rect">
            <a:avLst>
              <a:gd name="adj" fmla="val 10000"/>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txBody>
          <a:bodyPr/>
          <a:p/>
        </p:txBody>
      </p:sp>
      <p:sp>
        <p:nvSpPr>
          <p:cNvPr id="7" name="Text 5"/>
          <p:cNvSpPr/>
          <p:nvPr/>
        </p:nvSpPr>
        <p:spPr>
          <a:xfrm>
            <a:off x="822960" y="1673352"/>
            <a:ext cx="3200400" cy="457200"/>
          </a:xfrm>
          <a:prstGeom prst="rect">
            <a:avLst/>
          </a:prstGeom>
          <a:noFill/>
          <a:ln/>
        </p:spPr>
        <p:txBody>
          <a:bodyPr wrap="square" rtlCol="0" anchor="ctr"/>
          <a:lstStyle/>
          <a:p>
            <a:pPr algn="l" indent="0" marL="0">
              <a:buNone/>
            </a:pPr>
            <a:r>
              <a:rPr lang="en-US" sz="1300" dirty="0">
                <a:solidFill>
                  <a:srgbClr val="2D3748"/>
                </a:solidFill>
                <a:latin typeface="Arial" pitchFamily="34" charset="0"/>
                <a:ea typeface="Arial" pitchFamily="34" charset="-122"/>
                <a:cs typeface="Arial" pitchFamily="34" charset="-120"/>
              </a:rPr>
              <a:t>Arbeidsaanbod stijgt</a:t>
            </a:r>
            <a:endParaRPr lang="en-US" sz="1300" dirty="0"/>
          </a:p>
        </p:txBody>
      </p:sp>
      <p:sp>
        <p:nvSpPr>
          <p:cNvPr id="8" name="Text 6"/>
          <p:cNvSpPr/>
          <p:nvPr/>
        </p:nvSpPr>
        <p:spPr>
          <a:xfrm>
            <a:off x="685800" y="2130552"/>
            <a:ext cx="3474720" cy="164592"/>
          </a:xfrm>
          <a:prstGeom prst="rect">
            <a:avLst/>
          </a:prstGeom>
          <a:noFill/>
          <a:ln/>
        </p:spPr>
        <p:txBody>
          <a:bodyPr wrap="square" rtlCol="0" anchor="ctr"/>
          <a:lstStyle/>
          <a:p>
            <a:pPr algn="ctr" indent="0" marL="0">
              <a:buNone/>
            </a:pPr>
            <a:r>
              <a:rPr lang="en-US" sz="1400" b="1" dirty="0">
                <a:solidFill>
                  <a:srgbClr val="1A5276"/>
                </a:solidFill>
                <a:latin typeface="Arial" pitchFamily="34" charset="0"/>
                <a:ea typeface="Arial" pitchFamily="34" charset="-122"/>
                <a:cs typeface="Arial" pitchFamily="34" charset="-120"/>
              </a:rPr>
              <a:t>↓</a:t>
            </a:r>
            <a:endParaRPr lang="en-US" sz="1400" dirty="0"/>
          </a:p>
        </p:txBody>
      </p:sp>
      <p:sp>
        <p:nvSpPr>
          <p:cNvPr id="9" name="Shape 7"/>
          <p:cNvSpPr/>
          <p:nvPr/>
        </p:nvSpPr>
        <p:spPr>
          <a:xfrm>
            <a:off x="685800" y="2295144"/>
            <a:ext cx="3474720" cy="457200"/>
          </a:xfrm>
          <a:prstGeom prst="rect">
            <a:avLst>
              <a:gd name="adj" fmla="val 10000"/>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txBody>
          <a:bodyPr/>
          <a:p/>
        </p:txBody>
      </p:sp>
      <p:sp>
        <p:nvSpPr>
          <p:cNvPr id="10" name="Text 8"/>
          <p:cNvSpPr/>
          <p:nvPr/>
        </p:nvSpPr>
        <p:spPr>
          <a:xfrm>
            <a:off x="822960" y="2295144"/>
            <a:ext cx="3200400" cy="457200"/>
          </a:xfrm>
          <a:prstGeom prst="rect">
            <a:avLst/>
          </a:prstGeom>
          <a:noFill/>
          <a:ln/>
        </p:spPr>
        <p:txBody>
          <a:bodyPr wrap="square" rtlCol="0" anchor="ctr"/>
          <a:lstStyle/>
          <a:p>
            <a:pPr algn="l" indent="0" marL="0">
              <a:buNone/>
            </a:pPr>
            <a:r>
              <a:rPr lang="en-US" sz="1300" dirty="0">
                <a:solidFill>
                  <a:srgbClr val="2D3748"/>
                </a:solidFill>
                <a:latin typeface="Arial" pitchFamily="34" charset="0"/>
                <a:ea typeface="Arial" pitchFamily="34" charset="-122"/>
                <a:cs typeface="Arial" pitchFamily="34" charset="-120"/>
              </a:rPr>
              <a:t>Aanbodcurve verschuift naar rechts</a:t>
            </a:r>
            <a:endParaRPr lang="en-US" sz="1300" dirty="0"/>
          </a:p>
        </p:txBody>
      </p:sp>
      <p:sp>
        <p:nvSpPr>
          <p:cNvPr id="11" name="Text 9"/>
          <p:cNvSpPr/>
          <p:nvPr/>
        </p:nvSpPr>
        <p:spPr>
          <a:xfrm>
            <a:off x="685800" y="2752344"/>
            <a:ext cx="3474720" cy="164592"/>
          </a:xfrm>
          <a:prstGeom prst="rect">
            <a:avLst/>
          </a:prstGeom>
          <a:noFill/>
          <a:ln/>
        </p:spPr>
        <p:txBody>
          <a:bodyPr wrap="square" rtlCol="0" anchor="ctr"/>
          <a:lstStyle/>
          <a:p>
            <a:pPr algn="ctr" indent="0" marL="0">
              <a:buNone/>
            </a:pPr>
            <a:r>
              <a:rPr lang="en-US" sz="1400" b="1" dirty="0">
                <a:solidFill>
                  <a:srgbClr val="1A5276"/>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685800" y="2916936"/>
            <a:ext cx="3474720" cy="457200"/>
          </a:xfrm>
          <a:prstGeom prst="rect">
            <a:avLst>
              <a:gd name="adj" fmla="val 10000"/>
            </a:avLst>
          </a:prstGeom>
          <a:solidFill>
            <a:srgbClr val="1A5276"/>
          </a:solidFill>
          <a:ln w="12700">
            <a:solidFill>
              <a:srgbClr val="1A5276"/>
            </a:solidFill>
            <a:prstDash val="solid"/>
          </a:ln>
          <a:effectLst>
            <a:outerShdw sx="100000" sy="100000" kx="0" ky="0" algn="bl" rotWithShape="0" blurRad="76200" dist="25400" dir="8100000">
              <a:srgbClr val="000000">
                <a:alpha val="10000"/>
              </a:srgbClr>
            </a:outerShdw>
          </a:effectLst>
        </p:spPr>
        <p:txBody>
          <a:bodyPr/>
          <a:p/>
        </p:txBody>
      </p:sp>
      <p:sp>
        <p:nvSpPr>
          <p:cNvPr id="13" name="Text 11"/>
          <p:cNvSpPr/>
          <p:nvPr/>
        </p:nvSpPr>
        <p:spPr>
          <a:xfrm>
            <a:off x="822960" y="2916936"/>
            <a:ext cx="3200400" cy="457200"/>
          </a:xfrm>
          <a:prstGeom prst="rect">
            <a:avLst/>
          </a:prstGeom>
          <a:noFill/>
          <a:ln/>
        </p:spPr>
        <p:txBody>
          <a:bodyPr wrap="square"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Meer werkgelegenheid (L↑), lager loon (W↓)</a:t>
            </a:r>
            <a:endParaRPr lang="en-US" sz="1300" dirty="0"/>
          </a:p>
        </p:txBody>
      </p:sp>
      <p:sp>
        <p:nvSpPr>
          <p:cNvPr id="14" name="Shape 12"/>
          <p:cNvSpPr/>
          <p:nvPr/>
        </p:nvSpPr>
        <p:spPr>
          <a:xfrm>
            <a:off x="4754880" y="1051560"/>
            <a:ext cx="3931920" cy="1371600"/>
          </a:xfrm>
          <a:prstGeom prst="rect">
            <a:avLst>
              <a:gd name="adj" fmla="val 3333"/>
            </a:avLst>
          </a:prstGeom>
          <a:solidFill>
            <a:srgbClr val="E8F8F0"/>
          </a:solidFill>
          <a:ln/>
          <a:effectLst>
            <a:outerShdw sx="100000" sy="100000" kx="0" ky="0" algn="bl" rotWithShape="0" blurRad="76200" dist="25400" dir="8100000">
              <a:srgbClr val="000000">
                <a:alpha val="10000"/>
              </a:srgbClr>
            </a:outerShdw>
          </a:effectLst>
        </p:spPr>
        <p:txBody>
          <a:bodyPr/>
          <a:p/>
        </p:txBody>
      </p:sp>
      <p:sp>
        <p:nvSpPr>
          <p:cNvPr id="15" name="Shape 13"/>
          <p:cNvSpPr/>
          <p:nvPr/>
        </p:nvSpPr>
        <p:spPr>
          <a:xfrm>
            <a:off x="4754880" y="1051560"/>
            <a:ext cx="54864" cy="1371600"/>
          </a:xfrm>
          <a:prstGeom prst="rect">
            <a:avLst/>
          </a:prstGeom>
          <a:solidFill>
            <a:srgbClr val="1E8449"/>
          </a:solidFill>
          <a:ln/>
        </p:spPr>
        <p:txBody>
          <a:bodyPr/>
          <a:p/>
        </p:txBody>
      </p:sp>
      <p:sp>
        <p:nvSpPr>
          <p:cNvPr id="16" name="Text 14"/>
          <p:cNvSpPr/>
          <p:nvPr/>
        </p:nvSpPr>
        <p:spPr>
          <a:xfrm>
            <a:off x="4937760" y="1188720"/>
            <a:ext cx="3611880" cy="365760"/>
          </a:xfrm>
          <a:prstGeom prst="rect">
            <a:avLst/>
          </a:prstGeom>
          <a:noFill/>
          <a:ln/>
        </p:spPr>
        <p:txBody>
          <a:bodyPr wrap="square" rtlCol="0" anchor="t"/>
          <a:lstStyle/>
          <a:p>
            <a:pPr indent="0" marL="0">
              <a:buNone/>
            </a:pPr>
            <a:r>
              <a:rPr lang="en-US" sz="2000" b="1" dirty="0">
                <a:solidFill>
                  <a:srgbClr val="1E8449"/>
                </a:solidFill>
                <a:latin typeface="Arial" pitchFamily="34" charset="0"/>
                <a:ea typeface="Arial" pitchFamily="34" charset="-122"/>
                <a:cs typeface="Arial" pitchFamily="34" charset="-120"/>
              </a:rPr>
              <a:t>Werkgevers</a:t>
            </a:r>
            <a:endParaRPr lang="en-US" sz="2000" dirty="0"/>
          </a:p>
        </p:txBody>
      </p:sp>
      <p:sp>
        <p:nvSpPr>
          <p:cNvPr id="17" name="Text 15"/>
          <p:cNvSpPr/>
          <p:nvPr/>
        </p:nvSpPr>
        <p:spPr>
          <a:xfrm>
            <a:off x="4937760" y="1600200"/>
            <a:ext cx="3611880" cy="68580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Meer keuze aan personeel</a:t>
            </a:r>
            <a:endParaRPr lang="en-US" sz="1400" dirty="0"/>
          </a:p>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Lagere loonkosten</a:t>
            </a:r>
            <a:endParaRPr lang="en-US" sz="1400" dirty="0"/>
          </a:p>
        </p:txBody>
      </p:sp>
      <p:sp>
        <p:nvSpPr>
          <p:cNvPr id="18" name="Shape 16"/>
          <p:cNvSpPr/>
          <p:nvPr/>
        </p:nvSpPr>
        <p:spPr>
          <a:xfrm>
            <a:off x="4754880" y="2606040"/>
            <a:ext cx="3931920" cy="1371600"/>
          </a:xfrm>
          <a:prstGeom prst="rect">
            <a:avLst>
              <a:gd name="adj" fmla="val 3333"/>
            </a:avLst>
          </a:prstGeom>
          <a:solidFill>
            <a:srgbClr val="FEF5E7"/>
          </a:solidFill>
          <a:ln/>
          <a:effectLst>
            <a:outerShdw sx="100000" sy="100000" kx="0" ky="0" algn="bl" rotWithShape="0" blurRad="76200" dist="25400" dir="8100000">
              <a:srgbClr val="000000">
                <a:alpha val="10000"/>
              </a:srgbClr>
            </a:outerShdw>
          </a:effectLst>
        </p:spPr>
        <p:txBody>
          <a:bodyPr/>
          <a:p/>
        </p:txBody>
      </p:sp>
      <p:sp>
        <p:nvSpPr>
          <p:cNvPr id="19" name="Shape 17"/>
          <p:cNvSpPr/>
          <p:nvPr/>
        </p:nvSpPr>
        <p:spPr>
          <a:xfrm>
            <a:off x="4754880" y="2606040"/>
            <a:ext cx="54864" cy="1371600"/>
          </a:xfrm>
          <a:prstGeom prst="rect">
            <a:avLst/>
          </a:prstGeom>
          <a:solidFill>
            <a:srgbClr val="E67E22"/>
          </a:solidFill>
          <a:ln/>
        </p:spPr>
        <p:txBody>
          <a:bodyPr/>
          <a:p/>
        </p:txBody>
      </p:sp>
      <p:sp>
        <p:nvSpPr>
          <p:cNvPr id="20" name="Text 18"/>
          <p:cNvSpPr/>
          <p:nvPr/>
        </p:nvSpPr>
        <p:spPr>
          <a:xfrm>
            <a:off x="4937760" y="2743200"/>
            <a:ext cx="3611880" cy="365760"/>
          </a:xfrm>
          <a:prstGeom prst="rect">
            <a:avLst/>
          </a:prstGeom>
          <a:noFill/>
          <a:ln/>
        </p:spPr>
        <p:txBody>
          <a:bodyPr wrap="square" rtlCol="0" anchor="t"/>
          <a:lstStyle/>
          <a:p>
            <a:pPr indent="0" marL="0">
              <a:buNone/>
            </a:pPr>
            <a:r>
              <a:rPr lang="en-US" sz="2000" b="1" dirty="0">
                <a:solidFill>
                  <a:srgbClr val="E67E22"/>
                </a:solidFill>
                <a:latin typeface="Arial" pitchFamily="34" charset="0"/>
                <a:ea typeface="Arial" pitchFamily="34" charset="-122"/>
                <a:cs typeface="Arial" pitchFamily="34" charset="-120"/>
              </a:rPr>
              <a:t>Werknemers</a:t>
            </a:r>
            <a:endParaRPr lang="en-US" sz="2000" dirty="0"/>
          </a:p>
        </p:txBody>
      </p:sp>
      <p:sp>
        <p:nvSpPr>
          <p:cNvPr id="21" name="Text 19"/>
          <p:cNvSpPr/>
          <p:nvPr/>
        </p:nvSpPr>
        <p:spPr>
          <a:xfrm>
            <a:off x="4937760" y="3154680"/>
            <a:ext cx="3611880" cy="68580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Meer concurrentie</a:t>
            </a:r>
            <a:endParaRPr lang="en-US" sz="1400" dirty="0"/>
          </a:p>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Lager loon</a:t>
            </a:r>
            <a:endParaRPr lang="en-US" sz="1400" dirty="0"/>
          </a:p>
        </p:txBody>
      </p:sp>
      <p:sp>
        <p:nvSpPr>
          <p:cNvPr id="22" name="Text 20"/>
          <p:cNvSpPr/>
          <p:nvPr/>
        </p:nvSpPr>
        <p:spPr>
          <a:xfrm>
            <a:off x="457200" y="4251960"/>
            <a:ext cx="8229600" cy="365760"/>
          </a:xfrm>
          <a:prstGeom prst="rect">
            <a:avLst/>
          </a:prstGeom>
          <a:noFill/>
          <a:ln/>
        </p:spPr>
        <p:txBody>
          <a:bodyPr wrap="square" rtlCol="0" anchor="ctr"/>
          <a:lstStyle/>
          <a:p>
            <a:pPr indent="0" marL="0">
              <a:buNone/>
            </a:pPr>
            <a:r>
              <a:rPr lang="en-US" sz="1200" i="1" dirty="0">
                <a:solidFill>
                  <a:srgbClr val="718096"/>
                </a:solidFill>
                <a:latin typeface="Arial" pitchFamily="34" charset="0"/>
                <a:ea typeface="Arial" pitchFamily="34" charset="-122"/>
                <a:cs typeface="Arial" pitchFamily="34" charset="-120"/>
              </a:rPr>
              <a:t>Let op: buitenlandse werknemers behoren tot het binnenlandse arbeidsaanbod, niet tot de arbeidsvraag.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De graviteitsvergelijking</a:t>
            </a:r>
            <a:endParaRPr lang="en-US" sz="2400" dirty="0"/>
          </a:p>
        </p:txBody>
      </p:sp>
      <p:sp>
        <p:nvSpPr>
          <p:cNvPr id="3" name="Text 1"/>
          <p:cNvSpPr/>
          <p:nvPr/>
        </p:nvSpPr>
        <p:spPr>
          <a:xfrm>
            <a:off x="457200" y="868680"/>
            <a:ext cx="8229600" cy="365760"/>
          </a:xfrm>
          <a:prstGeom prst="rect">
            <a:avLst/>
          </a:prstGeom>
          <a:noFill/>
          <a:ln/>
        </p:spPr>
        <p:txBody>
          <a:bodyPr wrap="square" rtlCol="0" anchor="ctr"/>
          <a:lstStyle/>
          <a:p>
            <a:pPr indent="0" marL="0">
              <a:buNone/>
            </a:pPr>
            <a:r>
              <a:rPr lang="en-US" sz="1600" i="1" dirty="0">
                <a:solidFill>
                  <a:srgbClr val="1A5276"/>
                </a:solidFill>
                <a:latin typeface="Arial" pitchFamily="34" charset="0"/>
                <a:ea typeface="Arial" pitchFamily="34" charset="-122"/>
                <a:cs typeface="Arial" pitchFamily="34" charset="-120"/>
              </a:rPr>
              <a:t>Wat bepaalt hoeveel landen met elkaar handelen?</a:t>
            </a:r>
            <a:endParaRPr lang="en-US" sz="1600" dirty="0"/>
          </a:p>
        </p:txBody>
      </p:sp>
      <p:sp>
        <p:nvSpPr>
          <p:cNvPr id="4" name="Shape 2"/>
          <p:cNvSpPr/>
          <p:nvPr/>
        </p:nvSpPr>
        <p:spPr>
          <a:xfrm>
            <a:off x="594360" y="1508760"/>
            <a:ext cx="365760" cy="365760"/>
          </a:xfrm>
          <a:prstGeom prst="ellipse">
            <a:avLst/>
          </a:prstGeom>
          <a:solidFill>
            <a:srgbClr val="1A5276"/>
          </a:solidFill>
          <a:ln/>
        </p:spPr>
        <p:txBody>
          <a:bodyPr/>
          <a:p/>
        </p:txBody>
      </p:sp>
      <p:sp>
        <p:nvSpPr>
          <p:cNvPr id="5" name="Text 3"/>
          <p:cNvSpPr/>
          <p:nvPr/>
        </p:nvSpPr>
        <p:spPr>
          <a:xfrm>
            <a:off x="594360" y="150876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Shape 4"/>
          <p:cNvSpPr/>
          <p:nvPr/>
        </p:nvSpPr>
        <p:spPr>
          <a:xfrm>
            <a:off x="1051560" y="1417320"/>
            <a:ext cx="3200400" cy="960120"/>
          </a:xfrm>
          <a:prstGeom prst="rect">
            <a:avLst>
              <a:gd name="adj" fmla="val 4762"/>
            </a:avLst>
          </a:prstGeom>
          <a:solidFill>
            <a:srgbClr val="F9F6F1"/>
          </a:solidFill>
          <a:ln/>
          <a:effectLst>
            <a:outerShdw sx="100000" sy="100000" kx="0" ky="0" algn="bl" rotWithShape="0" blurRad="76200" dist="25400" dir="8100000">
              <a:srgbClr val="000000">
                <a:alpha val="10000"/>
              </a:srgbClr>
            </a:outerShdw>
          </a:effectLst>
        </p:spPr>
        <p:txBody>
          <a:bodyPr/>
          <a:p/>
        </p:txBody>
      </p:sp>
      <p:sp>
        <p:nvSpPr>
          <p:cNvPr id="7" name="Text 5"/>
          <p:cNvSpPr/>
          <p:nvPr/>
        </p:nvSpPr>
        <p:spPr>
          <a:xfrm>
            <a:off x="1188720" y="1463040"/>
            <a:ext cx="2926080" cy="365760"/>
          </a:xfrm>
          <a:prstGeom prst="rect">
            <a:avLst/>
          </a:prstGeom>
          <a:noFill/>
          <a:ln/>
        </p:spPr>
        <p:txBody>
          <a:bodyPr wrap="square" rtlCol="0" anchor="ctr"/>
          <a:lstStyle/>
          <a:p>
            <a:pPr indent="0" marL="0">
              <a:buNone/>
            </a:pPr>
            <a:r>
              <a:rPr lang="en-US" sz="1600" b="1" dirty="0">
                <a:solidFill>
                  <a:srgbClr val="1A5276"/>
                </a:solidFill>
                <a:latin typeface="Arial" pitchFamily="34" charset="0"/>
                <a:ea typeface="Arial" pitchFamily="34" charset="-122"/>
                <a:cs typeface="Arial" pitchFamily="34" charset="-120"/>
              </a:rPr>
              <a:t>Afstand</a:t>
            </a:r>
            <a:endParaRPr lang="en-US" sz="1600" dirty="0"/>
          </a:p>
        </p:txBody>
      </p:sp>
      <p:sp>
        <p:nvSpPr>
          <p:cNvPr id="8" name="Text 6"/>
          <p:cNvSpPr/>
          <p:nvPr/>
        </p:nvSpPr>
        <p:spPr>
          <a:xfrm>
            <a:off x="1188720" y="1828800"/>
            <a:ext cx="2926080" cy="45720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Hoe kleiner, hoe meer handel</a:t>
            </a:r>
            <a:endParaRPr lang="en-US" sz="1300" dirty="0"/>
          </a:p>
        </p:txBody>
      </p:sp>
      <p:sp>
        <p:nvSpPr>
          <p:cNvPr id="9" name="Shape 7"/>
          <p:cNvSpPr/>
          <p:nvPr/>
        </p:nvSpPr>
        <p:spPr>
          <a:xfrm>
            <a:off x="4709160" y="1508760"/>
            <a:ext cx="365760" cy="365760"/>
          </a:xfrm>
          <a:prstGeom prst="ellipse">
            <a:avLst/>
          </a:prstGeom>
          <a:solidFill>
            <a:srgbClr val="1A5276"/>
          </a:solidFill>
          <a:ln/>
        </p:spPr>
        <p:txBody>
          <a:bodyPr/>
          <a:p/>
        </p:txBody>
      </p:sp>
      <p:sp>
        <p:nvSpPr>
          <p:cNvPr id="10" name="Text 8"/>
          <p:cNvSpPr/>
          <p:nvPr/>
        </p:nvSpPr>
        <p:spPr>
          <a:xfrm>
            <a:off x="4709160" y="150876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Shape 9"/>
          <p:cNvSpPr/>
          <p:nvPr/>
        </p:nvSpPr>
        <p:spPr>
          <a:xfrm>
            <a:off x="5166360" y="1417320"/>
            <a:ext cx="3200400" cy="960120"/>
          </a:xfrm>
          <a:prstGeom prst="rect">
            <a:avLst>
              <a:gd name="adj" fmla="val 4762"/>
            </a:avLst>
          </a:prstGeom>
          <a:solidFill>
            <a:srgbClr val="F9F6F1"/>
          </a:solidFill>
          <a:ln/>
          <a:effectLst>
            <a:outerShdw sx="100000" sy="100000" kx="0" ky="0" algn="bl" rotWithShape="0" blurRad="76200" dist="25400" dir="8100000">
              <a:srgbClr val="000000">
                <a:alpha val="10000"/>
              </a:srgbClr>
            </a:outerShdw>
          </a:effectLst>
        </p:spPr>
        <p:txBody>
          <a:bodyPr/>
          <a:p/>
        </p:txBody>
      </p:sp>
      <p:sp>
        <p:nvSpPr>
          <p:cNvPr id="12" name="Text 10"/>
          <p:cNvSpPr/>
          <p:nvPr/>
        </p:nvSpPr>
        <p:spPr>
          <a:xfrm>
            <a:off x="5303520" y="1463040"/>
            <a:ext cx="2926080" cy="365760"/>
          </a:xfrm>
          <a:prstGeom prst="rect">
            <a:avLst/>
          </a:prstGeom>
          <a:noFill/>
          <a:ln/>
        </p:spPr>
        <p:txBody>
          <a:bodyPr wrap="square" rtlCol="0" anchor="ctr"/>
          <a:lstStyle/>
          <a:p>
            <a:pPr indent="0" marL="0">
              <a:buNone/>
            </a:pPr>
            <a:r>
              <a:rPr lang="en-US" sz="1600" b="1" dirty="0">
                <a:solidFill>
                  <a:srgbClr val="1A5276"/>
                </a:solidFill>
                <a:latin typeface="Arial" pitchFamily="34" charset="0"/>
                <a:ea typeface="Arial" pitchFamily="34" charset="-122"/>
                <a:cs typeface="Arial" pitchFamily="34" charset="-120"/>
              </a:rPr>
              <a:t>Economische omvang</a:t>
            </a:r>
            <a:endParaRPr lang="en-US" sz="1600" dirty="0"/>
          </a:p>
        </p:txBody>
      </p:sp>
      <p:sp>
        <p:nvSpPr>
          <p:cNvPr id="13" name="Text 11"/>
          <p:cNvSpPr/>
          <p:nvPr/>
        </p:nvSpPr>
        <p:spPr>
          <a:xfrm>
            <a:off x="5303520" y="1828800"/>
            <a:ext cx="2926080" cy="45720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Grotere economieen handelen meer</a:t>
            </a:r>
            <a:endParaRPr lang="en-US" sz="1300" dirty="0"/>
          </a:p>
        </p:txBody>
      </p:sp>
      <p:sp>
        <p:nvSpPr>
          <p:cNvPr id="14" name="Shape 12"/>
          <p:cNvSpPr/>
          <p:nvPr/>
        </p:nvSpPr>
        <p:spPr>
          <a:xfrm>
            <a:off x="594360" y="2697480"/>
            <a:ext cx="365760" cy="365760"/>
          </a:xfrm>
          <a:prstGeom prst="ellipse">
            <a:avLst/>
          </a:prstGeom>
          <a:solidFill>
            <a:srgbClr val="1A5276"/>
          </a:solidFill>
          <a:ln/>
        </p:spPr>
        <p:txBody>
          <a:bodyPr/>
          <a:p/>
        </p:txBody>
      </p:sp>
      <p:sp>
        <p:nvSpPr>
          <p:cNvPr id="15" name="Text 13"/>
          <p:cNvSpPr/>
          <p:nvPr/>
        </p:nvSpPr>
        <p:spPr>
          <a:xfrm>
            <a:off x="594360" y="269748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Shape 14"/>
          <p:cNvSpPr/>
          <p:nvPr/>
        </p:nvSpPr>
        <p:spPr>
          <a:xfrm>
            <a:off x="1051560" y="2606040"/>
            <a:ext cx="3200400" cy="960120"/>
          </a:xfrm>
          <a:prstGeom prst="rect">
            <a:avLst>
              <a:gd name="adj" fmla="val 4762"/>
            </a:avLst>
          </a:prstGeom>
          <a:solidFill>
            <a:srgbClr val="F9F6F1"/>
          </a:solidFill>
          <a:ln/>
          <a:effectLst>
            <a:outerShdw sx="100000" sy="100000" kx="0" ky="0" algn="bl" rotWithShape="0" blurRad="76200" dist="25400" dir="8100000">
              <a:srgbClr val="000000">
                <a:alpha val="10000"/>
              </a:srgbClr>
            </a:outerShdw>
          </a:effectLst>
        </p:spPr>
        <p:txBody>
          <a:bodyPr/>
          <a:p/>
        </p:txBody>
      </p:sp>
      <p:sp>
        <p:nvSpPr>
          <p:cNvPr id="17" name="Text 15"/>
          <p:cNvSpPr/>
          <p:nvPr/>
        </p:nvSpPr>
        <p:spPr>
          <a:xfrm>
            <a:off x="1188720" y="2651760"/>
            <a:ext cx="2926080" cy="365760"/>
          </a:xfrm>
          <a:prstGeom prst="rect">
            <a:avLst/>
          </a:prstGeom>
          <a:noFill/>
          <a:ln/>
        </p:spPr>
        <p:txBody>
          <a:bodyPr wrap="square" rtlCol="0" anchor="ctr"/>
          <a:lstStyle/>
          <a:p>
            <a:pPr indent="0" marL="0">
              <a:buNone/>
            </a:pPr>
            <a:r>
              <a:rPr lang="en-US" sz="1600" b="1" dirty="0">
                <a:solidFill>
                  <a:srgbClr val="1A5276"/>
                </a:solidFill>
                <a:latin typeface="Arial" pitchFamily="34" charset="0"/>
                <a:ea typeface="Arial" pitchFamily="34" charset="-122"/>
                <a:cs typeface="Arial" pitchFamily="34" charset="-120"/>
              </a:rPr>
              <a:t>Handelsblok</a:t>
            </a:r>
            <a:endParaRPr lang="en-US" sz="1600" dirty="0"/>
          </a:p>
        </p:txBody>
      </p:sp>
      <p:sp>
        <p:nvSpPr>
          <p:cNvPr id="18" name="Text 16"/>
          <p:cNvSpPr/>
          <p:nvPr/>
        </p:nvSpPr>
        <p:spPr>
          <a:xfrm>
            <a:off x="1188720" y="3017520"/>
            <a:ext cx="2926080" cy="45720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Geen barrières vergroot handel</a:t>
            </a:r>
            <a:endParaRPr lang="en-US" sz="1300" dirty="0"/>
          </a:p>
        </p:txBody>
      </p:sp>
      <p:sp>
        <p:nvSpPr>
          <p:cNvPr id="19" name="Shape 17"/>
          <p:cNvSpPr/>
          <p:nvPr/>
        </p:nvSpPr>
        <p:spPr>
          <a:xfrm>
            <a:off x="4709160" y="2697480"/>
            <a:ext cx="365760" cy="365760"/>
          </a:xfrm>
          <a:prstGeom prst="ellipse">
            <a:avLst/>
          </a:prstGeom>
          <a:solidFill>
            <a:srgbClr val="1A5276"/>
          </a:solidFill>
          <a:ln/>
        </p:spPr>
        <p:txBody>
          <a:bodyPr/>
          <a:p/>
        </p:txBody>
      </p:sp>
      <p:sp>
        <p:nvSpPr>
          <p:cNvPr id="20" name="Text 18"/>
          <p:cNvSpPr/>
          <p:nvPr/>
        </p:nvSpPr>
        <p:spPr>
          <a:xfrm>
            <a:off x="4709160" y="269748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Shape 19"/>
          <p:cNvSpPr/>
          <p:nvPr/>
        </p:nvSpPr>
        <p:spPr>
          <a:xfrm>
            <a:off x="5166360" y="2606040"/>
            <a:ext cx="3200400" cy="960120"/>
          </a:xfrm>
          <a:prstGeom prst="rect">
            <a:avLst>
              <a:gd name="adj" fmla="val 4762"/>
            </a:avLst>
          </a:prstGeom>
          <a:solidFill>
            <a:srgbClr val="F9F6F1"/>
          </a:solidFill>
          <a:ln/>
          <a:effectLst>
            <a:outerShdw sx="100000" sy="100000" kx="0" ky="0" algn="bl" rotWithShape="0" blurRad="76200" dist="25400" dir="8100000">
              <a:srgbClr val="000000">
                <a:alpha val="10000"/>
              </a:srgbClr>
            </a:outerShdw>
          </a:effectLst>
        </p:spPr>
        <p:txBody>
          <a:bodyPr/>
          <a:p/>
        </p:txBody>
      </p:sp>
      <p:sp>
        <p:nvSpPr>
          <p:cNvPr id="22" name="Text 20"/>
          <p:cNvSpPr/>
          <p:nvPr/>
        </p:nvSpPr>
        <p:spPr>
          <a:xfrm>
            <a:off x="5303520" y="2651760"/>
            <a:ext cx="2926080" cy="365760"/>
          </a:xfrm>
          <a:prstGeom prst="rect">
            <a:avLst/>
          </a:prstGeom>
          <a:noFill/>
          <a:ln/>
        </p:spPr>
        <p:txBody>
          <a:bodyPr wrap="square" rtlCol="0" anchor="ctr"/>
          <a:lstStyle/>
          <a:p>
            <a:pPr indent="0" marL="0">
              <a:buNone/>
            </a:pPr>
            <a:r>
              <a:rPr lang="en-US" sz="1600" b="1" dirty="0">
                <a:solidFill>
                  <a:srgbClr val="1A5276"/>
                </a:solidFill>
                <a:latin typeface="Arial" pitchFamily="34" charset="0"/>
                <a:ea typeface="Arial" pitchFamily="34" charset="-122"/>
                <a:cs typeface="Arial" pitchFamily="34" charset="-120"/>
              </a:rPr>
              <a:t>Cultuur / politiek</a:t>
            </a:r>
            <a:endParaRPr lang="en-US" sz="1600" dirty="0"/>
          </a:p>
        </p:txBody>
      </p:sp>
      <p:sp>
        <p:nvSpPr>
          <p:cNvPr id="23" name="Text 21"/>
          <p:cNvSpPr/>
          <p:nvPr/>
        </p:nvSpPr>
        <p:spPr>
          <a:xfrm>
            <a:off x="5303520" y="3017520"/>
            <a:ext cx="2926080" cy="457200"/>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Vergelijkbare systemen = minder drempels</a:t>
            </a:r>
            <a:endParaRPr lang="en-US" sz="1300" dirty="0"/>
          </a:p>
        </p:txBody>
      </p:sp>
      <p:sp>
        <p:nvSpPr>
          <p:cNvPr id="24" name="Text 22"/>
          <p:cNvSpPr/>
          <p:nvPr/>
        </p:nvSpPr>
        <p:spPr>
          <a:xfrm>
            <a:off x="457200" y="3840480"/>
            <a:ext cx="8229600" cy="365760"/>
          </a:xfrm>
          <a:prstGeom prst="rect">
            <a:avLst/>
          </a:prstGeom>
          <a:noFill/>
          <a:ln/>
        </p:spPr>
        <p:txBody>
          <a:bodyPr wrap="square" rtlCol="0" anchor="ctr"/>
          <a:lstStyle/>
          <a:p>
            <a:pPr algn="l" indent="0" marL="0">
              <a:buNone/>
            </a:pPr>
            <a:r>
              <a:rPr lang="en-US" sz="1200" b="1" dirty="0">
                <a:solidFill>
                  <a:srgbClr val="718096"/>
                </a:solidFill>
                <a:latin typeface="Arial" pitchFamily="34" charset="0"/>
                <a:ea typeface="Arial" pitchFamily="34" charset="-122"/>
                <a:cs typeface="Arial" pitchFamily="34" charset="-120"/>
              </a:rPr>
              <a:t>Analogie: </a:t>
            </a:r>
            <a:pPr algn="l" indent="0" marL="0">
              <a:buNone/>
            </a:pPr>
            <a:r>
              <a:rPr lang="en-US" sz="1200" dirty="0">
                <a:solidFill>
                  <a:srgbClr val="718096"/>
                </a:solidFill>
                <a:latin typeface="Arial" pitchFamily="34" charset="0"/>
                <a:ea typeface="Arial" pitchFamily="34" charset="-122"/>
                <a:cs typeface="Arial" pitchFamily="34" charset="-120"/>
              </a:rPr>
              <a:t>Net als zwaartekracht — meer massa + minder afstand = meer aantrekking.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Valkuilen</a:t>
            </a:r>
            <a:endParaRPr lang="en-US" sz="2400" dirty="0"/>
          </a:p>
        </p:txBody>
      </p:sp>
      <p:sp>
        <p:nvSpPr>
          <p:cNvPr id="3" name="Shape 1"/>
          <p:cNvSpPr/>
          <p:nvPr/>
        </p:nvSpPr>
        <p:spPr>
          <a:xfrm>
            <a:off x="457200" y="960120"/>
            <a:ext cx="8229600" cy="960120"/>
          </a:xfrm>
          <a:prstGeom prst="rect">
            <a:avLst>
              <a:gd name="adj" fmla="val 4762"/>
            </a:avLst>
          </a:prstGeom>
          <a:solidFill>
            <a:srgbClr val="FDE8E8"/>
          </a:solidFill>
          <a:ln/>
          <a:effectLst>
            <a:outerShdw sx="100000" sy="100000" kx="0" ky="0" algn="bl" rotWithShape="0" blurRad="76200" dist="25400" dir="8100000">
              <a:srgbClr val="000000">
                <a:alpha val="10000"/>
              </a:srgbClr>
            </a:outerShdw>
          </a:effectLst>
        </p:spPr>
        <p:txBody>
          <a:bodyPr/>
          <a:p/>
        </p:txBody>
      </p:sp>
      <p:sp>
        <p:nvSpPr>
          <p:cNvPr id="4" name="Shape 2"/>
          <p:cNvSpPr/>
          <p:nvPr/>
        </p:nvSpPr>
        <p:spPr>
          <a:xfrm>
            <a:off x="457200" y="960120"/>
            <a:ext cx="54864" cy="960120"/>
          </a:xfrm>
          <a:prstGeom prst="rect">
            <a:avLst/>
          </a:prstGeom>
          <a:solidFill>
            <a:srgbClr val="D9534F"/>
          </a:solidFill>
          <a:ln/>
        </p:spPr>
        <p:txBody>
          <a:bodyPr/>
          <a:p/>
        </p:txBody>
      </p:sp>
      <p:sp>
        <p:nvSpPr>
          <p:cNvPr id="5" name="Text 3"/>
          <p:cNvSpPr/>
          <p:nvPr/>
        </p:nvSpPr>
        <p:spPr>
          <a:xfrm>
            <a:off x="658368" y="1033272"/>
            <a:ext cx="7863840" cy="320040"/>
          </a:xfrm>
          <a:prstGeom prst="rect">
            <a:avLst/>
          </a:prstGeom>
          <a:noFill/>
          <a:ln/>
        </p:spPr>
        <p:txBody>
          <a:bodyPr wrap="square" rtlCol="0" anchor="t"/>
          <a:lstStyle/>
          <a:p>
            <a:pPr algn="l" indent="0" marL="0">
              <a:buNone/>
            </a:pPr>
            <a:r>
              <a:rPr lang="en-US" sz="1400" b="1" dirty="0">
                <a:solidFill>
                  <a:srgbClr val="D9534F"/>
                </a:solidFill>
                <a:latin typeface="Arial" pitchFamily="34" charset="0"/>
                <a:ea typeface="Arial" pitchFamily="34" charset="-122"/>
                <a:cs typeface="Arial" pitchFamily="34" charset="-120"/>
              </a:rPr>
              <a:t>"Omzet haven = waarde vracht"</a:t>
            </a:r>
            <a:endParaRPr lang="en-US" sz="1400" dirty="0"/>
          </a:p>
        </p:txBody>
      </p:sp>
      <p:sp>
        <p:nvSpPr>
          <p:cNvPr id="6" name="Text 4"/>
          <p:cNvSpPr/>
          <p:nvPr/>
        </p:nvSpPr>
        <p:spPr>
          <a:xfrm>
            <a:off x="658368" y="1344168"/>
            <a:ext cx="7863840" cy="502920"/>
          </a:xfrm>
          <a:prstGeom prst="rect">
            <a:avLst/>
          </a:prstGeom>
          <a:noFill/>
          <a:ln/>
        </p:spPr>
        <p:txBody>
          <a:bodyPr wrap="square" rtlCol="0" anchor="t"/>
          <a:lstStyle/>
          <a:p>
            <a:pPr algn="l" indent="0" marL="0">
              <a:buNone/>
            </a:pPr>
            <a:r>
              <a:rPr lang="en-US" sz="1300" dirty="0">
                <a:solidFill>
                  <a:srgbClr val="2D3748"/>
                </a:solidFill>
                <a:latin typeface="Arial" pitchFamily="34" charset="0"/>
                <a:ea typeface="Arial" pitchFamily="34" charset="-122"/>
                <a:cs typeface="Arial" pitchFamily="34" charset="-120"/>
              </a:rPr>
              <a:t>Onjuist! De haven verdient aan dienstverlening, niet aan de goederen zelf.</a:t>
            </a:r>
            <a:endParaRPr lang="en-US" sz="1300" dirty="0"/>
          </a:p>
        </p:txBody>
      </p:sp>
      <p:sp>
        <p:nvSpPr>
          <p:cNvPr id="7" name="Shape 5"/>
          <p:cNvSpPr/>
          <p:nvPr/>
        </p:nvSpPr>
        <p:spPr>
          <a:xfrm>
            <a:off x="457200" y="2103120"/>
            <a:ext cx="8229600" cy="960120"/>
          </a:xfrm>
          <a:prstGeom prst="rect">
            <a:avLst>
              <a:gd name="adj" fmla="val 4762"/>
            </a:avLst>
          </a:prstGeom>
          <a:solidFill>
            <a:srgbClr val="FDE8E8"/>
          </a:solidFill>
          <a:ln/>
          <a:effectLst>
            <a:outerShdw sx="100000" sy="100000" kx="0" ky="0" algn="bl" rotWithShape="0" blurRad="76200" dist="25400" dir="8100000">
              <a:srgbClr val="000000">
                <a:alpha val="10000"/>
              </a:srgbClr>
            </a:outerShdw>
          </a:effectLst>
        </p:spPr>
        <p:txBody>
          <a:bodyPr/>
          <a:p/>
        </p:txBody>
      </p:sp>
      <p:sp>
        <p:nvSpPr>
          <p:cNvPr id="8" name="Shape 6"/>
          <p:cNvSpPr/>
          <p:nvPr/>
        </p:nvSpPr>
        <p:spPr>
          <a:xfrm>
            <a:off x="457200" y="2103120"/>
            <a:ext cx="54864" cy="960120"/>
          </a:xfrm>
          <a:prstGeom prst="rect">
            <a:avLst/>
          </a:prstGeom>
          <a:solidFill>
            <a:srgbClr val="D9534F"/>
          </a:solidFill>
          <a:ln/>
        </p:spPr>
        <p:txBody>
          <a:bodyPr/>
          <a:p/>
        </p:txBody>
      </p:sp>
      <p:sp>
        <p:nvSpPr>
          <p:cNvPr id="9" name="Text 7"/>
          <p:cNvSpPr/>
          <p:nvPr/>
        </p:nvSpPr>
        <p:spPr>
          <a:xfrm>
            <a:off x="658368" y="2176272"/>
            <a:ext cx="7863840" cy="320040"/>
          </a:xfrm>
          <a:prstGeom prst="rect">
            <a:avLst/>
          </a:prstGeom>
          <a:noFill/>
          <a:ln/>
        </p:spPr>
        <p:txBody>
          <a:bodyPr wrap="square" rtlCol="0" anchor="t"/>
          <a:lstStyle/>
          <a:p>
            <a:pPr algn="l" indent="0" marL="0">
              <a:buNone/>
            </a:pPr>
            <a:r>
              <a:rPr lang="en-US" sz="1400" b="1" dirty="0">
                <a:solidFill>
                  <a:srgbClr val="D9534F"/>
                </a:solidFill>
                <a:latin typeface="Arial" pitchFamily="34" charset="0"/>
                <a:ea typeface="Arial" pitchFamily="34" charset="-122"/>
                <a:cs typeface="Arial" pitchFamily="34" charset="-120"/>
              </a:rPr>
              <a:t>"Buitenlandse werknemers vragen arbeid"</a:t>
            </a:r>
            <a:endParaRPr lang="en-US" sz="1400" dirty="0"/>
          </a:p>
        </p:txBody>
      </p:sp>
      <p:sp>
        <p:nvSpPr>
          <p:cNvPr id="10" name="Text 8"/>
          <p:cNvSpPr/>
          <p:nvPr/>
        </p:nvSpPr>
        <p:spPr>
          <a:xfrm>
            <a:off x="658368" y="2487168"/>
            <a:ext cx="7863840" cy="502920"/>
          </a:xfrm>
          <a:prstGeom prst="rect">
            <a:avLst/>
          </a:prstGeom>
          <a:noFill/>
          <a:ln/>
        </p:spPr>
        <p:txBody>
          <a:bodyPr wrap="square" rtlCol="0" anchor="t"/>
          <a:lstStyle/>
          <a:p>
            <a:pPr algn="l" indent="0" marL="0">
              <a:buNone/>
            </a:pPr>
            <a:r>
              <a:rPr lang="en-US" sz="1300" dirty="0">
                <a:solidFill>
                  <a:srgbClr val="2D3748"/>
                </a:solidFill>
                <a:latin typeface="Arial" pitchFamily="34" charset="0"/>
                <a:ea typeface="Arial" pitchFamily="34" charset="-122"/>
                <a:cs typeface="Arial" pitchFamily="34" charset="-120"/>
              </a:rPr>
              <a:t>Onjuist! Ze bieden arbeid aan en behoren tot het binnenlandse arbeidsaanbod.</a:t>
            </a:r>
            <a:endParaRPr lang="en-US" sz="1300" dirty="0"/>
          </a:p>
        </p:txBody>
      </p:sp>
      <p:sp>
        <p:nvSpPr>
          <p:cNvPr id="11" name="Shape 9"/>
          <p:cNvSpPr/>
          <p:nvPr/>
        </p:nvSpPr>
        <p:spPr>
          <a:xfrm>
            <a:off x="457200" y="3246120"/>
            <a:ext cx="8229600" cy="960120"/>
          </a:xfrm>
          <a:prstGeom prst="rect">
            <a:avLst>
              <a:gd name="adj" fmla="val 4762"/>
            </a:avLst>
          </a:prstGeom>
          <a:solidFill>
            <a:srgbClr val="FDE8E8"/>
          </a:solidFill>
          <a:ln/>
          <a:effectLst>
            <a:outerShdw sx="100000" sy="100000" kx="0" ky="0" algn="bl" rotWithShape="0" blurRad="76200" dist="25400" dir="8100000">
              <a:srgbClr val="000000">
                <a:alpha val="10000"/>
              </a:srgbClr>
            </a:outerShdw>
          </a:effectLst>
        </p:spPr>
        <p:txBody>
          <a:bodyPr/>
          <a:p/>
        </p:txBody>
      </p:sp>
      <p:sp>
        <p:nvSpPr>
          <p:cNvPr id="12" name="Shape 10"/>
          <p:cNvSpPr/>
          <p:nvPr/>
        </p:nvSpPr>
        <p:spPr>
          <a:xfrm>
            <a:off x="457200" y="3246120"/>
            <a:ext cx="54864" cy="960120"/>
          </a:xfrm>
          <a:prstGeom prst="rect">
            <a:avLst/>
          </a:prstGeom>
          <a:solidFill>
            <a:srgbClr val="D9534F"/>
          </a:solidFill>
          <a:ln/>
        </p:spPr>
        <p:txBody>
          <a:bodyPr/>
          <a:p/>
        </p:txBody>
      </p:sp>
      <p:sp>
        <p:nvSpPr>
          <p:cNvPr id="13" name="Text 11"/>
          <p:cNvSpPr/>
          <p:nvPr/>
        </p:nvSpPr>
        <p:spPr>
          <a:xfrm>
            <a:off x="658368" y="3319272"/>
            <a:ext cx="7863840" cy="320040"/>
          </a:xfrm>
          <a:prstGeom prst="rect">
            <a:avLst/>
          </a:prstGeom>
          <a:noFill/>
          <a:ln/>
        </p:spPr>
        <p:txBody>
          <a:bodyPr wrap="square" rtlCol="0" anchor="t"/>
          <a:lstStyle/>
          <a:p>
            <a:pPr algn="l" indent="0" marL="0">
              <a:buNone/>
            </a:pPr>
            <a:r>
              <a:rPr lang="en-US" sz="1400" b="1" dirty="0">
                <a:solidFill>
                  <a:srgbClr val="D9534F"/>
                </a:solidFill>
                <a:latin typeface="Arial" pitchFamily="34" charset="0"/>
                <a:ea typeface="Arial" pitchFamily="34" charset="-122"/>
                <a:cs typeface="Arial" pitchFamily="34" charset="-120"/>
              </a:rPr>
              <a:t>"China handelt meer dan Nederland"</a:t>
            </a:r>
            <a:endParaRPr lang="en-US" sz="1400" dirty="0"/>
          </a:p>
        </p:txBody>
      </p:sp>
      <p:sp>
        <p:nvSpPr>
          <p:cNvPr id="14" name="Text 12"/>
          <p:cNvSpPr/>
          <p:nvPr/>
        </p:nvSpPr>
        <p:spPr>
          <a:xfrm>
            <a:off x="658368" y="3630168"/>
            <a:ext cx="7863840" cy="502920"/>
          </a:xfrm>
          <a:prstGeom prst="rect">
            <a:avLst/>
          </a:prstGeom>
          <a:noFill/>
          <a:ln/>
        </p:spPr>
        <p:txBody>
          <a:bodyPr wrap="square" rtlCol="0" anchor="t"/>
          <a:lstStyle/>
          <a:p>
            <a:pPr algn="l" indent="0" marL="0">
              <a:buNone/>
            </a:pPr>
            <a:r>
              <a:rPr lang="en-US" sz="1300" dirty="0">
                <a:solidFill>
                  <a:srgbClr val="2D3748"/>
                </a:solidFill>
                <a:latin typeface="Arial" pitchFamily="34" charset="0"/>
                <a:ea typeface="Arial" pitchFamily="34" charset="-122"/>
                <a:cs typeface="Arial" pitchFamily="34" charset="-120"/>
              </a:rPr>
              <a:t>Alleen absoluut! Relatief (als % van bbp) handelt Nederland veel meer.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Samenvatting</a:t>
            </a:r>
            <a:endParaRPr lang="en-US" sz="2800" dirty="0"/>
          </a:p>
        </p:txBody>
      </p:sp>
      <p:sp>
        <p:nvSpPr>
          <p:cNvPr id="3" name="Text 1"/>
          <p:cNvSpPr/>
          <p:nvPr/>
        </p:nvSpPr>
        <p:spPr>
          <a:xfrm>
            <a:off x="640080" y="1051560"/>
            <a:ext cx="7863840" cy="36576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Beheers je dit voordat je gaat oefenen?</a:t>
            </a:r>
            <a:endParaRPr lang="en-US" sz="1400" dirty="0"/>
          </a:p>
        </p:txBody>
      </p:sp>
      <p:sp>
        <p:nvSpPr>
          <p:cNvPr id="4" name="Text 2"/>
          <p:cNvSpPr/>
          <p:nvPr/>
        </p:nvSpPr>
        <p:spPr>
          <a:xfrm>
            <a:off x="640080" y="1554480"/>
            <a:ext cx="7863840" cy="2926080"/>
          </a:xfrm>
          <a:prstGeom prst="rect">
            <a:avLst/>
          </a:prstGeom>
          <a:noFill/>
          <a:ln/>
        </p:spPr>
        <p:txBody>
          <a:bodyPr wrap="square" rtlCol="0" anchor="t"/>
          <a:lstStyle/>
          <a:p>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Kleine landen handelen relatief meer (% van bbp)</a:t>
            </a:r>
          </a:p>
          <a:p>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Vijf factoren: ligging, achterland, infrastructuur, handelsblok, combinatie</a:t>
            </a:r>
          </a:p>
          <a:p>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Havenomzet ≠ vrachtwaarde</a:t>
            </a:r>
          </a:p>
          <a:p>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Arbeidsmigratie: aanbod ↑, loon ↓, werkgelegenheid ↑</a:t>
            </a:r>
          </a:p>
          <a:p>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Graviteitsvergelijking: afstand, omvang, blok, cultuur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2026-03-23T18:55:09Z</dcterms:created>
  <dcterms:modified xsi:type="dcterms:W3CDTF">2026-03-23T18:55:09Z</dcterms:modified>
</cp:coreProperties>
</file>