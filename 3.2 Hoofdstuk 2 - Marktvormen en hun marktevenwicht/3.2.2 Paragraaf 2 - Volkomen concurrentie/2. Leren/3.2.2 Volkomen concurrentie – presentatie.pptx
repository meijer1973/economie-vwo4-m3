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Welkom bij paragraaf 3.2.2 over volkomen concurrentie. We behandelen alle kenmerken, de afleiding van kosten naar aanbod, het marktevenwicht, winst, surplus en de lange termijn.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Zes leerdoelen voor deze paragraaf. Van kenmerken herkennen tot de lange termijn voorspellen. We bouwen het stap voor stap op.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 vier kenmerken van volkomen concurrentie. Veel aanbieders, homogeen product, vrije toetreding en het bedrijf is een prijsnemer. Het laatste punt (MO = p) is cruciaal voor de berekeningen.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We leiden de aanbodfunctie af uit de kostenfunctie. Stap 1: differentieer TK naar q om MK te krijgen. Stap 2: bij volkomen concurrentie is MO = p. Stap 3: stel MO = MK, dus p = MK. Dit geeft de aanbodfunctie.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Van individueel naar collectief aanbod. Draai de individuele aanbodfunctie om zodat q links staat. Vermenigvuldig met het aantal aanbieders. Dit geeft de collectieve aanbodfunctie.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Het evenwicht berekenen: stel Qv gelijk aan Qa en los op. De evenwichtsprijs is 30 euro, de evenwichtshoeveelheid is 200 stuks.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 winst van een individuele aanbieder. Eerst de individuele hoeveelheid berekenen, dan TO en TK, en het verschil is de winst. Elke aanbieder maakt 72 euro winst.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 horizontale lijn is de marktprijs. Het bedrijf produceert waar P = MK, dat is bij q* = 20. De winst is de groene rechthoek: het verschil tussen prijs en GTK, vermenigvuldigd met q*. Winst = (30 − 26,4) × 20 = 72.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Het consumentensurplus is het verschil tussen wat consumenten bereid waren te betalen en wat ze daadwerkelijk betalen. Het producentensurplus is het verschil tussen de ontvangen prijs en de minimale prijs.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Het blauwe vlak is het consumentensurplus: het voordeel van consumenten die minder betalen dan hun maximale bereidheid. Het groene vlak is het producentensurplus. Beide zijn driehoeken: ½ × basis × hoogte.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 de lange termijn treden nieuwe bedrijven toe zolang er winst te behalen is. Dit verhoogt het aanbod, drukt de prijs, en uiteindelijk is de winst nul. Dan geldt: p = GTK(min).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 lange-termijnberekening: stel MK = GTK (nulwinst). Los op naar q en p. Op lange termijn produceert elke aanbieder 16 stuks tegen een prijs van 26 euro.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 lange termijn daalt de prijs tot het minimum van de GTK-curve. De winst is nul: de prijslijn raakt de GTK precies op het laagste punt. Nieuwe bedrijven treden toe zolang er winst is, waardoor het aanbod stijgt en de prijs daalt.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Vijf kernpunten. Van individueel naar collectief aanbod, het evenwicht, winstberekening, surplus en de lange termijn. Controleer of leerlingen de stappen zelfstandig kunnen doorlopen.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_DARK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1A527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4709160"/>
            <a:ext cx="9144000" cy="434340"/>
          </a:xfrm>
          <a:prstGeom prst="rect">
            <a:avLst/>
          </a:prstGeom>
          <a:solidFill>
            <a:srgbClr val="151D4A"/>
          </a:solidFill>
          <a:ln/>
        </p:spPr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1A5276"/>
          </a:solidFill>
          <a:ln/>
        </p:spPr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097280"/>
            <a:ext cx="786384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Volkomen concurrentie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640080" y="2926080"/>
            <a:ext cx="7863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Paragraaf 3.2.2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640080" y="4709160"/>
            <a:ext cx="7863840" cy="4343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Hoofdstuk 2: Marktvormen en hun marktevenwicht  |  Economie VWO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0"/>
            <a:ext cx="8229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ga je leren?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640080" y="1097280"/>
            <a:ext cx="786384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kenmerken van volkomen concurrentie herkennen</a:t>
            </a:r>
            <a:endParaRPr lang="en-US" sz="1500" dirty="0"/>
          </a:p>
          <a:p>
            <a:pPr marL="342900" indent="-342900">
              <a:lnSpc>
                <a:spcPct val="140000"/>
              </a:lnSpc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Van kostenfunctie naar (collectieve) aanbodfunctie afleiden</a:t>
            </a:r>
            <a:endParaRPr lang="en-US" sz="1500" dirty="0"/>
          </a:p>
          <a:p>
            <a:pPr marL="342900" indent="-342900">
              <a:lnSpc>
                <a:spcPct val="140000"/>
              </a:lnSpc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marktevenwicht berekenen (Qv = Qa)</a:t>
            </a:r>
            <a:endParaRPr lang="en-US" sz="1500" dirty="0"/>
          </a:p>
          <a:p>
            <a:pPr marL="342900" indent="-342900">
              <a:lnSpc>
                <a:spcPct val="140000"/>
              </a:lnSpc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winst van een individuele aanbieder berekenen</a:t>
            </a:r>
            <a:endParaRPr lang="en-US" sz="1500" dirty="0"/>
          </a:p>
          <a:p>
            <a:pPr marL="342900" indent="-342900">
              <a:lnSpc>
                <a:spcPct val="140000"/>
              </a:lnSpc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CS en PS berekenen en in een grafiek herkennen</a:t>
            </a:r>
            <a:endParaRPr lang="en-US" sz="1500" dirty="0"/>
          </a:p>
          <a:p>
            <a:pPr marL="342900" indent="-342900">
              <a:lnSpc>
                <a:spcPct val="140000"/>
              </a:lnSpc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lange termijn voorspellen: MK = GTK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0"/>
            <a:ext cx="8229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Kenmerken volkomen concurrentie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57200" y="1005840"/>
            <a:ext cx="3931920" cy="1371600"/>
          </a:xfrm>
          <a:prstGeom prst="rect">
            <a:avLst>
              <a:gd name="adj" fmla="val 3333"/>
            </a:avLst>
          </a:prstGeom>
          <a:solidFill>
            <a:srgbClr val="F9F6F1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457200" y="1005840"/>
            <a:ext cx="54864" cy="1371600"/>
          </a:xfrm>
          <a:prstGeom prst="rect">
            <a:avLst/>
          </a:prstGeom>
          <a:solidFill>
            <a:srgbClr val="1A5276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1143000"/>
            <a:ext cx="361188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A52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Veel aanbieders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640080" y="1554480"/>
            <a:ext cx="361188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enkele aanbieder heeft marktmacht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754880" y="1005840"/>
            <a:ext cx="3931920" cy="1371600"/>
          </a:xfrm>
          <a:prstGeom prst="rect">
            <a:avLst>
              <a:gd name="adj" fmla="val 3333"/>
            </a:avLst>
          </a:prstGeom>
          <a:solidFill>
            <a:srgbClr val="F9F6F1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4754880" y="1005840"/>
            <a:ext cx="54864" cy="1371600"/>
          </a:xfrm>
          <a:prstGeom prst="rect">
            <a:avLst/>
          </a:prstGeom>
          <a:solidFill>
            <a:srgbClr val="1A5276"/>
          </a:solidFill>
          <a:ln/>
        </p:spPr>
      </p:sp>
      <p:sp>
        <p:nvSpPr>
          <p:cNvPr id="9" name="Text 7"/>
          <p:cNvSpPr/>
          <p:nvPr/>
        </p:nvSpPr>
        <p:spPr>
          <a:xfrm>
            <a:off x="4937760" y="1143000"/>
            <a:ext cx="361188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A52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Homogeen product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4937760" y="1554480"/>
            <a:ext cx="361188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Producten zijn identiek en uitwisselbaar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457200" y="2606040"/>
            <a:ext cx="3931920" cy="1371600"/>
          </a:xfrm>
          <a:prstGeom prst="rect">
            <a:avLst>
              <a:gd name="adj" fmla="val 3333"/>
            </a:avLst>
          </a:prstGeom>
          <a:solidFill>
            <a:srgbClr val="F9F6F1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457200" y="2606040"/>
            <a:ext cx="54864" cy="1371600"/>
          </a:xfrm>
          <a:prstGeom prst="rect">
            <a:avLst/>
          </a:prstGeom>
          <a:solidFill>
            <a:srgbClr val="1E8449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2743200"/>
            <a:ext cx="361188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E84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Vrije toe-/uittreding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640080" y="3154680"/>
            <a:ext cx="361188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Bedrijven kunnen vrij de markt betreden of verlaten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4754880" y="2606040"/>
            <a:ext cx="3931920" cy="1371600"/>
          </a:xfrm>
          <a:prstGeom prst="rect">
            <a:avLst>
              <a:gd name="adj" fmla="val 3333"/>
            </a:avLst>
          </a:prstGeom>
          <a:solidFill>
            <a:srgbClr val="F9F6F1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4754880" y="2606040"/>
            <a:ext cx="54864" cy="1371600"/>
          </a:xfrm>
          <a:prstGeom prst="rect">
            <a:avLst/>
          </a:prstGeom>
          <a:solidFill>
            <a:srgbClr val="E67E22"/>
          </a:solidFill>
          <a:ln/>
        </p:spPr>
      </p:sp>
      <p:sp>
        <p:nvSpPr>
          <p:cNvPr id="17" name="Text 15"/>
          <p:cNvSpPr/>
          <p:nvPr/>
        </p:nvSpPr>
        <p:spPr>
          <a:xfrm>
            <a:off x="4937760" y="2743200"/>
            <a:ext cx="361188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E67E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Prijsnemer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4937760" y="3154680"/>
            <a:ext cx="361188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aanbieder accepteert de marktprijs: MO = p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0"/>
            <a:ext cx="8229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Van kosten naar aanbod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371600" y="1005840"/>
            <a:ext cx="6400800" cy="594360"/>
          </a:xfrm>
          <a:prstGeom prst="rect">
            <a:avLst>
              <a:gd name="adj" fmla="val 7692"/>
            </a:avLst>
          </a:prstGeom>
          <a:solidFill>
            <a:srgbClr val="F7F8FA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1554480" y="1005840"/>
            <a:ext cx="60350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Gegeven:  </a:t>
            </a:r>
            <a:pPr indent="0" marL="0">
              <a:buNone/>
            </a:pPr>
            <a:r>
              <a:rPr lang="en-US" sz="1600" dirty="0">
                <a:solidFill>
                  <a:srgbClr val="2D374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TK = 0,5q² + 10q + 128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1371600" y="1600200"/>
            <a:ext cx="6400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52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↓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1371600" y="1783080"/>
            <a:ext cx="6400800" cy="594360"/>
          </a:xfrm>
          <a:prstGeom prst="rect">
            <a:avLst>
              <a:gd name="adj" fmla="val 7692"/>
            </a:avLst>
          </a:prstGeom>
          <a:solidFill>
            <a:srgbClr val="EBF5FB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1554480" y="1783080"/>
            <a:ext cx="60350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Stap 1: Afleiden:  </a:t>
            </a:r>
            <a:pPr indent="0" marL="0">
              <a:buNone/>
            </a:pPr>
            <a:r>
              <a:rPr lang="en-US" sz="1600" dirty="0">
                <a:solidFill>
                  <a:srgbClr val="2D374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MK = TK′ = q + 10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1371600" y="2377440"/>
            <a:ext cx="6400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52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↓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1371600" y="2560320"/>
            <a:ext cx="6400800" cy="594360"/>
          </a:xfrm>
          <a:prstGeom prst="rect">
            <a:avLst>
              <a:gd name="adj" fmla="val 7692"/>
            </a:avLst>
          </a:prstGeom>
          <a:solidFill>
            <a:srgbClr val="EBF5FB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1554480" y="2560320"/>
            <a:ext cx="60350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Stap 2: Prijsnemer:  </a:t>
            </a:r>
            <a:pPr indent="0" marL="0">
              <a:buNone/>
            </a:pPr>
            <a:r>
              <a:rPr lang="en-US" sz="1600" dirty="0">
                <a:solidFill>
                  <a:srgbClr val="2D374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MO = p = MK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1371600" y="3154680"/>
            <a:ext cx="6400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52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↓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1371600" y="3337560"/>
            <a:ext cx="6400800" cy="594360"/>
          </a:xfrm>
          <a:prstGeom prst="rect">
            <a:avLst>
              <a:gd name="adj" fmla="val 7692"/>
            </a:avLst>
          </a:prstGeom>
          <a:solidFill>
            <a:srgbClr val="1A5276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1554480" y="3337560"/>
            <a:ext cx="60350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Stap 3: Aanbodfunctie:  </a:t>
            </a:r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 = q + 10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640080" y="4206240"/>
            <a:ext cx="7863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i="1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Bij volkomen concurrentie is de MK-lijn de aanbodfunctie.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0"/>
            <a:ext cx="8229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Individueel → collectief aanbod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143000" y="1188720"/>
            <a:ext cx="6858000" cy="640080"/>
          </a:xfrm>
          <a:prstGeom prst="rect">
            <a:avLst>
              <a:gd name="adj" fmla="val 7143"/>
            </a:avLst>
          </a:prstGeom>
          <a:solidFill>
            <a:srgbClr val="F7F8FA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1417320" y="1188720"/>
            <a:ext cx="6309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D374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Individueel:  p = q + 10   →   Draai om: q = p − 10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143000" y="1828800"/>
            <a:ext cx="6858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A52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↓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1143000" y="2103120"/>
            <a:ext cx="6858000" cy="640080"/>
          </a:xfrm>
          <a:prstGeom prst="rect">
            <a:avLst>
              <a:gd name="adj" fmla="val 7143"/>
            </a:avLst>
          </a:prstGeom>
          <a:solidFill>
            <a:srgbClr val="EBF5FB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1417320" y="2103120"/>
            <a:ext cx="6309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D374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Vermenigvuldig met n = 10 aanbieders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143000" y="2743200"/>
            <a:ext cx="6858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A52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↓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1143000" y="3017520"/>
            <a:ext cx="6858000" cy="640080"/>
          </a:xfrm>
          <a:prstGeom prst="rect">
            <a:avLst>
              <a:gd name="adj" fmla="val 7143"/>
            </a:avLst>
          </a:prstGeom>
          <a:solidFill>
            <a:srgbClr val="1A5276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1417320" y="3017520"/>
            <a:ext cx="6309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Collectief:  Qa = 10(p − 10) = 10p − 100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0"/>
            <a:ext cx="8229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Evenwicht berekenen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914400" y="960120"/>
            <a:ext cx="7315200" cy="2697480"/>
          </a:xfrm>
          <a:prstGeom prst="rect">
            <a:avLst/>
          </a:prstGeom>
          <a:solidFill>
            <a:srgbClr val="F7F8FA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14400" y="960120"/>
            <a:ext cx="54864" cy="2697480"/>
          </a:xfrm>
          <a:prstGeom prst="rect">
            <a:avLst/>
          </a:prstGeom>
          <a:solidFill>
            <a:srgbClr val="1A5276"/>
          </a:solidFill>
          <a:ln/>
        </p:spPr>
      </p:sp>
      <p:sp>
        <p:nvSpPr>
          <p:cNvPr id="5" name="Text 3"/>
          <p:cNvSpPr/>
          <p:nvPr/>
        </p:nvSpPr>
        <p:spPr>
          <a:xfrm>
            <a:off x="1143000" y="1051560"/>
            <a:ext cx="6858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Stel:  </a:t>
            </a:r>
            <a:pPr indent="0" marL="0">
              <a:buNone/>
            </a:pPr>
            <a:r>
              <a:rPr lang="en-US" sz="1600" dirty="0">
                <a:solidFill>
                  <a:srgbClr val="2D374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Qv = Qa  (vraag = aanbod)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1143000" y="1554480"/>
            <a:ext cx="6858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Invullen:  </a:t>
            </a:r>
            <a:pPr indent="0" marL="0">
              <a:buNone/>
            </a:pPr>
            <a:r>
              <a:rPr lang="en-US" sz="1600" dirty="0">
                <a:solidFill>
                  <a:srgbClr val="2D374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−10p + 500 = 10p − 100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143000" y="2057400"/>
            <a:ext cx="6858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Oplossen:  </a:t>
            </a:r>
            <a:pPr indent="0" marL="0">
              <a:buNone/>
            </a:pPr>
            <a:r>
              <a:rPr lang="en-US" sz="1600" dirty="0">
                <a:solidFill>
                  <a:srgbClr val="2D374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20p = 600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1143000" y="2560320"/>
            <a:ext cx="6858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Prijs:  </a:t>
            </a:r>
            <a:pPr indent="0" marL="0">
              <a:buNone/>
            </a:pPr>
            <a:r>
              <a:rPr lang="en-US" sz="1600" dirty="0">
                <a:solidFill>
                  <a:srgbClr val="2D374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p* = €30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143000" y="3063240"/>
            <a:ext cx="6858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Hoeveelheid:  </a:t>
            </a:r>
            <a:pPr indent="0" marL="0">
              <a:buNone/>
            </a:pPr>
            <a:r>
              <a:rPr lang="en-US" sz="1600" dirty="0">
                <a:solidFill>
                  <a:srgbClr val="2D374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Q* = 10 × 30 − 100 = 200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0"/>
            <a:ext cx="8229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Winst individuele aanbieder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57200" y="1005840"/>
            <a:ext cx="4206240" cy="2926080"/>
          </a:xfrm>
          <a:prstGeom prst="rect">
            <a:avLst>
              <a:gd name="adj" fmla="val 1563"/>
            </a:avLst>
          </a:prstGeom>
          <a:solidFill>
            <a:srgbClr val="F7F8FA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457200" y="1005840"/>
            <a:ext cx="54864" cy="2926080"/>
          </a:xfrm>
          <a:prstGeom prst="rect">
            <a:avLst/>
          </a:prstGeom>
          <a:solidFill>
            <a:srgbClr val="1A5276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1143000"/>
            <a:ext cx="388620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A52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Formule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822960" y="155448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D374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q = p − 10 = 30 − 10 = 20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822960" y="205740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D374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TO = p × q = 30 × 20 = €600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22960" y="256032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D374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TK = 0,5(20)² + 10(20) + 128 = €528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822960" y="306324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D374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 = TO − TK = 600 − 528 = €72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4754880" y="1005840"/>
            <a:ext cx="3931920" cy="2926080"/>
          </a:xfrm>
          <a:prstGeom prst="rect">
            <a:avLst>
              <a:gd name="adj" fmla="val 1563"/>
            </a:avLst>
          </a:prstGeom>
          <a:solidFill>
            <a:srgbClr val="F9F6F1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754880" y="1005840"/>
            <a:ext cx="54864" cy="2926080"/>
          </a:xfrm>
          <a:prstGeom prst="rect">
            <a:avLst/>
          </a:prstGeom>
          <a:solidFill>
            <a:srgbClr val="E67E22"/>
          </a:solidFill>
          <a:ln/>
        </p:spPr>
      </p:sp>
      <p:sp>
        <p:nvSpPr>
          <p:cNvPr id="12" name="Text 10"/>
          <p:cNvSpPr/>
          <p:nvPr/>
        </p:nvSpPr>
        <p:spPr>
          <a:xfrm>
            <a:off x="4937760" y="1143000"/>
            <a:ext cx="361188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E67E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Stappen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4937760" y="1554480"/>
            <a:ext cx="3611880" cy="2240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Bereken individuele hoeveelheid q
</a:t>
            </a:r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Bereken totale opbrengst TO = p × q
</a:t>
            </a:r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Bereken totale kosten TK
</a:t>
            </a:r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 Winst = TO − TK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0"/>
            <a:ext cx="8229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Winst in de grafiek</a:t>
            </a:r>
            <a:endParaRPr lang="en-US" sz="2400" dirty="0"/>
          </a:p>
        </p:txBody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822960"/>
            <a:ext cx="7772400" cy="38862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0"/>
            <a:ext cx="8229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Surplus: CS en PS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57200" y="1005840"/>
            <a:ext cx="3931920" cy="3017520"/>
          </a:xfrm>
          <a:prstGeom prst="rect">
            <a:avLst>
              <a:gd name="adj" fmla="val 1515"/>
            </a:avLst>
          </a:prstGeom>
          <a:solidFill>
            <a:srgbClr val="F9F6F1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457200" y="1005840"/>
            <a:ext cx="54864" cy="3017520"/>
          </a:xfrm>
          <a:prstGeom prst="rect">
            <a:avLst/>
          </a:prstGeom>
          <a:solidFill>
            <a:srgbClr val="1A5276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1143000"/>
            <a:ext cx="361188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A52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Consumentensurplus (CS)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640080" y="1554480"/>
            <a:ext cx="3611880" cy="2331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Voordeel van de consument: betaalt minder dan bereid was.
</a:t>
            </a:r>
            <a:pPr algn="l" indent="0" marL="0">
              <a:lnSpc>
                <a:spcPct val="115000"/>
              </a:lnSpc>
              <a:buNone/>
            </a:pPr>
            <a:r>
              <a:rPr lang="en-US" sz="1400" i="1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Driehoek boven p*, onder V
</a:t>
            </a:r>
            <a:pPr algn="l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2D374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½ × 200 × (50 − 30) = €2.000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754880" y="1005840"/>
            <a:ext cx="3931920" cy="3017520"/>
          </a:xfrm>
          <a:prstGeom prst="rect">
            <a:avLst>
              <a:gd name="adj" fmla="val 1515"/>
            </a:avLst>
          </a:prstGeom>
          <a:solidFill>
            <a:srgbClr val="F9F6F1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4754880" y="1005840"/>
            <a:ext cx="54864" cy="3017520"/>
          </a:xfrm>
          <a:prstGeom prst="rect">
            <a:avLst/>
          </a:prstGeom>
          <a:solidFill>
            <a:srgbClr val="1E8449"/>
          </a:solidFill>
          <a:ln/>
        </p:spPr>
      </p:sp>
      <p:sp>
        <p:nvSpPr>
          <p:cNvPr id="9" name="Text 7"/>
          <p:cNvSpPr/>
          <p:nvPr/>
        </p:nvSpPr>
        <p:spPr>
          <a:xfrm>
            <a:off x="4937760" y="1143000"/>
            <a:ext cx="361188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E84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Producentensurplus (PS)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4937760" y="1554480"/>
            <a:ext cx="3611880" cy="2331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Voordeel van de producent: ontvangt meer dan minimale prijs.
</a:t>
            </a:r>
            <a:pPr algn="l" indent="0" marL="0">
              <a:lnSpc>
                <a:spcPct val="115000"/>
              </a:lnSpc>
              <a:buNone/>
            </a:pPr>
            <a:r>
              <a:rPr lang="en-US" sz="1400" i="1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Driehoek onder p*, boven A
</a:t>
            </a:r>
            <a:pPr algn="l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2D374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½ × 200 × (30 − 10) = €2.000</a:t>
            </a:r>
            <a:endParaRPr lang="en-US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0"/>
            <a:ext cx="8229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CS en PS in de grafiek</a:t>
            </a:r>
            <a:endParaRPr lang="en-US" sz="2400" dirty="0"/>
          </a:p>
        </p:txBody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822960"/>
            <a:ext cx="7772400" cy="38862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0"/>
            <a:ext cx="8229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Lange termijn: winst verdwijnt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371600" y="1097280"/>
            <a:ext cx="6400800" cy="548640"/>
          </a:xfrm>
          <a:prstGeom prst="rect">
            <a:avLst>
              <a:gd name="adj" fmla="val 8333"/>
            </a:avLst>
          </a:prstGeom>
          <a:solidFill>
            <a:srgbClr val="F9F6F1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1645920" y="1097280"/>
            <a:ext cx="58521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Bedrijven maken winst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1371600" y="1645920"/>
            <a:ext cx="6400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52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↓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1371600" y="1874520"/>
            <a:ext cx="6400800" cy="548640"/>
          </a:xfrm>
          <a:prstGeom prst="rect">
            <a:avLst>
              <a:gd name="adj" fmla="val 8333"/>
            </a:avLst>
          </a:prstGeom>
          <a:solidFill>
            <a:srgbClr val="F9F6F1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1645920" y="1874520"/>
            <a:ext cx="58521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Nieuwe aanbieders treden toe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1371600" y="2423160"/>
            <a:ext cx="6400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52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↓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1371600" y="2651760"/>
            <a:ext cx="6400800" cy="548640"/>
          </a:xfrm>
          <a:prstGeom prst="rect">
            <a:avLst>
              <a:gd name="adj" fmla="val 8333"/>
            </a:avLst>
          </a:prstGeom>
          <a:solidFill>
            <a:srgbClr val="EBF5FB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1645920" y="2651760"/>
            <a:ext cx="58521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Aanbod stijgt → prijs daalt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1371600" y="3200400"/>
            <a:ext cx="6400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52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↓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1371600" y="3429000"/>
            <a:ext cx="6400800" cy="548640"/>
          </a:xfrm>
          <a:prstGeom prst="rect">
            <a:avLst>
              <a:gd name="adj" fmla="val 8333"/>
            </a:avLst>
          </a:prstGeom>
          <a:solidFill>
            <a:srgbClr val="1A5276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1645920" y="3429000"/>
            <a:ext cx="58521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Winst → 0  |  p = GTK(min)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640080" y="4114800"/>
            <a:ext cx="7863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i="1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 lange termijn: economische winst = 0</a:t>
            </a:r>
            <a:endParaRPr lang="en-US" sz="14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0"/>
            <a:ext cx="8229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Lange termijn: MK = GTK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914400" y="960120"/>
            <a:ext cx="7315200" cy="2697480"/>
          </a:xfrm>
          <a:prstGeom prst="rect">
            <a:avLst/>
          </a:prstGeom>
          <a:solidFill>
            <a:srgbClr val="F7F8FA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14400" y="960120"/>
            <a:ext cx="54864" cy="2697480"/>
          </a:xfrm>
          <a:prstGeom prst="rect">
            <a:avLst/>
          </a:prstGeom>
          <a:solidFill>
            <a:srgbClr val="1A5276"/>
          </a:solidFill>
          <a:ln/>
        </p:spPr>
      </p:sp>
      <p:sp>
        <p:nvSpPr>
          <p:cNvPr id="5" name="Text 3"/>
          <p:cNvSpPr/>
          <p:nvPr/>
        </p:nvSpPr>
        <p:spPr>
          <a:xfrm>
            <a:off x="1143000" y="1051560"/>
            <a:ext cx="6858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Stel:  </a:t>
            </a:r>
            <a:pPr indent="0" marL="0">
              <a:buNone/>
            </a:pPr>
            <a:r>
              <a:rPr lang="en-US" sz="1600" dirty="0">
                <a:solidFill>
                  <a:srgbClr val="2D374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MK = GTK  (geen winst, geen verlies)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1143000" y="1554480"/>
            <a:ext cx="6858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Invullen:  </a:t>
            </a:r>
            <a:pPr indent="0" marL="0">
              <a:buNone/>
            </a:pPr>
            <a:r>
              <a:rPr lang="en-US" sz="1600" dirty="0">
                <a:solidFill>
                  <a:srgbClr val="2D374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q + 10 = 0,5q + 10 + 128/q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143000" y="2057400"/>
            <a:ext cx="6858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Vereenvoudig:  </a:t>
            </a:r>
            <a:pPr indent="0" marL="0">
              <a:buNone/>
            </a:pPr>
            <a:r>
              <a:rPr lang="en-US" sz="1600" dirty="0">
                <a:solidFill>
                  <a:srgbClr val="2D374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0,5q = 128/q  →  0,5q² = 128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1143000" y="2560320"/>
            <a:ext cx="6858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Oplossen:  </a:t>
            </a:r>
            <a:pPr indent="0" marL="0">
              <a:buNone/>
            </a:pPr>
            <a:r>
              <a:rPr lang="en-US" sz="1600" dirty="0">
                <a:solidFill>
                  <a:srgbClr val="2D374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q² = 256  →  q = 16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143000" y="3063240"/>
            <a:ext cx="6858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Prijs:  </a:t>
            </a:r>
            <a:pPr indent="0" marL="0">
              <a:buNone/>
            </a:pPr>
            <a:r>
              <a:rPr lang="en-US" sz="1600" dirty="0">
                <a:solidFill>
                  <a:srgbClr val="2D374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 = 16 + 10 = €26</a:t>
            </a:r>
            <a:endParaRPr lang="en-US" sz="14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0"/>
            <a:ext cx="8229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Lange termijn: winst = 0</a:t>
            </a:r>
            <a:endParaRPr lang="en-US" sz="2400" dirty="0"/>
          </a:p>
        </p:txBody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822960"/>
            <a:ext cx="7772400" cy="38862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7863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Samenvatting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640080" y="1051560"/>
            <a:ext cx="7863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Beheers je dit voordat je gaat oefenen?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640080" y="1554480"/>
            <a:ext cx="7863840" cy="2926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60000"/>
              </a:lnSpc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Individuele aanbodfunctie = MK-lijn (want MO = p = MK)</a:t>
            </a:r>
            <a:endParaRPr lang="en-US" sz="1500" dirty="0"/>
          </a:p>
          <a:p>
            <a:pPr marL="342900" indent="-342900">
              <a:lnSpc>
                <a:spcPct val="160000"/>
              </a:lnSpc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Collectief aanbod: draai om en vermenigvuldig met n</a:t>
            </a:r>
            <a:endParaRPr lang="en-US" sz="1500" dirty="0"/>
          </a:p>
          <a:p>
            <a:pPr marL="342900" indent="-342900">
              <a:lnSpc>
                <a:spcPct val="160000"/>
              </a:lnSpc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Evenwicht: stel Qv = Qa en los op naar p en Q</a:t>
            </a:r>
            <a:endParaRPr lang="en-US" sz="1500" dirty="0"/>
          </a:p>
          <a:p>
            <a:pPr marL="342900" indent="-342900">
              <a:lnSpc>
                <a:spcPct val="160000"/>
              </a:lnSpc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Winst = TO − TK, surplus = driehoeken in V/A-grafiek</a:t>
            </a:r>
            <a:endParaRPr lang="en-US" sz="1500" dirty="0"/>
          </a:p>
          <a:p>
            <a:pPr marL="342900" indent="-342900">
              <a:lnSpc>
                <a:spcPct val="160000"/>
              </a:lnSpc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Lange termijn: winst → 0, prijs daalt tot MK = GTK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3.2.2 Volkomen concurrentie</dc:title>
  <dc:subject>PptxGenJS Presentation</dc:subject>
  <dc:creator>Economie VWO</dc:creator>
  <cp:lastModifiedBy>Economie VWO</cp:lastModifiedBy>
  <cp:revision>1</cp:revision>
  <dcterms:created xsi:type="dcterms:W3CDTF">2026-04-01T17:56:02Z</dcterms:created>
  <dcterms:modified xsi:type="dcterms:W3CDTF">2026-04-01T17:56:02Z</dcterms:modified>
</cp:coreProperties>
</file>