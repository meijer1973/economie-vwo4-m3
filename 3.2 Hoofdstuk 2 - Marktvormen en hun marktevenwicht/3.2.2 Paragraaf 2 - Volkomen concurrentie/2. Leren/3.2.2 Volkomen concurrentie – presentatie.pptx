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paragraaf 3.2.2 over volkomen concurrentie. We behandelen alle kenmerken, de afleiding van kosten naar aanbod, het marktevenwicht, winst, surplus en de lange termijn.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 leerdoelen voor deze paragraaf. Van kenmerken herkennen tot de lange termijn voorspellen. We bouwen het stap voor stap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vier kenmerken van volkomen concurrentie. Veel aanbieders, homogeen product, vrije toetreding en het bedrijf is een prijsnemer. Het laatste punt (MO = p) is cruciaal voor de berekeningen.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leiden de aanbodfunctie af uit de kostenfunctie. Stap 1: differentieer TK naar q om MK te krijgen. Stap 2: bij volkomen concurrentie is MO = p. Stap 3: stel MO = MK, dus p = MK. Dit geeft de aanbodfunctie.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 individueel naar collectief aanbod. Draai de individuele aanbodfunctie om zodat q links staat. Vermenigvuldig met het aantal aanbieders. Dit geeft de collectieve aanbodfunctie.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evenwicht berekenen: stel Qv gelijk aan Qa en los op. De evenwichtsprijs is 30 euro, de evenwichtshoeveelheid is 200 stuks.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winst van een individuele aanbieder. Eerst de individuele hoeveelheid berekenen, dan TO en TK, en het verschil is de winst. Elke aanbieder maakt 72 euro winst.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consumentensurplus is het verschil tussen wat consumenten bereid waren te betalen en wat ze daadwerkelijk betalen. Het producentensurplus is het verschil tussen de ontvangen prijs en de minimale prijs waarvoor ze wilden verkopen.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 de lange termijn treden nieuwe bedrijven toe zolang er winst te behalen is. Dit verhoogt het aanbod, drukt de prijs, en uiteindelijk is de winst nul. Dan geldt: p = GTKmin.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lange-termijnberekening: stel MK = GTK (nulwinst). Los op naar q en p. Op lange termijn produceert elke aanbieder 16 stuks tegen een prijs van 26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kernpunten. Van individueel naar collectief aanbod, het evenwicht, winstberekening, surplus en de lange termijn. Controleer of leerlingen de stappen zelfstandig kunnen doorlopen.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786384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Volkomen concurrentie</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3.2.2</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2: Marktvormen en hun marktevenwicht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ga je leren?</a:t>
            </a:r>
            <a:endParaRPr lang="en-US" sz="2400" dirty="0"/>
          </a:p>
        </p:txBody>
      </p:sp>
      <p:sp>
        <p:nvSpPr>
          <p:cNvPr id="3" name="Text 1"/>
          <p:cNvSpPr/>
          <p:nvPr/>
        </p:nvSpPr>
        <p:spPr>
          <a:xfrm>
            <a:off x="640080" y="1097280"/>
            <a:ext cx="7863840" cy="3474720"/>
          </a:xfrm>
          <a:prstGeom prst="rect">
            <a:avLst/>
          </a:prstGeom>
          <a:noFill/>
          <a:ln/>
        </p:spPr>
        <p:txBody>
          <a:bodyPr wrap="square" rtlCol="0" anchor="t"/>
          <a:lstStyle/>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De kenmerken van volkomen concurrentie herkennen</a:t>
            </a:r>
            <a:endParaRPr lang="en-US" sz="1600" dirty="0"/>
          </a:p>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Van kostenfunctie naar (collectieve) aanbodfunctie afleiden</a:t>
            </a:r>
            <a:endParaRPr lang="en-US" sz="1600" dirty="0"/>
          </a:p>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Het marktevenwicht berekenen (Qv = Qa)</a:t>
            </a:r>
            <a:endParaRPr lang="en-US" sz="1600" dirty="0"/>
          </a:p>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De winst van een individuele aanbieder berekenen</a:t>
            </a:r>
            <a:endParaRPr lang="en-US" sz="1600" dirty="0"/>
          </a:p>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CS en PS berekenen en in een grafiek herkennen</a:t>
            </a:r>
            <a:endParaRPr lang="en-US" sz="1600" dirty="0"/>
          </a:p>
          <a:p>
            <a:pPr marL="342900" indent="-342900">
              <a:lnSpc>
                <a:spcPct val="145000"/>
              </a:lnSpc>
              <a:spcAft>
                <a:spcPts val="600"/>
              </a:spcAft>
              <a:buSzPct val="100000"/>
              <a:buChar char="•"/>
            </a:pPr>
            <a:r>
              <a:rPr lang="en-US" sz="1600" dirty="0">
                <a:solidFill>
                  <a:srgbClr val="2D3748"/>
                </a:solidFill>
                <a:latin typeface="Arial" pitchFamily="34" charset="0"/>
                <a:ea typeface="Arial" pitchFamily="34" charset="-122"/>
                <a:cs typeface="Arial" pitchFamily="34" charset="-120"/>
              </a:rPr>
              <a:t>De lange termijn voorspellen: MK = GTK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Kenmerken volkomen concurrentie</a:t>
            </a:r>
            <a:endParaRPr lang="en-US" sz="2400" dirty="0"/>
          </a:p>
        </p:txBody>
      </p:sp>
      <p:sp>
        <p:nvSpPr>
          <p:cNvPr id="3" name="Shape 1"/>
          <p:cNvSpPr/>
          <p:nvPr/>
        </p:nvSpPr>
        <p:spPr>
          <a:xfrm>
            <a:off x="457200" y="960120"/>
            <a:ext cx="8229600" cy="749808"/>
          </a:xfrm>
          <a:prstGeom prst="rect">
            <a:avLst>
              <a:gd name="adj" fmla="val 6098"/>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960120"/>
            <a:ext cx="54864" cy="749808"/>
          </a:xfrm>
          <a:prstGeom prst="rect">
            <a:avLst/>
          </a:prstGeom>
          <a:solidFill>
            <a:srgbClr val="1A5276"/>
          </a:solidFill>
          <a:ln/>
        </p:spPr>
      </p:sp>
      <p:sp>
        <p:nvSpPr>
          <p:cNvPr id="5" name="Text 3"/>
          <p:cNvSpPr/>
          <p:nvPr/>
        </p:nvSpPr>
        <p:spPr>
          <a:xfrm>
            <a:off x="658368" y="1005840"/>
            <a:ext cx="7772400" cy="32004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Veel aanbieders</a:t>
            </a:r>
            <a:endParaRPr lang="en-US" sz="1800" dirty="0"/>
          </a:p>
        </p:txBody>
      </p:sp>
      <p:sp>
        <p:nvSpPr>
          <p:cNvPr id="6" name="Text 4"/>
          <p:cNvSpPr/>
          <p:nvPr/>
        </p:nvSpPr>
        <p:spPr>
          <a:xfrm>
            <a:off x="658368" y="1325880"/>
            <a:ext cx="7772400" cy="32004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Geen enkele aanbieder heeft marktmacht</a:t>
            </a:r>
            <a:endParaRPr lang="en-US" sz="1400" dirty="0"/>
          </a:p>
        </p:txBody>
      </p:sp>
      <p:sp>
        <p:nvSpPr>
          <p:cNvPr id="7" name="Shape 5"/>
          <p:cNvSpPr/>
          <p:nvPr/>
        </p:nvSpPr>
        <p:spPr>
          <a:xfrm>
            <a:off x="457200" y="1874520"/>
            <a:ext cx="8229600" cy="749808"/>
          </a:xfrm>
          <a:prstGeom prst="rect">
            <a:avLst>
              <a:gd name="adj" fmla="val 6098"/>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57200" y="1874520"/>
            <a:ext cx="54864" cy="749808"/>
          </a:xfrm>
          <a:prstGeom prst="rect">
            <a:avLst/>
          </a:prstGeom>
          <a:solidFill>
            <a:srgbClr val="1A5276"/>
          </a:solidFill>
          <a:ln/>
        </p:spPr>
      </p:sp>
      <p:sp>
        <p:nvSpPr>
          <p:cNvPr id="9" name="Text 7"/>
          <p:cNvSpPr/>
          <p:nvPr/>
        </p:nvSpPr>
        <p:spPr>
          <a:xfrm>
            <a:off x="658368" y="1920240"/>
            <a:ext cx="7772400" cy="32004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Homogeen product</a:t>
            </a:r>
            <a:endParaRPr lang="en-US" sz="1800" dirty="0"/>
          </a:p>
        </p:txBody>
      </p:sp>
      <p:sp>
        <p:nvSpPr>
          <p:cNvPr id="10" name="Text 8"/>
          <p:cNvSpPr/>
          <p:nvPr/>
        </p:nvSpPr>
        <p:spPr>
          <a:xfrm>
            <a:off x="658368" y="2240280"/>
            <a:ext cx="7772400" cy="32004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Producten zijn identiek en uitwisselbaar</a:t>
            </a:r>
            <a:endParaRPr lang="en-US" sz="1400" dirty="0"/>
          </a:p>
        </p:txBody>
      </p:sp>
      <p:sp>
        <p:nvSpPr>
          <p:cNvPr id="11" name="Shape 9"/>
          <p:cNvSpPr/>
          <p:nvPr/>
        </p:nvSpPr>
        <p:spPr>
          <a:xfrm>
            <a:off x="457200" y="2788920"/>
            <a:ext cx="8229600" cy="749808"/>
          </a:xfrm>
          <a:prstGeom prst="rect">
            <a:avLst>
              <a:gd name="adj" fmla="val 6098"/>
            </a:avLst>
          </a:prstGeom>
          <a:solidFill>
            <a:srgbClr val="F9F6F1"/>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2788920"/>
            <a:ext cx="54864" cy="749808"/>
          </a:xfrm>
          <a:prstGeom prst="rect">
            <a:avLst/>
          </a:prstGeom>
          <a:solidFill>
            <a:srgbClr val="1A5276"/>
          </a:solidFill>
          <a:ln/>
        </p:spPr>
      </p:sp>
      <p:sp>
        <p:nvSpPr>
          <p:cNvPr id="13" name="Text 11"/>
          <p:cNvSpPr/>
          <p:nvPr/>
        </p:nvSpPr>
        <p:spPr>
          <a:xfrm>
            <a:off x="658368" y="2834640"/>
            <a:ext cx="7772400" cy="32004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Vrije toe-/uittreding</a:t>
            </a:r>
            <a:endParaRPr lang="en-US" sz="1800" dirty="0"/>
          </a:p>
        </p:txBody>
      </p:sp>
      <p:sp>
        <p:nvSpPr>
          <p:cNvPr id="14" name="Text 12"/>
          <p:cNvSpPr/>
          <p:nvPr/>
        </p:nvSpPr>
        <p:spPr>
          <a:xfrm>
            <a:off x="658368" y="3154680"/>
            <a:ext cx="7772400" cy="32004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Bedrijven kunnen vrij de markt betreden of verlaten</a:t>
            </a:r>
            <a:endParaRPr lang="en-US" sz="1400" dirty="0"/>
          </a:p>
        </p:txBody>
      </p:sp>
      <p:sp>
        <p:nvSpPr>
          <p:cNvPr id="15" name="Shape 13"/>
          <p:cNvSpPr/>
          <p:nvPr/>
        </p:nvSpPr>
        <p:spPr>
          <a:xfrm>
            <a:off x="457200" y="3703320"/>
            <a:ext cx="8229600" cy="749808"/>
          </a:xfrm>
          <a:prstGeom prst="rect">
            <a:avLst>
              <a:gd name="adj" fmla="val 6098"/>
            </a:avLst>
          </a:prstGeom>
          <a:solidFill>
            <a:srgbClr val="F7F8FA"/>
          </a:solidFill>
          <a:ln/>
          <a:effectLst>
            <a:outerShdw sx="100000" sy="100000" kx="0" ky="0" algn="bl" rotWithShape="0" blurRad="76200" dist="25400" dir="8100000">
              <a:srgbClr val="000000">
                <a:alpha val="10000"/>
              </a:srgbClr>
            </a:outerShdw>
          </a:effectLst>
        </p:spPr>
      </p:sp>
      <p:sp>
        <p:nvSpPr>
          <p:cNvPr id="16" name="Shape 14"/>
          <p:cNvSpPr/>
          <p:nvPr/>
        </p:nvSpPr>
        <p:spPr>
          <a:xfrm>
            <a:off x="457200" y="3703320"/>
            <a:ext cx="54864" cy="749808"/>
          </a:xfrm>
          <a:prstGeom prst="rect">
            <a:avLst/>
          </a:prstGeom>
          <a:solidFill>
            <a:srgbClr val="1A5276"/>
          </a:solidFill>
          <a:ln/>
        </p:spPr>
      </p:sp>
      <p:sp>
        <p:nvSpPr>
          <p:cNvPr id="17" name="Text 15"/>
          <p:cNvSpPr/>
          <p:nvPr/>
        </p:nvSpPr>
        <p:spPr>
          <a:xfrm>
            <a:off x="658368" y="3749040"/>
            <a:ext cx="7772400" cy="32004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Prijsnemer</a:t>
            </a:r>
            <a:endParaRPr lang="en-US" sz="1800" dirty="0"/>
          </a:p>
        </p:txBody>
      </p:sp>
      <p:sp>
        <p:nvSpPr>
          <p:cNvPr id="18" name="Text 16"/>
          <p:cNvSpPr/>
          <p:nvPr/>
        </p:nvSpPr>
        <p:spPr>
          <a:xfrm>
            <a:off x="658368" y="4069080"/>
            <a:ext cx="7772400" cy="32004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De aanbieder accepteert de marktprijs: MO = 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Van kosten naar aanbod</a:t>
            </a:r>
            <a:endParaRPr lang="en-US" sz="2400" dirty="0"/>
          </a:p>
        </p:txBody>
      </p:sp>
      <p:sp>
        <p:nvSpPr>
          <p:cNvPr id="3" name="Shape 1"/>
          <p:cNvSpPr/>
          <p:nvPr/>
        </p:nvSpPr>
        <p:spPr>
          <a:xfrm>
            <a:off x="640080" y="960120"/>
            <a:ext cx="7863840" cy="731520"/>
          </a:xfrm>
          <a:prstGeom prst="rect">
            <a:avLst/>
          </a:prstGeom>
          <a:solidFill>
            <a:srgbClr val="F7F8FA"/>
          </a:solidFill>
          <a:ln w="6350">
            <a:solidFill>
              <a:srgbClr val="CBD5E0"/>
            </a:solidFill>
            <a:prstDash val="solid"/>
          </a:ln>
        </p:spPr>
      </p:sp>
      <p:sp>
        <p:nvSpPr>
          <p:cNvPr id="4" name="Shape 2"/>
          <p:cNvSpPr/>
          <p:nvPr/>
        </p:nvSpPr>
        <p:spPr>
          <a:xfrm>
            <a:off x="640080" y="960120"/>
            <a:ext cx="54864" cy="731520"/>
          </a:xfrm>
          <a:prstGeom prst="rect">
            <a:avLst/>
          </a:prstGeom>
          <a:solidFill>
            <a:srgbClr val="718096"/>
          </a:solidFill>
          <a:ln/>
        </p:spPr>
      </p:sp>
      <p:sp>
        <p:nvSpPr>
          <p:cNvPr id="5" name="Text 3"/>
          <p:cNvSpPr/>
          <p:nvPr/>
        </p:nvSpPr>
        <p:spPr>
          <a:xfrm>
            <a:off x="868680" y="960120"/>
            <a:ext cx="2286000" cy="73152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Gegeven</a:t>
            </a:r>
            <a:endParaRPr lang="en-US" sz="1400" dirty="0"/>
          </a:p>
        </p:txBody>
      </p:sp>
      <p:sp>
        <p:nvSpPr>
          <p:cNvPr id="6" name="Text 4"/>
          <p:cNvSpPr/>
          <p:nvPr/>
        </p:nvSpPr>
        <p:spPr>
          <a:xfrm>
            <a:off x="3200400" y="960120"/>
            <a:ext cx="5029200" cy="73152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TK = 0,5q² + 10q + 128</a:t>
            </a:r>
            <a:endParaRPr lang="en-US" sz="1600" dirty="0"/>
          </a:p>
        </p:txBody>
      </p:sp>
      <p:sp>
        <p:nvSpPr>
          <p:cNvPr id="7" name="Text 5"/>
          <p:cNvSpPr/>
          <p:nvPr/>
        </p:nvSpPr>
        <p:spPr>
          <a:xfrm>
            <a:off x="640080" y="169164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640080" y="1874520"/>
            <a:ext cx="7863840" cy="731520"/>
          </a:xfrm>
          <a:prstGeom prst="rect">
            <a:avLst/>
          </a:prstGeom>
          <a:solidFill>
            <a:srgbClr val="F7F8FA"/>
          </a:solidFill>
          <a:ln w="6350">
            <a:solidFill>
              <a:srgbClr val="CBD5E0"/>
            </a:solidFill>
            <a:prstDash val="solid"/>
          </a:ln>
        </p:spPr>
      </p:sp>
      <p:sp>
        <p:nvSpPr>
          <p:cNvPr id="9" name="Shape 7"/>
          <p:cNvSpPr/>
          <p:nvPr/>
        </p:nvSpPr>
        <p:spPr>
          <a:xfrm>
            <a:off x="640080" y="1874520"/>
            <a:ext cx="54864" cy="731520"/>
          </a:xfrm>
          <a:prstGeom prst="rect">
            <a:avLst/>
          </a:prstGeom>
          <a:solidFill>
            <a:srgbClr val="718096"/>
          </a:solidFill>
          <a:ln/>
        </p:spPr>
      </p:sp>
      <p:sp>
        <p:nvSpPr>
          <p:cNvPr id="10" name="Text 8"/>
          <p:cNvSpPr/>
          <p:nvPr/>
        </p:nvSpPr>
        <p:spPr>
          <a:xfrm>
            <a:off x="868680" y="1874520"/>
            <a:ext cx="2286000" cy="73152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Stap 1: Afleiden</a:t>
            </a:r>
            <a:endParaRPr lang="en-US" sz="1400" dirty="0"/>
          </a:p>
        </p:txBody>
      </p:sp>
      <p:sp>
        <p:nvSpPr>
          <p:cNvPr id="11" name="Text 9"/>
          <p:cNvSpPr/>
          <p:nvPr/>
        </p:nvSpPr>
        <p:spPr>
          <a:xfrm>
            <a:off x="3200400" y="1874520"/>
            <a:ext cx="5029200" cy="73152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MK = TK′ = q + 10</a:t>
            </a:r>
            <a:endParaRPr lang="en-US" sz="1600" dirty="0"/>
          </a:p>
        </p:txBody>
      </p:sp>
      <p:sp>
        <p:nvSpPr>
          <p:cNvPr id="12" name="Text 10"/>
          <p:cNvSpPr/>
          <p:nvPr/>
        </p:nvSpPr>
        <p:spPr>
          <a:xfrm>
            <a:off x="640080" y="260604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640080" y="2788920"/>
            <a:ext cx="7863840" cy="731520"/>
          </a:xfrm>
          <a:prstGeom prst="rect">
            <a:avLst/>
          </a:prstGeom>
          <a:solidFill>
            <a:srgbClr val="F7F8FA"/>
          </a:solidFill>
          <a:ln w="6350">
            <a:solidFill>
              <a:srgbClr val="CBD5E0"/>
            </a:solidFill>
            <a:prstDash val="solid"/>
          </a:ln>
        </p:spPr>
      </p:sp>
      <p:sp>
        <p:nvSpPr>
          <p:cNvPr id="14" name="Shape 12"/>
          <p:cNvSpPr/>
          <p:nvPr/>
        </p:nvSpPr>
        <p:spPr>
          <a:xfrm>
            <a:off x="640080" y="2788920"/>
            <a:ext cx="54864" cy="731520"/>
          </a:xfrm>
          <a:prstGeom prst="rect">
            <a:avLst/>
          </a:prstGeom>
          <a:solidFill>
            <a:srgbClr val="718096"/>
          </a:solidFill>
          <a:ln/>
        </p:spPr>
      </p:sp>
      <p:sp>
        <p:nvSpPr>
          <p:cNvPr id="15" name="Text 13"/>
          <p:cNvSpPr/>
          <p:nvPr/>
        </p:nvSpPr>
        <p:spPr>
          <a:xfrm>
            <a:off x="868680" y="2788920"/>
            <a:ext cx="2286000" cy="73152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Stap 2: Prijsnemer</a:t>
            </a:r>
            <a:endParaRPr lang="en-US" sz="1400" dirty="0"/>
          </a:p>
        </p:txBody>
      </p:sp>
      <p:sp>
        <p:nvSpPr>
          <p:cNvPr id="16" name="Text 14"/>
          <p:cNvSpPr/>
          <p:nvPr/>
        </p:nvSpPr>
        <p:spPr>
          <a:xfrm>
            <a:off x="3200400" y="2788920"/>
            <a:ext cx="5029200" cy="73152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MO = p = MK</a:t>
            </a:r>
            <a:endParaRPr lang="en-US" sz="1600" dirty="0"/>
          </a:p>
        </p:txBody>
      </p:sp>
      <p:sp>
        <p:nvSpPr>
          <p:cNvPr id="17" name="Text 15"/>
          <p:cNvSpPr/>
          <p:nvPr/>
        </p:nvSpPr>
        <p:spPr>
          <a:xfrm>
            <a:off x="640080" y="352044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18" name="Shape 16"/>
          <p:cNvSpPr/>
          <p:nvPr/>
        </p:nvSpPr>
        <p:spPr>
          <a:xfrm>
            <a:off x="640080" y="3703320"/>
            <a:ext cx="7863840" cy="731520"/>
          </a:xfrm>
          <a:prstGeom prst="rect">
            <a:avLst/>
          </a:prstGeom>
          <a:solidFill>
            <a:srgbClr val="EBF5FB"/>
          </a:solidFill>
          <a:ln w="6350">
            <a:solidFill>
              <a:srgbClr val="1A5276"/>
            </a:solidFill>
            <a:prstDash val="solid"/>
          </a:ln>
        </p:spPr>
      </p:sp>
      <p:sp>
        <p:nvSpPr>
          <p:cNvPr id="19" name="Shape 17"/>
          <p:cNvSpPr/>
          <p:nvPr/>
        </p:nvSpPr>
        <p:spPr>
          <a:xfrm>
            <a:off x="640080" y="3703320"/>
            <a:ext cx="54864" cy="731520"/>
          </a:xfrm>
          <a:prstGeom prst="rect">
            <a:avLst/>
          </a:prstGeom>
          <a:solidFill>
            <a:srgbClr val="1A5276"/>
          </a:solidFill>
          <a:ln/>
        </p:spPr>
      </p:sp>
      <p:sp>
        <p:nvSpPr>
          <p:cNvPr id="20" name="Text 18"/>
          <p:cNvSpPr/>
          <p:nvPr/>
        </p:nvSpPr>
        <p:spPr>
          <a:xfrm>
            <a:off x="868680" y="3703320"/>
            <a:ext cx="2286000" cy="731520"/>
          </a:xfrm>
          <a:prstGeom prst="rect">
            <a:avLst/>
          </a:prstGeom>
          <a:noFill/>
          <a:ln/>
        </p:spPr>
        <p:txBody>
          <a:bodyPr wrap="square" rtlCol="0" anchor="ctr"/>
          <a:lstStyle/>
          <a:p>
            <a:pPr indent="0" marL="0">
              <a:buNone/>
            </a:pPr>
            <a:r>
              <a:rPr lang="en-US" sz="1400" b="1" dirty="0">
                <a:solidFill>
                  <a:srgbClr val="1A5276"/>
                </a:solidFill>
                <a:latin typeface="Arial" pitchFamily="34" charset="0"/>
                <a:ea typeface="Arial" pitchFamily="34" charset="-122"/>
                <a:cs typeface="Arial" pitchFamily="34" charset="-120"/>
              </a:rPr>
              <a:t>Stap 3: Aanbodfunctie</a:t>
            </a:r>
            <a:endParaRPr lang="en-US" sz="1400" dirty="0"/>
          </a:p>
        </p:txBody>
      </p:sp>
      <p:sp>
        <p:nvSpPr>
          <p:cNvPr id="21" name="Text 19"/>
          <p:cNvSpPr/>
          <p:nvPr/>
        </p:nvSpPr>
        <p:spPr>
          <a:xfrm>
            <a:off x="3200400" y="3703320"/>
            <a:ext cx="5029200" cy="73152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p = q + 10</a:t>
            </a:r>
            <a:endParaRPr lang="en-US" sz="1600" dirty="0"/>
          </a:p>
        </p:txBody>
      </p:sp>
      <p:sp>
        <p:nvSpPr>
          <p:cNvPr id="22" name="Text 20"/>
          <p:cNvSpPr/>
          <p:nvPr/>
        </p:nvSpPr>
        <p:spPr>
          <a:xfrm>
            <a:off x="640080" y="457200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Bij volkomen concurrentie is de MK-lijn de aanbodfunctie.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Individueel → collectief aanbod</a:t>
            </a:r>
            <a:endParaRPr lang="en-US" sz="2400" dirty="0"/>
          </a:p>
        </p:txBody>
      </p:sp>
      <p:sp>
        <p:nvSpPr>
          <p:cNvPr id="3" name="Shape 1"/>
          <p:cNvSpPr/>
          <p:nvPr/>
        </p:nvSpPr>
        <p:spPr>
          <a:xfrm>
            <a:off x="914400" y="1097280"/>
            <a:ext cx="7315200" cy="731520"/>
          </a:xfrm>
          <a:prstGeom prst="rect">
            <a:avLst>
              <a:gd name="adj" fmla="val 6250"/>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1097280" y="1097280"/>
            <a:ext cx="6949440" cy="457200"/>
          </a:xfrm>
          <a:prstGeom prst="rect">
            <a:avLst/>
          </a:prstGeom>
          <a:noFill/>
          <a:ln/>
        </p:spPr>
        <p:txBody>
          <a:bodyPr wrap="square" rtlCol="0" anchor="b"/>
          <a:lstStyle/>
          <a:p>
            <a:pPr indent="0" marL="0">
              <a:buNone/>
            </a:pPr>
            <a:r>
              <a:rPr lang="en-US" sz="1600" dirty="0">
                <a:solidFill>
                  <a:srgbClr val="2D3748"/>
                </a:solidFill>
                <a:latin typeface="Consolas" pitchFamily="34" charset="0"/>
                <a:ea typeface="Consolas" pitchFamily="34" charset="-122"/>
                <a:cs typeface="Consolas" pitchFamily="34" charset="-120"/>
              </a:rPr>
              <a:t>Individueel:  p = q + 10</a:t>
            </a:r>
            <a:endParaRPr lang="en-US" sz="1600" dirty="0"/>
          </a:p>
        </p:txBody>
      </p:sp>
      <p:sp>
        <p:nvSpPr>
          <p:cNvPr id="5" name="Text 3"/>
          <p:cNvSpPr/>
          <p:nvPr/>
        </p:nvSpPr>
        <p:spPr>
          <a:xfrm>
            <a:off x="1097280" y="1508760"/>
            <a:ext cx="6949440" cy="274320"/>
          </a:xfrm>
          <a:prstGeom prst="rect">
            <a:avLst/>
          </a:prstGeom>
          <a:noFill/>
          <a:ln/>
        </p:spPr>
        <p:txBody>
          <a:bodyPr wrap="square" rtlCol="0" anchor="ctr"/>
          <a:lstStyle/>
          <a:p>
            <a:pPr indent="0" marL="0">
              <a:buNone/>
            </a:pPr>
            <a:r>
              <a:rPr lang="en-US" sz="1300" dirty="0">
                <a:solidFill>
                  <a:srgbClr val="718096"/>
                </a:solidFill>
                <a:latin typeface="Arial" pitchFamily="34" charset="0"/>
                <a:ea typeface="Arial" pitchFamily="34" charset="-122"/>
                <a:cs typeface="Arial" pitchFamily="34" charset="-120"/>
              </a:rPr>
              <a:t>Draai om: q = p − 10</a:t>
            </a:r>
            <a:endParaRPr lang="en-US" sz="1300" dirty="0"/>
          </a:p>
        </p:txBody>
      </p:sp>
      <p:sp>
        <p:nvSpPr>
          <p:cNvPr id="6" name="Text 4"/>
          <p:cNvSpPr/>
          <p:nvPr/>
        </p:nvSpPr>
        <p:spPr>
          <a:xfrm>
            <a:off x="914400" y="1828800"/>
            <a:ext cx="7315200" cy="320040"/>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914400" y="2194560"/>
            <a:ext cx="7315200" cy="731520"/>
          </a:xfrm>
          <a:prstGeom prst="rect">
            <a:avLst>
              <a:gd name="adj" fmla="val 6250"/>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1097280" y="2194560"/>
            <a:ext cx="6949440" cy="73152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Vermenigvuldig met n = 10 aanbieders</a:t>
            </a:r>
            <a:endParaRPr lang="en-US" sz="1600" dirty="0"/>
          </a:p>
        </p:txBody>
      </p:sp>
      <p:sp>
        <p:nvSpPr>
          <p:cNvPr id="9" name="Text 7"/>
          <p:cNvSpPr/>
          <p:nvPr/>
        </p:nvSpPr>
        <p:spPr>
          <a:xfrm>
            <a:off x="914400" y="2926080"/>
            <a:ext cx="7315200" cy="320040"/>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914400" y="3291840"/>
            <a:ext cx="7315200" cy="731520"/>
          </a:xfrm>
          <a:prstGeom prst="rect">
            <a:avLst>
              <a:gd name="adj" fmla="val 6250"/>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1" name="Text 9"/>
          <p:cNvSpPr/>
          <p:nvPr/>
        </p:nvSpPr>
        <p:spPr>
          <a:xfrm>
            <a:off x="1097280" y="3291840"/>
            <a:ext cx="6949440" cy="731520"/>
          </a:xfrm>
          <a:prstGeom prst="rect">
            <a:avLst/>
          </a:prstGeom>
          <a:noFill/>
          <a:ln/>
        </p:spPr>
        <p:txBody>
          <a:bodyPr wrap="square" rtlCol="0" anchor="ctr"/>
          <a:lstStyle/>
          <a:p>
            <a:pPr indent="0" marL="0">
              <a:buNone/>
            </a:pPr>
            <a:r>
              <a:rPr lang="en-US" sz="1600" b="1" dirty="0">
                <a:solidFill>
                  <a:srgbClr val="FFFFFF"/>
                </a:solidFill>
                <a:latin typeface="Consolas" pitchFamily="34" charset="0"/>
                <a:ea typeface="Consolas" pitchFamily="34" charset="-122"/>
                <a:cs typeface="Consolas" pitchFamily="34" charset="-120"/>
              </a:rPr>
              <a:t>Collectief:  Qa = 10(p − 10) = 10p − 100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Evenwicht berekenen</a:t>
            </a:r>
            <a:endParaRPr lang="en-US" sz="2400" dirty="0"/>
          </a:p>
        </p:txBody>
      </p:sp>
      <p:sp>
        <p:nvSpPr>
          <p:cNvPr id="3" name="Shape 1"/>
          <p:cNvSpPr/>
          <p:nvPr/>
        </p:nvSpPr>
        <p:spPr>
          <a:xfrm>
            <a:off x="640080" y="914400"/>
            <a:ext cx="7863840" cy="594360"/>
          </a:xfrm>
          <a:prstGeom prst="rect">
            <a:avLst/>
          </a:prstGeom>
          <a:solidFill>
            <a:srgbClr val="F7F8FA"/>
          </a:solidFill>
          <a:ln w="6350">
            <a:solidFill>
              <a:srgbClr val="CBD5E0"/>
            </a:solidFill>
            <a:prstDash val="solid"/>
          </a:ln>
        </p:spPr>
      </p:sp>
      <p:sp>
        <p:nvSpPr>
          <p:cNvPr id="4" name="Text 2"/>
          <p:cNvSpPr/>
          <p:nvPr/>
        </p:nvSpPr>
        <p:spPr>
          <a:xfrm>
            <a:off x="868680" y="914400"/>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Stel</a:t>
            </a:r>
            <a:endParaRPr lang="en-US" sz="1400" dirty="0"/>
          </a:p>
        </p:txBody>
      </p:sp>
      <p:sp>
        <p:nvSpPr>
          <p:cNvPr id="5" name="Text 3"/>
          <p:cNvSpPr/>
          <p:nvPr/>
        </p:nvSpPr>
        <p:spPr>
          <a:xfrm>
            <a:off x="2743200" y="914400"/>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Qv = Qa  (vraag = aanbod)</a:t>
            </a:r>
            <a:endParaRPr lang="en-US" sz="1600" dirty="0"/>
          </a:p>
        </p:txBody>
      </p:sp>
      <p:sp>
        <p:nvSpPr>
          <p:cNvPr id="6" name="Shape 4"/>
          <p:cNvSpPr/>
          <p:nvPr/>
        </p:nvSpPr>
        <p:spPr>
          <a:xfrm>
            <a:off x="640080" y="1664208"/>
            <a:ext cx="7863840" cy="594360"/>
          </a:xfrm>
          <a:prstGeom prst="rect">
            <a:avLst/>
          </a:prstGeom>
          <a:solidFill>
            <a:srgbClr val="F7F8FA"/>
          </a:solidFill>
          <a:ln w="6350">
            <a:solidFill>
              <a:srgbClr val="CBD5E0"/>
            </a:solidFill>
            <a:prstDash val="solid"/>
          </a:ln>
        </p:spPr>
      </p:sp>
      <p:sp>
        <p:nvSpPr>
          <p:cNvPr id="7" name="Text 5"/>
          <p:cNvSpPr/>
          <p:nvPr/>
        </p:nvSpPr>
        <p:spPr>
          <a:xfrm>
            <a:off x="868680" y="1664208"/>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Invullen</a:t>
            </a:r>
            <a:endParaRPr lang="en-US" sz="1400" dirty="0"/>
          </a:p>
        </p:txBody>
      </p:sp>
      <p:sp>
        <p:nvSpPr>
          <p:cNvPr id="8" name="Text 6"/>
          <p:cNvSpPr/>
          <p:nvPr/>
        </p:nvSpPr>
        <p:spPr>
          <a:xfrm>
            <a:off x="2743200" y="1664208"/>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−10p + 500 = 10p − 100</a:t>
            </a:r>
            <a:endParaRPr lang="en-US" sz="1600" dirty="0"/>
          </a:p>
        </p:txBody>
      </p:sp>
      <p:sp>
        <p:nvSpPr>
          <p:cNvPr id="9" name="Shape 7"/>
          <p:cNvSpPr/>
          <p:nvPr/>
        </p:nvSpPr>
        <p:spPr>
          <a:xfrm>
            <a:off x="640080" y="2414016"/>
            <a:ext cx="7863840" cy="594360"/>
          </a:xfrm>
          <a:prstGeom prst="rect">
            <a:avLst/>
          </a:prstGeom>
          <a:solidFill>
            <a:srgbClr val="F7F8FA"/>
          </a:solidFill>
          <a:ln w="6350">
            <a:solidFill>
              <a:srgbClr val="CBD5E0"/>
            </a:solidFill>
            <a:prstDash val="solid"/>
          </a:ln>
        </p:spPr>
      </p:sp>
      <p:sp>
        <p:nvSpPr>
          <p:cNvPr id="10" name="Text 8"/>
          <p:cNvSpPr/>
          <p:nvPr/>
        </p:nvSpPr>
        <p:spPr>
          <a:xfrm>
            <a:off x="868680" y="2414016"/>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Oplossen</a:t>
            </a:r>
            <a:endParaRPr lang="en-US" sz="1400" dirty="0"/>
          </a:p>
        </p:txBody>
      </p:sp>
      <p:sp>
        <p:nvSpPr>
          <p:cNvPr id="11" name="Text 9"/>
          <p:cNvSpPr/>
          <p:nvPr/>
        </p:nvSpPr>
        <p:spPr>
          <a:xfrm>
            <a:off x="2743200" y="2414016"/>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20p = 600</a:t>
            </a:r>
            <a:endParaRPr lang="en-US" sz="1600" dirty="0"/>
          </a:p>
        </p:txBody>
      </p:sp>
      <p:sp>
        <p:nvSpPr>
          <p:cNvPr id="12" name="Shape 10"/>
          <p:cNvSpPr/>
          <p:nvPr/>
        </p:nvSpPr>
        <p:spPr>
          <a:xfrm>
            <a:off x="640080" y="3163824"/>
            <a:ext cx="7863840" cy="594360"/>
          </a:xfrm>
          <a:prstGeom prst="rect">
            <a:avLst/>
          </a:prstGeom>
          <a:solidFill>
            <a:srgbClr val="EBF5FB"/>
          </a:solidFill>
          <a:ln w="6350">
            <a:solidFill>
              <a:srgbClr val="1A5276"/>
            </a:solidFill>
            <a:prstDash val="solid"/>
          </a:ln>
        </p:spPr>
      </p:sp>
      <p:sp>
        <p:nvSpPr>
          <p:cNvPr id="13" name="Shape 11"/>
          <p:cNvSpPr/>
          <p:nvPr/>
        </p:nvSpPr>
        <p:spPr>
          <a:xfrm>
            <a:off x="640080" y="3163824"/>
            <a:ext cx="54864" cy="594360"/>
          </a:xfrm>
          <a:prstGeom prst="rect">
            <a:avLst/>
          </a:prstGeom>
          <a:solidFill>
            <a:srgbClr val="1A5276"/>
          </a:solidFill>
          <a:ln/>
        </p:spPr>
      </p:sp>
      <p:sp>
        <p:nvSpPr>
          <p:cNvPr id="14" name="Text 12"/>
          <p:cNvSpPr/>
          <p:nvPr/>
        </p:nvSpPr>
        <p:spPr>
          <a:xfrm>
            <a:off x="868680" y="3163824"/>
            <a:ext cx="1828800" cy="594360"/>
          </a:xfrm>
          <a:prstGeom prst="rect">
            <a:avLst/>
          </a:prstGeom>
          <a:noFill/>
          <a:ln/>
        </p:spPr>
        <p:txBody>
          <a:bodyPr wrap="square" rtlCol="0" anchor="ctr"/>
          <a:lstStyle/>
          <a:p>
            <a:pPr indent="0" marL="0">
              <a:buNone/>
            </a:pPr>
            <a:r>
              <a:rPr lang="en-US" sz="1400" b="1" dirty="0">
                <a:solidFill>
                  <a:srgbClr val="1A5276"/>
                </a:solidFill>
                <a:latin typeface="Arial" pitchFamily="34" charset="0"/>
                <a:ea typeface="Arial" pitchFamily="34" charset="-122"/>
                <a:cs typeface="Arial" pitchFamily="34" charset="-120"/>
              </a:rPr>
              <a:t>Prijs</a:t>
            </a:r>
            <a:endParaRPr lang="en-US" sz="1400" dirty="0"/>
          </a:p>
        </p:txBody>
      </p:sp>
      <p:sp>
        <p:nvSpPr>
          <p:cNvPr id="15" name="Text 13"/>
          <p:cNvSpPr/>
          <p:nvPr/>
        </p:nvSpPr>
        <p:spPr>
          <a:xfrm>
            <a:off x="2743200" y="3163824"/>
            <a:ext cx="5486400" cy="594360"/>
          </a:xfrm>
          <a:prstGeom prst="rect">
            <a:avLst/>
          </a:prstGeom>
          <a:noFill/>
          <a:ln/>
        </p:spPr>
        <p:txBody>
          <a:bodyPr wrap="square" rtlCol="0" anchor="ctr"/>
          <a:lstStyle/>
          <a:p>
            <a:pPr indent="0" marL="0">
              <a:buNone/>
            </a:pPr>
            <a:r>
              <a:rPr lang="en-US" sz="1600" b="1" dirty="0">
                <a:solidFill>
                  <a:srgbClr val="2D3748"/>
                </a:solidFill>
                <a:latin typeface="Consolas" pitchFamily="34" charset="0"/>
                <a:ea typeface="Consolas" pitchFamily="34" charset="-122"/>
                <a:cs typeface="Consolas" pitchFamily="34" charset="-120"/>
              </a:rPr>
              <a:t>p* = €30</a:t>
            </a:r>
            <a:endParaRPr lang="en-US" sz="1600" dirty="0"/>
          </a:p>
        </p:txBody>
      </p:sp>
      <p:sp>
        <p:nvSpPr>
          <p:cNvPr id="16" name="Shape 14"/>
          <p:cNvSpPr/>
          <p:nvPr/>
        </p:nvSpPr>
        <p:spPr>
          <a:xfrm>
            <a:off x="640080" y="3913632"/>
            <a:ext cx="7863840" cy="594360"/>
          </a:xfrm>
          <a:prstGeom prst="rect">
            <a:avLst/>
          </a:prstGeom>
          <a:solidFill>
            <a:srgbClr val="EBF5FB"/>
          </a:solidFill>
          <a:ln w="6350">
            <a:solidFill>
              <a:srgbClr val="1A5276"/>
            </a:solidFill>
            <a:prstDash val="solid"/>
          </a:ln>
        </p:spPr>
      </p:sp>
      <p:sp>
        <p:nvSpPr>
          <p:cNvPr id="17" name="Shape 15"/>
          <p:cNvSpPr/>
          <p:nvPr/>
        </p:nvSpPr>
        <p:spPr>
          <a:xfrm>
            <a:off x="640080" y="3913632"/>
            <a:ext cx="54864" cy="594360"/>
          </a:xfrm>
          <a:prstGeom prst="rect">
            <a:avLst/>
          </a:prstGeom>
          <a:solidFill>
            <a:srgbClr val="1A5276"/>
          </a:solidFill>
          <a:ln/>
        </p:spPr>
      </p:sp>
      <p:sp>
        <p:nvSpPr>
          <p:cNvPr id="18" name="Text 16"/>
          <p:cNvSpPr/>
          <p:nvPr/>
        </p:nvSpPr>
        <p:spPr>
          <a:xfrm>
            <a:off x="868680" y="3913632"/>
            <a:ext cx="1828800" cy="594360"/>
          </a:xfrm>
          <a:prstGeom prst="rect">
            <a:avLst/>
          </a:prstGeom>
          <a:noFill/>
          <a:ln/>
        </p:spPr>
        <p:txBody>
          <a:bodyPr wrap="square" rtlCol="0" anchor="ctr"/>
          <a:lstStyle/>
          <a:p>
            <a:pPr indent="0" marL="0">
              <a:buNone/>
            </a:pPr>
            <a:r>
              <a:rPr lang="en-US" sz="1400" b="1" dirty="0">
                <a:solidFill>
                  <a:srgbClr val="1A5276"/>
                </a:solidFill>
                <a:latin typeface="Arial" pitchFamily="34" charset="0"/>
                <a:ea typeface="Arial" pitchFamily="34" charset="-122"/>
                <a:cs typeface="Arial" pitchFamily="34" charset="-120"/>
              </a:rPr>
              <a:t>Hoeveelheid</a:t>
            </a:r>
            <a:endParaRPr lang="en-US" sz="1400" dirty="0"/>
          </a:p>
        </p:txBody>
      </p:sp>
      <p:sp>
        <p:nvSpPr>
          <p:cNvPr id="19" name="Text 17"/>
          <p:cNvSpPr/>
          <p:nvPr/>
        </p:nvSpPr>
        <p:spPr>
          <a:xfrm>
            <a:off x="2743200" y="3913632"/>
            <a:ext cx="5486400" cy="594360"/>
          </a:xfrm>
          <a:prstGeom prst="rect">
            <a:avLst/>
          </a:prstGeom>
          <a:noFill/>
          <a:ln/>
        </p:spPr>
        <p:txBody>
          <a:bodyPr wrap="square" rtlCol="0" anchor="ctr"/>
          <a:lstStyle/>
          <a:p>
            <a:pPr indent="0" marL="0">
              <a:buNone/>
            </a:pPr>
            <a:r>
              <a:rPr lang="en-US" sz="1600" b="1" dirty="0">
                <a:solidFill>
                  <a:srgbClr val="2D3748"/>
                </a:solidFill>
                <a:latin typeface="Consolas" pitchFamily="34" charset="0"/>
                <a:ea typeface="Consolas" pitchFamily="34" charset="-122"/>
                <a:cs typeface="Consolas" pitchFamily="34" charset="-120"/>
              </a:rPr>
              <a:t>Q* = 10 × 30 − 100 = 200</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Winst individuele aanbieder</a:t>
            </a:r>
            <a:endParaRPr lang="en-US" sz="2400" dirty="0"/>
          </a:p>
        </p:txBody>
      </p:sp>
      <p:sp>
        <p:nvSpPr>
          <p:cNvPr id="3" name="Shape 1"/>
          <p:cNvSpPr/>
          <p:nvPr/>
        </p:nvSpPr>
        <p:spPr>
          <a:xfrm>
            <a:off x="457200" y="1005840"/>
            <a:ext cx="3931920" cy="3200400"/>
          </a:xfrm>
          <a:prstGeom prst="rect">
            <a:avLst>
              <a:gd name="adj" fmla="val 1429"/>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20040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Formule</a:t>
            </a:r>
            <a:endParaRPr lang="en-US" sz="2000" dirty="0"/>
          </a:p>
        </p:txBody>
      </p:sp>
      <p:sp>
        <p:nvSpPr>
          <p:cNvPr id="6" name="Text 4"/>
          <p:cNvSpPr/>
          <p:nvPr/>
        </p:nvSpPr>
        <p:spPr>
          <a:xfrm>
            <a:off x="640080" y="1554480"/>
            <a:ext cx="3611880" cy="2514600"/>
          </a:xfrm>
          <a:prstGeom prst="rect">
            <a:avLst/>
          </a:prstGeom>
          <a:noFill/>
          <a:ln/>
        </p:spPr>
        <p:txBody>
          <a:bodyPr wrap="square" rtlCol="0" anchor="t"/>
          <a:lstStyle/>
          <a:p>
            <a:pPr algn="l" indent="0" marL="0">
              <a:lnSpc>
                <a:spcPct val="115000"/>
              </a:lnSpc>
              <a:buNone/>
            </a:pPr>
            <a:r>
              <a:rPr lang="en-US" sz="1400" dirty="0">
                <a:solidFill>
                  <a:srgbClr val="2D3748"/>
                </a:solidFill>
                <a:latin typeface="Consolas" pitchFamily="34" charset="0"/>
                <a:ea typeface="Consolas" pitchFamily="34" charset="-122"/>
                <a:cs typeface="Consolas" pitchFamily="34" charset="-120"/>
              </a:rPr>
              <a:t>q = p − 10 = 30 − 10 = 20
</a:t>
            </a:r>
            <a:pPr algn="l" indent="0" marL="0">
              <a:lnSpc>
                <a:spcPct val="115000"/>
              </a:lnSpc>
              <a:buNone/>
            </a:pPr>
            <a:r>
              <a:rPr lang="en-US" sz="1400" dirty="0">
                <a:solidFill>
                  <a:srgbClr val="2D3748"/>
                </a:solidFill>
                <a:latin typeface="Consolas" pitchFamily="34" charset="0"/>
                <a:ea typeface="Consolas" pitchFamily="34" charset="-122"/>
                <a:cs typeface="Consolas" pitchFamily="34" charset="-120"/>
              </a:rPr>
              <a:t>TO = p × q = 30 × 20 = €600
</a:t>
            </a:r>
            <a:pPr algn="l" indent="0" marL="0">
              <a:lnSpc>
                <a:spcPct val="115000"/>
              </a:lnSpc>
              <a:buNone/>
            </a:pPr>
            <a:r>
              <a:rPr lang="en-US" sz="1400" dirty="0">
                <a:solidFill>
                  <a:srgbClr val="2D3748"/>
                </a:solidFill>
                <a:latin typeface="Consolas" pitchFamily="34" charset="0"/>
                <a:ea typeface="Consolas" pitchFamily="34" charset="-122"/>
                <a:cs typeface="Consolas" pitchFamily="34" charset="-120"/>
              </a:rPr>
              <a:t>TK = 0,5(20)² + 10(20) + 128 = €528
</a:t>
            </a:r>
            <a:pPr algn="l" indent="0" marL="0">
              <a:lnSpc>
                <a:spcPct val="115000"/>
              </a:lnSpc>
              <a:buNone/>
            </a:pPr>
            <a:r>
              <a:rPr lang="en-US" sz="1400" b="1" dirty="0">
                <a:solidFill>
                  <a:srgbClr val="1A5276"/>
                </a:solidFill>
                <a:latin typeface="Consolas" pitchFamily="34" charset="0"/>
                <a:ea typeface="Consolas" pitchFamily="34" charset="-122"/>
                <a:cs typeface="Consolas" pitchFamily="34" charset="-120"/>
              </a:rPr>
              <a:t>W = TO − TK = 600 − 528 = €72</a:t>
            </a:r>
            <a:endParaRPr lang="en-US" sz="1400" dirty="0"/>
          </a:p>
        </p:txBody>
      </p:sp>
      <p:sp>
        <p:nvSpPr>
          <p:cNvPr id="7" name="Shape 5"/>
          <p:cNvSpPr/>
          <p:nvPr/>
        </p:nvSpPr>
        <p:spPr>
          <a:xfrm>
            <a:off x="4754880" y="1005840"/>
            <a:ext cx="3931920" cy="3200400"/>
          </a:xfrm>
          <a:prstGeom prst="rect">
            <a:avLst>
              <a:gd name="adj" fmla="val 1429"/>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200400"/>
          </a:xfrm>
          <a:prstGeom prst="rect">
            <a:avLst/>
          </a:prstGeom>
          <a:solidFill>
            <a:srgbClr val="1A5276"/>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154360"/>
                </a:solidFill>
                <a:latin typeface="Arial" pitchFamily="34" charset="0"/>
                <a:ea typeface="Arial" pitchFamily="34" charset="-122"/>
                <a:cs typeface="Arial" pitchFamily="34" charset="-120"/>
              </a:rPr>
              <a:t>Stappen</a:t>
            </a:r>
            <a:endParaRPr lang="en-US" sz="2000" dirty="0"/>
          </a:p>
        </p:txBody>
      </p:sp>
      <p:sp>
        <p:nvSpPr>
          <p:cNvPr id="10" name="Text 8"/>
          <p:cNvSpPr/>
          <p:nvPr/>
        </p:nvSpPr>
        <p:spPr>
          <a:xfrm>
            <a:off x="4937760" y="1554480"/>
            <a:ext cx="3611880" cy="25146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1. Bereken individuele hoeveelheid q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2. Bereken totale opbrengst TO = p × q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3. Bereken totale kosten TK
</a:t>
            </a:r>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4. Winst = TO − TK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Surplus: CS en PS</a:t>
            </a:r>
            <a:endParaRPr lang="en-US" sz="2400" dirty="0"/>
          </a:p>
        </p:txBody>
      </p:sp>
      <p:sp>
        <p:nvSpPr>
          <p:cNvPr id="3" name="Shape 1"/>
          <p:cNvSpPr/>
          <p:nvPr/>
        </p:nvSpPr>
        <p:spPr>
          <a:xfrm>
            <a:off x="457200" y="1005840"/>
            <a:ext cx="3931920" cy="3017520"/>
          </a:xfrm>
          <a:prstGeom prst="rect">
            <a:avLst>
              <a:gd name="adj" fmla="val 1515"/>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01752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Consumentensurplus (CS)</a:t>
            </a:r>
            <a:endParaRPr lang="en-US" sz="2000" dirty="0"/>
          </a:p>
        </p:txBody>
      </p:sp>
      <p:sp>
        <p:nvSpPr>
          <p:cNvPr id="6" name="Text 4"/>
          <p:cNvSpPr/>
          <p:nvPr/>
        </p:nvSpPr>
        <p:spPr>
          <a:xfrm>
            <a:off x="64008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Voordeel van de consument: betaalt minder dan bereid was.
</a:t>
            </a:r>
            <a:pPr algn="l" indent="0" marL="0">
              <a:lnSpc>
                <a:spcPct val="115000"/>
              </a:lnSpc>
              <a:buNone/>
            </a:pPr>
            <a:r>
              <a:rPr lang="en-US" sz="1300" i="1" dirty="0">
                <a:solidFill>
                  <a:srgbClr val="718096"/>
                </a:solidFill>
                <a:latin typeface="Arial" pitchFamily="34" charset="0"/>
                <a:ea typeface="Arial" pitchFamily="34" charset="-122"/>
                <a:cs typeface="Arial" pitchFamily="34" charset="-120"/>
              </a:rPr>
              <a:t>Driehoek boven p*, onder V
</a:t>
            </a:r>
            <a:pPr algn="l" indent="0" marL="0">
              <a:lnSpc>
                <a:spcPct val="115000"/>
              </a:lnSpc>
              <a:buNone/>
            </a:pPr>
            <a:r>
              <a:rPr lang="en-US" sz="1500" b="1" dirty="0">
                <a:solidFill>
                  <a:srgbClr val="1A5276"/>
                </a:solidFill>
                <a:latin typeface="Consolas" pitchFamily="34" charset="0"/>
                <a:ea typeface="Consolas" pitchFamily="34" charset="-122"/>
                <a:cs typeface="Consolas" pitchFamily="34" charset="-120"/>
              </a:rPr>
              <a:t>½ × 200 × (50 − 30) = €2.000</a:t>
            </a:r>
            <a:endParaRPr lang="en-US" sz="1400" dirty="0"/>
          </a:p>
        </p:txBody>
      </p:sp>
      <p:sp>
        <p:nvSpPr>
          <p:cNvPr id="7" name="Shape 5"/>
          <p:cNvSpPr/>
          <p:nvPr/>
        </p:nvSpPr>
        <p:spPr>
          <a:xfrm>
            <a:off x="4754880" y="1005840"/>
            <a:ext cx="3931920" cy="3017520"/>
          </a:xfrm>
          <a:prstGeom prst="rect">
            <a:avLst>
              <a:gd name="adj" fmla="val 1515"/>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017520"/>
          </a:xfrm>
          <a:prstGeom prst="rect">
            <a:avLst/>
          </a:prstGeom>
          <a:solidFill>
            <a:srgbClr val="1E8449"/>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Producentensurplus (PS)</a:t>
            </a:r>
            <a:endParaRPr lang="en-US" sz="2000" dirty="0"/>
          </a:p>
        </p:txBody>
      </p:sp>
      <p:sp>
        <p:nvSpPr>
          <p:cNvPr id="10" name="Text 8"/>
          <p:cNvSpPr/>
          <p:nvPr/>
        </p:nvSpPr>
        <p:spPr>
          <a:xfrm>
            <a:off x="493776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Voordeel van de producent: ontvangt meer dan minimale prijs.
</a:t>
            </a:r>
            <a:pPr algn="l" indent="0" marL="0">
              <a:lnSpc>
                <a:spcPct val="115000"/>
              </a:lnSpc>
              <a:buNone/>
            </a:pPr>
            <a:r>
              <a:rPr lang="en-US" sz="1300" i="1" dirty="0">
                <a:solidFill>
                  <a:srgbClr val="718096"/>
                </a:solidFill>
                <a:latin typeface="Arial" pitchFamily="34" charset="0"/>
                <a:ea typeface="Arial" pitchFamily="34" charset="-122"/>
                <a:cs typeface="Arial" pitchFamily="34" charset="-120"/>
              </a:rPr>
              <a:t>Driehoek onder p*, boven A
</a:t>
            </a:r>
            <a:pPr algn="l" indent="0" marL="0">
              <a:lnSpc>
                <a:spcPct val="115000"/>
              </a:lnSpc>
              <a:buNone/>
            </a:pPr>
            <a:r>
              <a:rPr lang="en-US" sz="1500" b="1" dirty="0">
                <a:solidFill>
                  <a:srgbClr val="1E8449"/>
                </a:solidFill>
                <a:latin typeface="Consolas" pitchFamily="34" charset="0"/>
                <a:ea typeface="Consolas" pitchFamily="34" charset="-122"/>
                <a:cs typeface="Consolas" pitchFamily="34" charset="-120"/>
              </a:rPr>
              <a:t>½ × 200 × (30 − 10) = €2.000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Lange termijn: winst verdwijnt</a:t>
            </a:r>
            <a:endParaRPr lang="en-US" sz="2400" dirty="0"/>
          </a:p>
        </p:txBody>
      </p:sp>
      <p:sp>
        <p:nvSpPr>
          <p:cNvPr id="3" name="Shape 1"/>
          <p:cNvSpPr/>
          <p:nvPr/>
        </p:nvSpPr>
        <p:spPr>
          <a:xfrm>
            <a:off x="1371600" y="1097280"/>
            <a:ext cx="64008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1554480" y="1097280"/>
            <a:ext cx="6035040" cy="594360"/>
          </a:xfrm>
          <a:prstGeom prst="rect">
            <a:avLst/>
          </a:prstGeom>
          <a:noFill/>
          <a:ln/>
        </p:spPr>
        <p:txBody>
          <a:bodyPr wrap="square" rtlCol="0" anchor="ctr"/>
          <a:lstStyle/>
          <a:p>
            <a:pPr indent="0" marL="0">
              <a:buNone/>
            </a:pPr>
            <a:r>
              <a:rPr lang="en-US" sz="1700" dirty="0">
                <a:solidFill>
                  <a:srgbClr val="2D3748"/>
                </a:solidFill>
                <a:latin typeface="Arial" pitchFamily="34" charset="0"/>
                <a:ea typeface="Arial" pitchFamily="34" charset="-122"/>
                <a:cs typeface="Arial" pitchFamily="34" charset="-120"/>
              </a:rPr>
              <a:t>Bedrijven maken winst</a:t>
            </a:r>
            <a:endParaRPr lang="en-US" sz="1700" dirty="0"/>
          </a:p>
        </p:txBody>
      </p:sp>
      <p:sp>
        <p:nvSpPr>
          <p:cNvPr id="5" name="Text 3"/>
          <p:cNvSpPr/>
          <p:nvPr/>
        </p:nvSpPr>
        <p:spPr>
          <a:xfrm>
            <a:off x="1371600" y="1691640"/>
            <a:ext cx="6400800" cy="274320"/>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6" name="Shape 4"/>
          <p:cNvSpPr/>
          <p:nvPr/>
        </p:nvSpPr>
        <p:spPr>
          <a:xfrm>
            <a:off x="1371600" y="1965960"/>
            <a:ext cx="64008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1554480" y="1965960"/>
            <a:ext cx="6035040" cy="594360"/>
          </a:xfrm>
          <a:prstGeom prst="rect">
            <a:avLst/>
          </a:prstGeom>
          <a:noFill/>
          <a:ln/>
        </p:spPr>
        <p:txBody>
          <a:bodyPr wrap="square" rtlCol="0" anchor="ctr"/>
          <a:lstStyle/>
          <a:p>
            <a:pPr indent="0" marL="0">
              <a:buNone/>
            </a:pPr>
            <a:r>
              <a:rPr lang="en-US" sz="1700" dirty="0">
                <a:solidFill>
                  <a:srgbClr val="2D3748"/>
                </a:solidFill>
                <a:latin typeface="Arial" pitchFamily="34" charset="0"/>
                <a:ea typeface="Arial" pitchFamily="34" charset="-122"/>
                <a:cs typeface="Arial" pitchFamily="34" charset="-120"/>
              </a:rPr>
              <a:t>Nieuwe aanbieders treden toe</a:t>
            </a:r>
            <a:endParaRPr lang="en-US" sz="1700" dirty="0"/>
          </a:p>
        </p:txBody>
      </p:sp>
      <p:sp>
        <p:nvSpPr>
          <p:cNvPr id="8" name="Text 6"/>
          <p:cNvSpPr/>
          <p:nvPr/>
        </p:nvSpPr>
        <p:spPr>
          <a:xfrm>
            <a:off x="1371600" y="2560320"/>
            <a:ext cx="6400800" cy="274320"/>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1371600" y="2834640"/>
            <a:ext cx="64008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0" name="Text 8"/>
          <p:cNvSpPr/>
          <p:nvPr/>
        </p:nvSpPr>
        <p:spPr>
          <a:xfrm>
            <a:off x="1554480" y="2834640"/>
            <a:ext cx="6035040" cy="594360"/>
          </a:xfrm>
          <a:prstGeom prst="rect">
            <a:avLst/>
          </a:prstGeom>
          <a:noFill/>
          <a:ln/>
        </p:spPr>
        <p:txBody>
          <a:bodyPr wrap="square" rtlCol="0" anchor="ctr"/>
          <a:lstStyle/>
          <a:p>
            <a:pPr indent="0" marL="0">
              <a:buNone/>
            </a:pPr>
            <a:r>
              <a:rPr lang="en-US" sz="1700" dirty="0">
                <a:solidFill>
                  <a:srgbClr val="2D3748"/>
                </a:solidFill>
                <a:latin typeface="Arial" pitchFamily="34" charset="0"/>
                <a:ea typeface="Arial" pitchFamily="34" charset="-122"/>
                <a:cs typeface="Arial" pitchFamily="34" charset="-120"/>
              </a:rPr>
              <a:t>Aanbod stijgt → prijs daalt</a:t>
            </a:r>
            <a:endParaRPr lang="en-US" sz="1700" dirty="0"/>
          </a:p>
        </p:txBody>
      </p:sp>
      <p:sp>
        <p:nvSpPr>
          <p:cNvPr id="11" name="Text 9"/>
          <p:cNvSpPr/>
          <p:nvPr/>
        </p:nvSpPr>
        <p:spPr>
          <a:xfrm>
            <a:off x="1371600" y="3429000"/>
            <a:ext cx="6400800" cy="274320"/>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1371600" y="3703320"/>
            <a:ext cx="6400800" cy="594360"/>
          </a:xfrm>
          <a:prstGeom prst="rect">
            <a:avLst>
              <a:gd name="adj" fmla="val 7692"/>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1554480" y="3703320"/>
            <a:ext cx="6035040" cy="59436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Winst → 0  |  p = GTKmin</a:t>
            </a:r>
            <a:endParaRPr lang="en-US" sz="1700" dirty="0"/>
          </a:p>
        </p:txBody>
      </p:sp>
      <p:sp>
        <p:nvSpPr>
          <p:cNvPr id="14" name="Text 12"/>
          <p:cNvSpPr/>
          <p:nvPr/>
        </p:nvSpPr>
        <p:spPr>
          <a:xfrm>
            <a:off x="640080" y="457200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Op lange termijn: economische winst = 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Lange termijn: MK = GTK</a:t>
            </a:r>
            <a:endParaRPr lang="en-US" sz="2400" dirty="0"/>
          </a:p>
        </p:txBody>
      </p:sp>
      <p:sp>
        <p:nvSpPr>
          <p:cNvPr id="3" name="Shape 1"/>
          <p:cNvSpPr/>
          <p:nvPr/>
        </p:nvSpPr>
        <p:spPr>
          <a:xfrm>
            <a:off x="640080" y="914400"/>
            <a:ext cx="7863840" cy="594360"/>
          </a:xfrm>
          <a:prstGeom prst="rect">
            <a:avLst/>
          </a:prstGeom>
          <a:solidFill>
            <a:srgbClr val="F7F8FA"/>
          </a:solidFill>
          <a:ln w="6350">
            <a:solidFill>
              <a:srgbClr val="CBD5E0"/>
            </a:solidFill>
            <a:prstDash val="solid"/>
          </a:ln>
        </p:spPr>
      </p:sp>
      <p:sp>
        <p:nvSpPr>
          <p:cNvPr id="4" name="Text 2"/>
          <p:cNvSpPr/>
          <p:nvPr/>
        </p:nvSpPr>
        <p:spPr>
          <a:xfrm>
            <a:off x="868680" y="914400"/>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Stel</a:t>
            </a:r>
            <a:endParaRPr lang="en-US" sz="1400" dirty="0"/>
          </a:p>
        </p:txBody>
      </p:sp>
      <p:sp>
        <p:nvSpPr>
          <p:cNvPr id="5" name="Text 3"/>
          <p:cNvSpPr/>
          <p:nvPr/>
        </p:nvSpPr>
        <p:spPr>
          <a:xfrm>
            <a:off x="2743200" y="914400"/>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MK = GTK  (geen winst, geen verlies)</a:t>
            </a:r>
            <a:endParaRPr lang="en-US" sz="1600" dirty="0"/>
          </a:p>
        </p:txBody>
      </p:sp>
      <p:sp>
        <p:nvSpPr>
          <p:cNvPr id="6" name="Shape 4"/>
          <p:cNvSpPr/>
          <p:nvPr/>
        </p:nvSpPr>
        <p:spPr>
          <a:xfrm>
            <a:off x="640080" y="1664208"/>
            <a:ext cx="7863840" cy="594360"/>
          </a:xfrm>
          <a:prstGeom prst="rect">
            <a:avLst/>
          </a:prstGeom>
          <a:solidFill>
            <a:srgbClr val="F7F8FA"/>
          </a:solidFill>
          <a:ln w="6350">
            <a:solidFill>
              <a:srgbClr val="CBD5E0"/>
            </a:solidFill>
            <a:prstDash val="solid"/>
          </a:ln>
        </p:spPr>
      </p:sp>
      <p:sp>
        <p:nvSpPr>
          <p:cNvPr id="7" name="Text 5"/>
          <p:cNvSpPr/>
          <p:nvPr/>
        </p:nvSpPr>
        <p:spPr>
          <a:xfrm>
            <a:off x="868680" y="1664208"/>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Invullen</a:t>
            </a:r>
            <a:endParaRPr lang="en-US" sz="1400" dirty="0"/>
          </a:p>
        </p:txBody>
      </p:sp>
      <p:sp>
        <p:nvSpPr>
          <p:cNvPr id="8" name="Text 6"/>
          <p:cNvSpPr/>
          <p:nvPr/>
        </p:nvSpPr>
        <p:spPr>
          <a:xfrm>
            <a:off x="2743200" y="1664208"/>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q + 10 = 0,5q + 10 + 128/q</a:t>
            </a:r>
            <a:endParaRPr lang="en-US" sz="1600" dirty="0"/>
          </a:p>
        </p:txBody>
      </p:sp>
      <p:sp>
        <p:nvSpPr>
          <p:cNvPr id="9" name="Shape 7"/>
          <p:cNvSpPr/>
          <p:nvPr/>
        </p:nvSpPr>
        <p:spPr>
          <a:xfrm>
            <a:off x="640080" y="2414016"/>
            <a:ext cx="7863840" cy="594360"/>
          </a:xfrm>
          <a:prstGeom prst="rect">
            <a:avLst/>
          </a:prstGeom>
          <a:solidFill>
            <a:srgbClr val="F7F8FA"/>
          </a:solidFill>
          <a:ln w="6350">
            <a:solidFill>
              <a:srgbClr val="CBD5E0"/>
            </a:solidFill>
            <a:prstDash val="solid"/>
          </a:ln>
        </p:spPr>
      </p:sp>
      <p:sp>
        <p:nvSpPr>
          <p:cNvPr id="10" name="Text 8"/>
          <p:cNvSpPr/>
          <p:nvPr/>
        </p:nvSpPr>
        <p:spPr>
          <a:xfrm>
            <a:off x="868680" y="2414016"/>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Vereenvoudig</a:t>
            </a:r>
            <a:endParaRPr lang="en-US" sz="1400" dirty="0"/>
          </a:p>
        </p:txBody>
      </p:sp>
      <p:sp>
        <p:nvSpPr>
          <p:cNvPr id="11" name="Text 9"/>
          <p:cNvSpPr/>
          <p:nvPr/>
        </p:nvSpPr>
        <p:spPr>
          <a:xfrm>
            <a:off x="2743200" y="2414016"/>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0,5q = 128/q  →  0,5q² = 128</a:t>
            </a:r>
            <a:endParaRPr lang="en-US" sz="1600" dirty="0"/>
          </a:p>
        </p:txBody>
      </p:sp>
      <p:sp>
        <p:nvSpPr>
          <p:cNvPr id="12" name="Shape 10"/>
          <p:cNvSpPr/>
          <p:nvPr/>
        </p:nvSpPr>
        <p:spPr>
          <a:xfrm>
            <a:off x="640080" y="3163824"/>
            <a:ext cx="7863840" cy="594360"/>
          </a:xfrm>
          <a:prstGeom prst="rect">
            <a:avLst/>
          </a:prstGeom>
          <a:solidFill>
            <a:srgbClr val="F7F8FA"/>
          </a:solidFill>
          <a:ln w="6350">
            <a:solidFill>
              <a:srgbClr val="CBD5E0"/>
            </a:solidFill>
            <a:prstDash val="solid"/>
          </a:ln>
        </p:spPr>
      </p:sp>
      <p:sp>
        <p:nvSpPr>
          <p:cNvPr id="13" name="Text 11"/>
          <p:cNvSpPr/>
          <p:nvPr/>
        </p:nvSpPr>
        <p:spPr>
          <a:xfrm>
            <a:off x="868680" y="3163824"/>
            <a:ext cx="1828800" cy="5943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Oplossen</a:t>
            </a:r>
            <a:endParaRPr lang="en-US" sz="1400" dirty="0"/>
          </a:p>
        </p:txBody>
      </p:sp>
      <p:sp>
        <p:nvSpPr>
          <p:cNvPr id="14" name="Text 12"/>
          <p:cNvSpPr/>
          <p:nvPr/>
        </p:nvSpPr>
        <p:spPr>
          <a:xfrm>
            <a:off x="2743200" y="3163824"/>
            <a:ext cx="5486400" cy="59436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q² = 256  →  q = 16</a:t>
            </a:r>
            <a:endParaRPr lang="en-US" sz="1600" dirty="0"/>
          </a:p>
        </p:txBody>
      </p:sp>
      <p:sp>
        <p:nvSpPr>
          <p:cNvPr id="15" name="Shape 13"/>
          <p:cNvSpPr/>
          <p:nvPr/>
        </p:nvSpPr>
        <p:spPr>
          <a:xfrm>
            <a:off x="640080" y="3913632"/>
            <a:ext cx="7863840" cy="594360"/>
          </a:xfrm>
          <a:prstGeom prst="rect">
            <a:avLst/>
          </a:prstGeom>
          <a:solidFill>
            <a:srgbClr val="EBF5FB"/>
          </a:solidFill>
          <a:ln w="6350">
            <a:solidFill>
              <a:srgbClr val="1A5276"/>
            </a:solidFill>
            <a:prstDash val="solid"/>
          </a:ln>
        </p:spPr>
      </p:sp>
      <p:sp>
        <p:nvSpPr>
          <p:cNvPr id="16" name="Shape 14"/>
          <p:cNvSpPr/>
          <p:nvPr/>
        </p:nvSpPr>
        <p:spPr>
          <a:xfrm>
            <a:off x="640080" y="3913632"/>
            <a:ext cx="54864" cy="594360"/>
          </a:xfrm>
          <a:prstGeom prst="rect">
            <a:avLst/>
          </a:prstGeom>
          <a:solidFill>
            <a:srgbClr val="1A5276"/>
          </a:solidFill>
          <a:ln/>
        </p:spPr>
      </p:sp>
      <p:sp>
        <p:nvSpPr>
          <p:cNvPr id="17" name="Text 15"/>
          <p:cNvSpPr/>
          <p:nvPr/>
        </p:nvSpPr>
        <p:spPr>
          <a:xfrm>
            <a:off x="868680" y="3913632"/>
            <a:ext cx="1828800" cy="594360"/>
          </a:xfrm>
          <a:prstGeom prst="rect">
            <a:avLst/>
          </a:prstGeom>
          <a:noFill/>
          <a:ln/>
        </p:spPr>
        <p:txBody>
          <a:bodyPr wrap="square" rtlCol="0" anchor="ctr"/>
          <a:lstStyle/>
          <a:p>
            <a:pPr indent="0" marL="0">
              <a:buNone/>
            </a:pPr>
            <a:r>
              <a:rPr lang="en-US" sz="1400" b="1" dirty="0">
                <a:solidFill>
                  <a:srgbClr val="1A5276"/>
                </a:solidFill>
                <a:latin typeface="Arial" pitchFamily="34" charset="0"/>
                <a:ea typeface="Arial" pitchFamily="34" charset="-122"/>
                <a:cs typeface="Arial" pitchFamily="34" charset="-120"/>
              </a:rPr>
              <a:t>Prijs</a:t>
            </a:r>
            <a:endParaRPr lang="en-US" sz="1400" dirty="0"/>
          </a:p>
        </p:txBody>
      </p:sp>
      <p:sp>
        <p:nvSpPr>
          <p:cNvPr id="18" name="Text 16"/>
          <p:cNvSpPr/>
          <p:nvPr/>
        </p:nvSpPr>
        <p:spPr>
          <a:xfrm>
            <a:off x="2743200" y="3913632"/>
            <a:ext cx="5486400" cy="594360"/>
          </a:xfrm>
          <a:prstGeom prst="rect">
            <a:avLst/>
          </a:prstGeom>
          <a:noFill/>
          <a:ln/>
        </p:spPr>
        <p:txBody>
          <a:bodyPr wrap="square" rtlCol="0" anchor="ctr"/>
          <a:lstStyle/>
          <a:p>
            <a:pPr indent="0" marL="0">
              <a:buNone/>
            </a:pPr>
            <a:r>
              <a:rPr lang="en-US" sz="1600" b="1" dirty="0">
                <a:solidFill>
                  <a:srgbClr val="2D3748"/>
                </a:solidFill>
                <a:latin typeface="Consolas" pitchFamily="34" charset="0"/>
                <a:ea typeface="Consolas" pitchFamily="34" charset="-122"/>
                <a:cs typeface="Consolas" pitchFamily="34" charset="-120"/>
              </a:rPr>
              <a:t>p = 16 + 10 = €26</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105156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554480"/>
            <a:ext cx="7863840" cy="2926080"/>
          </a:xfrm>
          <a:prstGeom prst="rect">
            <a:avLst/>
          </a:prstGeom>
          <a:noFill/>
          <a:ln/>
        </p:spPr>
        <p:txBody>
          <a:bodyPr wrap="square" rtlCol="0" anchor="t"/>
          <a:lstStyle/>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Individuele aanbodfunctie = MK-lijn (want MO = p = MK)</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Collectief aanbod: draai om en vermenigvuldig met n</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Evenwicht: stel Qv = Qa en los op naar p en Q</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Winst = TO − TK, surplus = driehoeken in V/A-grafiek</a:t>
            </a:r>
            <a:endParaRPr lang="en-US" sz="1500" dirty="0"/>
          </a:p>
          <a:p>
            <a:pPr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Lange termijn: winst → 0, prijs daalt tot MK = GTK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Volkomen concurrentie</dc:title>
  <dc:subject>PptxGenJS Presentation</dc:subject>
  <dc:creator>Economie VWO</dc:creator>
  <cp:lastModifiedBy>Economie VWO</cp:lastModifiedBy>
  <cp:revision>1</cp:revision>
  <dcterms:created xsi:type="dcterms:W3CDTF">2026-03-23T10:10:06Z</dcterms:created>
  <dcterms:modified xsi:type="dcterms:W3CDTF">2026-03-23T10:10:06Z</dcterms:modified>
</cp:coreProperties>
</file>