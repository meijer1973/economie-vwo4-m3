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paragraaf 3.2.4 over oligopolie. We behandelen residuale vraag, reactielijnen, het Cournot-evenwicht, en het verschil met Bertrand-concurrentie.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leerdoelen die de kern van oligopolie dekken. Van residuale vraag tot het Bertrand-paradox. We bouwen het stap voor stap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Oligopolie is een marktvorm met enkele grote bedrijven die rekening houden met elkaars gedrag. Dit is het kernverschil met de andere marktvormen: strategische interactie.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Residuale vraag is de vraag die overblijft voor één bedrijf nadat de concurrent zijn output heeft bepaald. Dit is een cruciaal concept: het bedrijf maximaliseert winst op basis van deze residuale vraag, niet de marktvraag.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stappenplan voor het afleiden van de reactielijn. Trek de concurrent af van de marktvraag, bereken MO uit de residuale vraag, stel MO = MK, en los op. Het resultaat is q1 als functie van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reactielijn geeft de optimale output van bedrijf 1 bij elke mogelijke output van bedrijf 2. Als q2 stijgt, daalt q1: als de concurrent meer maakt, maak jij minder. Beide bedrijven hebben zo'n reactielijn.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Cournot-evenwicht is het snijpunt van beide reactielijnen. Op dat punt wil geen van beide bedrijven zijn output aanpassen. Bij symmetrische bedrijven kun je q1 = q2 stellen en direct oplossen.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grote verschil: bij Cournot kiezen bedrijven hoeveel ze produceren, bij Bertrand kiezen ze hun prijs. Dit leidt tot fundamenteel andere uitkomsten. In de praktijk is het vaak een mengvorm.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Bertrand-paradox: bij prijsconcurrentie met homogene producten onderbieden bedrijven elkaar tot de prijs gelijk is aan GTK. Al met twee bedrijven is de winst nul. In de praktijk wordt dit voorkomen door productverschillen en afspraken.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veelgemaakte fouten bij oligopolie. De kernfout is het verwarren van residuale vraag met marktvraag. MO wordt afgeleid uit de residuale vraag, maar de prijs wordt afgelezen op de marktvraag.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 kernpunten. Controleer of leerlingen residuale vraag van marktvraag onderscheiden, reactielijnen kunnen afleiden, en het Cournot-evenwicht kunnen berekenen.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7863840" cy="182880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Oligopolie</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3.2.4</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2: Marktvormen en hun marktevenwicht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ga je leren?</a:t>
            </a:r>
            <a:endParaRPr lang="en-US" sz="2400" dirty="0"/>
          </a:p>
        </p:txBody>
      </p:sp>
      <p:sp>
        <p:nvSpPr>
          <p:cNvPr id="3" name="Text 1"/>
          <p:cNvSpPr/>
          <p:nvPr/>
        </p:nvSpPr>
        <p:spPr>
          <a:xfrm>
            <a:off x="640080" y="1097280"/>
            <a:ext cx="7863840" cy="320040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Wat residuale vraag is en hoe deze verschilt van marktvraag</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Hoe reactielijnen worden afgeleid</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Wat Cournot-evenwicht is en hoe je het berekent</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Het verschil tussen hoeveelheid- en prijsconcurrentie</a:t>
            </a:r>
            <a:endParaRPr lang="en-US" sz="1600" dirty="0"/>
          </a:p>
          <a:p>
            <a:pPr marL="342900" indent="-342900">
              <a:lnSpc>
                <a:spcPct val="150000"/>
              </a:lnSpc>
              <a:spcAft>
                <a:spcPts val="800"/>
              </a:spcAft>
              <a:buSzPct val="100000"/>
              <a:buChar char="•"/>
            </a:pPr>
            <a:r>
              <a:rPr lang="en-US" sz="1600" dirty="0">
                <a:solidFill>
                  <a:srgbClr val="2D3748"/>
                </a:solidFill>
                <a:latin typeface="Arial" pitchFamily="34" charset="0"/>
                <a:ea typeface="Arial" pitchFamily="34" charset="-122"/>
                <a:cs typeface="Arial" pitchFamily="34" charset="-120"/>
              </a:rPr>
              <a:t>Waarom het Bertrand-paradox belangrijk is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is oligopolie?</a:t>
            </a:r>
            <a:endParaRPr lang="en-US" sz="2400" dirty="0"/>
          </a:p>
        </p:txBody>
      </p:sp>
      <p:sp>
        <p:nvSpPr>
          <p:cNvPr id="3" name="Shape 1"/>
          <p:cNvSpPr/>
          <p:nvPr/>
        </p:nvSpPr>
        <p:spPr>
          <a:xfrm>
            <a:off x="457200" y="1005840"/>
            <a:ext cx="8229600" cy="1371600"/>
          </a:xfrm>
          <a:prstGeom prst="rect">
            <a:avLst>
              <a:gd name="adj" fmla="val 333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37160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Enkele grote bedrijven domineren de markt</a:t>
            </a:r>
            <a:endParaRPr lang="en-US" sz="2000" dirty="0"/>
          </a:p>
        </p:txBody>
      </p:sp>
      <p:sp>
        <p:nvSpPr>
          <p:cNvPr id="6" name="Text 4"/>
          <p:cNvSpPr/>
          <p:nvPr/>
        </p:nvSpPr>
        <p:spPr>
          <a:xfrm>
            <a:off x="640080" y="1554480"/>
            <a:ext cx="7909560" cy="68580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Bedrijven houden rekening met elkaars gedrag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Niet zo veel concurrentie als volkomen, niet zo weinig als monopolie</a:t>
            </a:r>
            <a:endParaRPr lang="en-US" sz="1400" dirty="0"/>
          </a:p>
        </p:txBody>
      </p:sp>
      <p:sp>
        <p:nvSpPr>
          <p:cNvPr id="7" name="Shape 5"/>
          <p:cNvSpPr/>
          <p:nvPr/>
        </p:nvSpPr>
        <p:spPr>
          <a:xfrm>
            <a:off x="457200" y="2743200"/>
            <a:ext cx="2651760" cy="594360"/>
          </a:xfrm>
          <a:prstGeom prst="rect">
            <a:avLst>
              <a:gd name="adj" fmla="val 7692"/>
            </a:avLst>
          </a:prstGeom>
          <a:solidFill>
            <a:srgbClr val="EBF5FB"/>
          </a:solidFill>
          <a:ln/>
          <a:effectLst>
            <a:outerShdw sx="100000" sy="100000" kx="0" ky="0" algn="bl" rotWithShape="0" blurRad="76200" dist="25400" dir="8100000">
              <a:srgbClr val="000000">
                <a:alpha val="10000"/>
              </a:srgbClr>
            </a:outerShdw>
          </a:effectLst>
        </p:spPr>
      </p:sp>
      <p:sp>
        <p:nvSpPr>
          <p:cNvPr id="8" name="Text 6"/>
          <p:cNvSpPr/>
          <p:nvPr/>
        </p:nvSpPr>
        <p:spPr>
          <a:xfrm>
            <a:off x="457200" y="2743200"/>
            <a:ext cx="2651760" cy="594360"/>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Fossiele brandstoffen</a:t>
            </a:r>
            <a:endParaRPr lang="en-US" sz="1400" dirty="0"/>
          </a:p>
        </p:txBody>
      </p:sp>
      <p:sp>
        <p:nvSpPr>
          <p:cNvPr id="9" name="Shape 7"/>
          <p:cNvSpPr/>
          <p:nvPr/>
        </p:nvSpPr>
        <p:spPr>
          <a:xfrm>
            <a:off x="3291840" y="2743200"/>
            <a:ext cx="2651760" cy="594360"/>
          </a:xfrm>
          <a:prstGeom prst="rect">
            <a:avLst>
              <a:gd name="adj" fmla="val 7692"/>
            </a:avLst>
          </a:prstGeom>
          <a:solidFill>
            <a:srgbClr val="EBF5FB"/>
          </a:solidFill>
          <a:ln/>
          <a:effectLst>
            <a:outerShdw sx="100000" sy="100000" kx="0" ky="0" algn="bl" rotWithShape="0" blurRad="76200" dist="25400" dir="8100000">
              <a:srgbClr val="000000">
                <a:alpha val="10000"/>
              </a:srgbClr>
            </a:outerShdw>
          </a:effectLst>
        </p:spPr>
      </p:sp>
      <p:sp>
        <p:nvSpPr>
          <p:cNvPr id="10" name="Text 8"/>
          <p:cNvSpPr/>
          <p:nvPr/>
        </p:nvSpPr>
        <p:spPr>
          <a:xfrm>
            <a:off x="3291840" y="2743200"/>
            <a:ext cx="2651760" cy="594360"/>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Auto-industrie</a:t>
            </a:r>
            <a:endParaRPr lang="en-US" sz="1400" dirty="0"/>
          </a:p>
        </p:txBody>
      </p:sp>
      <p:sp>
        <p:nvSpPr>
          <p:cNvPr id="11" name="Shape 9"/>
          <p:cNvSpPr/>
          <p:nvPr/>
        </p:nvSpPr>
        <p:spPr>
          <a:xfrm>
            <a:off x="6126480" y="2743200"/>
            <a:ext cx="2651760" cy="594360"/>
          </a:xfrm>
          <a:prstGeom prst="rect">
            <a:avLst>
              <a:gd name="adj" fmla="val 7692"/>
            </a:avLst>
          </a:prstGeom>
          <a:solidFill>
            <a:srgbClr val="EBF5FB"/>
          </a:solidFill>
          <a:ln/>
          <a:effectLst>
            <a:outerShdw sx="100000" sy="100000" kx="0" ky="0" algn="bl" rotWithShape="0" blurRad="76200" dist="25400" dir="8100000">
              <a:srgbClr val="000000">
                <a:alpha val="10000"/>
              </a:srgbClr>
            </a:outerShdw>
          </a:effectLst>
        </p:spPr>
      </p:sp>
      <p:sp>
        <p:nvSpPr>
          <p:cNvPr id="12" name="Text 10"/>
          <p:cNvSpPr/>
          <p:nvPr/>
        </p:nvSpPr>
        <p:spPr>
          <a:xfrm>
            <a:off x="6126480" y="2743200"/>
            <a:ext cx="2651760" cy="594360"/>
          </a:xfrm>
          <a:prstGeom prst="rect">
            <a:avLst/>
          </a:prstGeom>
          <a:noFill/>
          <a:ln/>
        </p:spPr>
        <p:txBody>
          <a:bodyPr wrap="square" rtlCol="0" anchor="ctr"/>
          <a:lstStyle/>
          <a:p>
            <a:pPr algn="ctr" indent="0" marL="0">
              <a:buNone/>
            </a:pPr>
            <a:r>
              <a:rPr lang="en-US" sz="1400" b="1" dirty="0">
                <a:solidFill>
                  <a:srgbClr val="1A5276"/>
                </a:solidFill>
                <a:latin typeface="Arial" pitchFamily="34" charset="0"/>
                <a:ea typeface="Arial" pitchFamily="34" charset="-122"/>
                <a:cs typeface="Arial" pitchFamily="34" charset="-120"/>
              </a:rPr>
              <a:t>Mobiele providers</a:t>
            </a:r>
            <a:endParaRPr lang="en-US" sz="1400" dirty="0"/>
          </a:p>
        </p:txBody>
      </p:sp>
      <p:sp>
        <p:nvSpPr>
          <p:cNvPr id="13" name="Text 11"/>
          <p:cNvSpPr/>
          <p:nvPr/>
        </p:nvSpPr>
        <p:spPr>
          <a:xfrm>
            <a:off x="640080" y="365760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Het kernkenmerk: strategische interactie tussen bedrijven.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Residuale vraag</a:t>
            </a:r>
            <a:endParaRPr lang="en-US" sz="2400" dirty="0"/>
          </a:p>
        </p:txBody>
      </p:sp>
      <p:sp>
        <p:nvSpPr>
          <p:cNvPr id="3" name="Shape 1"/>
          <p:cNvSpPr/>
          <p:nvPr/>
        </p:nvSpPr>
        <p:spPr>
          <a:xfrm>
            <a:off x="457200" y="1005840"/>
            <a:ext cx="8229600" cy="1371600"/>
          </a:xfrm>
          <a:prstGeom prst="rect">
            <a:avLst>
              <a:gd name="adj" fmla="val 333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37160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De vraag die jij krijgt, na aftrek van de concurrent</a:t>
            </a:r>
            <a:endParaRPr lang="en-US" sz="2000" dirty="0"/>
          </a:p>
        </p:txBody>
      </p:sp>
      <p:sp>
        <p:nvSpPr>
          <p:cNvPr id="6" name="Text 4"/>
          <p:cNvSpPr/>
          <p:nvPr/>
        </p:nvSpPr>
        <p:spPr>
          <a:xfrm>
            <a:off x="640080" y="1554480"/>
            <a:ext cx="7909560" cy="68580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Hoe meer je concurrent produceert → kleiner je eigen vraag</a:t>
            </a:r>
            <a:endParaRPr lang="en-US" sz="1400" dirty="0"/>
          </a:p>
        </p:txBody>
      </p:sp>
      <p:sp>
        <p:nvSpPr>
          <p:cNvPr id="7" name="Shape 5"/>
          <p:cNvSpPr/>
          <p:nvPr/>
        </p:nvSpPr>
        <p:spPr>
          <a:xfrm>
            <a:off x="1371600" y="2743200"/>
            <a:ext cx="6400800" cy="1097280"/>
          </a:xfrm>
          <a:prstGeom prst="rect">
            <a:avLst/>
          </a:prstGeom>
          <a:solidFill>
            <a:srgbClr val="F7F8FA"/>
          </a:solidFill>
          <a:ln w="6350">
            <a:solidFill>
              <a:srgbClr val="CBD5E0"/>
            </a:solidFill>
            <a:prstDash val="solid"/>
          </a:ln>
        </p:spPr>
      </p:sp>
      <p:sp>
        <p:nvSpPr>
          <p:cNvPr id="8" name="Shape 6"/>
          <p:cNvSpPr/>
          <p:nvPr/>
        </p:nvSpPr>
        <p:spPr>
          <a:xfrm>
            <a:off x="1371600" y="2743200"/>
            <a:ext cx="54864" cy="1097280"/>
          </a:xfrm>
          <a:prstGeom prst="rect">
            <a:avLst/>
          </a:prstGeom>
          <a:solidFill>
            <a:srgbClr val="1A5276"/>
          </a:solidFill>
          <a:ln/>
        </p:spPr>
      </p:sp>
      <p:sp>
        <p:nvSpPr>
          <p:cNvPr id="9" name="Text 7"/>
          <p:cNvSpPr/>
          <p:nvPr/>
        </p:nvSpPr>
        <p:spPr>
          <a:xfrm>
            <a:off x="1645920" y="2743200"/>
            <a:ext cx="5852160" cy="457200"/>
          </a:xfrm>
          <a:prstGeom prst="rect">
            <a:avLst/>
          </a:prstGeom>
          <a:noFill/>
          <a:ln/>
        </p:spPr>
        <p:txBody>
          <a:bodyPr wrap="square" rtlCol="0" anchor="ctr"/>
          <a:lstStyle/>
          <a:p>
            <a:pPr indent="0" marL="0">
              <a:buNone/>
            </a:pPr>
            <a:r>
              <a:rPr lang="en-US" sz="2200" b="1" dirty="0">
                <a:solidFill>
                  <a:srgbClr val="1A5276"/>
                </a:solidFill>
                <a:latin typeface="Consolas" pitchFamily="34" charset="0"/>
                <a:ea typeface="Consolas" pitchFamily="34" charset="-122"/>
                <a:cs typeface="Consolas" pitchFamily="34" charset="-120"/>
              </a:rPr>
              <a:t>q₁ = Q − q₂</a:t>
            </a:r>
            <a:endParaRPr lang="en-US" sz="2200" dirty="0"/>
          </a:p>
        </p:txBody>
      </p:sp>
      <p:sp>
        <p:nvSpPr>
          <p:cNvPr id="10" name="Text 8"/>
          <p:cNvSpPr/>
          <p:nvPr/>
        </p:nvSpPr>
        <p:spPr>
          <a:xfrm>
            <a:off x="1645920" y="3246120"/>
            <a:ext cx="5852160" cy="502920"/>
          </a:xfrm>
          <a:prstGeom prst="rect">
            <a:avLst/>
          </a:prstGeom>
          <a:noFill/>
          <a:ln/>
        </p:spPr>
        <p:txBody>
          <a:bodyPr wrap="square" rtlCol="0" anchor="ctr"/>
          <a:lstStyle/>
          <a:p>
            <a:pPr indent="0" marL="0">
              <a:buNone/>
            </a:pPr>
            <a:r>
              <a:rPr lang="en-US" sz="1300" b="1" dirty="0">
                <a:solidFill>
                  <a:srgbClr val="2D3748"/>
                </a:solidFill>
                <a:latin typeface="Arial" pitchFamily="34" charset="0"/>
                <a:ea typeface="Arial" pitchFamily="34" charset="-122"/>
                <a:cs typeface="Arial" pitchFamily="34" charset="-120"/>
              </a:rPr>
              <a:t>Q</a:t>
            </a:r>
            <a:pPr indent="0" marL="0">
              <a:buNone/>
            </a:pPr>
            <a:r>
              <a:rPr lang="en-US" sz="1300" dirty="0">
                <a:solidFill>
                  <a:srgbClr val="2D3748"/>
                </a:solidFill>
                <a:latin typeface="Arial" pitchFamily="34" charset="0"/>
                <a:ea typeface="Arial" pitchFamily="34" charset="-122"/>
                <a:cs typeface="Arial" pitchFamily="34" charset="-120"/>
              </a:rPr>
              <a:t> = totale marktvraag    </a:t>
            </a:r>
            <a:pPr indent="0" marL="0">
              <a:buNone/>
            </a:pPr>
            <a:r>
              <a:rPr lang="en-US" sz="1300" b="1" dirty="0">
                <a:solidFill>
                  <a:srgbClr val="2D3748"/>
                </a:solidFill>
                <a:latin typeface="Arial" pitchFamily="34" charset="0"/>
                <a:ea typeface="Arial" pitchFamily="34" charset="-122"/>
                <a:cs typeface="Arial" pitchFamily="34" charset="-120"/>
              </a:rPr>
              <a:t>q₂</a:t>
            </a:r>
            <a:pPr indent="0" marL="0">
              <a:buNone/>
            </a:pPr>
            <a:r>
              <a:rPr lang="en-US" sz="1300" dirty="0">
                <a:solidFill>
                  <a:srgbClr val="2D3748"/>
                </a:solidFill>
                <a:latin typeface="Arial" pitchFamily="34" charset="0"/>
                <a:ea typeface="Arial" pitchFamily="34" charset="-122"/>
                <a:cs typeface="Arial" pitchFamily="34" charset="-120"/>
              </a:rPr>
              <a:t> = output concurrent    </a:t>
            </a:r>
            <a:pPr indent="0" marL="0">
              <a:buNone/>
            </a:pPr>
            <a:r>
              <a:rPr lang="en-US" sz="1300" b="1" dirty="0">
                <a:solidFill>
                  <a:srgbClr val="2D3748"/>
                </a:solidFill>
                <a:latin typeface="Arial" pitchFamily="34" charset="0"/>
                <a:ea typeface="Arial" pitchFamily="34" charset="-122"/>
                <a:cs typeface="Arial" pitchFamily="34" charset="-120"/>
              </a:rPr>
              <a:t>q₁</a:t>
            </a:r>
            <a:pPr indent="0" marL="0">
              <a:buNone/>
            </a:pPr>
            <a:r>
              <a:rPr lang="en-US" sz="1300" dirty="0">
                <a:solidFill>
                  <a:srgbClr val="2D3748"/>
                </a:solidFill>
                <a:latin typeface="Arial" pitchFamily="34" charset="0"/>
                <a:ea typeface="Arial" pitchFamily="34" charset="-122"/>
                <a:cs typeface="Arial" pitchFamily="34" charset="-120"/>
              </a:rPr>
              <a:t> = jouw output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Reactielijn afleiden</a:t>
            </a:r>
            <a:endParaRPr lang="en-US" sz="24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800" b="1" dirty="0">
                <a:solidFill>
                  <a:srgbClr val="1A5276"/>
                </a:solidFill>
                <a:latin typeface="Arial" pitchFamily="34" charset="0"/>
                <a:ea typeface="Arial" pitchFamily="34" charset="-122"/>
                <a:cs typeface="Arial" pitchFamily="34" charset="-120"/>
              </a:rPr>
              <a:t>Stappenplan:</a:t>
            </a:r>
            <a:endParaRPr lang="en-US" sz="1800" dirty="0"/>
          </a:p>
        </p:txBody>
      </p:sp>
      <p:sp>
        <p:nvSpPr>
          <p:cNvPr id="4" name="Shape 2"/>
          <p:cNvSpPr/>
          <p:nvPr/>
        </p:nvSpPr>
        <p:spPr>
          <a:xfrm>
            <a:off x="640080" y="1417320"/>
            <a:ext cx="7863840" cy="594360"/>
          </a:xfrm>
          <a:prstGeom prst="rect">
            <a:avLst>
              <a:gd name="adj" fmla="val 7692"/>
            </a:avLst>
          </a:prstGeom>
          <a:solidFill>
            <a:srgbClr val="F9F6F1"/>
          </a:solidFill>
          <a:ln/>
          <a:effectLst>
            <a:outerShdw sx="100000" sy="100000" kx="0" ky="0" algn="bl" rotWithShape="0" blurRad="76200" dist="25400" dir="8100000">
              <a:srgbClr val="000000">
                <a:alpha val="10000"/>
              </a:srgbClr>
            </a:outerShdw>
          </a:effectLst>
        </p:spPr>
      </p:sp>
      <p:sp>
        <p:nvSpPr>
          <p:cNvPr id="5" name="Shape 3"/>
          <p:cNvSpPr/>
          <p:nvPr/>
        </p:nvSpPr>
        <p:spPr>
          <a:xfrm>
            <a:off x="640080" y="1417320"/>
            <a:ext cx="54864" cy="594360"/>
          </a:xfrm>
          <a:prstGeom prst="rect">
            <a:avLst/>
          </a:prstGeom>
          <a:solidFill>
            <a:srgbClr val="718096"/>
          </a:solidFill>
          <a:ln/>
        </p:spPr>
      </p:sp>
      <p:sp>
        <p:nvSpPr>
          <p:cNvPr id="6" name="Text 4"/>
          <p:cNvSpPr/>
          <p:nvPr/>
        </p:nvSpPr>
        <p:spPr>
          <a:xfrm>
            <a:off x="822960" y="1417320"/>
            <a:ext cx="365760" cy="594360"/>
          </a:xfrm>
          <a:prstGeom prst="rect">
            <a:avLst/>
          </a:prstGeom>
          <a:noFill/>
          <a:ln/>
        </p:spPr>
        <p:txBody>
          <a:bodyPr wrap="square" rtlCol="0" anchor="ctr"/>
          <a:lstStyle/>
          <a:p>
            <a:pPr indent="0" marL="0">
              <a:buNone/>
            </a:pPr>
            <a:r>
              <a:rPr lang="en-US" sz="1600" b="1" dirty="0">
                <a:solidFill>
                  <a:srgbClr val="718096"/>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188720" y="1417320"/>
            <a:ext cx="7132320" cy="59436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Neem de marktvraag en trek q₂ af → residuale vraag voor bedrijf 1</a:t>
            </a:r>
            <a:endParaRPr lang="en-US" sz="1400" dirty="0"/>
          </a:p>
        </p:txBody>
      </p:sp>
      <p:sp>
        <p:nvSpPr>
          <p:cNvPr id="8" name="Text 6"/>
          <p:cNvSpPr/>
          <p:nvPr/>
        </p:nvSpPr>
        <p:spPr>
          <a:xfrm>
            <a:off x="640080" y="201168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9" name="Shape 7"/>
          <p:cNvSpPr/>
          <p:nvPr/>
        </p:nvSpPr>
        <p:spPr>
          <a:xfrm>
            <a:off x="640080" y="2194560"/>
            <a:ext cx="7863840" cy="594360"/>
          </a:xfrm>
          <a:prstGeom prst="rect">
            <a:avLst>
              <a:gd name="adj" fmla="val 7692"/>
            </a:avLst>
          </a:prstGeom>
          <a:solidFill>
            <a:srgbClr val="F9F6F1"/>
          </a:solidFill>
          <a:ln/>
          <a:effectLst>
            <a:outerShdw sx="100000" sy="100000" kx="0" ky="0" algn="bl" rotWithShape="0" blurRad="76200" dist="25400" dir="8100000">
              <a:srgbClr val="000000">
                <a:alpha val="10000"/>
              </a:srgbClr>
            </a:outerShdw>
          </a:effectLst>
        </p:spPr>
      </p:sp>
      <p:sp>
        <p:nvSpPr>
          <p:cNvPr id="10" name="Shape 8"/>
          <p:cNvSpPr/>
          <p:nvPr/>
        </p:nvSpPr>
        <p:spPr>
          <a:xfrm>
            <a:off x="640080" y="2194560"/>
            <a:ext cx="54864" cy="594360"/>
          </a:xfrm>
          <a:prstGeom prst="rect">
            <a:avLst/>
          </a:prstGeom>
          <a:solidFill>
            <a:srgbClr val="718096"/>
          </a:solidFill>
          <a:ln/>
        </p:spPr>
      </p:sp>
      <p:sp>
        <p:nvSpPr>
          <p:cNvPr id="11" name="Text 9"/>
          <p:cNvSpPr/>
          <p:nvPr/>
        </p:nvSpPr>
        <p:spPr>
          <a:xfrm>
            <a:off x="822960" y="2194560"/>
            <a:ext cx="365760" cy="594360"/>
          </a:xfrm>
          <a:prstGeom prst="rect">
            <a:avLst/>
          </a:prstGeom>
          <a:noFill/>
          <a:ln/>
        </p:spPr>
        <p:txBody>
          <a:bodyPr wrap="square" rtlCol="0" anchor="ctr"/>
          <a:lstStyle/>
          <a:p>
            <a:pPr indent="0" marL="0">
              <a:buNone/>
            </a:pPr>
            <a:r>
              <a:rPr lang="en-US" sz="1600" b="1" dirty="0">
                <a:solidFill>
                  <a:srgbClr val="718096"/>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188720" y="2194560"/>
            <a:ext cx="7132320" cy="59436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Bereken MO uit de residuale vraag (niet uit de marktvraag!)</a:t>
            </a:r>
            <a:endParaRPr lang="en-US" sz="1400" dirty="0"/>
          </a:p>
        </p:txBody>
      </p:sp>
      <p:sp>
        <p:nvSpPr>
          <p:cNvPr id="13" name="Text 11"/>
          <p:cNvSpPr/>
          <p:nvPr/>
        </p:nvSpPr>
        <p:spPr>
          <a:xfrm>
            <a:off x="640080" y="278892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640080" y="2971800"/>
            <a:ext cx="7863840" cy="594360"/>
          </a:xfrm>
          <a:prstGeom prst="rect">
            <a:avLst>
              <a:gd name="adj" fmla="val 7692"/>
            </a:avLst>
          </a:prstGeom>
          <a:solidFill>
            <a:srgbClr val="F9F6F1"/>
          </a:solidFill>
          <a:ln/>
          <a:effectLst>
            <a:outerShdw sx="100000" sy="100000" kx="0" ky="0" algn="bl" rotWithShape="0" blurRad="76200" dist="25400" dir="8100000">
              <a:srgbClr val="000000">
                <a:alpha val="10000"/>
              </a:srgbClr>
            </a:outerShdw>
          </a:effectLst>
        </p:spPr>
      </p:sp>
      <p:sp>
        <p:nvSpPr>
          <p:cNvPr id="15" name="Shape 13"/>
          <p:cNvSpPr/>
          <p:nvPr/>
        </p:nvSpPr>
        <p:spPr>
          <a:xfrm>
            <a:off x="640080" y="2971800"/>
            <a:ext cx="54864" cy="594360"/>
          </a:xfrm>
          <a:prstGeom prst="rect">
            <a:avLst/>
          </a:prstGeom>
          <a:solidFill>
            <a:srgbClr val="718096"/>
          </a:solidFill>
          <a:ln/>
        </p:spPr>
      </p:sp>
      <p:sp>
        <p:nvSpPr>
          <p:cNvPr id="16" name="Text 14"/>
          <p:cNvSpPr/>
          <p:nvPr/>
        </p:nvSpPr>
        <p:spPr>
          <a:xfrm>
            <a:off x="822960" y="2971800"/>
            <a:ext cx="365760" cy="594360"/>
          </a:xfrm>
          <a:prstGeom prst="rect">
            <a:avLst/>
          </a:prstGeom>
          <a:noFill/>
          <a:ln/>
        </p:spPr>
        <p:txBody>
          <a:bodyPr wrap="square" rtlCol="0" anchor="ctr"/>
          <a:lstStyle/>
          <a:p>
            <a:pPr indent="0" marL="0">
              <a:buNone/>
            </a:pPr>
            <a:r>
              <a:rPr lang="en-US" sz="1600" b="1" dirty="0">
                <a:solidFill>
                  <a:srgbClr val="718096"/>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188720" y="2971800"/>
            <a:ext cx="7132320" cy="59436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Stel MO = MK en los op naar q₁</a:t>
            </a:r>
            <a:endParaRPr lang="en-US" sz="1400" dirty="0"/>
          </a:p>
        </p:txBody>
      </p:sp>
      <p:sp>
        <p:nvSpPr>
          <p:cNvPr id="18" name="Text 16"/>
          <p:cNvSpPr/>
          <p:nvPr/>
        </p:nvSpPr>
        <p:spPr>
          <a:xfrm>
            <a:off x="640080" y="3566160"/>
            <a:ext cx="7863840" cy="182880"/>
          </a:xfrm>
          <a:prstGeom prst="rect">
            <a:avLst/>
          </a:prstGeom>
          <a:noFill/>
          <a:ln/>
        </p:spPr>
        <p:txBody>
          <a:bodyPr wrap="square" rtlCol="0" anchor="ctr"/>
          <a:lstStyle/>
          <a:p>
            <a:pPr algn="ctr" indent="0" marL="0">
              <a:buNone/>
            </a:pPr>
            <a:r>
              <a:rPr lang="en-US" sz="1200" dirty="0">
                <a:solidFill>
                  <a:srgbClr val="718096"/>
                </a:solidFill>
                <a:latin typeface="Arial" pitchFamily="34" charset="0"/>
                <a:ea typeface="Arial" pitchFamily="34" charset="-122"/>
                <a:cs typeface="Arial" pitchFamily="34" charset="-120"/>
              </a:rPr>
              <a:t>↓</a:t>
            </a:r>
            <a:endParaRPr lang="en-US" sz="1200" dirty="0"/>
          </a:p>
        </p:txBody>
      </p:sp>
      <p:sp>
        <p:nvSpPr>
          <p:cNvPr id="19" name="Shape 17"/>
          <p:cNvSpPr/>
          <p:nvPr/>
        </p:nvSpPr>
        <p:spPr>
          <a:xfrm>
            <a:off x="640080" y="3749040"/>
            <a:ext cx="7863840" cy="594360"/>
          </a:xfrm>
          <a:prstGeom prst="rect">
            <a:avLst>
              <a:gd name="adj" fmla="val 7692"/>
            </a:avLst>
          </a:prstGeom>
          <a:solidFill>
            <a:srgbClr val="EBF5FB"/>
          </a:solidFill>
          <a:ln/>
          <a:effectLst>
            <a:outerShdw sx="100000" sy="100000" kx="0" ky="0" algn="bl" rotWithShape="0" blurRad="76200" dist="25400" dir="8100000">
              <a:srgbClr val="000000">
                <a:alpha val="10000"/>
              </a:srgbClr>
            </a:outerShdw>
          </a:effectLst>
        </p:spPr>
      </p:sp>
      <p:sp>
        <p:nvSpPr>
          <p:cNvPr id="20" name="Shape 18"/>
          <p:cNvSpPr/>
          <p:nvPr/>
        </p:nvSpPr>
        <p:spPr>
          <a:xfrm>
            <a:off x="640080" y="3749040"/>
            <a:ext cx="54864" cy="594360"/>
          </a:xfrm>
          <a:prstGeom prst="rect">
            <a:avLst/>
          </a:prstGeom>
          <a:solidFill>
            <a:srgbClr val="1A5276"/>
          </a:solidFill>
          <a:ln/>
        </p:spPr>
      </p:sp>
      <p:sp>
        <p:nvSpPr>
          <p:cNvPr id="21" name="Text 19"/>
          <p:cNvSpPr/>
          <p:nvPr/>
        </p:nvSpPr>
        <p:spPr>
          <a:xfrm>
            <a:off x="822960" y="3749040"/>
            <a:ext cx="365760" cy="59436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188720" y="3749040"/>
            <a:ext cx="7132320" cy="59436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Je krijgt: q₁ als functie van q₂ → dit is de reactielijn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is een reactielijn?</a:t>
            </a:r>
            <a:endParaRPr lang="en-US" sz="2400" dirty="0"/>
          </a:p>
        </p:txBody>
      </p:sp>
      <p:sp>
        <p:nvSpPr>
          <p:cNvPr id="3" name="Shape 1"/>
          <p:cNvSpPr/>
          <p:nvPr/>
        </p:nvSpPr>
        <p:spPr>
          <a:xfrm>
            <a:off x="457200" y="1005840"/>
            <a:ext cx="8229600" cy="1371600"/>
          </a:xfrm>
          <a:prstGeom prst="rect">
            <a:avLst>
              <a:gd name="adj" fmla="val 333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371600"/>
          </a:xfrm>
          <a:prstGeom prst="rect">
            <a:avLst/>
          </a:prstGeom>
          <a:solidFill>
            <a:srgbClr val="1A5276"/>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De optimale output van bedrijf 1, gegeven wat bedrijf 2 doet</a:t>
            </a:r>
            <a:endParaRPr lang="en-US" sz="2000" dirty="0"/>
          </a:p>
        </p:txBody>
      </p:sp>
      <p:sp>
        <p:nvSpPr>
          <p:cNvPr id="6" name="Text 4"/>
          <p:cNvSpPr/>
          <p:nvPr/>
        </p:nvSpPr>
        <p:spPr>
          <a:xfrm>
            <a:off x="640080" y="1554480"/>
            <a:ext cx="7909560" cy="68580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Als q₂ stijgt → q₁ daalt. Beide bedrijven hebben hun eigen reactielijn.</a:t>
            </a:r>
            <a:endParaRPr lang="en-US" sz="1400" dirty="0"/>
          </a:p>
        </p:txBody>
      </p:sp>
      <p:sp>
        <p:nvSpPr>
          <p:cNvPr id="7" name="Shape 5"/>
          <p:cNvSpPr/>
          <p:nvPr/>
        </p:nvSpPr>
        <p:spPr>
          <a:xfrm>
            <a:off x="914400" y="2743200"/>
            <a:ext cx="7315200" cy="914400"/>
          </a:xfrm>
          <a:prstGeom prst="rect">
            <a:avLst/>
          </a:prstGeom>
          <a:solidFill>
            <a:srgbClr val="F7F8FA"/>
          </a:solidFill>
          <a:ln w="6350">
            <a:solidFill>
              <a:srgbClr val="CBD5E0"/>
            </a:solidFill>
            <a:prstDash val="solid"/>
          </a:ln>
        </p:spPr>
      </p:sp>
      <p:sp>
        <p:nvSpPr>
          <p:cNvPr id="8" name="Shape 6"/>
          <p:cNvSpPr/>
          <p:nvPr/>
        </p:nvSpPr>
        <p:spPr>
          <a:xfrm>
            <a:off x="914400" y="2743200"/>
            <a:ext cx="54864" cy="914400"/>
          </a:xfrm>
          <a:prstGeom prst="rect">
            <a:avLst/>
          </a:prstGeom>
          <a:solidFill>
            <a:srgbClr val="1A5276"/>
          </a:solidFill>
          <a:ln/>
        </p:spPr>
      </p:sp>
      <p:sp>
        <p:nvSpPr>
          <p:cNvPr id="9" name="Text 7"/>
          <p:cNvSpPr/>
          <p:nvPr/>
        </p:nvSpPr>
        <p:spPr>
          <a:xfrm>
            <a:off x="1188720" y="2743200"/>
            <a:ext cx="6858000" cy="365760"/>
          </a:xfrm>
          <a:prstGeom prst="rect">
            <a:avLst/>
          </a:prstGeom>
          <a:noFill/>
          <a:ln/>
        </p:spPr>
        <p:txBody>
          <a:bodyPr wrap="square" rtlCol="0" anchor="ctr"/>
          <a:lstStyle/>
          <a:p>
            <a:pPr indent="0" marL="0">
              <a:buNone/>
            </a:pPr>
            <a:r>
              <a:rPr lang="en-US" sz="1400" b="1" dirty="0">
                <a:solidFill>
                  <a:srgbClr val="718096"/>
                </a:solidFill>
                <a:latin typeface="Arial" pitchFamily="34" charset="0"/>
                <a:ea typeface="Arial" pitchFamily="34" charset="-122"/>
                <a:cs typeface="Arial" pitchFamily="34" charset="-120"/>
              </a:rPr>
              <a:t>Voorbeeld:</a:t>
            </a:r>
            <a:endParaRPr lang="en-US" sz="1400" dirty="0"/>
          </a:p>
        </p:txBody>
      </p:sp>
      <p:sp>
        <p:nvSpPr>
          <p:cNvPr id="10" name="Text 8"/>
          <p:cNvSpPr/>
          <p:nvPr/>
        </p:nvSpPr>
        <p:spPr>
          <a:xfrm>
            <a:off x="1188720" y="3063240"/>
            <a:ext cx="6858000" cy="502920"/>
          </a:xfrm>
          <a:prstGeom prst="rect">
            <a:avLst/>
          </a:prstGeom>
          <a:noFill/>
          <a:ln/>
        </p:spPr>
        <p:txBody>
          <a:bodyPr wrap="square" rtlCol="0" anchor="ctr"/>
          <a:lstStyle/>
          <a:p>
            <a:pPr indent="0" marL="0">
              <a:buNone/>
            </a:pPr>
            <a:r>
              <a:rPr lang="en-US" sz="1800" dirty="0">
                <a:solidFill>
                  <a:srgbClr val="2D3748"/>
                </a:solidFill>
                <a:latin typeface="Consolas" pitchFamily="34" charset="0"/>
                <a:ea typeface="Consolas" pitchFamily="34" charset="-122"/>
                <a:cs typeface="Consolas" pitchFamily="34" charset="-120"/>
              </a:rPr>
              <a:t>q₁ = 30 − 0,2q₂</a:t>
            </a:r>
            <a:endParaRPr lang="en-US" sz="1800" dirty="0"/>
          </a:p>
        </p:txBody>
      </p:sp>
      <p:sp>
        <p:nvSpPr>
          <p:cNvPr id="11" name="Text 9"/>
          <p:cNvSpPr/>
          <p:nvPr/>
        </p:nvSpPr>
        <p:spPr>
          <a:xfrm>
            <a:off x="640080" y="393192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Bedrijf 1 reageert op bedrijf 2, en vice versa. Het snijpunt is het evenwicht.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Cournot-evenwicht</a:t>
            </a:r>
            <a:endParaRPr lang="en-US" sz="2400" dirty="0"/>
          </a:p>
        </p:txBody>
      </p:sp>
      <p:sp>
        <p:nvSpPr>
          <p:cNvPr id="3" name="Shape 1"/>
          <p:cNvSpPr/>
          <p:nvPr/>
        </p:nvSpPr>
        <p:spPr>
          <a:xfrm>
            <a:off x="457200" y="1005840"/>
            <a:ext cx="3931920" cy="3017520"/>
          </a:xfrm>
          <a:prstGeom prst="rect">
            <a:avLst>
              <a:gd name="adj" fmla="val 1515"/>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01752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Het snijpunt van beide reactielijnen</a:t>
            </a:r>
            <a:endParaRPr lang="en-US" sz="2000" dirty="0"/>
          </a:p>
        </p:txBody>
      </p:sp>
      <p:sp>
        <p:nvSpPr>
          <p:cNvPr id="6" name="Text 4"/>
          <p:cNvSpPr/>
          <p:nvPr/>
        </p:nvSpPr>
        <p:spPr>
          <a:xfrm>
            <a:off x="640080" y="1554480"/>
            <a:ext cx="3611880" cy="233172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Op dit punt: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Bedrijf 1 is tevreden met output van bedrijf 2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Bedrijf 2 is tevreden met output van bedrijf 1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Geen bedrijf wil nog iets veranderen</a:t>
            </a:r>
            <a:endParaRPr lang="en-US" sz="1400" dirty="0"/>
          </a:p>
        </p:txBody>
      </p:sp>
      <p:sp>
        <p:nvSpPr>
          <p:cNvPr id="7" name="Shape 5"/>
          <p:cNvSpPr/>
          <p:nvPr/>
        </p:nvSpPr>
        <p:spPr>
          <a:xfrm>
            <a:off x="4754880" y="1005840"/>
            <a:ext cx="3931920" cy="3017520"/>
          </a:xfrm>
          <a:prstGeom prst="rect">
            <a:avLst>
              <a:gd name="adj" fmla="val 1515"/>
            </a:avLst>
          </a:prstGeom>
          <a:solidFill>
            <a:srgbClr val="F7F8FA"/>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017520"/>
          </a:xfrm>
          <a:prstGeom prst="rect">
            <a:avLst/>
          </a:prstGeom>
          <a:solidFill>
            <a:srgbClr val="1A5276"/>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154360"/>
                </a:solidFill>
                <a:latin typeface="Arial" pitchFamily="34" charset="0"/>
                <a:ea typeface="Arial" pitchFamily="34" charset="-122"/>
                <a:cs typeface="Arial" pitchFamily="34" charset="-120"/>
              </a:rPr>
              <a:t>Rekenvoorbeeld</a:t>
            </a:r>
            <a:endParaRPr lang="en-US" sz="2000" dirty="0"/>
          </a:p>
        </p:txBody>
      </p:sp>
      <p:sp>
        <p:nvSpPr>
          <p:cNvPr id="10" name="Text 8"/>
          <p:cNvSpPr/>
          <p:nvPr/>
        </p:nvSpPr>
        <p:spPr>
          <a:xfrm>
            <a:off x="4937760" y="1554480"/>
            <a:ext cx="3611880" cy="2331720"/>
          </a:xfrm>
          <a:prstGeom prst="rect">
            <a:avLst/>
          </a:prstGeom>
          <a:noFill/>
          <a:ln/>
        </p:spPr>
        <p:txBody>
          <a:bodyPr wrap="square" rtlCol="0" anchor="t"/>
          <a:lstStyle/>
          <a:p>
            <a:pPr algn="l" indent="0" marL="0">
              <a:lnSpc>
                <a:spcPct val="115000"/>
              </a:lnSpc>
              <a:buNone/>
            </a:pPr>
            <a:r>
              <a:rPr lang="en-US" sz="1300" dirty="0">
                <a:solidFill>
                  <a:srgbClr val="2D3748"/>
                </a:solidFill>
                <a:latin typeface="Consolas" pitchFamily="34" charset="0"/>
                <a:ea typeface="Consolas" pitchFamily="34" charset="-122"/>
                <a:cs typeface="Consolas" pitchFamily="34" charset="-120"/>
              </a:rPr>
              <a:t>R₁: q₁ = 30 − 0,2q₂
</a:t>
            </a:r>
            <a:pPr algn="l" indent="0" marL="0">
              <a:lnSpc>
                <a:spcPct val="115000"/>
              </a:lnSpc>
              <a:buNone/>
            </a:pPr>
            <a:r>
              <a:rPr lang="en-US" sz="1300" dirty="0">
                <a:solidFill>
                  <a:srgbClr val="2D3748"/>
                </a:solidFill>
                <a:latin typeface="Consolas" pitchFamily="34" charset="0"/>
                <a:ea typeface="Consolas" pitchFamily="34" charset="-122"/>
                <a:cs typeface="Consolas" pitchFamily="34" charset="-120"/>
              </a:rPr>
              <a:t>R₂: q₂ = 30 − 0,2q₁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Door symmetrie: q₁* = q₂*
</a:t>
            </a:r>
            <a:pPr algn="l" indent="0" marL="0">
              <a:lnSpc>
                <a:spcPct val="115000"/>
              </a:lnSpc>
              <a:buNone/>
            </a:pPr>
            <a:r>
              <a:rPr lang="en-US" sz="1300" dirty="0">
                <a:solidFill>
                  <a:srgbClr val="2D3748"/>
                </a:solidFill>
                <a:latin typeface="Consolas" pitchFamily="34" charset="0"/>
                <a:ea typeface="Consolas" pitchFamily="34" charset="-122"/>
                <a:cs typeface="Consolas" pitchFamily="34" charset="-120"/>
              </a:rPr>
              <a:t>30 − 0,2q* = q*
</a:t>
            </a:r>
            <a:pPr algn="l" indent="0" marL="0">
              <a:lnSpc>
                <a:spcPct val="115000"/>
              </a:lnSpc>
              <a:buNone/>
            </a:pPr>
            <a:r>
              <a:rPr lang="en-US" sz="1300" dirty="0">
                <a:solidFill>
                  <a:srgbClr val="2D3748"/>
                </a:solidFill>
                <a:latin typeface="Consolas" pitchFamily="34" charset="0"/>
                <a:ea typeface="Consolas" pitchFamily="34" charset="-122"/>
                <a:cs typeface="Consolas" pitchFamily="34" charset="-120"/>
              </a:rPr>
              <a:t>30 = 1,2q*  →  q* = 25
</a:t>
            </a:r>
            <a:pPr algn="l" indent="0" marL="0">
              <a:lnSpc>
                <a:spcPct val="115000"/>
              </a:lnSpc>
              <a:buNone/>
            </a:pPr>
            <a:r>
              <a:rPr lang="en-US" sz="1400" b="1" dirty="0">
                <a:solidFill>
                  <a:srgbClr val="1A5276"/>
                </a:solidFill>
                <a:latin typeface="Consolas" pitchFamily="34" charset="0"/>
                <a:ea typeface="Consolas" pitchFamily="34" charset="-122"/>
                <a:cs typeface="Consolas" pitchFamily="34" charset="-120"/>
              </a:rPr>
              <a:t>Q = 25 + 25 = 50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Hoeveelheid vs. prijsconcurrentie</a:t>
            </a:r>
            <a:endParaRPr lang="en-US" sz="2400" dirty="0"/>
          </a:p>
        </p:txBody>
      </p:sp>
      <p:sp>
        <p:nvSpPr>
          <p:cNvPr id="3" name="Shape 1"/>
          <p:cNvSpPr/>
          <p:nvPr/>
        </p:nvSpPr>
        <p:spPr>
          <a:xfrm>
            <a:off x="457200" y="1005840"/>
            <a:ext cx="3931920" cy="2560320"/>
          </a:xfrm>
          <a:prstGeom prst="rect">
            <a:avLst>
              <a:gd name="adj" fmla="val 1786"/>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256032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Cournot</a:t>
            </a:r>
            <a:endParaRPr lang="en-US" sz="2000" dirty="0"/>
          </a:p>
        </p:txBody>
      </p:sp>
      <p:sp>
        <p:nvSpPr>
          <p:cNvPr id="6" name="Text 4"/>
          <p:cNvSpPr/>
          <p:nvPr/>
        </p:nvSpPr>
        <p:spPr>
          <a:xfrm>
            <a:off x="640080" y="1554480"/>
            <a:ext cx="3611880" cy="1874520"/>
          </a:xfrm>
          <a:prstGeom prst="rect">
            <a:avLst/>
          </a:prstGeom>
          <a:noFill/>
          <a:ln/>
        </p:spPr>
        <p:txBody>
          <a:bodyPr wrap="square" rtlCol="0" anchor="t"/>
          <a:lstStyle/>
          <a:p>
            <a:pPr algn="l" indent="0" marL="0">
              <a:lnSpc>
                <a:spcPct val="115000"/>
              </a:lnSpc>
              <a:buNone/>
            </a:pPr>
            <a:r>
              <a:rPr lang="en-US" sz="1500" b="1" dirty="0">
                <a:solidFill>
                  <a:srgbClr val="2D3748"/>
                </a:solidFill>
                <a:latin typeface="Arial" pitchFamily="34" charset="0"/>
                <a:ea typeface="Arial" pitchFamily="34" charset="-122"/>
                <a:cs typeface="Arial" pitchFamily="34" charset="-120"/>
              </a:rPr>
              <a:t>Bedrijven kiezen hoeveelheid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Aangenomen in deze paragraaf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Leidt tot positieve winst voor beide bedrijven</a:t>
            </a:r>
            <a:endParaRPr lang="en-US" sz="1400" dirty="0"/>
          </a:p>
        </p:txBody>
      </p:sp>
      <p:sp>
        <p:nvSpPr>
          <p:cNvPr id="7" name="Shape 5"/>
          <p:cNvSpPr/>
          <p:nvPr/>
        </p:nvSpPr>
        <p:spPr>
          <a:xfrm>
            <a:off x="4754880" y="1005840"/>
            <a:ext cx="3931920" cy="2560320"/>
          </a:xfrm>
          <a:prstGeom prst="rect">
            <a:avLst>
              <a:gd name="adj" fmla="val 1786"/>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2560320"/>
          </a:xfrm>
          <a:prstGeom prst="rect">
            <a:avLst/>
          </a:prstGeom>
          <a:solidFill>
            <a:srgbClr val="E67E22"/>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Bertrand</a:t>
            </a:r>
            <a:endParaRPr lang="en-US" sz="2000" dirty="0"/>
          </a:p>
        </p:txBody>
      </p:sp>
      <p:sp>
        <p:nvSpPr>
          <p:cNvPr id="10" name="Text 8"/>
          <p:cNvSpPr/>
          <p:nvPr/>
        </p:nvSpPr>
        <p:spPr>
          <a:xfrm>
            <a:off x="4937760" y="1554480"/>
            <a:ext cx="3611880" cy="1874520"/>
          </a:xfrm>
          <a:prstGeom prst="rect">
            <a:avLst/>
          </a:prstGeom>
          <a:noFill/>
          <a:ln/>
        </p:spPr>
        <p:txBody>
          <a:bodyPr wrap="square" rtlCol="0" anchor="t"/>
          <a:lstStyle/>
          <a:p>
            <a:pPr algn="l" indent="0" marL="0">
              <a:lnSpc>
                <a:spcPct val="115000"/>
              </a:lnSpc>
              <a:buNone/>
            </a:pPr>
            <a:r>
              <a:rPr lang="en-US" sz="1500" b="1" dirty="0">
                <a:solidFill>
                  <a:srgbClr val="2D3748"/>
                </a:solidFill>
                <a:latin typeface="Arial" pitchFamily="34" charset="0"/>
                <a:ea typeface="Arial" pitchFamily="34" charset="-122"/>
                <a:cs typeface="Arial" pitchFamily="34" charset="-120"/>
              </a:rPr>
              <a:t>Bedrijven kiezen prijs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Leidt tot ander evenwicht
</a:t>
            </a:r>
            <a:pPr algn="l" indent="0" marL="0">
              <a:lnSpc>
                <a:spcPct val="115000"/>
              </a:lnSpc>
              <a:buNone/>
            </a:pPr>
            <a:r>
              <a:rPr lang="en-US" sz="1300" dirty="0">
                <a:solidFill>
                  <a:srgbClr val="2D3748"/>
                </a:solidFill>
                <a:latin typeface="Arial" pitchFamily="34" charset="0"/>
                <a:ea typeface="Arial" pitchFamily="34" charset="-122"/>
                <a:cs typeface="Arial" pitchFamily="34" charset="-120"/>
              </a:rPr>
              <a:t>• In praktijk: meestal mengsel van beide</a:t>
            </a:r>
            <a:endParaRPr lang="en-US" sz="1400" dirty="0"/>
          </a:p>
        </p:txBody>
      </p:sp>
      <p:sp>
        <p:nvSpPr>
          <p:cNvPr id="11" name="Text 9"/>
          <p:cNvSpPr/>
          <p:nvPr/>
        </p:nvSpPr>
        <p:spPr>
          <a:xfrm>
            <a:off x="640080" y="384048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Het verschil in strategie (hoeveelheid vs. prijs) leidt tot heel andere uitkomsten.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Bertrand-paradox</a:t>
            </a:r>
            <a:endParaRPr lang="en-US" sz="2400" dirty="0"/>
          </a:p>
        </p:txBody>
      </p:sp>
      <p:sp>
        <p:nvSpPr>
          <p:cNvPr id="3" name="Shape 1"/>
          <p:cNvSpPr/>
          <p:nvPr/>
        </p:nvSpPr>
        <p:spPr>
          <a:xfrm>
            <a:off x="457200" y="1005840"/>
            <a:ext cx="8229600" cy="1371600"/>
          </a:xfrm>
          <a:prstGeom prst="rect">
            <a:avLst>
              <a:gd name="adj" fmla="val 333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1371600"/>
          </a:xfrm>
          <a:prstGeom prst="rect">
            <a:avLst/>
          </a:prstGeom>
          <a:solidFill>
            <a:srgbClr val="E67E22"/>
          </a:solidFill>
          <a:ln/>
        </p:spPr>
      </p:sp>
      <p:sp>
        <p:nvSpPr>
          <p:cNvPr id="5" name="Text 3"/>
          <p:cNvSpPr/>
          <p:nvPr/>
        </p:nvSpPr>
        <p:spPr>
          <a:xfrm>
            <a:off x="640080" y="1143000"/>
            <a:ext cx="790956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Bij prijsconcurrentie: prijs daalt naar GTK</a:t>
            </a:r>
            <a:endParaRPr lang="en-US" sz="2000" dirty="0"/>
          </a:p>
        </p:txBody>
      </p:sp>
      <p:sp>
        <p:nvSpPr>
          <p:cNvPr id="6" name="Text 4"/>
          <p:cNvSpPr/>
          <p:nvPr/>
        </p:nvSpPr>
        <p:spPr>
          <a:xfrm>
            <a:off x="640080" y="1554480"/>
            <a:ext cx="7909560" cy="685800"/>
          </a:xfrm>
          <a:prstGeom prst="rect">
            <a:avLst/>
          </a:prstGeom>
          <a:noFill/>
          <a:ln/>
        </p:spPr>
        <p:txBody>
          <a:bodyPr wrap="square" rtlCol="0" anchor="t"/>
          <a:lstStyle/>
          <a:p>
            <a:pPr algn="l" indent="0" marL="0">
              <a:lnSpc>
                <a:spcPct val="115000"/>
              </a:lnSpc>
              <a:buNone/>
            </a:pPr>
            <a:r>
              <a:rPr lang="en-US" sz="1500" dirty="0">
                <a:solidFill>
                  <a:srgbClr val="2D3748"/>
                </a:solidFill>
                <a:latin typeface="Arial" pitchFamily="34" charset="0"/>
                <a:ea typeface="Arial" pitchFamily="34" charset="-122"/>
                <a:cs typeface="Arial" pitchFamily="34" charset="-120"/>
              </a:rPr>
              <a:t>Twee bedrijven zijn genoeg om de winst naar nul te drijven!</a:t>
            </a:r>
            <a:endParaRPr lang="en-US" sz="1400" dirty="0"/>
          </a:p>
        </p:txBody>
      </p:sp>
      <p:sp>
        <p:nvSpPr>
          <p:cNvPr id="7" name="Shape 5"/>
          <p:cNvSpPr/>
          <p:nvPr/>
        </p:nvSpPr>
        <p:spPr>
          <a:xfrm>
            <a:off x="1371600" y="2651760"/>
            <a:ext cx="6400800" cy="384048"/>
          </a:xfrm>
          <a:prstGeom prst="rect">
            <a:avLst>
              <a:gd name="adj" fmla="val 7143"/>
            </a:avLst>
          </a:prstGeom>
          <a:solidFill>
            <a:srgbClr val="FEF5E7"/>
          </a:solidFill>
          <a:ln/>
        </p:spPr>
      </p:sp>
      <p:sp>
        <p:nvSpPr>
          <p:cNvPr id="8" name="Text 6"/>
          <p:cNvSpPr/>
          <p:nvPr/>
        </p:nvSpPr>
        <p:spPr>
          <a:xfrm>
            <a:off x="1554480" y="2651760"/>
            <a:ext cx="603504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 Bedrijf 1 zet prijs iets lager dan concurrent</a:t>
            </a:r>
            <a:endParaRPr lang="en-US" sz="1300" dirty="0"/>
          </a:p>
        </p:txBody>
      </p:sp>
      <p:sp>
        <p:nvSpPr>
          <p:cNvPr id="9" name="Shape 7"/>
          <p:cNvSpPr/>
          <p:nvPr/>
        </p:nvSpPr>
        <p:spPr>
          <a:xfrm>
            <a:off x="1371600" y="3154680"/>
            <a:ext cx="6400800" cy="384048"/>
          </a:xfrm>
          <a:prstGeom prst="rect">
            <a:avLst>
              <a:gd name="adj" fmla="val 7143"/>
            </a:avLst>
          </a:prstGeom>
          <a:solidFill>
            <a:srgbClr val="FEF5E7"/>
          </a:solidFill>
          <a:ln/>
        </p:spPr>
      </p:sp>
      <p:sp>
        <p:nvSpPr>
          <p:cNvPr id="10" name="Text 8"/>
          <p:cNvSpPr/>
          <p:nvPr/>
        </p:nvSpPr>
        <p:spPr>
          <a:xfrm>
            <a:off x="1554480" y="3154680"/>
            <a:ext cx="603504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 Krijgt heel veel klanten</a:t>
            </a:r>
            <a:endParaRPr lang="en-US" sz="1300" dirty="0"/>
          </a:p>
        </p:txBody>
      </p:sp>
      <p:sp>
        <p:nvSpPr>
          <p:cNvPr id="11" name="Shape 9"/>
          <p:cNvSpPr/>
          <p:nvPr/>
        </p:nvSpPr>
        <p:spPr>
          <a:xfrm>
            <a:off x="1371600" y="3657600"/>
            <a:ext cx="6400800" cy="384048"/>
          </a:xfrm>
          <a:prstGeom prst="rect">
            <a:avLst>
              <a:gd name="adj" fmla="val 7143"/>
            </a:avLst>
          </a:prstGeom>
          <a:solidFill>
            <a:srgbClr val="FEF5E7"/>
          </a:solidFill>
          <a:ln/>
        </p:spPr>
      </p:sp>
      <p:sp>
        <p:nvSpPr>
          <p:cNvPr id="12" name="Text 10"/>
          <p:cNvSpPr/>
          <p:nvPr/>
        </p:nvSpPr>
        <p:spPr>
          <a:xfrm>
            <a:off x="1554480" y="3657600"/>
            <a:ext cx="603504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 Bedrijf 2 reageert met nog lagere prijs</a:t>
            </a:r>
            <a:endParaRPr lang="en-US" sz="1300" dirty="0"/>
          </a:p>
        </p:txBody>
      </p:sp>
      <p:sp>
        <p:nvSpPr>
          <p:cNvPr id="13" name="Shape 11"/>
          <p:cNvSpPr/>
          <p:nvPr/>
        </p:nvSpPr>
        <p:spPr>
          <a:xfrm>
            <a:off x="1371600" y="4160520"/>
            <a:ext cx="6400800" cy="384048"/>
          </a:xfrm>
          <a:prstGeom prst="rect">
            <a:avLst>
              <a:gd name="adj" fmla="val 7143"/>
            </a:avLst>
          </a:prstGeom>
          <a:solidFill>
            <a:srgbClr val="E67E22"/>
          </a:solidFill>
          <a:ln/>
        </p:spPr>
      </p:sp>
      <p:sp>
        <p:nvSpPr>
          <p:cNvPr id="14" name="Text 12"/>
          <p:cNvSpPr/>
          <p:nvPr/>
        </p:nvSpPr>
        <p:spPr>
          <a:xfrm>
            <a:off x="1554480" y="4160520"/>
            <a:ext cx="6035040" cy="38404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Dit gaat door tot p = GTK (0 winst)</a:t>
            </a:r>
            <a:endParaRPr lang="en-US" sz="1300" dirty="0"/>
          </a:p>
        </p:txBody>
      </p:sp>
      <p:sp>
        <p:nvSpPr>
          <p:cNvPr id="15" name="Text 13"/>
          <p:cNvSpPr/>
          <p:nvPr/>
        </p:nvSpPr>
        <p:spPr>
          <a:xfrm>
            <a:off x="640080" y="4572000"/>
            <a:ext cx="7863840" cy="365760"/>
          </a:xfrm>
          <a:prstGeom prst="rect">
            <a:avLst/>
          </a:prstGeom>
          <a:noFill/>
          <a:ln/>
        </p:spPr>
        <p:txBody>
          <a:bodyPr wrap="square" rtlCol="0" anchor="ctr"/>
          <a:lstStyle/>
          <a:p>
            <a:pPr indent="0" marL="0">
              <a:buNone/>
            </a:pPr>
            <a:r>
              <a:rPr lang="en-US" sz="1300" i="1" dirty="0">
                <a:solidFill>
                  <a:srgbClr val="718096"/>
                </a:solidFill>
                <a:latin typeface="Arial" pitchFamily="34" charset="0"/>
                <a:ea typeface="Arial" pitchFamily="34" charset="-122"/>
                <a:cs typeface="Arial" pitchFamily="34" charset="-120"/>
              </a:rPr>
              <a:t>In praktijk voorkomt dit: productverschillen en afspraken.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Belangrijke valkuilen!</a:t>
            </a:r>
            <a:endParaRPr lang="en-US" sz="2400" dirty="0"/>
          </a:p>
        </p:txBody>
      </p:sp>
      <p:sp>
        <p:nvSpPr>
          <p:cNvPr id="3" name="Shape 1"/>
          <p:cNvSpPr/>
          <p:nvPr/>
        </p:nvSpPr>
        <p:spPr>
          <a:xfrm>
            <a:off x="457200" y="868680"/>
            <a:ext cx="8229600" cy="804672"/>
          </a:xfrm>
          <a:prstGeom prst="rect">
            <a:avLst>
              <a:gd name="adj" fmla="val 5682"/>
            </a:avLst>
          </a:prstGeom>
          <a:solidFill>
            <a:srgbClr val="FDE8E8"/>
          </a:solidFill>
          <a:ln/>
          <a:effectLst>
            <a:outerShdw sx="100000" sy="100000" kx="0" ky="0" algn="bl" rotWithShape="0" blurRad="76200" dist="25400" dir="8100000">
              <a:srgbClr val="000000">
                <a:alpha val="10000"/>
              </a:srgbClr>
            </a:outerShdw>
          </a:effectLst>
        </p:spPr>
      </p:sp>
      <p:sp>
        <p:nvSpPr>
          <p:cNvPr id="4" name="Shape 2"/>
          <p:cNvSpPr/>
          <p:nvPr/>
        </p:nvSpPr>
        <p:spPr>
          <a:xfrm>
            <a:off x="457200" y="868680"/>
            <a:ext cx="54864" cy="804672"/>
          </a:xfrm>
          <a:prstGeom prst="rect">
            <a:avLst/>
          </a:prstGeom>
          <a:solidFill>
            <a:srgbClr val="D9534F"/>
          </a:solidFill>
          <a:ln/>
        </p:spPr>
      </p:sp>
      <p:sp>
        <p:nvSpPr>
          <p:cNvPr id="5" name="Text 3"/>
          <p:cNvSpPr/>
          <p:nvPr/>
        </p:nvSpPr>
        <p:spPr>
          <a:xfrm>
            <a:off x="658368" y="914400"/>
            <a:ext cx="7772400" cy="292608"/>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Residuale vraag = marktvraag</a:t>
            </a:r>
            <a:endParaRPr lang="en-US" sz="1400" dirty="0"/>
          </a:p>
        </p:txBody>
      </p:sp>
      <p:sp>
        <p:nvSpPr>
          <p:cNvPr id="6" name="Text 4"/>
          <p:cNvSpPr/>
          <p:nvPr/>
        </p:nvSpPr>
        <p:spPr>
          <a:xfrm>
            <a:off x="658368" y="1216152"/>
            <a:ext cx="777240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Residuale vraag = marktvraag minus output concurrent.</a:t>
            </a:r>
            <a:endParaRPr lang="en-US" sz="1300" dirty="0"/>
          </a:p>
        </p:txBody>
      </p:sp>
      <p:sp>
        <p:nvSpPr>
          <p:cNvPr id="7" name="Shape 5"/>
          <p:cNvSpPr/>
          <p:nvPr/>
        </p:nvSpPr>
        <p:spPr>
          <a:xfrm>
            <a:off x="457200" y="1828800"/>
            <a:ext cx="8229600" cy="804672"/>
          </a:xfrm>
          <a:prstGeom prst="rect">
            <a:avLst>
              <a:gd name="adj" fmla="val 5682"/>
            </a:avLst>
          </a:prstGeom>
          <a:solidFill>
            <a:srgbClr val="FDE8E8"/>
          </a:solidFill>
          <a:ln/>
          <a:effectLst>
            <a:outerShdw sx="100000" sy="100000" kx="0" ky="0" algn="bl" rotWithShape="0" blurRad="76200" dist="25400" dir="8100000">
              <a:srgbClr val="000000">
                <a:alpha val="10000"/>
              </a:srgbClr>
            </a:outerShdw>
          </a:effectLst>
        </p:spPr>
      </p:sp>
      <p:sp>
        <p:nvSpPr>
          <p:cNvPr id="8" name="Shape 6"/>
          <p:cNvSpPr/>
          <p:nvPr/>
        </p:nvSpPr>
        <p:spPr>
          <a:xfrm>
            <a:off x="457200" y="1828800"/>
            <a:ext cx="54864" cy="804672"/>
          </a:xfrm>
          <a:prstGeom prst="rect">
            <a:avLst/>
          </a:prstGeom>
          <a:solidFill>
            <a:srgbClr val="D9534F"/>
          </a:solidFill>
          <a:ln/>
        </p:spPr>
      </p:sp>
      <p:sp>
        <p:nvSpPr>
          <p:cNvPr id="9" name="Text 7"/>
          <p:cNvSpPr/>
          <p:nvPr/>
        </p:nvSpPr>
        <p:spPr>
          <a:xfrm>
            <a:off x="658368" y="1874520"/>
            <a:ext cx="7772400" cy="292608"/>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Reactielijn = aanbodlijn</a:t>
            </a:r>
            <a:endParaRPr lang="en-US" sz="1400" dirty="0"/>
          </a:p>
        </p:txBody>
      </p:sp>
      <p:sp>
        <p:nvSpPr>
          <p:cNvPr id="10" name="Text 8"/>
          <p:cNvSpPr/>
          <p:nvPr/>
        </p:nvSpPr>
        <p:spPr>
          <a:xfrm>
            <a:off x="658368" y="2176272"/>
            <a:ext cx="777240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De reactielijn geeft de optimale output gegeven de concurrent, niet het aanbod.</a:t>
            </a:r>
            <a:endParaRPr lang="en-US" sz="1300" dirty="0"/>
          </a:p>
        </p:txBody>
      </p:sp>
      <p:sp>
        <p:nvSpPr>
          <p:cNvPr id="11" name="Shape 9"/>
          <p:cNvSpPr/>
          <p:nvPr/>
        </p:nvSpPr>
        <p:spPr>
          <a:xfrm>
            <a:off x="457200" y="2788920"/>
            <a:ext cx="8229600" cy="804672"/>
          </a:xfrm>
          <a:prstGeom prst="rect">
            <a:avLst>
              <a:gd name="adj" fmla="val 5682"/>
            </a:avLst>
          </a:prstGeom>
          <a:solidFill>
            <a:srgbClr val="FDE8E8"/>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2788920"/>
            <a:ext cx="54864" cy="804672"/>
          </a:xfrm>
          <a:prstGeom prst="rect">
            <a:avLst/>
          </a:prstGeom>
          <a:solidFill>
            <a:srgbClr val="D9534F"/>
          </a:solidFill>
          <a:ln/>
        </p:spPr>
      </p:sp>
      <p:sp>
        <p:nvSpPr>
          <p:cNvPr id="13" name="Text 11"/>
          <p:cNvSpPr/>
          <p:nvPr/>
        </p:nvSpPr>
        <p:spPr>
          <a:xfrm>
            <a:off x="658368" y="2834640"/>
            <a:ext cx="7772400" cy="292608"/>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Prijs aflezen op residuale vraag</a:t>
            </a:r>
            <a:endParaRPr lang="en-US" sz="1400" dirty="0"/>
          </a:p>
        </p:txBody>
      </p:sp>
      <p:sp>
        <p:nvSpPr>
          <p:cNvPr id="14" name="Text 12"/>
          <p:cNvSpPr/>
          <p:nvPr/>
        </p:nvSpPr>
        <p:spPr>
          <a:xfrm>
            <a:off x="658368" y="3136392"/>
            <a:ext cx="777240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De prijs lees je af op de MARKTVRAAG, niet de residuale vraag.</a:t>
            </a:r>
            <a:endParaRPr lang="en-US" sz="1300" dirty="0"/>
          </a:p>
        </p:txBody>
      </p:sp>
      <p:sp>
        <p:nvSpPr>
          <p:cNvPr id="15" name="Shape 13"/>
          <p:cNvSpPr/>
          <p:nvPr/>
        </p:nvSpPr>
        <p:spPr>
          <a:xfrm>
            <a:off x="457200" y="3749040"/>
            <a:ext cx="8229600" cy="804672"/>
          </a:xfrm>
          <a:prstGeom prst="rect">
            <a:avLst>
              <a:gd name="adj" fmla="val 5682"/>
            </a:avLst>
          </a:prstGeom>
          <a:solidFill>
            <a:srgbClr val="FDE8E8"/>
          </a:solidFill>
          <a:ln/>
          <a:effectLst>
            <a:outerShdw sx="100000" sy="100000" kx="0" ky="0" algn="bl" rotWithShape="0" blurRad="76200" dist="25400" dir="8100000">
              <a:srgbClr val="000000">
                <a:alpha val="10000"/>
              </a:srgbClr>
            </a:outerShdw>
          </a:effectLst>
        </p:spPr>
      </p:sp>
      <p:sp>
        <p:nvSpPr>
          <p:cNvPr id="16" name="Shape 14"/>
          <p:cNvSpPr/>
          <p:nvPr/>
        </p:nvSpPr>
        <p:spPr>
          <a:xfrm>
            <a:off x="457200" y="3749040"/>
            <a:ext cx="54864" cy="804672"/>
          </a:xfrm>
          <a:prstGeom prst="rect">
            <a:avLst/>
          </a:prstGeom>
          <a:solidFill>
            <a:srgbClr val="D9534F"/>
          </a:solidFill>
          <a:ln/>
        </p:spPr>
      </p:sp>
      <p:sp>
        <p:nvSpPr>
          <p:cNvPr id="17" name="Text 15"/>
          <p:cNvSpPr/>
          <p:nvPr/>
        </p:nvSpPr>
        <p:spPr>
          <a:xfrm>
            <a:off x="658368" y="3794760"/>
            <a:ext cx="7772400" cy="292608"/>
          </a:xfrm>
          <a:prstGeom prst="rect">
            <a:avLst/>
          </a:prstGeom>
          <a:noFill/>
          <a:ln/>
        </p:spPr>
        <p:txBody>
          <a:bodyPr wrap="square" rtlCol="0" anchor="ctr"/>
          <a:lstStyle/>
          <a:p>
            <a:pPr indent="0" marL="0">
              <a:buNone/>
            </a:pPr>
            <a:r>
              <a:rPr lang="en-US" sz="1400" b="1" dirty="0">
                <a:solidFill>
                  <a:srgbClr val="D9534F"/>
                </a:solidFill>
                <a:latin typeface="Arial" pitchFamily="34" charset="0"/>
                <a:ea typeface="Arial" pitchFamily="34" charset="-122"/>
                <a:cs typeface="Arial" pitchFamily="34" charset="-120"/>
              </a:rPr>
              <a:t>MO = MK op marktvraag stellen</a:t>
            </a:r>
            <a:endParaRPr lang="en-US" sz="1400" dirty="0"/>
          </a:p>
        </p:txBody>
      </p:sp>
      <p:sp>
        <p:nvSpPr>
          <p:cNvPr id="18" name="Text 16"/>
          <p:cNvSpPr/>
          <p:nvPr/>
        </p:nvSpPr>
        <p:spPr>
          <a:xfrm>
            <a:off x="658368" y="4096512"/>
            <a:ext cx="7772400" cy="384048"/>
          </a:xfrm>
          <a:prstGeom prst="rect">
            <a:avLst/>
          </a:prstGeom>
          <a:noFill/>
          <a:ln/>
        </p:spPr>
        <p:txBody>
          <a:bodyPr wrap="square" rtlCol="0" anchor="ctr"/>
          <a:lstStyle/>
          <a:p>
            <a:pPr indent="0" marL="0">
              <a:buNone/>
            </a:pPr>
            <a:r>
              <a:rPr lang="en-US" sz="1300" dirty="0">
                <a:solidFill>
                  <a:srgbClr val="2D3748"/>
                </a:solidFill>
                <a:latin typeface="Arial" pitchFamily="34" charset="0"/>
                <a:ea typeface="Arial" pitchFamily="34" charset="-122"/>
                <a:cs typeface="Arial" pitchFamily="34" charset="-120"/>
              </a:rPr>
              <a:t>Nee! Gebruik de residuale vraag voor het afleiden van MO.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105156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554480"/>
            <a:ext cx="7863840" cy="2926080"/>
          </a:xfrm>
          <a:prstGeom prst="rect">
            <a:avLst/>
          </a:prstGeom>
          <a:noFill/>
          <a:ln/>
        </p:spPr>
        <p:txBody>
          <a:bodyPr wrap="square" rtlCol="0" anchor="t"/>
          <a:lstStyle/>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Oligopolie: weinig grote bedrijven, strategische interactie</a:t>
            </a:r>
            <a:endParaRPr lang="en-US" sz="1500" dirty="0"/>
          </a:p>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Residuale vraag: marktvraag minus output concurrent</a:t>
            </a:r>
            <a:endParaRPr lang="en-US" sz="1500" dirty="0"/>
          </a:p>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Reactielijn: optimale output gegeven de concurrent</a:t>
            </a:r>
            <a:endParaRPr lang="en-US" sz="1500" dirty="0"/>
          </a:p>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Cournot-evenwicht: snijpunt reactielijnen</a:t>
            </a:r>
            <a:endParaRPr lang="en-US" sz="1500" dirty="0"/>
          </a:p>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Cournot ≠ volkomen concurrentie, maar beter dan monopolie</a:t>
            </a:r>
            <a:endParaRPr lang="en-US" sz="1500" dirty="0"/>
          </a:p>
          <a:p>
            <a:pPr marL="342900" indent="-342900">
              <a:lnSpc>
                <a:spcPct val="150000"/>
              </a:lnSpc>
              <a:spcAft>
                <a:spcPts val="500"/>
              </a:spcAft>
              <a:buSzPct val="100000"/>
              <a:buChar char="•"/>
            </a:pPr>
            <a:r>
              <a:rPr lang="en-US" sz="1500" dirty="0">
                <a:solidFill>
                  <a:srgbClr val="FFFFFF"/>
                </a:solidFill>
                <a:latin typeface="Arial" pitchFamily="34" charset="0"/>
                <a:ea typeface="Arial" pitchFamily="34" charset="-122"/>
                <a:cs typeface="Arial" pitchFamily="34" charset="-120"/>
              </a:rPr>
              <a:t>Bertrand: prijsconcurrentie leidt tot minder winst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Oligopolie</dc:title>
  <dc:subject>PptxGenJS Presentation</dc:subject>
  <dc:creator>Economie VWO</dc:creator>
  <cp:lastModifiedBy>Economie VWO</cp:lastModifiedBy>
  <cp:revision>1</cp:revision>
  <dcterms:created xsi:type="dcterms:W3CDTF">2026-03-23T10:13:32Z</dcterms:created>
  <dcterms:modified xsi:type="dcterms:W3CDTF">2026-03-23T10:13:32Z</dcterms:modified>
</cp:coreProperties>
</file>