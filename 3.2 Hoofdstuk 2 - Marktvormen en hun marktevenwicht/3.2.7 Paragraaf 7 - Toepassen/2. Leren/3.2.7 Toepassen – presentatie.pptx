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Toepassingsles hoofdstuk 2: alle marktvormen vergelijken en berekeningen oefenen. Dit is de samenvattende paragraaf waarin we alles uit 3.2.1 t/m 3.2.6 op een rij zetten.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Overzicht van alles wat je moet kunnen uit paragraaf 3.2.1 t/m 3.2.6. Zes hoofdvaardigheden die je in de opgaven terugziet.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Vergelijkingstabel: volkomen concurrentie, monopolie, oligopolie en MC naast elkaar. Let op de patronen: meer aanbieders = minder marktmacht = lagere prijs. Dit schema is je belangrijkste hulpmiddel bij het herkennen van marktvormen.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 = MK is de gouden regel voor ALLE marktvormen. Het verschil zit in hoe MO wordt bepaald: bij VC is MO = p (horizontale vraaglijn), bij monopolie is MO = a - 2bQ (dubbele helling van de vraaglijn).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Vergelijking monopolie vs. VC: monopolie produceert minder, vraagt hogere prijs, kleiner CS, groter PS, maar lager totaal surplus. De Harbergerdriehoek is het welvaartsverlies.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 Harbergerdriehoek is het welvaartsverlies door monopolie. Bereken het als: TS bij VC minus TS bij monopolie. Of als driehoek: 0.5 maal basis maal hoogte. In het rekenvoorbeeld: 59.400 - 28.800 = 30.600.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Surplusberekening in 4 stappen: 1) Vind evenwichtsprijs en -hoeveelheid, 2) Bereken CS (driehoek boven p*), 3) Bereken PS (driehoek onder p*), 4) Tel op tot TS. De Harbergerdriehoek = TS(VC) - TS(monopolie).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Prijsdiscriminatie: de monopolist segmenteert de markt en vraagt elke groep een andere prijs. Dit verhoogt zijn winst door CS af te romen. Perfecte discriminatie: elke consument betaalt zijn maximale betalingsbereidheid.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Toetreding vergroot het aanbod, verlaagt de prijs, en verhoogt de doelmatigheid. Van monopolie (1 aanbieder, TS=2048) naar vrije toetreding (23 aanbieders, TS=4416). Meer concurrentie is beter voor de welvaart.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Internationale handel vergroot de concurrentie: buitenlandse aanbieders treden toe, de prijs daalt naar de wereldmarktprijs, CS stijgt. Binnenlandse aanbieders verliezen. Dit is de brug naar hoofdstuk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Samenvatting van het hele hoofdstuk: alle marktvormen, alle formules, alle surplusberekeningen. Dit is je checklist voor de toets. Oefen tot je ze blind kunt toepassen.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51D4A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5276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-5-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914400"/>
            <a:ext cx="7863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Toepassen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640080" y="22860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Marktvormen en hun marktevenwicht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28346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Alles op een rij — van monopolie tot volkomen concurrentie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4709160"/>
            <a:ext cx="786384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Hoofdstuk 2: Marktvormen en hun marktevenwicht  |  Economie VWO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moet je kunnen?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023360" cy="1005840"/>
          </a:xfrm>
          <a:prstGeom prst="rect">
            <a:avLst>
              <a:gd name="adj" fmla="val 4545"/>
            </a:avLst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54864" cy="100584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543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Marktvormen herkennen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Kenmerken vergelijken van VC, monopolie, oligopolie en MC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4023360" cy="1005840"/>
          </a:xfrm>
          <a:prstGeom prst="rect">
            <a:avLst>
              <a:gd name="adj" fmla="val 4545"/>
            </a:avLst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240280"/>
            <a:ext cx="54864" cy="100584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331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543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Winstmaximalisatie berekenen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2697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 = MK toepassen bij elke marktvorm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474720"/>
            <a:ext cx="4023360" cy="1005840"/>
          </a:xfrm>
          <a:prstGeom prst="rect">
            <a:avLst>
              <a:gd name="adj" fmla="val 4545"/>
            </a:avLst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3474720"/>
            <a:ext cx="54864" cy="100584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566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543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Surplus berekenen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" y="39319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CS, PS en TS als oppervlakten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54880" y="1005840"/>
            <a:ext cx="4023360" cy="1005840"/>
          </a:xfrm>
          <a:prstGeom prst="rect">
            <a:avLst>
              <a:gd name="adj" fmla="val 4545"/>
            </a:avLst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1005840"/>
            <a:ext cx="54864" cy="100584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1097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543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Harbergerdriehoek bepalen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937760" y="1463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Welvaartsverlies monopolie vs. VC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54880" y="2240280"/>
            <a:ext cx="4023360" cy="1005840"/>
          </a:xfrm>
          <a:prstGeom prst="rect">
            <a:avLst>
              <a:gd name="adj" fmla="val 4545"/>
            </a:avLst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240280"/>
            <a:ext cx="54864" cy="100584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2331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543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Prijsdiscriminatie toepassen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937760" y="2697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Meerdere prijzen, omzet berekenen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54880" y="3474720"/>
            <a:ext cx="4023360" cy="1005840"/>
          </a:xfrm>
          <a:prstGeom prst="rect">
            <a:avLst>
              <a:gd name="adj" fmla="val 4545"/>
            </a:avLst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3474720"/>
            <a:ext cx="54864" cy="1005840"/>
          </a:xfrm>
          <a:prstGeom prst="rect">
            <a:avLst/>
          </a:prstGeom>
          <a:solidFill>
            <a:srgbClr val="1A5276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Marktvormen vergeleken</a:t>
            </a:r>
            <a:endParaRPr lang="en-US" sz="2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960120"/>
          <a:ext cx="85039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737360"/>
                <a:gridCol w="1737360"/>
                <a:gridCol w="1737360"/>
                <a:gridCol w="18288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Kenmerk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Volkomen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concurrentie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Monopolie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Oligopolie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Monopol.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concurrentie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Aanbieders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Zeer veel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Eén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Weinig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Veel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Homogeen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Uniek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Homo-/heterogeen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Heterogeen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Toetreding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Vrij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Geblokkeerd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Beperkt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Relatief vrij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Marktmacht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Geen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Maximaal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Groot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Beperkt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MO-regel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 = 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 &lt; 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 &lt; 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 &lt; 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Winst LT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Positief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Positief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 Nul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Tip: gebruik dit schema om marktvormen te herkennen in casussen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Winstmaximalisatie: MO = MK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5943600" cy="457200"/>
          </a:xfrm>
          <a:prstGeom prst="rect">
            <a:avLst>
              <a:gd name="adj" fmla="val 10000"/>
            </a:avLst>
          </a:prstGeom>
          <a:solidFill>
            <a:srgbClr val="F9F6F1"/>
          </a:solidFill>
          <a:ln w="12700">
            <a:solidFill>
              <a:srgbClr val="1A527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66928" y="96012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960120"/>
            <a:ext cx="5349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Stel de vraagfunctie op: p = f(Q)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59436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545336"/>
            <a:ext cx="5943600" cy="457200"/>
          </a:xfrm>
          <a:prstGeom prst="rect">
            <a:avLst>
              <a:gd name="adj" fmla="val 10000"/>
            </a:avLst>
          </a:prstGeom>
          <a:solidFill>
            <a:srgbClr val="F9F6F1"/>
          </a:solidFill>
          <a:ln w="12700">
            <a:solidFill>
              <a:srgbClr val="1A527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1545336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1545336"/>
            <a:ext cx="5349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Bereken TO = p × Q en leid MO af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002536"/>
            <a:ext cx="59436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130552"/>
            <a:ext cx="5943600" cy="457200"/>
          </a:xfrm>
          <a:prstGeom prst="rect">
            <a:avLst>
              <a:gd name="adj" fmla="val 10000"/>
            </a:avLst>
          </a:prstGeom>
          <a:solidFill>
            <a:srgbClr val="F9F6F1"/>
          </a:solidFill>
          <a:ln w="12700">
            <a:solidFill>
              <a:srgbClr val="1A527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66928" y="2130552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2130552"/>
            <a:ext cx="5349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Leid MK af uit de TK-functie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2587752"/>
            <a:ext cx="59436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715768"/>
            <a:ext cx="5943600" cy="457200"/>
          </a:xfrm>
          <a:prstGeom prst="rect">
            <a:avLst>
              <a:gd name="adj" fmla="val 10000"/>
            </a:avLst>
          </a:prstGeom>
          <a:solidFill>
            <a:srgbClr val="F9F6F1"/>
          </a:solidFill>
          <a:ln w="12700">
            <a:solidFill>
              <a:srgbClr val="1A527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66928" y="2715768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2715768"/>
            <a:ext cx="5349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MO = MK op → Q*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3172968"/>
            <a:ext cx="59436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300984"/>
            <a:ext cx="5943600" cy="457200"/>
          </a:xfrm>
          <a:prstGeom prst="rect">
            <a:avLst>
              <a:gd name="adj" fmla="val 10000"/>
            </a:avLst>
          </a:prstGeom>
          <a:solidFill>
            <a:srgbClr val="F9F6F1"/>
          </a:solidFill>
          <a:ln w="12700">
            <a:solidFill>
              <a:srgbClr val="1A527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66928" y="3300984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14400" y="3300984"/>
            <a:ext cx="5349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 Q* in de vraagfunctie → p*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3758184"/>
            <a:ext cx="59436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886200"/>
            <a:ext cx="5943600" cy="457200"/>
          </a:xfrm>
          <a:prstGeom prst="rect">
            <a:avLst>
              <a:gd name="adj" fmla="val 10000"/>
            </a:avLst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66928" y="388620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14400" y="3886200"/>
            <a:ext cx="5349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Winst = TO − TK = (p* − GTK) × Q*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675120" y="960120"/>
            <a:ext cx="2194560" cy="2743200"/>
          </a:xfrm>
          <a:prstGeom prst="rect">
            <a:avLst>
              <a:gd name="adj" fmla="val 2083"/>
            </a:avLst>
          </a:prstGeom>
          <a:solidFill>
            <a:srgbClr val="FEF5E7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675120" y="960120"/>
            <a:ext cx="54864" cy="27432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0" y="1069848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 op!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858000" y="1463040"/>
            <a:ext cx="18745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Geldt voor ELKE marktvorm
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verschil zit in hoe MO wordt bepaald:
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VC: MO = p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Mon: MO = a−2bQ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Monopolie vs. volkomen concurrentie</a:t>
            </a:r>
            <a:endParaRPr lang="en-US" sz="2400" dirty="0"/>
          </a:p>
        </p:txBody>
      </p:sp>
      <p:pic>
        <p:nvPicPr>
          <p:cNvPr id="9995" name="Graph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05840"/>
            <a:ext cx="5029200" cy="3657600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5760720" y="1005840"/>
            <a:ext cx="2926080" cy="1645920"/>
          </a:xfrm>
          <a:prstGeom prst="rect">
            <a:avLst>
              <a:gd name="adj" fmla="val 2778"/>
            </a:avLst>
          </a:prstGeom>
          <a:solidFill>
            <a:srgbClr val="E8F8F0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760720" y="1005840"/>
            <a:ext cx="54864" cy="1645920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0" y="111556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VC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943600" y="150876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= MK
</a:t>
            </a:r>
            <a:pPr algn="l"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Maximaal TS
</a:t>
            </a:r>
            <a:pPr algn="l"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Pareto-efficiënt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760720" y="2926080"/>
            <a:ext cx="2926080" cy="1645920"/>
          </a:xfrm>
          <a:prstGeom prst="rect">
            <a:avLst>
              <a:gd name="adj" fmla="val 2778"/>
            </a:avLst>
          </a:prstGeom>
          <a:solidFill>
            <a:srgbClr val="FDE8E8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760720" y="2926080"/>
            <a:ext cx="54864" cy="1645920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0" y="303580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D95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Monopolie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943600" y="342900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&gt; MK
</a:t>
            </a:r>
            <a:pPr algn="l"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Lagere Q, hogere P
</a:t>
            </a:r>
            <a:pPr algn="l"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b="1" dirty="0">
                <a:solidFill>
                  <a:srgbClr val="D95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Harbergerdriehoek &gt; 0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Harbergerdriehoek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1828800"/>
          </a:xfrm>
          <a:prstGeom prst="rect">
            <a:avLst>
              <a:gd name="adj" fmla="val 2500"/>
            </a:avLst>
          </a:prstGeom>
          <a:solidFill>
            <a:srgbClr val="FDE8E8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54864" cy="1828800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15568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D95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is het?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3611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welvaartsverlies door monopoliemacht
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D95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 bij VC − TS bij monopolie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3931920" cy="1828800"/>
          </a:xfrm>
          <a:prstGeom prst="rect">
            <a:avLst>
              <a:gd name="adj" fmla="val 2500"/>
            </a:avLst>
          </a:prstGeom>
          <a:solidFill>
            <a:srgbClr val="FEF5E7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005840"/>
            <a:ext cx="54864" cy="18288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115568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Rekenvoorbeeld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937760" y="1508760"/>
            <a:ext cx="3611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TS(VC) = €59.400
TS(mon) = €28.800
</a:t>
            </a:r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Harberger = €30.600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108960"/>
            <a:ext cx="3931920" cy="1554480"/>
          </a:xfrm>
          <a:prstGeom prst="rect">
            <a:avLst>
              <a:gd name="adj" fmla="val 2941"/>
            </a:avLst>
          </a:prstGeom>
          <a:solidFill>
            <a:srgbClr val="EBF5FB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3108960"/>
            <a:ext cx="54864" cy="155448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218688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Monopolie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0080" y="3611880"/>
            <a:ext cx="3611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Hogere prijs, lagere Q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 daalt, PS stijgt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Maar TS daalt altijd!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754880" y="3108960"/>
            <a:ext cx="3931920" cy="1554480"/>
          </a:xfrm>
          <a:prstGeom prst="rect">
            <a:avLst>
              <a:gd name="adj" fmla="val 2941"/>
            </a:avLst>
          </a:prstGeom>
          <a:solidFill>
            <a:srgbClr val="E8F8F0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3108960"/>
            <a:ext cx="54864" cy="1554480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3218688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Volkomen concurrentie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937760" y="3611880"/>
            <a:ext cx="3611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= MK (geen marktmacht)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 is maximaal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Pareto-efficiënt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Surplusberekening in 4 stappen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74320" y="1097280"/>
            <a:ext cx="1965960" cy="1371600"/>
          </a:xfrm>
          <a:prstGeom prst="rect">
            <a:avLst>
              <a:gd name="adj" fmla="val 3333"/>
            </a:avLst>
          </a:prstGeom>
          <a:solidFill>
            <a:srgbClr val="F9F6F1"/>
          </a:solidFill>
          <a:ln w="12700">
            <a:solidFill>
              <a:srgbClr val="1A527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74320" y="11887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600200"/>
            <a:ext cx="1783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Bepaal evenwicht (Q*, p*)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240280" y="137160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468880" y="1097280"/>
            <a:ext cx="1965960" cy="1371600"/>
          </a:xfrm>
          <a:prstGeom prst="rect">
            <a:avLst>
              <a:gd name="adj" fmla="val 3333"/>
            </a:avLst>
          </a:prstGeom>
          <a:solidFill>
            <a:srgbClr val="F9F6F1"/>
          </a:solidFill>
          <a:ln w="12700">
            <a:solidFill>
              <a:srgbClr val="1A527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68880" y="11887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560320" y="1600200"/>
            <a:ext cx="1783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 = ½ × Q* × (pmax − p*)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434840" y="137160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663440" y="1097280"/>
            <a:ext cx="1965960" cy="1371600"/>
          </a:xfrm>
          <a:prstGeom prst="rect">
            <a:avLst>
              <a:gd name="adj" fmla="val 3333"/>
            </a:avLst>
          </a:prstGeom>
          <a:solidFill>
            <a:srgbClr val="F9F6F1"/>
          </a:solidFill>
          <a:ln w="12700">
            <a:solidFill>
              <a:srgbClr val="1A527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63440" y="11887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754880" y="1600200"/>
            <a:ext cx="1783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= ½ × Q* × (p* − pmin)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629400" y="137160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858000" y="1097280"/>
            <a:ext cx="1965960" cy="1371600"/>
          </a:xfrm>
          <a:prstGeom prst="rect">
            <a:avLst>
              <a:gd name="adj" fmla="val 3333"/>
            </a:avLst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58000" y="11887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949440" y="1600200"/>
            <a:ext cx="1783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 = CS + PS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2834640"/>
            <a:ext cx="8229600" cy="685800"/>
          </a:xfrm>
          <a:prstGeom prst="rect">
            <a:avLst>
              <a:gd name="adj" fmla="val 6667"/>
            </a:avLst>
          </a:prstGeom>
          <a:solidFill>
            <a:srgbClr val="FEF5E7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2834640"/>
            <a:ext cx="54864" cy="6858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283464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 op: bij een monopolist is het PS geen eenvoudige driehoek. Bereken PS = omzet − kosten + restdriehoek onder MK.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794760"/>
            <a:ext cx="8229600" cy="502920"/>
          </a:xfrm>
          <a:prstGeom prst="rect">
            <a:avLst/>
          </a:prstGeom>
          <a:solidFill>
            <a:srgbClr val="F7F8FA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794760"/>
            <a:ext cx="54864" cy="502920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37947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Harbergerdriehoek = TS(volkomen concurrentie) − TS(monopolie)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Prijsdiscriminatie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2103120"/>
          </a:xfrm>
          <a:prstGeom prst="rect">
            <a:avLst>
              <a:gd name="adj" fmla="val 2174"/>
            </a:avLst>
          </a:prstGeom>
          <a:solidFill>
            <a:srgbClr val="F3E8F9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54864" cy="2103120"/>
          </a:xfrm>
          <a:prstGeom prst="rect">
            <a:avLst/>
          </a:prstGeom>
          <a:solidFill>
            <a:srgbClr val="7B2D8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15568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7B2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36118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Verschillende prijzen voor hetzelfde product
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Voorwaarden:
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Marktmacht (prijszetter)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Groepen scheiden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Verschillende prijselasticiteit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3931920" cy="2103120"/>
          </a:xfrm>
          <a:prstGeom prst="rect">
            <a:avLst>
              <a:gd name="adj" fmla="val 2174"/>
            </a:avLst>
          </a:prstGeom>
          <a:solidFill>
            <a:srgbClr val="FEF5E7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005840"/>
            <a:ext cx="54864" cy="21031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115568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Rekenvoorbeeld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937760" y="1508760"/>
            <a:ext cx="36118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discriminatie:
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= €180.000 (bij p = €300)
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2 prijzen:
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€400×400 + €200×400 = €240.000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383280"/>
            <a:ext cx="8229600" cy="1280160"/>
          </a:xfrm>
          <a:prstGeom prst="rect">
            <a:avLst>
              <a:gd name="adj" fmla="val 3571"/>
            </a:avLst>
          </a:prstGeom>
          <a:solidFill>
            <a:srgbClr val="E8F8F0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3383280"/>
            <a:ext cx="54864" cy="1280160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493008"/>
            <a:ext cx="79095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prijzen = meer omzet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0080" y="3886200"/>
            <a:ext cx="79095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Perfecte discriminatie: TO = oppervlakte onder de vraaglijn = €360.000
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consumentensurplus wordt omgezet in producentensurplus (CS → PS)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Toetreding en doelmatigheid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2651760" cy="2926080"/>
          </a:xfrm>
          <a:prstGeom prst="rect">
            <a:avLst>
              <a:gd name="adj" fmla="val 1724"/>
            </a:avLst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005840"/>
            <a:ext cx="54864" cy="2926080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0972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D95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Monopolie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02920" y="15087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aanbieder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20116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 = 32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5146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= 68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30175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5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 = €2.048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017520" y="219456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291840" y="1005840"/>
            <a:ext cx="2651760" cy="2926080"/>
          </a:xfrm>
          <a:prstGeom prst="rect">
            <a:avLst>
              <a:gd name="adj" fmla="val 1724"/>
            </a:avLst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005840"/>
            <a:ext cx="54864" cy="292608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3" name="Text 11"/>
          <p:cNvSpPr/>
          <p:nvPr/>
        </p:nvSpPr>
        <p:spPr>
          <a:xfrm>
            <a:off x="3429000" y="10972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aanbieders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429000" y="15087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Gecontroleerde toetreding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29000" y="20116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 = 80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29000" y="25146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= 20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429000" y="30175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 = €3.840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943600" y="219456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217920" y="1005840"/>
            <a:ext cx="2651760" cy="2926080"/>
          </a:xfrm>
          <a:prstGeom prst="rect">
            <a:avLst>
              <a:gd name="adj" fmla="val 1724"/>
            </a:avLst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17920" y="1005840"/>
            <a:ext cx="54864" cy="2926080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21" name="Text 19"/>
          <p:cNvSpPr/>
          <p:nvPr/>
        </p:nvSpPr>
        <p:spPr>
          <a:xfrm>
            <a:off x="6355080" y="10972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aanbieders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355080" y="15087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Vrije toetreding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55080" y="20116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 = 92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355080" y="25146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= 8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355080" y="30175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 = €4.416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57200" y="41605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toetreding → lagere prijs → hoger TS → meer doelmatigheid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Internationale handel en prijs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114800" cy="411480"/>
          </a:xfrm>
          <a:prstGeom prst="rect">
            <a:avLst>
              <a:gd name="adj" fmla="val 11111"/>
            </a:avLst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00584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Grenzen open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41148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4114800" cy="411480"/>
          </a:xfrm>
          <a:prstGeom prst="rect">
            <a:avLst>
              <a:gd name="adj" fmla="val 11111"/>
            </a:avLst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5087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Buitenlands aanbod erbij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41148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4114800" cy="411480"/>
          </a:xfrm>
          <a:prstGeom prst="rect">
            <a:avLst>
              <a:gd name="adj" fmla="val 11111"/>
            </a:avLst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20116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Aanbod stijgt → prijs daalt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2423160"/>
            <a:ext cx="41148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514600"/>
            <a:ext cx="4114800" cy="411480"/>
          </a:xfrm>
          <a:prstGeom prst="rect">
            <a:avLst>
              <a:gd name="adj" fmla="val 11111"/>
            </a:avLst>
          </a:prstGeom>
          <a:solidFill>
            <a:srgbClr val="1A5276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251460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 p = wereldmarktprijs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846320" y="1005840"/>
            <a:ext cx="3840480" cy="1554480"/>
          </a:xfrm>
          <a:prstGeom prst="rect">
            <a:avLst>
              <a:gd name="adj" fmla="val 2941"/>
            </a:avLst>
          </a:prstGeom>
          <a:solidFill>
            <a:srgbClr val="E8F8F0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46320" y="1005840"/>
            <a:ext cx="54864" cy="1554480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0" y="1115568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Consumenten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029200" y="1508760"/>
            <a:ext cx="3520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Lagere prijs → meer gevraagd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 stijgt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846320" y="2834640"/>
            <a:ext cx="3840480" cy="1554480"/>
          </a:xfrm>
          <a:prstGeom prst="rect">
            <a:avLst>
              <a:gd name="adj" fmla="val 2941"/>
            </a:avLst>
          </a:prstGeom>
          <a:solidFill>
            <a:srgbClr val="FDE8E8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46320" y="2834640"/>
            <a:ext cx="54864" cy="1554480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0" y="2944368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D95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Binnenlandse aanbieders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029200" y="3337560"/>
            <a:ext cx="3520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Lagere prijs → minder aanbod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daalt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Alles uit hoofdstuk 2 op een rij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365760" cy="365760"/>
          </a:xfrm>
          <a:prstGeom prst="ellipse">
            <a:avLst/>
          </a:prstGeom>
          <a:solidFill>
            <a:srgbClr val="1A527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08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1463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Marktvormen: vergelijk op aanbieders, product, toetreding, marktmacht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103120"/>
            <a:ext cx="365760" cy="365760"/>
          </a:xfrm>
          <a:prstGeom prst="ellipse">
            <a:avLst/>
          </a:prstGeom>
          <a:solidFill>
            <a:srgbClr val="1A527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103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2057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Winstmaximalisatie: altijd MO = MK (bij VC geldt MO = p)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697480"/>
            <a:ext cx="365760" cy="365760"/>
          </a:xfrm>
          <a:prstGeom prst="ellipse">
            <a:avLst/>
          </a:prstGeom>
          <a:solidFill>
            <a:srgbClr val="1A5276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697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88720" y="2651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Surplus: CS + PS = TS — bereken als driehoekoppervlakten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3291840"/>
            <a:ext cx="365760" cy="365760"/>
          </a:xfrm>
          <a:prstGeom prst="ellipse">
            <a:avLst/>
          </a:prstGeom>
          <a:solidFill>
            <a:srgbClr val="1A5276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291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32461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Harbergerdriehoek: welvaartsverlies = TS(VC) − TS(monopolie)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3886200"/>
            <a:ext cx="365760" cy="365760"/>
          </a:xfrm>
          <a:prstGeom prst="ellipse">
            <a:avLst/>
          </a:prstGeom>
          <a:solidFill>
            <a:srgbClr val="1A5276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886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3840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Prijsdiscriminatie: meer prijzen → meer omzet (CS → PS)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3.2.7 Toepassen</dc:title>
  <dc:subject>PptxGenJS Presentation</dc:subject>
  <dc:creator>Economie VWO</dc:creator>
  <cp:lastModifiedBy>Economie VWO</cp:lastModifiedBy>
  <cp:revision>1</cp:revision>
  <dcterms:created xsi:type="dcterms:W3CDTF">2026-03-23T10:11:19Z</dcterms:created>
  <dcterms:modified xsi:type="dcterms:W3CDTF">2026-03-23T10:11:19Z</dcterms:modified>
</cp:coreProperties>
</file>