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bij paragraaf 3.2.1 over marktevenwicht. We behandelen de twee voorwaarden voor evenwicht, de logica van MO = MK, en passen dit toe op de arbeidsmarkt.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zijn de vier leerdoelen. Na deze les kunnen leerlingen de voorwaarden voor evenwicht benoemen, MO = MK toepassen, en het verschil tussen prijsnemers en prijszetters uitleggen.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eerste voorwaarde is dat de gevraagde hoeveelheid gelijk is aan de aangeboden hoeveelheid. Op dat punt is er geen overschot en geen tekort.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tweede voorwaarde is MO = MK. MO is de extra opbrengst van één extra eenheid, MK de extra kosten. Zolang MO &gt; MK loont het om meer te produceren. Pas bij MO = MK is de winst maximaal.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kernlogica. Als MO groter is dan MK, verdien je meer dan het kost: produceer meer. Als MO kleiner is, verlies je op de laatste eenheid: stop. Bij MO = MK is de winst maximaal. Dit geldt voor ALLE marktvormen.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volledige mededinging is het bedrijf een prijsnemer. Het is zo klein ten opzichte van de markt dat het de prijs niet beïnvloedt. De marginale opbrengst is dus gelijk aan de marktprijs: MO = 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monopolie en oligopolie is het bedrijf een prijszetter. Het moet de prijs verlagen om meer te verkopen, en die lagere prijs geldt ook voor alle eerdere eenheden. Daarom is MO altijd lager dan 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Deze vergelijkingstabel maakt het verschil helder. MO = MK is universeel. Het verschil is of MO gelijk is aan p (prijsnemer) of lager dan p (prijszetter).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arbeidsmarkt is een toepassing van het evenwichtsmodel. Het loon is de prijs van arbeid. Het aanbod stijgt als het loon stijgt. De vraag daalt als het loon stijgt.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Twee verstoringen: technologie en minimumloon. Bij technologische verandering verschuift de vraagcurve naar links. Bij een minimumloon boven het evenwichtsloon is het aanbod groter dan de vraag, wat leidt tot werkloosheid.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Twee soorten werkloosheid. Structurele werkloosheid is langdurig, door een mismatch van vaardigheden. Conjuncturele werkloosheid is tijdelijk en hangt samen met de conjunctuur.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Drie veelgemaakte fouten. Bespreek ze klassikaal: MO = MK is universeel, evenwicht is niet per se eerlijk, en MO = p geldt alleen bij volledige mededinging.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deze zes punten na voordat leerlingen gaan oefenen. Controleer of ze de logica van MO = MK kunnen uitleggen en het verschil tussen prijsnemer en prijszetter begrijpen.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5276"/>
          </a:solidFill>
          <a:ln/>
        </p:spPr>
      </p:sp>
      <p:sp>
        <p:nvSpPr>
          <p:cNvPr id="3" name="Shape 1"/>
          <p:cNvSpPr/>
          <p:nvPr/>
        </p:nvSpPr>
        <p:spPr>
          <a:xfrm>
            <a:off x="0" y="4709160"/>
            <a:ext cx="9144000" cy="434340"/>
          </a:xfrm>
          <a:prstGeom prst="rect">
            <a:avLst/>
          </a:prstGeom>
          <a:solidFill>
            <a:srgbClr val="151D4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5276"/>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097280"/>
            <a:ext cx="7863840" cy="182880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Marktevenwicht</a:t>
            </a:r>
            <a:endParaRPr lang="en-US" sz="4000" dirty="0"/>
          </a:p>
        </p:txBody>
      </p:sp>
      <p:sp>
        <p:nvSpPr>
          <p:cNvPr id="3" name="Text 1"/>
          <p:cNvSpPr/>
          <p:nvPr/>
        </p:nvSpPr>
        <p:spPr>
          <a:xfrm>
            <a:off x="640080" y="2926080"/>
            <a:ext cx="7863840" cy="457200"/>
          </a:xfrm>
          <a:prstGeom prst="rect">
            <a:avLst/>
          </a:prstGeom>
          <a:noFill/>
          <a:ln/>
        </p:spPr>
        <p:txBody>
          <a:bodyPr wrap="square" rtlCol="0" anchor="ctr"/>
          <a:lstStyle/>
          <a:p>
            <a:pPr indent="0" marL="0">
              <a:buNone/>
            </a:pPr>
            <a:r>
              <a:rPr lang="en-US" sz="2000" dirty="0">
                <a:solidFill>
                  <a:srgbClr val="718096"/>
                </a:solidFill>
                <a:latin typeface="Arial" pitchFamily="34" charset="0"/>
                <a:ea typeface="Arial" pitchFamily="34" charset="-122"/>
                <a:cs typeface="Arial" pitchFamily="34" charset="-120"/>
              </a:rPr>
              <a:t>Paragraaf 3.2.1</a:t>
            </a:r>
            <a:endParaRPr lang="en-US" sz="2000" dirty="0"/>
          </a:p>
        </p:txBody>
      </p:sp>
      <p:sp>
        <p:nvSpPr>
          <p:cNvPr id="4" name="Text 2"/>
          <p:cNvSpPr/>
          <p:nvPr/>
        </p:nvSpPr>
        <p:spPr>
          <a:xfrm>
            <a:off x="640080" y="4709160"/>
            <a:ext cx="7863840" cy="434340"/>
          </a:xfrm>
          <a:prstGeom prst="rect">
            <a:avLst/>
          </a:prstGeom>
          <a:noFill/>
          <a:ln/>
        </p:spPr>
        <p:txBody>
          <a:bodyPr wrap="square" rtlCol="0" anchor="ctr"/>
          <a:lstStyle/>
          <a:p>
            <a:pPr indent="0" marL="0">
              <a:buNone/>
            </a:pPr>
            <a:r>
              <a:rPr lang="en-US" sz="1200" dirty="0">
                <a:solidFill>
                  <a:srgbClr val="718096"/>
                </a:solidFill>
                <a:latin typeface="Arial" pitchFamily="34" charset="0"/>
                <a:ea typeface="Arial" pitchFamily="34" charset="-122"/>
                <a:cs typeface="Arial" pitchFamily="34" charset="-120"/>
              </a:rPr>
              <a:t>Hoofdstuk 2: Marktvormen en hun marktevenwicht  |  Economie VWO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Wat ga je leren?</a:t>
            </a:r>
            <a:endParaRPr lang="en-US" sz="2400" dirty="0"/>
          </a:p>
        </p:txBody>
      </p:sp>
      <p:sp>
        <p:nvSpPr>
          <p:cNvPr id="3" name="Text 1"/>
          <p:cNvSpPr/>
          <p:nvPr/>
        </p:nvSpPr>
        <p:spPr>
          <a:xfrm>
            <a:off x="640080" y="1097280"/>
            <a:ext cx="7863840" cy="3200400"/>
          </a:xfrm>
          <a:prstGeom prst="rect">
            <a:avLst/>
          </a:prstGeom>
          <a:noFill/>
          <a:ln/>
        </p:spPr>
        <p:txBody>
          <a:bodyPr wrap="square" rtlCol="0" anchor="t"/>
          <a:lstStyle/>
          <a:p>
            <a:pPr marL="342900" indent="-342900">
              <a:lnSpc>
                <a:spcPct val="150000"/>
              </a:lnSpc>
              <a:spcAft>
                <a:spcPts val="800"/>
              </a:spcAft>
              <a:buSzPct val="100000"/>
              <a:buChar char="•"/>
            </a:pPr>
            <a:r>
              <a:rPr lang="en-US" sz="1600" dirty="0">
                <a:solidFill>
                  <a:srgbClr val="2D3748"/>
                </a:solidFill>
                <a:latin typeface="Arial" pitchFamily="34" charset="0"/>
                <a:ea typeface="Arial" pitchFamily="34" charset="-122"/>
                <a:cs typeface="Arial" pitchFamily="34" charset="-120"/>
              </a:rPr>
              <a:t>De twee voorwaarden voor marktevenwicht benoemen (Qv = Qa en MO = MK)</a:t>
            </a:r>
            <a:endParaRPr lang="en-US" sz="1600" dirty="0"/>
          </a:p>
          <a:p>
            <a:pPr marL="342900" indent="-342900">
              <a:lnSpc>
                <a:spcPct val="150000"/>
              </a:lnSpc>
              <a:spcAft>
                <a:spcPts val="800"/>
              </a:spcAft>
              <a:buSzPct val="100000"/>
              <a:buChar char="•"/>
            </a:pPr>
            <a:r>
              <a:rPr lang="en-US" sz="1600" dirty="0">
                <a:solidFill>
                  <a:srgbClr val="2D3748"/>
                </a:solidFill>
                <a:latin typeface="Arial" pitchFamily="34" charset="0"/>
                <a:ea typeface="Arial" pitchFamily="34" charset="-122"/>
                <a:cs typeface="Arial" pitchFamily="34" charset="-120"/>
              </a:rPr>
              <a:t>Uitleggen waarom MO = MK geldt voor alle marktvormen</a:t>
            </a:r>
            <a:endParaRPr lang="en-US" sz="1600" dirty="0"/>
          </a:p>
          <a:p>
            <a:pPr marL="342900" indent="-342900">
              <a:lnSpc>
                <a:spcPct val="150000"/>
              </a:lnSpc>
              <a:spcAft>
                <a:spcPts val="800"/>
              </a:spcAft>
              <a:buSzPct val="100000"/>
              <a:buChar char="•"/>
            </a:pPr>
            <a:r>
              <a:rPr lang="en-US" sz="1600" dirty="0">
                <a:solidFill>
                  <a:srgbClr val="2D3748"/>
                </a:solidFill>
                <a:latin typeface="Arial" pitchFamily="34" charset="0"/>
                <a:ea typeface="Arial" pitchFamily="34" charset="-122"/>
                <a:cs typeface="Arial" pitchFamily="34" charset="-120"/>
              </a:rPr>
              <a:t>Het verschil tussen MO = p en MO &lt; p toepassen</a:t>
            </a:r>
            <a:endParaRPr lang="en-US" sz="1600" dirty="0"/>
          </a:p>
          <a:p>
            <a:pPr marL="342900" indent="-342900">
              <a:lnSpc>
                <a:spcPct val="150000"/>
              </a:lnSpc>
              <a:spcAft>
                <a:spcPts val="800"/>
              </a:spcAft>
              <a:buSzPct val="100000"/>
              <a:buChar char="•"/>
            </a:pPr>
            <a:r>
              <a:rPr lang="en-US" sz="1600" dirty="0">
                <a:solidFill>
                  <a:srgbClr val="2D3748"/>
                </a:solidFill>
                <a:latin typeface="Arial" pitchFamily="34" charset="0"/>
                <a:ea typeface="Arial" pitchFamily="34" charset="-122"/>
                <a:cs typeface="Arial" pitchFamily="34" charset="-120"/>
              </a:rPr>
              <a:t>Marktevenwicht toepassen op de arbeidsmarkt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Voorwaarde 1: Qv = Qa</a:t>
            </a:r>
            <a:endParaRPr lang="en-US" sz="2400" dirty="0"/>
          </a:p>
        </p:txBody>
      </p:sp>
      <p:sp>
        <p:nvSpPr>
          <p:cNvPr id="3" name="Shape 1"/>
          <p:cNvSpPr/>
          <p:nvPr/>
        </p:nvSpPr>
        <p:spPr>
          <a:xfrm>
            <a:off x="457200" y="1005840"/>
            <a:ext cx="8229600" cy="1645920"/>
          </a:xfrm>
          <a:prstGeom prst="rect">
            <a:avLst>
              <a:gd name="adj" fmla="val 2778"/>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1645920"/>
          </a:xfrm>
          <a:prstGeom prst="rect">
            <a:avLst/>
          </a:prstGeom>
          <a:solidFill>
            <a:srgbClr val="1A5276"/>
          </a:solidFill>
          <a:ln/>
        </p:spPr>
      </p:sp>
      <p:sp>
        <p:nvSpPr>
          <p:cNvPr id="5" name="Text 3"/>
          <p:cNvSpPr/>
          <p:nvPr/>
        </p:nvSpPr>
        <p:spPr>
          <a:xfrm>
            <a:off x="640080" y="1143000"/>
            <a:ext cx="790956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Hoeveelheid vraag = Hoeveelheid aanbod</a:t>
            </a:r>
            <a:endParaRPr lang="en-US" sz="2000" dirty="0"/>
          </a:p>
        </p:txBody>
      </p:sp>
      <p:sp>
        <p:nvSpPr>
          <p:cNvPr id="6" name="Text 4"/>
          <p:cNvSpPr/>
          <p:nvPr/>
        </p:nvSpPr>
        <p:spPr>
          <a:xfrm>
            <a:off x="640080" y="1554480"/>
            <a:ext cx="7909560" cy="960120"/>
          </a:xfrm>
          <a:prstGeom prst="rect">
            <a:avLst/>
          </a:prstGeom>
          <a:noFill/>
          <a:ln/>
        </p:spPr>
        <p:txBody>
          <a:bodyPr wrap="square" rtlCol="0" anchor="t"/>
          <a:lstStyle/>
          <a:p>
            <a:pPr algn="l" indent="0" marL="0">
              <a:lnSpc>
                <a:spcPct val="115000"/>
              </a:lnSpc>
              <a:buNone/>
            </a:pPr>
            <a:r>
              <a:rPr lang="en-US" sz="1500" dirty="0">
                <a:solidFill>
                  <a:srgbClr val="2D3748"/>
                </a:solidFill>
                <a:latin typeface="Arial" pitchFamily="34" charset="0"/>
                <a:ea typeface="Arial" pitchFamily="34" charset="-122"/>
                <a:cs typeface="Arial" pitchFamily="34" charset="-120"/>
              </a:rPr>
              <a:t>Op het evenwichtspunt zijn beide partijen tevreden: geen overschot, geen schaarste.
</a:t>
            </a:r>
            <a:pPr algn="l" indent="0" marL="0">
              <a:lnSpc>
                <a:spcPct val="115000"/>
              </a:lnSpc>
              <a:buNone/>
            </a:pPr>
            <a:r>
              <a:rPr lang="en-US" sz="1400" i="1" dirty="0">
                <a:solidFill>
                  <a:srgbClr val="718096"/>
                </a:solidFill>
                <a:latin typeface="Arial" pitchFamily="34" charset="0"/>
                <a:ea typeface="Arial" pitchFamily="34" charset="-122"/>
                <a:cs typeface="Arial" pitchFamily="34" charset="-120"/>
              </a:rPr>
              <a:t>Dit is de eerste voorwaarde voor marktevenwicht.</a:t>
            </a:r>
            <a:endParaRPr lang="en-US" sz="1400" dirty="0"/>
          </a:p>
        </p:txBody>
      </p:sp>
      <p:sp>
        <p:nvSpPr>
          <p:cNvPr id="7" name="Text 5"/>
          <p:cNvSpPr/>
          <p:nvPr/>
        </p:nvSpPr>
        <p:spPr>
          <a:xfrm>
            <a:off x="640080" y="3108960"/>
            <a:ext cx="7863840" cy="457200"/>
          </a:xfrm>
          <a:prstGeom prst="rect">
            <a:avLst/>
          </a:prstGeom>
          <a:noFill/>
          <a:ln/>
        </p:spPr>
        <p:txBody>
          <a:bodyPr wrap="square" rtlCol="0" anchor="ctr"/>
          <a:lstStyle/>
          <a:p>
            <a:pPr indent="0" marL="0">
              <a:buNone/>
            </a:pPr>
            <a:r>
              <a:rPr lang="en-US" sz="1300" i="1" dirty="0">
                <a:solidFill>
                  <a:srgbClr val="718096"/>
                </a:solidFill>
                <a:latin typeface="Arial" pitchFamily="34" charset="0"/>
                <a:ea typeface="Arial" pitchFamily="34" charset="-122"/>
                <a:cs typeface="Arial" pitchFamily="34" charset="-120"/>
              </a:rPr>
              <a:t>Het snijpunt van de vraag- en aanbodcurve bepaalt de evenwichtsprijs en -hoeveelheid.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Voorwaarde 2: MO = MK</a:t>
            </a:r>
            <a:endParaRPr lang="en-US" sz="2400" dirty="0"/>
          </a:p>
        </p:txBody>
      </p:sp>
      <p:sp>
        <p:nvSpPr>
          <p:cNvPr id="3" name="Shape 1"/>
          <p:cNvSpPr/>
          <p:nvPr/>
        </p:nvSpPr>
        <p:spPr>
          <a:xfrm>
            <a:off x="457200" y="1005840"/>
            <a:ext cx="8229600" cy="1463040"/>
          </a:xfrm>
          <a:prstGeom prst="rect">
            <a:avLst>
              <a:gd name="adj" fmla="val 3125"/>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1463040"/>
          </a:xfrm>
          <a:prstGeom prst="rect">
            <a:avLst/>
          </a:prstGeom>
          <a:solidFill>
            <a:srgbClr val="1A5276"/>
          </a:solidFill>
          <a:ln/>
        </p:spPr>
      </p:sp>
      <p:sp>
        <p:nvSpPr>
          <p:cNvPr id="5" name="Text 3"/>
          <p:cNvSpPr/>
          <p:nvPr/>
        </p:nvSpPr>
        <p:spPr>
          <a:xfrm>
            <a:off x="640080" y="1143000"/>
            <a:ext cx="790956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Marginale Opbrengst = Marginale Kosten</a:t>
            </a:r>
            <a:endParaRPr lang="en-US" sz="2000" dirty="0"/>
          </a:p>
        </p:txBody>
      </p:sp>
      <p:sp>
        <p:nvSpPr>
          <p:cNvPr id="6" name="Text 4"/>
          <p:cNvSpPr/>
          <p:nvPr/>
        </p:nvSpPr>
        <p:spPr>
          <a:xfrm>
            <a:off x="640080" y="1554480"/>
            <a:ext cx="7909560" cy="777240"/>
          </a:xfrm>
          <a:prstGeom prst="rect">
            <a:avLst/>
          </a:prstGeom>
          <a:noFill/>
          <a:ln/>
        </p:spPr>
        <p:txBody>
          <a:bodyPr wrap="square" rtlCol="0" anchor="t"/>
          <a:lstStyle/>
          <a:p>
            <a:pPr algn="l" indent="0" marL="0">
              <a:lnSpc>
                <a:spcPct val="115000"/>
              </a:lnSpc>
              <a:buNone/>
            </a:pPr>
            <a:r>
              <a:rPr lang="en-US" sz="1500" dirty="0">
                <a:solidFill>
                  <a:srgbClr val="2D3748"/>
                </a:solidFill>
                <a:latin typeface="Arial" pitchFamily="34" charset="0"/>
                <a:ea typeface="Arial" pitchFamily="34" charset="-122"/>
                <a:cs typeface="Arial" pitchFamily="34" charset="-120"/>
              </a:rPr>
              <a:t>Dit is het winstmaximalisatiepunt voor een producent.</a:t>
            </a:r>
            <a:endParaRPr lang="en-US" sz="1400" dirty="0"/>
          </a:p>
        </p:txBody>
      </p:sp>
      <p:sp>
        <p:nvSpPr>
          <p:cNvPr id="7" name="Shape 5"/>
          <p:cNvSpPr/>
          <p:nvPr/>
        </p:nvSpPr>
        <p:spPr>
          <a:xfrm>
            <a:off x="457200" y="2834640"/>
            <a:ext cx="2606040" cy="1097280"/>
          </a:xfrm>
          <a:prstGeom prst="rect">
            <a:avLst>
              <a:gd name="adj" fmla="val 4167"/>
            </a:avLst>
          </a:prstGeom>
          <a:solidFill>
            <a:srgbClr val="F7F8FA"/>
          </a:solidFill>
          <a:ln/>
          <a:effectLst>
            <a:outerShdw sx="100000" sy="100000" kx="0" ky="0" algn="bl" rotWithShape="0" blurRad="76200" dist="25400" dir="8100000">
              <a:srgbClr val="000000">
                <a:alpha val="10000"/>
              </a:srgbClr>
            </a:outerShdw>
          </a:effectLst>
        </p:spPr>
      </p:sp>
      <p:sp>
        <p:nvSpPr>
          <p:cNvPr id="8" name="Shape 6"/>
          <p:cNvSpPr/>
          <p:nvPr/>
        </p:nvSpPr>
        <p:spPr>
          <a:xfrm>
            <a:off x="457200" y="2834640"/>
            <a:ext cx="54864" cy="1097280"/>
          </a:xfrm>
          <a:prstGeom prst="rect">
            <a:avLst/>
          </a:prstGeom>
          <a:solidFill>
            <a:srgbClr val="1A5276"/>
          </a:solidFill>
          <a:ln/>
        </p:spPr>
      </p:sp>
      <p:sp>
        <p:nvSpPr>
          <p:cNvPr id="9" name="Text 7"/>
          <p:cNvSpPr/>
          <p:nvPr/>
        </p:nvSpPr>
        <p:spPr>
          <a:xfrm>
            <a:off x="594360" y="2880360"/>
            <a:ext cx="2331720" cy="365760"/>
          </a:xfrm>
          <a:prstGeom prst="rect">
            <a:avLst/>
          </a:prstGeom>
          <a:noFill/>
          <a:ln/>
        </p:spPr>
        <p:txBody>
          <a:bodyPr wrap="square" rtlCol="0" anchor="ctr"/>
          <a:lstStyle/>
          <a:p>
            <a:pPr indent="0" marL="0">
              <a:buNone/>
            </a:pPr>
            <a:r>
              <a:rPr lang="en-US" sz="1800" b="1" dirty="0">
                <a:solidFill>
                  <a:srgbClr val="1A5276"/>
                </a:solidFill>
                <a:latin typeface="Arial" pitchFamily="34" charset="0"/>
                <a:ea typeface="Arial" pitchFamily="34" charset="-122"/>
                <a:cs typeface="Arial" pitchFamily="34" charset="-120"/>
              </a:rPr>
              <a:t>MO</a:t>
            </a:r>
            <a:endParaRPr lang="en-US" sz="1800" dirty="0"/>
          </a:p>
        </p:txBody>
      </p:sp>
      <p:sp>
        <p:nvSpPr>
          <p:cNvPr id="10" name="Text 8"/>
          <p:cNvSpPr/>
          <p:nvPr/>
        </p:nvSpPr>
        <p:spPr>
          <a:xfrm>
            <a:off x="594360" y="3246120"/>
            <a:ext cx="2331720" cy="594360"/>
          </a:xfrm>
          <a:prstGeom prst="rect">
            <a:avLst/>
          </a:prstGeom>
          <a:noFill/>
          <a:ln/>
        </p:spPr>
        <p:txBody>
          <a:bodyPr wrap="square" rtlCol="0" anchor="t"/>
          <a:lstStyle/>
          <a:p>
            <a:pPr indent="0" marL="0">
              <a:buNone/>
            </a:pPr>
            <a:r>
              <a:rPr lang="en-US" sz="1300" dirty="0">
                <a:solidFill>
                  <a:srgbClr val="2D3748"/>
                </a:solidFill>
                <a:latin typeface="Arial" pitchFamily="34" charset="0"/>
                <a:ea typeface="Arial" pitchFamily="34" charset="-122"/>
                <a:cs typeface="Arial" pitchFamily="34" charset="-120"/>
              </a:rPr>
              <a:t>Extra opbrengst per extra eenheid</a:t>
            </a:r>
            <a:endParaRPr lang="en-US" sz="1300" dirty="0"/>
          </a:p>
        </p:txBody>
      </p:sp>
      <p:sp>
        <p:nvSpPr>
          <p:cNvPr id="11" name="Shape 9"/>
          <p:cNvSpPr/>
          <p:nvPr/>
        </p:nvSpPr>
        <p:spPr>
          <a:xfrm>
            <a:off x="3246120" y="2834640"/>
            <a:ext cx="2606040" cy="1097280"/>
          </a:xfrm>
          <a:prstGeom prst="rect">
            <a:avLst>
              <a:gd name="adj" fmla="val 4167"/>
            </a:avLst>
          </a:prstGeom>
          <a:solidFill>
            <a:srgbClr val="F7F8FA"/>
          </a:solidFill>
          <a:ln/>
          <a:effectLst>
            <a:outerShdw sx="100000" sy="100000" kx="0" ky="0" algn="bl" rotWithShape="0" blurRad="76200" dist="25400" dir="8100000">
              <a:srgbClr val="000000">
                <a:alpha val="10000"/>
              </a:srgbClr>
            </a:outerShdw>
          </a:effectLst>
        </p:spPr>
      </p:sp>
      <p:sp>
        <p:nvSpPr>
          <p:cNvPr id="12" name="Shape 10"/>
          <p:cNvSpPr/>
          <p:nvPr/>
        </p:nvSpPr>
        <p:spPr>
          <a:xfrm>
            <a:off x="3246120" y="2834640"/>
            <a:ext cx="54864" cy="1097280"/>
          </a:xfrm>
          <a:prstGeom prst="rect">
            <a:avLst/>
          </a:prstGeom>
          <a:solidFill>
            <a:srgbClr val="1A5276"/>
          </a:solidFill>
          <a:ln/>
        </p:spPr>
      </p:sp>
      <p:sp>
        <p:nvSpPr>
          <p:cNvPr id="13" name="Text 11"/>
          <p:cNvSpPr/>
          <p:nvPr/>
        </p:nvSpPr>
        <p:spPr>
          <a:xfrm>
            <a:off x="3383280" y="2880360"/>
            <a:ext cx="2331720" cy="365760"/>
          </a:xfrm>
          <a:prstGeom prst="rect">
            <a:avLst/>
          </a:prstGeom>
          <a:noFill/>
          <a:ln/>
        </p:spPr>
        <p:txBody>
          <a:bodyPr wrap="square" rtlCol="0" anchor="ctr"/>
          <a:lstStyle/>
          <a:p>
            <a:pPr indent="0" marL="0">
              <a:buNone/>
            </a:pPr>
            <a:r>
              <a:rPr lang="en-US" sz="1800" b="1" dirty="0">
                <a:solidFill>
                  <a:srgbClr val="1A5276"/>
                </a:solidFill>
                <a:latin typeface="Arial" pitchFamily="34" charset="0"/>
                <a:ea typeface="Arial" pitchFamily="34" charset="-122"/>
                <a:cs typeface="Arial" pitchFamily="34" charset="-120"/>
              </a:rPr>
              <a:t>MK</a:t>
            </a:r>
            <a:endParaRPr lang="en-US" sz="1800" dirty="0"/>
          </a:p>
        </p:txBody>
      </p:sp>
      <p:sp>
        <p:nvSpPr>
          <p:cNvPr id="14" name="Text 12"/>
          <p:cNvSpPr/>
          <p:nvPr/>
        </p:nvSpPr>
        <p:spPr>
          <a:xfrm>
            <a:off x="3383280" y="3246120"/>
            <a:ext cx="2331720" cy="594360"/>
          </a:xfrm>
          <a:prstGeom prst="rect">
            <a:avLst/>
          </a:prstGeom>
          <a:noFill/>
          <a:ln/>
        </p:spPr>
        <p:txBody>
          <a:bodyPr wrap="square" rtlCol="0" anchor="t"/>
          <a:lstStyle/>
          <a:p>
            <a:pPr indent="0" marL="0">
              <a:buNone/>
            </a:pPr>
            <a:r>
              <a:rPr lang="en-US" sz="1300" dirty="0">
                <a:solidFill>
                  <a:srgbClr val="2D3748"/>
                </a:solidFill>
                <a:latin typeface="Arial" pitchFamily="34" charset="0"/>
                <a:ea typeface="Arial" pitchFamily="34" charset="-122"/>
                <a:cs typeface="Arial" pitchFamily="34" charset="-120"/>
              </a:rPr>
              <a:t>Extra kosten per extra eenheid</a:t>
            </a:r>
            <a:endParaRPr lang="en-US" sz="1300" dirty="0"/>
          </a:p>
        </p:txBody>
      </p:sp>
      <p:sp>
        <p:nvSpPr>
          <p:cNvPr id="15" name="Shape 13"/>
          <p:cNvSpPr/>
          <p:nvPr/>
        </p:nvSpPr>
        <p:spPr>
          <a:xfrm>
            <a:off x="6035040" y="2834640"/>
            <a:ext cx="2606040" cy="1097280"/>
          </a:xfrm>
          <a:prstGeom prst="rect">
            <a:avLst>
              <a:gd name="adj" fmla="val 4167"/>
            </a:avLst>
          </a:prstGeom>
          <a:solidFill>
            <a:srgbClr val="F7F8FA"/>
          </a:solidFill>
          <a:ln/>
          <a:effectLst>
            <a:outerShdw sx="100000" sy="100000" kx="0" ky="0" algn="bl" rotWithShape="0" blurRad="76200" dist="25400" dir="8100000">
              <a:srgbClr val="000000">
                <a:alpha val="10000"/>
              </a:srgbClr>
            </a:outerShdw>
          </a:effectLst>
        </p:spPr>
      </p:sp>
      <p:sp>
        <p:nvSpPr>
          <p:cNvPr id="16" name="Shape 14"/>
          <p:cNvSpPr/>
          <p:nvPr/>
        </p:nvSpPr>
        <p:spPr>
          <a:xfrm>
            <a:off x="6035040" y="2834640"/>
            <a:ext cx="54864" cy="1097280"/>
          </a:xfrm>
          <a:prstGeom prst="rect">
            <a:avLst/>
          </a:prstGeom>
          <a:solidFill>
            <a:srgbClr val="1A5276"/>
          </a:solidFill>
          <a:ln/>
        </p:spPr>
      </p:sp>
      <p:sp>
        <p:nvSpPr>
          <p:cNvPr id="17" name="Text 15"/>
          <p:cNvSpPr/>
          <p:nvPr/>
        </p:nvSpPr>
        <p:spPr>
          <a:xfrm>
            <a:off x="6172200" y="2880360"/>
            <a:ext cx="2331720" cy="365760"/>
          </a:xfrm>
          <a:prstGeom prst="rect">
            <a:avLst/>
          </a:prstGeom>
          <a:noFill/>
          <a:ln/>
        </p:spPr>
        <p:txBody>
          <a:bodyPr wrap="square" rtlCol="0" anchor="ctr"/>
          <a:lstStyle/>
          <a:p>
            <a:pPr indent="0" marL="0">
              <a:buNone/>
            </a:pPr>
            <a:r>
              <a:rPr lang="en-US" sz="1800" b="1" dirty="0">
                <a:solidFill>
                  <a:srgbClr val="1A5276"/>
                </a:solidFill>
                <a:latin typeface="Arial" pitchFamily="34" charset="0"/>
                <a:ea typeface="Arial" pitchFamily="34" charset="-122"/>
                <a:cs typeface="Arial" pitchFamily="34" charset="-120"/>
              </a:rPr>
              <a:t>Optimaal</a:t>
            </a:r>
            <a:endParaRPr lang="en-US" sz="1800" dirty="0"/>
          </a:p>
        </p:txBody>
      </p:sp>
      <p:sp>
        <p:nvSpPr>
          <p:cNvPr id="18" name="Text 16"/>
          <p:cNvSpPr/>
          <p:nvPr/>
        </p:nvSpPr>
        <p:spPr>
          <a:xfrm>
            <a:off x="6172200" y="3246120"/>
            <a:ext cx="2331720" cy="594360"/>
          </a:xfrm>
          <a:prstGeom prst="rect">
            <a:avLst/>
          </a:prstGeom>
          <a:noFill/>
          <a:ln/>
        </p:spPr>
        <p:txBody>
          <a:bodyPr wrap="square" rtlCol="0" anchor="t"/>
          <a:lstStyle/>
          <a:p>
            <a:pPr indent="0" marL="0">
              <a:buNone/>
            </a:pPr>
            <a:r>
              <a:rPr lang="en-US" sz="1300" dirty="0">
                <a:solidFill>
                  <a:srgbClr val="2D3748"/>
                </a:solidFill>
                <a:latin typeface="Arial" pitchFamily="34" charset="0"/>
                <a:ea typeface="Arial" pitchFamily="34" charset="-122"/>
                <a:cs typeface="Arial" pitchFamily="34" charset="-120"/>
              </a:rPr>
              <a:t>Winst is maximaal wanneer MO = MK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Waarom MO = MK?</a:t>
            </a:r>
            <a:endParaRPr lang="en-US" sz="24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800" b="1" dirty="0">
                <a:solidFill>
                  <a:srgbClr val="1A5276"/>
                </a:solidFill>
                <a:latin typeface="Arial" pitchFamily="34" charset="0"/>
                <a:ea typeface="Arial" pitchFamily="34" charset="-122"/>
                <a:cs typeface="Arial" pitchFamily="34" charset="-120"/>
              </a:rPr>
              <a:t>Beslissingslogica van de producent:</a:t>
            </a:r>
            <a:endParaRPr lang="en-US" sz="1800" dirty="0"/>
          </a:p>
        </p:txBody>
      </p:sp>
      <p:sp>
        <p:nvSpPr>
          <p:cNvPr id="4" name="Shape 2"/>
          <p:cNvSpPr/>
          <p:nvPr/>
        </p:nvSpPr>
        <p:spPr>
          <a:xfrm>
            <a:off x="1371600" y="1463040"/>
            <a:ext cx="6400800" cy="594360"/>
          </a:xfrm>
          <a:prstGeom prst="rect">
            <a:avLst>
              <a:gd name="adj" fmla="val 7692"/>
            </a:avLst>
          </a:prstGeom>
          <a:solidFill>
            <a:srgbClr val="E8F8F0"/>
          </a:solidFill>
          <a:ln/>
          <a:effectLst>
            <a:outerShdw sx="100000" sy="100000" kx="0" ky="0" algn="bl" rotWithShape="0" blurRad="76200" dist="25400" dir="8100000">
              <a:srgbClr val="000000">
                <a:alpha val="10000"/>
              </a:srgbClr>
            </a:outerShdw>
          </a:effectLst>
        </p:spPr>
      </p:sp>
      <p:sp>
        <p:nvSpPr>
          <p:cNvPr id="5" name="Text 3"/>
          <p:cNvSpPr/>
          <p:nvPr/>
        </p:nvSpPr>
        <p:spPr>
          <a:xfrm>
            <a:off x="1554480" y="1463040"/>
            <a:ext cx="6035040" cy="594360"/>
          </a:xfrm>
          <a:prstGeom prst="rect">
            <a:avLst/>
          </a:prstGeom>
          <a:noFill/>
          <a:ln/>
        </p:spPr>
        <p:txBody>
          <a:bodyPr wrap="square" rtlCol="0" anchor="ctr"/>
          <a:lstStyle/>
          <a:p>
            <a:pPr indent="0" marL="0">
              <a:buNone/>
            </a:pPr>
            <a:r>
              <a:rPr lang="en-US" sz="1800" b="1" dirty="0">
                <a:solidFill>
                  <a:srgbClr val="1E8449"/>
                </a:solidFill>
                <a:latin typeface="Arial" pitchFamily="34" charset="0"/>
                <a:ea typeface="Arial" pitchFamily="34" charset="-122"/>
                <a:cs typeface="Arial" pitchFamily="34" charset="-120"/>
              </a:rPr>
              <a:t>MO &gt; MK  →  Produceer meer!</a:t>
            </a:r>
            <a:endParaRPr lang="en-US" sz="1800" dirty="0"/>
          </a:p>
        </p:txBody>
      </p:sp>
      <p:sp>
        <p:nvSpPr>
          <p:cNvPr id="6" name="Text 4"/>
          <p:cNvSpPr/>
          <p:nvPr/>
        </p:nvSpPr>
        <p:spPr>
          <a:xfrm>
            <a:off x="1371600" y="2057400"/>
            <a:ext cx="6400800" cy="182880"/>
          </a:xfrm>
          <a:prstGeom prst="rect">
            <a:avLst/>
          </a:prstGeom>
          <a:noFill/>
          <a:ln/>
        </p:spPr>
        <p:txBody>
          <a:bodyPr wrap="square" rtlCol="0" anchor="ctr"/>
          <a:lstStyle/>
          <a:p>
            <a:pPr algn="ctr" indent="0" marL="0">
              <a:buNone/>
            </a:pPr>
            <a:r>
              <a:rPr lang="en-US" sz="1400" dirty="0">
                <a:solidFill>
                  <a:srgbClr val="718096"/>
                </a:solidFill>
                <a:latin typeface="Arial" pitchFamily="34" charset="0"/>
                <a:ea typeface="Arial" pitchFamily="34" charset="-122"/>
                <a:cs typeface="Arial" pitchFamily="34" charset="-120"/>
              </a:rPr>
              <a:t>↓</a:t>
            </a:r>
            <a:endParaRPr lang="en-US" sz="1400" dirty="0"/>
          </a:p>
        </p:txBody>
      </p:sp>
      <p:sp>
        <p:nvSpPr>
          <p:cNvPr id="7" name="Shape 5"/>
          <p:cNvSpPr/>
          <p:nvPr/>
        </p:nvSpPr>
        <p:spPr>
          <a:xfrm>
            <a:off x="1371600" y="2240280"/>
            <a:ext cx="6400800" cy="594360"/>
          </a:xfrm>
          <a:prstGeom prst="rect">
            <a:avLst>
              <a:gd name="adj" fmla="val 7692"/>
            </a:avLst>
          </a:prstGeom>
          <a:solidFill>
            <a:srgbClr val="FDE8E8"/>
          </a:solidFill>
          <a:ln/>
          <a:effectLst>
            <a:outerShdw sx="100000" sy="100000" kx="0" ky="0" algn="bl" rotWithShape="0" blurRad="76200" dist="25400" dir="8100000">
              <a:srgbClr val="000000">
                <a:alpha val="10000"/>
              </a:srgbClr>
            </a:outerShdw>
          </a:effectLst>
        </p:spPr>
      </p:sp>
      <p:sp>
        <p:nvSpPr>
          <p:cNvPr id="8" name="Text 6"/>
          <p:cNvSpPr/>
          <p:nvPr/>
        </p:nvSpPr>
        <p:spPr>
          <a:xfrm>
            <a:off x="1554480" y="2240280"/>
            <a:ext cx="6035040" cy="594360"/>
          </a:xfrm>
          <a:prstGeom prst="rect">
            <a:avLst/>
          </a:prstGeom>
          <a:noFill/>
          <a:ln/>
        </p:spPr>
        <p:txBody>
          <a:bodyPr wrap="square" rtlCol="0" anchor="ctr"/>
          <a:lstStyle/>
          <a:p>
            <a:pPr indent="0" marL="0">
              <a:buNone/>
            </a:pPr>
            <a:r>
              <a:rPr lang="en-US" sz="1800" b="1" dirty="0">
                <a:solidFill>
                  <a:srgbClr val="D9534F"/>
                </a:solidFill>
                <a:latin typeface="Arial" pitchFamily="34" charset="0"/>
                <a:ea typeface="Arial" pitchFamily="34" charset="-122"/>
                <a:cs typeface="Arial" pitchFamily="34" charset="-120"/>
              </a:rPr>
              <a:t>MO &lt; MK  →  Stop met produceren!</a:t>
            </a:r>
            <a:endParaRPr lang="en-US" sz="1800" dirty="0"/>
          </a:p>
        </p:txBody>
      </p:sp>
      <p:sp>
        <p:nvSpPr>
          <p:cNvPr id="9" name="Text 7"/>
          <p:cNvSpPr/>
          <p:nvPr/>
        </p:nvSpPr>
        <p:spPr>
          <a:xfrm>
            <a:off x="1371600" y="2834640"/>
            <a:ext cx="6400800" cy="182880"/>
          </a:xfrm>
          <a:prstGeom prst="rect">
            <a:avLst/>
          </a:prstGeom>
          <a:noFill/>
          <a:ln/>
        </p:spPr>
        <p:txBody>
          <a:bodyPr wrap="square" rtlCol="0" anchor="ctr"/>
          <a:lstStyle/>
          <a:p>
            <a:pPr algn="ctr" indent="0" marL="0">
              <a:buNone/>
            </a:pPr>
            <a:r>
              <a:rPr lang="en-US" sz="1400" dirty="0">
                <a:solidFill>
                  <a:srgbClr val="718096"/>
                </a:solidFill>
                <a:latin typeface="Arial" pitchFamily="34" charset="0"/>
                <a:ea typeface="Arial" pitchFamily="34" charset="-122"/>
                <a:cs typeface="Arial" pitchFamily="34" charset="-120"/>
              </a:rPr>
              <a:t>↓</a:t>
            </a:r>
            <a:endParaRPr lang="en-US" sz="1400" dirty="0"/>
          </a:p>
        </p:txBody>
      </p:sp>
      <p:sp>
        <p:nvSpPr>
          <p:cNvPr id="10" name="Shape 8"/>
          <p:cNvSpPr/>
          <p:nvPr/>
        </p:nvSpPr>
        <p:spPr>
          <a:xfrm>
            <a:off x="1371600" y="3017520"/>
            <a:ext cx="6400800" cy="594360"/>
          </a:xfrm>
          <a:prstGeom prst="rect">
            <a:avLst>
              <a:gd name="adj" fmla="val 7692"/>
            </a:avLst>
          </a:prstGeom>
          <a:solidFill>
            <a:srgbClr val="1A5276"/>
          </a:solidFill>
          <a:ln/>
          <a:effectLst>
            <a:outerShdw sx="100000" sy="100000" kx="0" ky="0" algn="bl" rotWithShape="0" blurRad="76200" dist="25400" dir="8100000">
              <a:srgbClr val="000000">
                <a:alpha val="10000"/>
              </a:srgbClr>
            </a:outerShdw>
          </a:effectLst>
        </p:spPr>
      </p:sp>
      <p:sp>
        <p:nvSpPr>
          <p:cNvPr id="11" name="Text 9"/>
          <p:cNvSpPr/>
          <p:nvPr/>
        </p:nvSpPr>
        <p:spPr>
          <a:xfrm>
            <a:off x="1554480" y="3017520"/>
            <a:ext cx="6035040" cy="59436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MO = MK  →  Optimaal! Winst is maximaal</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Volledige mededinging: MO = p</a:t>
            </a:r>
            <a:endParaRPr lang="en-US" sz="2400" dirty="0"/>
          </a:p>
        </p:txBody>
      </p:sp>
      <p:sp>
        <p:nvSpPr>
          <p:cNvPr id="3" name="Shape 1"/>
          <p:cNvSpPr/>
          <p:nvPr/>
        </p:nvSpPr>
        <p:spPr>
          <a:xfrm>
            <a:off x="457200" y="1005840"/>
            <a:ext cx="3931920" cy="3017520"/>
          </a:xfrm>
          <a:prstGeom prst="rect">
            <a:avLst>
              <a:gd name="adj" fmla="val 1515"/>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3017520"/>
          </a:xfrm>
          <a:prstGeom prst="rect">
            <a:avLst/>
          </a:prstGeom>
          <a:solidFill>
            <a:srgbClr val="1A5276"/>
          </a:solidFill>
          <a:ln/>
        </p:spPr>
      </p:sp>
      <p:sp>
        <p:nvSpPr>
          <p:cNvPr id="5" name="Text 3"/>
          <p:cNvSpPr/>
          <p:nvPr/>
        </p:nvSpPr>
        <p:spPr>
          <a:xfrm>
            <a:off x="640080" y="1143000"/>
            <a:ext cx="361188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Prijsnemer (price taker)</a:t>
            </a:r>
            <a:endParaRPr lang="en-US" sz="2000" dirty="0"/>
          </a:p>
        </p:txBody>
      </p:sp>
      <p:sp>
        <p:nvSpPr>
          <p:cNvPr id="6" name="Text 4"/>
          <p:cNvSpPr/>
          <p:nvPr/>
        </p:nvSpPr>
        <p:spPr>
          <a:xfrm>
            <a:off x="640080" y="1554480"/>
            <a:ext cx="3611880" cy="233172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Het bedrijf is zo klein dat het de prijs niet kan beïnvloeden.
</a:t>
            </a:r>
            <a:pPr algn="l" indent="0" marL="0">
              <a:lnSpc>
                <a:spcPct val="115000"/>
              </a:lnSpc>
              <a:buNone/>
            </a:pPr>
            <a:r>
              <a:rPr lang="en-US" sz="1400" b="1" dirty="0">
                <a:solidFill>
                  <a:srgbClr val="2D3748"/>
                </a:solidFill>
                <a:latin typeface="Arial" pitchFamily="34" charset="0"/>
                <a:ea typeface="Arial" pitchFamily="34" charset="-122"/>
                <a:cs typeface="Arial" pitchFamily="34" charset="-120"/>
              </a:rPr>
              <a:t>Marginale opbrengst = marktprijs
</a:t>
            </a:r>
            <a:pPr algn="l" indent="0" marL="0">
              <a:lnSpc>
                <a:spcPct val="115000"/>
              </a:lnSpc>
              <a:buNone/>
            </a:pPr>
            <a:r>
              <a:rPr lang="en-US" sz="1400" dirty="0">
                <a:solidFill>
                  <a:srgbClr val="1A5276"/>
                </a:solidFill>
                <a:latin typeface="Consolas" pitchFamily="34" charset="0"/>
                <a:ea typeface="Consolas" pitchFamily="34" charset="-122"/>
                <a:cs typeface="Consolas" pitchFamily="34" charset="-120"/>
              </a:rPr>
              <a:t>MO = p (horizontale MO-curve)
</a:t>
            </a:r>
            <a:pPr algn="l" indent="0" marL="0">
              <a:lnSpc>
                <a:spcPct val="115000"/>
              </a:lnSpc>
              <a:buNone/>
            </a:pPr>
            <a:r>
              <a:rPr lang="en-US" sz="1300" i="1" dirty="0">
                <a:solidFill>
                  <a:srgbClr val="718096"/>
                </a:solidFill>
                <a:latin typeface="Arial" pitchFamily="34" charset="0"/>
                <a:ea typeface="Arial" pitchFamily="34" charset="-122"/>
                <a:cs typeface="Arial" pitchFamily="34" charset="-120"/>
              </a:rPr>
              <a:t>Voorbeeld: boer op de groentemarkt</a:t>
            </a:r>
            <a:endParaRPr lang="en-US" sz="1400" dirty="0"/>
          </a:p>
        </p:txBody>
      </p:sp>
      <p:sp>
        <p:nvSpPr>
          <p:cNvPr id="7" name="Shape 5"/>
          <p:cNvSpPr/>
          <p:nvPr/>
        </p:nvSpPr>
        <p:spPr>
          <a:xfrm>
            <a:off x="4754880" y="1005840"/>
            <a:ext cx="3931920" cy="3017520"/>
          </a:xfrm>
          <a:prstGeom prst="rect">
            <a:avLst>
              <a:gd name="adj" fmla="val 1515"/>
            </a:avLst>
          </a:prstGeom>
          <a:solidFill>
            <a:srgbClr val="F7F8FA"/>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1005840"/>
            <a:ext cx="54864" cy="3017520"/>
          </a:xfrm>
          <a:prstGeom prst="rect">
            <a:avLst/>
          </a:prstGeom>
          <a:solidFill>
            <a:srgbClr val="1A5276"/>
          </a:solidFill>
          <a:ln/>
        </p:spPr>
      </p:sp>
      <p:sp>
        <p:nvSpPr>
          <p:cNvPr id="9" name="Text 7"/>
          <p:cNvSpPr/>
          <p:nvPr/>
        </p:nvSpPr>
        <p:spPr>
          <a:xfrm>
            <a:off x="4937760" y="1143000"/>
            <a:ext cx="3611880" cy="365760"/>
          </a:xfrm>
          <a:prstGeom prst="rect">
            <a:avLst/>
          </a:prstGeom>
          <a:noFill/>
          <a:ln/>
        </p:spPr>
        <p:txBody>
          <a:bodyPr wrap="square" rtlCol="0" anchor="t"/>
          <a:lstStyle/>
          <a:p>
            <a:pPr indent="0" marL="0">
              <a:buNone/>
            </a:pPr>
            <a:r>
              <a:rPr lang="en-US" sz="2000" b="1" dirty="0">
                <a:solidFill>
                  <a:srgbClr val="154360"/>
                </a:solidFill>
                <a:latin typeface="Arial" pitchFamily="34" charset="0"/>
                <a:ea typeface="Arial" pitchFamily="34" charset="-122"/>
                <a:cs typeface="Arial" pitchFamily="34" charset="-120"/>
              </a:rPr>
              <a:t>Waarom?</a:t>
            </a:r>
            <a:endParaRPr lang="en-US" sz="2000" dirty="0"/>
          </a:p>
        </p:txBody>
      </p:sp>
      <p:sp>
        <p:nvSpPr>
          <p:cNvPr id="10" name="Text 8"/>
          <p:cNvSpPr/>
          <p:nvPr/>
        </p:nvSpPr>
        <p:spPr>
          <a:xfrm>
            <a:off x="4937760" y="1554480"/>
            <a:ext cx="3611880" cy="233172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Eén boer verkoopt 100 kilo aardappelen.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De marktprijs is €2 per kilo.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Of hij nu 100 of 101 kilo verkoopt, de prijs blijft €2.
</a:t>
            </a:r>
            <a:pPr algn="l" indent="0" marL="0">
              <a:lnSpc>
                <a:spcPct val="115000"/>
              </a:lnSpc>
              <a:buNone/>
            </a:pPr>
            <a:r>
              <a:rPr lang="en-US" sz="1400" b="1" dirty="0">
                <a:solidFill>
                  <a:srgbClr val="1A5276"/>
                </a:solidFill>
                <a:latin typeface="Consolas" pitchFamily="34" charset="0"/>
                <a:ea typeface="Consolas" pitchFamily="34" charset="-122"/>
                <a:cs typeface="Consolas" pitchFamily="34" charset="-120"/>
              </a:rPr>
              <a:t>Dus: MO = p = €2</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Monopolie/Oligopolie: MO &lt; p</a:t>
            </a:r>
            <a:endParaRPr lang="en-US" sz="2400" dirty="0"/>
          </a:p>
        </p:txBody>
      </p:sp>
      <p:sp>
        <p:nvSpPr>
          <p:cNvPr id="3" name="Shape 1"/>
          <p:cNvSpPr/>
          <p:nvPr/>
        </p:nvSpPr>
        <p:spPr>
          <a:xfrm>
            <a:off x="457200" y="1005840"/>
            <a:ext cx="3931920" cy="3017520"/>
          </a:xfrm>
          <a:prstGeom prst="rect">
            <a:avLst>
              <a:gd name="adj" fmla="val 1515"/>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3017520"/>
          </a:xfrm>
          <a:prstGeom prst="rect">
            <a:avLst/>
          </a:prstGeom>
          <a:solidFill>
            <a:srgbClr val="E67E22"/>
          </a:solidFill>
          <a:ln/>
        </p:spPr>
      </p:sp>
      <p:sp>
        <p:nvSpPr>
          <p:cNvPr id="5" name="Text 3"/>
          <p:cNvSpPr/>
          <p:nvPr/>
        </p:nvSpPr>
        <p:spPr>
          <a:xfrm>
            <a:off x="640080" y="1143000"/>
            <a:ext cx="3611880" cy="365760"/>
          </a:xfrm>
          <a:prstGeom prst="rect">
            <a:avLst/>
          </a:prstGeom>
          <a:noFill/>
          <a:ln/>
        </p:spPr>
        <p:txBody>
          <a:bodyPr wrap="square" rtlCol="0" anchor="t"/>
          <a:lstStyle/>
          <a:p>
            <a:pPr indent="0" marL="0">
              <a:buNone/>
            </a:pPr>
            <a:r>
              <a:rPr lang="en-US" sz="2000" b="1" dirty="0">
                <a:solidFill>
                  <a:srgbClr val="E67E22"/>
                </a:solidFill>
                <a:latin typeface="Arial" pitchFamily="34" charset="0"/>
                <a:ea typeface="Arial" pitchFamily="34" charset="-122"/>
                <a:cs typeface="Arial" pitchFamily="34" charset="-120"/>
              </a:rPr>
              <a:t>Prijszetter (price maker)</a:t>
            </a:r>
            <a:endParaRPr lang="en-US" sz="2000" dirty="0"/>
          </a:p>
        </p:txBody>
      </p:sp>
      <p:sp>
        <p:nvSpPr>
          <p:cNvPr id="6" name="Text 4"/>
          <p:cNvSpPr/>
          <p:nvPr/>
        </p:nvSpPr>
        <p:spPr>
          <a:xfrm>
            <a:off x="640080" y="1554480"/>
            <a:ext cx="3611880" cy="233172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Het bedrijf is groot genoeg om de prijs te beïnvloeden.
</a:t>
            </a:r>
            <a:pPr algn="l" indent="0" marL="0">
              <a:lnSpc>
                <a:spcPct val="115000"/>
              </a:lnSpc>
              <a:buNone/>
            </a:pPr>
            <a:r>
              <a:rPr lang="en-US" sz="1400" b="1" dirty="0">
                <a:solidFill>
                  <a:srgbClr val="2D3748"/>
                </a:solidFill>
                <a:latin typeface="Arial" pitchFamily="34" charset="0"/>
                <a:ea typeface="Arial" pitchFamily="34" charset="-122"/>
                <a:cs typeface="Arial" pitchFamily="34" charset="-120"/>
              </a:rPr>
              <a:t>Meer verkoop = lagere prijs
</a:t>
            </a:r>
            <a:pPr algn="l" indent="0" marL="0">
              <a:lnSpc>
                <a:spcPct val="115000"/>
              </a:lnSpc>
              <a:buNone/>
            </a:pPr>
            <a:r>
              <a:rPr lang="en-US" sz="1400" dirty="0">
                <a:solidFill>
                  <a:srgbClr val="E67E22"/>
                </a:solidFill>
                <a:latin typeface="Consolas" pitchFamily="34" charset="0"/>
                <a:ea typeface="Consolas" pitchFamily="34" charset="-122"/>
                <a:cs typeface="Consolas" pitchFamily="34" charset="-120"/>
              </a:rPr>
              <a:t>MO &lt; p (dalende MO-curve)
</a:t>
            </a:r>
            <a:pPr algn="l" indent="0" marL="0">
              <a:lnSpc>
                <a:spcPct val="115000"/>
              </a:lnSpc>
              <a:buNone/>
            </a:pPr>
            <a:r>
              <a:rPr lang="en-US" sz="1300" i="1" dirty="0">
                <a:solidFill>
                  <a:srgbClr val="718096"/>
                </a:solidFill>
                <a:latin typeface="Arial" pitchFamily="34" charset="0"/>
                <a:ea typeface="Arial" pitchFamily="34" charset="-122"/>
                <a:cs typeface="Arial" pitchFamily="34" charset="-120"/>
              </a:rPr>
              <a:t>Voorbeeld: telefoonprovider</a:t>
            </a:r>
            <a:endParaRPr lang="en-US" sz="1400" dirty="0"/>
          </a:p>
        </p:txBody>
      </p:sp>
      <p:sp>
        <p:nvSpPr>
          <p:cNvPr id="7" name="Shape 5"/>
          <p:cNvSpPr/>
          <p:nvPr/>
        </p:nvSpPr>
        <p:spPr>
          <a:xfrm>
            <a:off x="4754880" y="1005840"/>
            <a:ext cx="3931920" cy="3017520"/>
          </a:xfrm>
          <a:prstGeom prst="rect">
            <a:avLst>
              <a:gd name="adj" fmla="val 1515"/>
            </a:avLst>
          </a:prstGeom>
          <a:solidFill>
            <a:srgbClr val="F7F8FA"/>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1005840"/>
            <a:ext cx="54864" cy="3017520"/>
          </a:xfrm>
          <a:prstGeom prst="rect">
            <a:avLst/>
          </a:prstGeom>
          <a:solidFill>
            <a:srgbClr val="E67E22"/>
          </a:solidFill>
          <a:ln/>
        </p:spPr>
      </p:sp>
      <p:sp>
        <p:nvSpPr>
          <p:cNvPr id="9" name="Text 7"/>
          <p:cNvSpPr/>
          <p:nvPr/>
        </p:nvSpPr>
        <p:spPr>
          <a:xfrm>
            <a:off x="4937760" y="1143000"/>
            <a:ext cx="3611880" cy="365760"/>
          </a:xfrm>
          <a:prstGeom prst="rect">
            <a:avLst/>
          </a:prstGeom>
          <a:noFill/>
          <a:ln/>
        </p:spPr>
        <p:txBody>
          <a:bodyPr wrap="square" rtlCol="0" anchor="t"/>
          <a:lstStyle/>
          <a:p>
            <a:pPr indent="0" marL="0">
              <a:buNone/>
            </a:pPr>
            <a:r>
              <a:rPr lang="en-US" sz="2000" b="1" dirty="0">
                <a:solidFill>
                  <a:srgbClr val="BA6A1C"/>
                </a:solidFill>
                <a:latin typeface="Arial" pitchFamily="34" charset="0"/>
                <a:ea typeface="Arial" pitchFamily="34" charset="-122"/>
                <a:cs typeface="Arial" pitchFamily="34" charset="-120"/>
              </a:rPr>
              <a:t>Waarom MO &lt; p?</a:t>
            </a:r>
            <a:endParaRPr lang="en-US" sz="2000" dirty="0"/>
          </a:p>
        </p:txBody>
      </p:sp>
      <p:sp>
        <p:nvSpPr>
          <p:cNvPr id="10" name="Text 8"/>
          <p:cNvSpPr/>
          <p:nvPr/>
        </p:nvSpPr>
        <p:spPr>
          <a:xfrm>
            <a:off x="4937760" y="1554480"/>
            <a:ext cx="3611880" cy="233172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Om meer te verkopen moet de monopolist de prijs verlagen.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Die lagere prijs geldt ook voor alle vorige eenheden.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De extra opbrengst (MO) is dus lager dan de verkoopprijs (p).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Vergelijking: MO = p vs MO &lt; p</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005840"/>
          <a:ext cx="7863840" cy="914400"/>
        </p:xfrm>
        <a:graphic>
          <a:graphicData uri="http://schemas.openxmlformats.org/drawingml/2006/table">
            <a:tbl>
              <a:tblPr/>
              <a:tblGrid>
                <a:gridCol w="2286000"/>
                <a:gridCol w="2788920"/>
                <a:gridCol w="2788920"/>
              </a:tblGrid>
              <a:tr h="0">
                <a:tc>
                  <a:txBody>
                    <a:bodyPr/>
                    <a:lstStyle/>
                    <a:p>
                      <a:pPr indent="0" marL="0">
                        <a:buNone/>
                      </a:pPr>
                      <a:endParaRPr lang="en-US" sz="14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Volledige mededinging</a:t>
                      </a:r>
                      <a:endParaRPr lang="en-US" sz="14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Monopolie / Oligopolie</a:t>
                      </a:r>
                      <a:endParaRPr lang="en-US" sz="14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E2761"/>
                    </a:solidFill>
                  </a:tcPr>
                </a:tc>
              </a:tr>
              <a:tr h="0">
                <a:tc>
                  <a:txBody>
                    <a:bodyPr/>
                    <a:lstStyle/>
                    <a:p>
                      <a:pPr indent="0" marL="0">
                        <a:buNone/>
                      </a:pPr>
                      <a:r>
                        <a:rPr lang="en-US" sz="1300" b="1" dirty="0">
                          <a:solidFill>
                            <a:srgbClr val="000000"/>
                          </a:solidFill>
                          <a:latin typeface="Arial" pitchFamily="34" charset="0"/>
                          <a:ea typeface="Arial" pitchFamily="34" charset="-122"/>
                          <a:cs typeface="Arial" pitchFamily="34" charset="-120"/>
                        </a:rPr>
                        <a:t>Prijsgedrag</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Prijsnemer</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Prijszetter</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r>
              <a:tr h="0">
                <a:tc>
                  <a:txBody>
                    <a:bodyPr/>
                    <a:lstStyle/>
                    <a:p>
                      <a:pPr indent="0" marL="0">
                        <a:buNone/>
                      </a:pPr>
                      <a:r>
                        <a:rPr lang="en-US" sz="1300" b="1" dirty="0">
                          <a:solidFill>
                            <a:srgbClr val="000000"/>
                          </a:solidFill>
                          <a:latin typeface="Arial" pitchFamily="34" charset="0"/>
                          <a:ea typeface="Arial" pitchFamily="34" charset="-122"/>
                          <a:cs typeface="Arial" pitchFamily="34" charset="-120"/>
                        </a:rPr>
                        <a:t>MO-curve</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Horizontaal (MO = p)</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Dalend (MO &lt; p)</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0">
                <a:tc>
                  <a:txBody>
                    <a:bodyPr/>
                    <a:lstStyle/>
                    <a:p>
                      <a:pPr indent="0" marL="0">
                        <a:buNone/>
                      </a:pPr>
                      <a:r>
                        <a:rPr lang="en-US" sz="1300" b="1" dirty="0">
                          <a:solidFill>
                            <a:srgbClr val="000000"/>
                          </a:solidFill>
                          <a:latin typeface="Arial" pitchFamily="34" charset="0"/>
                          <a:ea typeface="Arial" pitchFamily="34" charset="-122"/>
                          <a:cs typeface="Arial" pitchFamily="34" charset="-120"/>
                        </a:rPr>
                        <a:t>Winstmax</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MO = MK (= p)</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MO = MK (≠ p)</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r>
              <a:tr h="0">
                <a:tc>
                  <a:txBody>
                    <a:bodyPr/>
                    <a:lstStyle/>
                    <a:p>
                      <a:pPr indent="0" marL="0">
                        <a:buNone/>
                      </a:pPr>
                      <a:r>
                        <a:rPr lang="en-US" sz="1300" b="1" dirty="0">
                          <a:solidFill>
                            <a:srgbClr val="000000"/>
                          </a:solidFill>
                          <a:latin typeface="Arial" pitchFamily="34" charset="0"/>
                          <a:ea typeface="Arial" pitchFamily="34" charset="-122"/>
                          <a:cs typeface="Arial" pitchFamily="34" charset="-120"/>
                        </a:rPr>
                        <a:t>Voorbeeld</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Boer, groentemarkt</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Telecomprovider, NS</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bl>
          </a:graphicData>
        </a:graphic>
      </p:graphicFrame>
      <p:sp>
        <p:nvSpPr>
          <p:cNvPr id="4" name="Shape 1"/>
          <p:cNvSpPr/>
          <p:nvPr/>
        </p:nvSpPr>
        <p:spPr>
          <a:xfrm>
            <a:off x="640080" y="3383280"/>
            <a:ext cx="7863840" cy="822960"/>
          </a:xfrm>
          <a:prstGeom prst="rect">
            <a:avLst>
              <a:gd name="adj" fmla="val 5556"/>
            </a:avLst>
          </a:prstGeom>
          <a:solidFill>
            <a:srgbClr val="EBF5FB"/>
          </a:solidFill>
          <a:ln/>
          <a:effectLst>
            <a:outerShdw sx="100000" sy="100000" kx="0" ky="0" algn="bl" rotWithShape="0" blurRad="76200" dist="25400" dir="8100000">
              <a:srgbClr val="000000">
                <a:alpha val="10000"/>
              </a:srgbClr>
            </a:outerShdw>
          </a:effectLst>
        </p:spPr>
      </p:sp>
      <p:sp>
        <p:nvSpPr>
          <p:cNvPr id="5" name="Shape 2"/>
          <p:cNvSpPr/>
          <p:nvPr/>
        </p:nvSpPr>
        <p:spPr>
          <a:xfrm>
            <a:off x="640080" y="3383280"/>
            <a:ext cx="54864" cy="822960"/>
          </a:xfrm>
          <a:prstGeom prst="rect">
            <a:avLst/>
          </a:prstGeom>
          <a:solidFill>
            <a:srgbClr val="1A5276"/>
          </a:solidFill>
          <a:ln/>
        </p:spPr>
      </p:sp>
      <p:sp>
        <p:nvSpPr>
          <p:cNvPr id="6" name="Text 3"/>
          <p:cNvSpPr/>
          <p:nvPr/>
        </p:nvSpPr>
        <p:spPr>
          <a:xfrm>
            <a:off x="822960" y="3383280"/>
            <a:ext cx="7498080" cy="822960"/>
          </a:xfrm>
          <a:prstGeom prst="rect">
            <a:avLst/>
          </a:prstGeom>
          <a:noFill/>
          <a:ln/>
        </p:spPr>
        <p:txBody>
          <a:bodyPr wrap="square" rtlCol="0" anchor="ctr"/>
          <a:lstStyle/>
          <a:p>
            <a:pPr indent="0" marL="0">
              <a:buNone/>
            </a:pPr>
            <a:r>
              <a:rPr lang="en-US" sz="1500" b="1" dirty="0">
                <a:solidFill>
                  <a:srgbClr val="1A5276"/>
                </a:solidFill>
                <a:latin typeface="Arial" pitchFamily="34" charset="0"/>
                <a:ea typeface="Arial" pitchFamily="34" charset="-122"/>
                <a:cs typeface="Arial" pitchFamily="34" charset="-120"/>
              </a:rPr>
              <a:t>Kernpunt: </a:t>
            </a:r>
            <a:pPr indent="0" marL="0">
              <a:buNone/>
            </a:pPr>
            <a:r>
              <a:rPr lang="en-US" sz="1500" dirty="0">
                <a:solidFill>
                  <a:srgbClr val="2D3748"/>
                </a:solidFill>
                <a:latin typeface="Arial" pitchFamily="34" charset="0"/>
                <a:ea typeface="Arial" pitchFamily="34" charset="-122"/>
                <a:cs typeface="Arial" pitchFamily="34" charset="-120"/>
              </a:rPr>
              <a:t>MO = MK geldt in BEIDE gevallen! Het verschil zit in de relatie tussen MO en p.</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Toepassing: de arbeidsmarkt</a:t>
            </a:r>
            <a:endParaRPr lang="en-US" sz="2400" dirty="0"/>
          </a:p>
        </p:txBody>
      </p:sp>
      <p:sp>
        <p:nvSpPr>
          <p:cNvPr id="3" name="Shape 1"/>
          <p:cNvSpPr/>
          <p:nvPr/>
        </p:nvSpPr>
        <p:spPr>
          <a:xfrm>
            <a:off x="457200" y="1005840"/>
            <a:ext cx="8229600" cy="1280160"/>
          </a:xfrm>
          <a:prstGeom prst="rect">
            <a:avLst>
              <a:gd name="adj" fmla="val 3571"/>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1280160"/>
          </a:xfrm>
          <a:prstGeom prst="rect">
            <a:avLst/>
          </a:prstGeom>
          <a:solidFill>
            <a:srgbClr val="1A5276"/>
          </a:solidFill>
          <a:ln/>
        </p:spPr>
      </p:sp>
      <p:sp>
        <p:nvSpPr>
          <p:cNvPr id="5" name="Text 3"/>
          <p:cNvSpPr/>
          <p:nvPr/>
        </p:nvSpPr>
        <p:spPr>
          <a:xfrm>
            <a:off x="640080" y="1143000"/>
            <a:ext cx="790956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Loon = prijs van arbeid</a:t>
            </a:r>
            <a:endParaRPr lang="en-US" sz="2000" dirty="0"/>
          </a:p>
        </p:txBody>
      </p:sp>
      <p:sp>
        <p:nvSpPr>
          <p:cNvPr id="6" name="Text 4"/>
          <p:cNvSpPr/>
          <p:nvPr/>
        </p:nvSpPr>
        <p:spPr>
          <a:xfrm>
            <a:off x="640080" y="1554480"/>
            <a:ext cx="7909560" cy="594360"/>
          </a:xfrm>
          <a:prstGeom prst="rect">
            <a:avLst/>
          </a:prstGeom>
          <a:noFill/>
          <a:ln/>
        </p:spPr>
        <p:txBody>
          <a:bodyPr wrap="square" rtlCol="0" anchor="t"/>
          <a:lstStyle/>
          <a:p>
            <a:pPr algn="l" indent="0" marL="0">
              <a:lnSpc>
                <a:spcPct val="115000"/>
              </a:lnSpc>
              <a:buNone/>
            </a:pPr>
            <a:r>
              <a:rPr lang="en-US" sz="1500" dirty="0">
                <a:solidFill>
                  <a:srgbClr val="2D3748"/>
                </a:solidFill>
                <a:latin typeface="Arial" pitchFamily="34" charset="0"/>
                <a:ea typeface="Arial" pitchFamily="34" charset="-122"/>
                <a:cs typeface="Arial" pitchFamily="34" charset="-120"/>
              </a:rPr>
              <a:t>Op de arbeidsmarkt werkt hetzelfde mechanisme: vraag en aanbod bepalen het evenwichtsloon.</a:t>
            </a:r>
            <a:endParaRPr lang="en-US" sz="1400" dirty="0"/>
          </a:p>
        </p:txBody>
      </p:sp>
      <p:sp>
        <p:nvSpPr>
          <p:cNvPr id="7" name="Shape 5"/>
          <p:cNvSpPr/>
          <p:nvPr/>
        </p:nvSpPr>
        <p:spPr>
          <a:xfrm>
            <a:off x="457200" y="2560320"/>
            <a:ext cx="3931920" cy="1645920"/>
          </a:xfrm>
          <a:prstGeom prst="rect">
            <a:avLst>
              <a:gd name="adj" fmla="val 2778"/>
            </a:avLst>
          </a:prstGeom>
          <a:solidFill>
            <a:srgbClr val="F7F8FA"/>
          </a:solidFill>
          <a:ln/>
          <a:effectLst>
            <a:outerShdw sx="100000" sy="100000" kx="0" ky="0" algn="bl" rotWithShape="0" blurRad="76200" dist="25400" dir="8100000">
              <a:srgbClr val="000000">
                <a:alpha val="10000"/>
              </a:srgbClr>
            </a:outerShdw>
          </a:effectLst>
        </p:spPr>
      </p:sp>
      <p:sp>
        <p:nvSpPr>
          <p:cNvPr id="8" name="Shape 6"/>
          <p:cNvSpPr/>
          <p:nvPr/>
        </p:nvSpPr>
        <p:spPr>
          <a:xfrm>
            <a:off x="457200" y="2560320"/>
            <a:ext cx="54864" cy="1645920"/>
          </a:xfrm>
          <a:prstGeom prst="rect">
            <a:avLst/>
          </a:prstGeom>
          <a:solidFill>
            <a:srgbClr val="1A5276"/>
          </a:solidFill>
          <a:ln/>
        </p:spPr>
      </p:sp>
      <p:sp>
        <p:nvSpPr>
          <p:cNvPr id="9" name="Text 7"/>
          <p:cNvSpPr/>
          <p:nvPr/>
        </p:nvSpPr>
        <p:spPr>
          <a:xfrm>
            <a:off x="640080" y="2697480"/>
            <a:ext cx="3611880" cy="365760"/>
          </a:xfrm>
          <a:prstGeom prst="rect">
            <a:avLst/>
          </a:prstGeom>
          <a:noFill/>
          <a:ln/>
        </p:spPr>
        <p:txBody>
          <a:bodyPr wrap="square" rtlCol="0" anchor="t"/>
          <a:lstStyle/>
          <a:p>
            <a:pPr indent="0" marL="0">
              <a:buNone/>
            </a:pPr>
            <a:r>
              <a:rPr lang="en-US" sz="2000" b="1" dirty="0">
                <a:solidFill>
                  <a:srgbClr val="154360"/>
                </a:solidFill>
                <a:latin typeface="Arial" pitchFamily="34" charset="0"/>
                <a:ea typeface="Arial" pitchFamily="34" charset="-122"/>
                <a:cs typeface="Arial" pitchFamily="34" charset="-120"/>
              </a:rPr>
              <a:t>Aanbodcurve</a:t>
            </a:r>
            <a:endParaRPr lang="en-US" sz="2000" dirty="0"/>
          </a:p>
        </p:txBody>
      </p:sp>
      <p:sp>
        <p:nvSpPr>
          <p:cNvPr id="10" name="Text 8"/>
          <p:cNvSpPr/>
          <p:nvPr/>
        </p:nvSpPr>
        <p:spPr>
          <a:xfrm>
            <a:off x="640080" y="3108960"/>
            <a:ext cx="3611880" cy="96012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Meer loon → meer mensen willen werken</a:t>
            </a:r>
            <a:endParaRPr lang="en-US" sz="1400" dirty="0"/>
          </a:p>
        </p:txBody>
      </p:sp>
      <p:sp>
        <p:nvSpPr>
          <p:cNvPr id="11" name="Shape 9"/>
          <p:cNvSpPr/>
          <p:nvPr/>
        </p:nvSpPr>
        <p:spPr>
          <a:xfrm>
            <a:off x="4754880" y="2560320"/>
            <a:ext cx="3931920" cy="1645920"/>
          </a:xfrm>
          <a:prstGeom prst="rect">
            <a:avLst>
              <a:gd name="adj" fmla="val 2778"/>
            </a:avLst>
          </a:prstGeom>
          <a:solidFill>
            <a:srgbClr val="F7F8FA"/>
          </a:solidFill>
          <a:ln/>
          <a:effectLst>
            <a:outerShdw sx="100000" sy="100000" kx="0" ky="0" algn="bl" rotWithShape="0" blurRad="76200" dist="25400" dir="8100000">
              <a:srgbClr val="000000">
                <a:alpha val="10000"/>
              </a:srgbClr>
            </a:outerShdw>
          </a:effectLst>
        </p:spPr>
      </p:sp>
      <p:sp>
        <p:nvSpPr>
          <p:cNvPr id="12" name="Shape 10"/>
          <p:cNvSpPr/>
          <p:nvPr/>
        </p:nvSpPr>
        <p:spPr>
          <a:xfrm>
            <a:off x="4754880" y="2560320"/>
            <a:ext cx="54864" cy="1645920"/>
          </a:xfrm>
          <a:prstGeom prst="rect">
            <a:avLst/>
          </a:prstGeom>
          <a:solidFill>
            <a:srgbClr val="1A5276"/>
          </a:solidFill>
          <a:ln/>
        </p:spPr>
      </p:sp>
      <p:sp>
        <p:nvSpPr>
          <p:cNvPr id="13" name="Text 11"/>
          <p:cNvSpPr/>
          <p:nvPr/>
        </p:nvSpPr>
        <p:spPr>
          <a:xfrm>
            <a:off x="4937760" y="2697480"/>
            <a:ext cx="3611880" cy="365760"/>
          </a:xfrm>
          <a:prstGeom prst="rect">
            <a:avLst/>
          </a:prstGeom>
          <a:noFill/>
          <a:ln/>
        </p:spPr>
        <p:txBody>
          <a:bodyPr wrap="square" rtlCol="0" anchor="t"/>
          <a:lstStyle/>
          <a:p>
            <a:pPr indent="0" marL="0">
              <a:buNone/>
            </a:pPr>
            <a:r>
              <a:rPr lang="en-US" sz="2000" b="1" dirty="0">
                <a:solidFill>
                  <a:srgbClr val="154360"/>
                </a:solidFill>
                <a:latin typeface="Arial" pitchFamily="34" charset="0"/>
                <a:ea typeface="Arial" pitchFamily="34" charset="-122"/>
                <a:cs typeface="Arial" pitchFamily="34" charset="-120"/>
              </a:rPr>
              <a:t>Vraagcurve</a:t>
            </a:r>
            <a:endParaRPr lang="en-US" sz="2000" dirty="0"/>
          </a:p>
        </p:txBody>
      </p:sp>
      <p:sp>
        <p:nvSpPr>
          <p:cNvPr id="14" name="Text 12"/>
          <p:cNvSpPr/>
          <p:nvPr/>
        </p:nvSpPr>
        <p:spPr>
          <a:xfrm>
            <a:off x="4937760" y="3108960"/>
            <a:ext cx="3611880" cy="96012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Meer loon → bedrijven willen minder mensen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Verstoringen van het evenwicht</a:t>
            </a:r>
            <a:endParaRPr lang="en-US" sz="2400" dirty="0"/>
          </a:p>
        </p:txBody>
      </p:sp>
      <p:sp>
        <p:nvSpPr>
          <p:cNvPr id="3" name="Shape 1"/>
          <p:cNvSpPr/>
          <p:nvPr/>
        </p:nvSpPr>
        <p:spPr>
          <a:xfrm>
            <a:off x="457200" y="1005840"/>
            <a:ext cx="3931920" cy="3200400"/>
          </a:xfrm>
          <a:prstGeom prst="rect">
            <a:avLst>
              <a:gd name="adj" fmla="val 1429"/>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3200400"/>
          </a:xfrm>
          <a:prstGeom prst="rect">
            <a:avLst/>
          </a:prstGeom>
          <a:solidFill>
            <a:srgbClr val="E67E22"/>
          </a:solidFill>
          <a:ln/>
        </p:spPr>
      </p:sp>
      <p:sp>
        <p:nvSpPr>
          <p:cNvPr id="5" name="Text 3"/>
          <p:cNvSpPr/>
          <p:nvPr/>
        </p:nvSpPr>
        <p:spPr>
          <a:xfrm>
            <a:off x="640080" y="1143000"/>
            <a:ext cx="3611880" cy="365760"/>
          </a:xfrm>
          <a:prstGeom prst="rect">
            <a:avLst/>
          </a:prstGeom>
          <a:noFill/>
          <a:ln/>
        </p:spPr>
        <p:txBody>
          <a:bodyPr wrap="square" rtlCol="0" anchor="t"/>
          <a:lstStyle/>
          <a:p>
            <a:pPr indent="0" marL="0">
              <a:buNone/>
            </a:pPr>
            <a:r>
              <a:rPr lang="en-US" sz="2000" b="1" dirty="0">
                <a:solidFill>
                  <a:srgbClr val="E67E22"/>
                </a:solidFill>
                <a:latin typeface="Arial" pitchFamily="34" charset="0"/>
                <a:ea typeface="Arial" pitchFamily="34" charset="-122"/>
                <a:cs typeface="Arial" pitchFamily="34" charset="-120"/>
              </a:rPr>
              <a:t>Technologische verandering</a:t>
            </a:r>
            <a:endParaRPr lang="en-US" sz="2000" dirty="0"/>
          </a:p>
        </p:txBody>
      </p:sp>
      <p:sp>
        <p:nvSpPr>
          <p:cNvPr id="6" name="Text 4"/>
          <p:cNvSpPr/>
          <p:nvPr/>
        </p:nvSpPr>
        <p:spPr>
          <a:xfrm>
            <a:off x="640080" y="1554480"/>
            <a:ext cx="3611880" cy="251460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Robots → vraag naar arbeid verschuift naar links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Bedrijven hebben minder arbeiders nodig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Evenwichtsloon daalt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Sommige arbeiders raken zonder werk</a:t>
            </a:r>
            <a:endParaRPr lang="en-US" sz="1400" dirty="0"/>
          </a:p>
        </p:txBody>
      </p:sp>
      <p:sp>
        <p:nvSpPr>
          <p:cNvPr id="7" name="Shape 5"/>
          <p:cNvSpPr/>
          <p:nvPr/>
        </p:nvSpPr>
        <p:spPr>
          <a:xfrm>
            <a:off x="4754880" y="1005840"/>
            <a:ext cx="3931920" cy="3200400"/>
          </a:xfrm>
          <a:prstGeom prst="rect">
            <a:avLst>
              <a:gd name="adj" fmla="val 1429"/>
            </a:avLst>
          </a:prstGeom>
          <a:solidFill>
            <a:srgbClr val="F9F6F1"/>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1005840"/>
            <a:ext cx="54864" cy="3200400"/>
          </a:xfrm>
          <a:prstGeom prst="rect">
            <a:avLst/>
          </a:prstGeom>
          <a:solidFill>
            <a:srgbClr val="D9534F"/>
          </a:solidFill>
          <a:ln/>
        </p:spPr>
      </p:sp>
      <p:sp>
        <p:nvSpPr>
          <p:cNvPr id="9" name="Text 7"/>
          <p:cNvSpPr/>
          <p:nvPr/>
        </p:nvSpPr>
        <p:spPr>
          <a:xfrm>
            <a:off x="4937760" y="1143000"/>
            <a:ext cx="3611880" cy="365760"/>
          </a:xfrm>
          <a:prstGeom prst="rect">
            <a:avLst/>
          </a:prstGeom>
          <a:noFill/>
          <a:ln/>
        </p:spPr>
        <p:txBody>
          <a:bodyPr wrap="square" rtlCol="0" anchor="t"/>
          <a:lstStyle/>
          <a:p>
            <a:pPr indent="0" marL="0">
              <a:buNone/>
            </a:pPr>
            <a:r>
              <a:rPr lang="en-US" sz="2000" b="1" dirty="0">
                <a:solidFill>
                  <a:srgbClr val="D9534F"/>
                </a:solidFill>
                <a:latin typeface="Arial" pitchFamily="34" charset="0"/>
                <a:ea typeface="Arial" pitchFamily="34" charset="-122"/>
                <a:cs typeface="Arial" pitchFamily="34" charset="-120"/>
              </a:rPr>
              <a:t>Wettelijk minimumloon</a:t>
            </a:r>
            <a:endParaRPr lang="en-US" sz="2000" dirty="0"/>
          </a:p>
        </p:txBody>
      </p:sp>
      <p:sp>
        <p:nvSpPr>
          <p:cNvPr id="10" name="Text 8"/>
          <p:cNvSpPr/>
          <p:nvPr/>
        </p:nvSpPr>
        <p:spPr>
          <a:xfrm>
            <a:off x="4937760" y="1554480"/>
            <a:ext cx="3611880" cy="251460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Minimumloon boven evenwicht → werkloosheid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Aanbod: meer mensen willen werken (hoger loon)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Vraag: bedrijven willen minder (hoger loon)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Verschil = werkloosheid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Soorten werkloosheid</a:t>
            </a:r>
            <a:endParaRPr lang="en-US" sz="2400" dirty="0"/>
          </a:p>
        </p:txBody>
      </p:sp>
      <p:sp>
        <p:nvSpPr>
          <p:cNvPr id="3" name="Shape 1"/>
          <p:cNvSpPr/>
          <p:nvPr/>
        </p:nvSpPr>
        <p:spPr>
          <a:xfrm>
            <a:off x="457200" y="1005840"/>
            <a:ext cx="3931920" cy="2926080"/>
          </a:xfrm>
          <a:prstGeom prst="rect">
            <a:avLst>
              <a:gd name="adj" fmla="val 1563"/>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2926080"/>
          </a:xfrm>
          <a:prstGeom prst="rect">
            <a:avLst/>
          </a:prstGeom>
          <a:solidFill>
            <a:srgbClr val="1A5276"/>
          </a:solidFill>
          <a:ln/>
        </p:spPr>
      </p:sp>
      <p:sp>
        <p:nvSpPr>
          <p:cNvPr id="5" name="Text 3"/>
          <p:cNvSpPr/>
          <p:nvPr/>
        </p:nvSpPr>
        <p:spPr>
          <a:xfrm>
            <a:off x="640080" y="1143000"/>
            <a:ext cx="361188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Structurele werkloosheid</a:t>
            </a:r>
            <a:endParaRPr lang="en-US" sz="2000" dirty="0"/>
          </a:p>
        </p:txBody>
      </p:sp>
      <p:sp>
        <p:nvSpPr>
          <p:cNvPr id="6" name="Text 4"/>
          <p:cNvSpPr/>
          <p:nvPr/>
        </p:nvSpPr>
        <p:spPr>
          <a:xfrm>
            <a:off x="640080" y="1554480"/>
            <a:ext cx="3611880" cy="224028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Vaardigheden matchen niet met de vraag.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 Duurt lang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Oorzaak: technologische verandering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Oplossing: omscholing, onderwijs</a:t>
            </a:r>
            <a:endParaRPr lang="en-US" sz="1400" dirty="0"/>
          </a:p>
        </p:txBody>
      </p:sp>
      <p:sp>
        <p:nvSpPr>
          <p:cNvPr id="7" name="Shape 5"/>
          <p:cNvSpPr/>
          <p:nvPr/>
        </p:nvSpPr>
        <p:spPr>
          <a:xfrm>
            <a:off x="4754880" y="1005840"/>
            <a:ext cx="3931920" cy="2926080"/>
          </a:xfrm>
          <a:prstGeom prst="rect">
            <a:avLst>
              <a:gd name="adj" fmla="val 1563"/>
            </a:avLst>
          </a:prstGeom>
          <a:solidFill>
            <a:srgbClr val="F9F6F1"/>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1005840"/>
            <a:ext cx="54864" cy="2926080"/>
          </a:xfrm>
          <a:prstGeom prst="rect">
            <a:avLst/>
          </a:prstGeom>
          <a:solidFill>
            <a:srgbClr val="E67E22"/>
          </a:solidFill>
          <a:ln/>
        </p:spPr>
      </p:sp>
      <p:sp>
        <p:nvSpPr>
          <p:cNvPr id="9" name="Text 7"/>
          <p:cNvSpPr/>
          <p:nvPr/>
        </p:nvSpPr>
        <p:spPr>
          <a:xfrm>
            <a:off x="4937760" y="1143000"/>
            <a:ext cx="3611880" cy="365760"/>
          </a:xfrm>
          <a:prstGeom prst="rect">
            <a:avLst/>
          </a:prstGeom>
          <a:noFill/>
          <a:ln/>
        </p:spPr>
        <p:txBody>
          <a:bodyPr wrap="square" rtlCol="0" anchor="t"/>
          <a:lstStyle/>
          <a:p>
            <a:pPr indent="0" marL="0">
              <a:buNone/>
            </a:pPr>
            <a:r>
              <a:rPr lang="en-US" sz="2000" b="1" dirty="0">
                <a:solidFill>
                  <a:srgbClr val="E67E22"/>
                </a:solidFill>
                <a:latin typeface="Arial" pitchFamily="34" charset="0"/>
                <a:ea typeface="Arial" pitchFamily="34" charset="-122"/>
                <a:cs typeface="Arial" pitchFamily="34" charset="-120"/>
              </a:rPr>
              <a:t>Conjuncturele werkloosheid</a:t>
            </a:r>
            <a:endParaRPr lang="en-US" sz="2000" dirty="0"/>
          </a:p>
        </p:txBody>
      </p:sp>
      <p:sp>
        <p:nvSpPr>
          <p:cNvPr id="10" name="Text 8"/>
          <p:cNvSpPr/>
          <p:nvPr/>
        </p:nvSpPr>
        <p:spPr>
          <a:xfrm>
            <a:off x="4937760" y="1554480"/>
            <a:ext cx="3611880" cy="224028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Economie draait slecht → veel ontslagen.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 Tijdelijk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Oorzaak: recessie, dalende bestedingen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Verdwijnt als economie aantrekt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Veelgemaakte fouten</a:t>
            </a:r>
            <a:endParaRPr lang="en-US" sz="2400" dirty="0"/>
          </a:p>
        </p:txBody>
      </p:sp>
      <p:sp>
        <p:nvSpPr>
          <p:cNvPr id="3" name="Shape 1"/>
          <p:cNvSpPr/>
          <p:nvPr/>
        </p:nvSpPr>
        <p:spPr>
          <a:xfrm>
            <a:off x="457200" y="960120"/>
            <a:ext cx="8229600" cy="960120"/>
          </a:xfrm>
          <a:prstGeom prst="rect">
            <a:avLst>
              <a:gd name="adj" fmla="val 4762"/>
            </a:avLst>
          </a:prstGeom>
          <a:solidFill>
            <a:srgbClr val="FDE8E8"/>
          </a:solidFill>
          <a:ln/>
          <a:effectLst>
            <a:outerShdw sx="100000" sy="100000" kx="0" ky="0" algn="bl" rotWithShape="0" blurRad="76200" dist="25400" dir="8100000">
              <a:srgbClr val="000000">
                <a:alpha val="10000"/>
              </a:srgbClr>
            </a:outerShdw>
          </a:effectLst>
        </p:spPr>
      </p:sp>
      <p:sp>
        <p:nvSpPr>
          <p:cNvPr id="4" name="Shape 2"/>
          <p:cNvSpPr/>
          <p:nvPr/>
        </p:nvSpPr>
        <p:spPr>
          <a:xfrm>
            <a:off x="457200" y="960120"/>
            <a:ext cx="54864" cy="960120"/>
          </a:xfrm>
          <a:prstGeom prst="rect">
            <a:avLst/>
          </a:prstGeom>
          <a:solidFill>
            <a:srgbClr val="D9534F"/>
          </a:solidFill>
          <a:ln/>
        </p:spPr>
      </p:sp>
      <p:sp>
        <p:nvSpPr>
          <p:cNvPr id="5" name="Text 3"/>
          <p:cNvSpPr/>
          <p:nvPr/>
        </p:nvSpPr>
        <p:spPr>
          <a:xfrm>
            <a:off x="658368" y="1033272"/>
            <a:ext cx="7863840" cy="320040"/>
          </a:xfrm>
          <a:prstGeom prst="rect">
            <a:avLst/>
          </a:prstGeom>
          <a:noFill/>
          <a:ln/>
        </p:spPr>
        <p:txBody>
          <a:bodyPr wrap="square" rtlCol="0" anchor="ctr"/>
          <a:lstStyle/>
          <a:p>
            <a:pPr indent="0" marL="0">
              <a:buNone/>
            </a:pPr>
            <a:r>
              <a:rPr lang="en-US" sz="1400" b="1" dirty="0">
                <a:solidFill>
                  <a:srgbClr val="D9534F"/>
                </a:solidFill>
                <a:latin typeface="Arial" pitchFamily="34" charset="0"/>
                <a:ea typeface="Arial" pitchFamily="34" charset="-122"/>
                <a:cs typeface="Arial" pitchFamily="34" charset="-120"/>
              </a:rPr>
              <a:t>"MO = MK geldt alleen bij volledige mededinging"</a:t>
            </a:r>
            <a:endParaRPr lang="en-US" sz="1400" dirty="0"/>
          </a:p>
        </p:txBody>
      </p:sp>
      <p:sp>
        <p:nvSpPr>
          <p:cNvPr id="6" name="Text 4"/>
          <p:cNvSpPr/>
          <p:nvPr/>
        </p:nvSpPr>
        <p:spPr>
          <a:xfrm>
            <a:off x="658368" y="1344168"/>
            <a:ext cx="7863840" cy="502920"/>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Onjuist! MO = MK geldt voor alle marktvormen. Het is altijd het winstmaximalisatiepunt.</a:t>
            </a:r>
            <a:endParaRPr lang="en-US" sz="1300" dirty="0"/>
          </a:p>
        </p:txBody>
      </p:sp>
      <p:sp>
        <p:nvSpPr>
          <p:cNvPr id="7" name="Shape 5"/>
          <p:cNvSpPr/>
          <p:nvPr/>
        </p:nvSpPr>
        <p:spPr>
          <a:xfrm>
            <a:off x="457200" y="2103120"/>
            <a:ext cx="8229600" cy="960120"/>
          </a:xfrm>
          <a:prstGeom prst="rect">
            <a:avLst>
              <a:gd name="adj" fmla="val 4762"/>
            </a:avLst>
          </a:prstGeom>
          <a:solidFill>
            <a:srgbClr val="FDE8E8"/>
          </a:solidFill>
          <a:ln/>
          <a:effectLst>
            <a:outerShdw sx="100000" sy="100000" kx="0" ky="0" algn="bl" rotWithShape="0" blurRad="76200" dist="25400" dir="8100000">
              <a:srgbClr val="000000">
                <a:alpha val="10000"/>
              </a:srgbClr>
            </a:outerShdw>
          </a:effectLst>
        </p:spPr>
      </p:sp>
      <p:sp>
        <p:nvSpPr>
          <p:cNvPr id="8" name="Shape 6"/>
          <p:cNvSpPr/>
          <p:nvPr/>
        </p:nvSpPr>
        <p:spPr>
          <a:xfrm>
            <a:off x="457200" y="2103120"/>
            <a:ext cx="54864" cy="960120"/>
          </a:xfrm>
          <a:prstGeom prst="rect">
            <a:avLst/>
          </a:prstGeom>
          <a:solidFill>
            <a:srgbClr val="D9534F"/>
          </a:solidFill>
          <a:ln/>
        </p:spPr>
      </p:sp>
      <p:sp>
        <p:nvSpPr>
          <p:cNvPr id="9" name="Text 7"/>
          <p:cNvSpPr/>
          <p:nvPr/>
        </p:nvSpPr>
        <p:spPr>
          <a:xfrm>
            <a:off x="658368" y="2176272"/>
            <a:ext cx="7863840" cy="320040"/>
          </a:xfrm>
          <a:prstGeom prst="rect">
            <a:avLst/>
          </a:prstGeom>
          <a:noFill/>
          <a:ln/>
        </p:spPr>
        <p:txBody>
          <a:bodyPr wrap="square" rtlCol="0" anchor="ctr"/>
          <a:lstStyle/>
          <a:p>
            <a:pPr indent="0" marL="0">
              <a:buNone/>
            </a:pPr>
            <a:r>
              <a:rPr lang="en-US" sz="1400" b="1" dirty="0">
                <a:solidFill>
                  <a:srgbClr val="D9534F"/>
                </a:solidFill>
                <a:latin typeface="Arial" pitchFamily="34" charset="0"/>
                <a:ea typeface="Arial" pitchFamily="34" charset="-122"/>
                <a:cs typeface="Arial" pitchFamily="34" charset="-120"/>
              </a:rPr>
              <a:t>"Evenwicht = eerlijk of optimaal"</a:t>
            </a:r>
            <a:endParaRPr lang="en-US" sz="1400" dirty="0"/>
          </a:p>
        </p:txBody>
      </p:sp>
      <p:sp>
        <p:nvSpPr>
          <p:cNvPr id="10" name="Text 8"/>
          <p:cNvSpPr/>
          <p:nvPr/>
        </p:nvSpPr>
        <p:spPr>
          <a:xfrm>
            <a:off x="658368" y="2487168"/>
            <a:ext cx="7863840" cy="502920"/>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Nee, evenwicht is economisch neutraal — het zegt niets over rechtvaardigheid.</a:t>
            </a:r>
            <a:endParaRPr lang="en-US" sz="1300" dirty="0"/>
          </a:p>
        </p:txBody>
      </p:sp>
      <p:sp>
        <p:nvSpPr>
          <p:cNvPr id="11" name="Shape 9"/>
          <p:cNvSpPr/>
          <p:nvPr/>
        </p:nvSpPr>
        <p:spPr>
          <a:xfrm>
            <a:off x="457200" y="3246120"/>
            <a:ext cx="8229600" cy="960120"/>
          </a:xfrm>
          <a:prstGeom prst="rect">
            <a:avLst>
              <a:gd name="adj" fmla="val 4762"/>
            </a:avLst>
          </a:prstGeom>
          <a:solidFill>
            <a:srgbClr val="FDE8E8"/>
          </a:solidFill>
          <a:ln/>
          <a:effectLst>
            <a:outerShdw sx="100000" sy="100000" kx="0" ky="0" algn="bl" rotWithShape="0" blurRad="76200" dist="25400" dir="8100000">
              <a:srgbClr val="000000">
                <a:alpha val="10000"/>
              </a:srgbClr>
            </a:outerShdw>
          </a:effectLst>
        </p:spPr>
      </p:sp>
      <p:sp>
        <p:nvSpPr>
          <p:cNvPr id="12" name="Shape 10"/>
          <p:cNvSpPr/>
          <p:nvPr/>
        </p:nvSpPr>
        <p:spPr>
          <a:xfrm>
            <a:off x="457200" y="3246120"/>
            <a:ext cx="54864" cy="960120"/>
          </a:xfrm>
          <a:prstGeom prst="rect">
            <a:avLst/>
          </a:prstGeom>
          <a:solidFill>
            <a:srgbClr val="D9534F"/>
          </a:solidFill>
          <a:ln/>
        </p:spPr>
      </p:sp>
      <p:sp>
        <p:nvSpPr>
          <p:cNvPr id="13" name="Text 11"/>
          <p:cNvSpPr/>
          <p:nvPr/>
        </p:nvSpPr>
        <p:spPr>
          <a:xfrm>
            <a:off x="658368" y="3319272"/>
            <a:ext cx="7863840" cy="320040"/>
          </a:xfrm>
          <a:prstGeom prst="rect">
            <a:avLst/>
          </a:prstGeom>
          <a:noFill/>
          <a:ln/>
        </p:spPr>
        <p:txBody>
          <a:bodyPr wrap="square" rtlCol="0" anchor="ctr"/>
          <a:lstStyle/>
          <a:p>
            <a:pPr indent="0" marL="0">
              <a:buNone/>
            </a:pPr>
            <a:r>
              <a:rPr lang="en-US" sz="1400" b="1" dirty="0">
                <a:solidFill>
                  <a:srgbClr val="D9534F"/>
                </a:solidFill>
                <a:latin typeface="Arial" pitchFamily="34" charset="0"/>
                <a:ea typeface="Arial" pitchFamily="34" charset="-122"/>
                <a:cs typeface="Arial" pitchFamily="34" charset="-120"/>
              </a:rPr>
              <a:t>"MO = p in alle marktvormen"</a:t>
            </a:r>
            <a:endParaRPr lang="en-US" sz="1400" dirty="0"/>
          </a:p>
        </p:txBody>
      </p:sp>
      <p:sp>
        <p:nvSpPr>
          <p:cNvPr id="14" name="Text 12"/>
          <p:cNvSpPr/>
          <p:nvPr/>
        </p:nvSpPr>
        <p:spPr>
          <a:xfrm>
            <a:off x="658368" y="3630168"/>
            <a:ext cx="7863840" cy="502920"/>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Nee, alleen bij volledige mededinging. Bij monopolie/oligopolie: MO &lt; p.</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457200"/>
            <a:ext cx="786384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Samenvatting</a:t>
            </a:r>
            <a:endParaRPr lang="en-US" sz="2800" dirty="0"/>
          </a:p>
        </p:txBody>
      </p:sp>
      <p:sp>
        <p:nvSpPr>
          <p:cNvPr id="3" name="Text 1"/>
          <p:cNvSpPr/>
          <p:nvPr/>
        </p:nvSpPr>
        <p:spPr>
          <a:xfrm>
            <a:off x="640080" y="1051560"/>
            <a:ext cx="7863840" cy="365760"/>
          </a:xfrm>
          <a:prstGeom prst="rect">
            <a:avLst/>
          </a:prstGeom>
          <a:noFill/>
          <a:ln/>
        </p:spPr>
        <p:txBody>
          <a:bodyPr wrap="square" rtlCol="0" anchor="ctr"/>
          <a:lstStyle/>
          <a:p>
            <a:pPr indent="0" marL="0">
              <a:buNone/>
            </a:pPr>
            <a:r>
              <a:rPr lang="en-US" sz="1400" i="1" dirty="0">
                <a:solidFill>
                  <a:srgbClr val="718096"/>
                </a:solidFill>
                <a:latin typeface="Arial" pitchFamily="34" charset="0"/>
                <a:ea typeface="Arial" pitchFamily="34" charset="-122"/>
                <a:cs typeface="Arial" pitchFamily="34" charset="-120"/>
              </a:rPr>
              <a:t>Beheers je dit voordat je gaat oefenen?</a:t>
            </a:r>
            <a:endParaRPr lang="en-US" sz="1400" dirty="0"/>
          </a:p>
        </p:txBody>
      </p:sp>
      <p:sp>
        <p:nvSpPr>
          <p:cNvPr id="4" name="Text 2"/>
          <p:cNvSpPr/>
          <p:nvPr/>
        </p:nvSpPr>
        <p:spPr>
          <a:xfrm>
            <a:off x="640080" y="1554480"/>
            <a:ext cx="7863840" cy="2926080"/>
          </a:xfrm>
          <a:prstGeom prst="rect">
            <a:avLst/>
          </a:prstGeom>
          <a:noFill/>
          <a:ln/>
        </p:spPr>
        <p:txBody>
          <a:bodyPr wrap="square" rtlCol="0" anchor="t"/>
          <a:lstStyle/>
          <a:p>
            <a:pPr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Marktevenwicht: Qv = Qa én MO = MK</a:t>
            </a:r>
            <a:endParaRPr lang="en-US" sz="1500" dirty="0"/>
          </a:p>
          <a:p>
            <a:pPr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MO = MK is winstmaximalisatie (alle marktvormen)</a:t>
            </a:r>
            <a:endParaRPr lang="en-US" sz="1500" dirty="0"/>
          </a:p>
          <a:p>
            <a:pPr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Volledige mededinging: MO = p (prijsnemer)</a:t>
            </a:r>
            <a:endParaRPr lang="en-US" sz="1500" dirty="0"/>
          </a:p>
          <a:p>
            <a:pPr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Monopolie/Oligopolie: MO &lt; p (prijszetter)</a:t>
            </a:r>
            <a:endParaRPr lang="en-US" sz="1500" dirty="0"/>
          </a:p>
          <a:p>
            <a:pPr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Arbeidsmarkt: loon regelt vraag en aanbod</a:t>
            </a:r>
            <a:endParaRPr lang="en-US" sz="1500" dirty="0"/>
          </a:p>
          <a:p>
            <a:pPr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Verstoringen (minimumloon, robots) → werkloosheid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Marktevenwicht</dc:title>
  <dc:subject>PptxGenJS Presentation</dc:subject>
  <dc:creator>Economie VWO</dc:creator>
  <cp:lastModifiedBy>Economie VWO</cp:lastModifiedBy>
  <cp:revision>1</cp:revision>
  <dcterms:created xsi:type="dcterms:W3CDTF">2026-03-23T10:08:16Z</dcterms:created>
  <dcterms:modified xsi:type="dcterms:W3CDTF">2026-03-23T10:08:16Z</dcterms:modified>
</cp:coreProperties>
</file>