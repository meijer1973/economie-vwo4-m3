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Welkom bij paragraaf 3.2.1 over marktevenwicht. We behandelen de twee voorwaarden voor evenwicht, de logica van MO = MK, en passen dit toe op de arbeidsmarkt.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zijn de vier leerdoelen. Na deze les kunnen leerlingen de voorwaarden voor evenwicht benoemen, MO = MK toepassen, en het verschil tussen prijsnemers en prijszetters uitleggen.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eerste voorwaarde is dat de gevraagde hoeveelheid gelijk is aan de aangeboden hoeveelheid. Op dat punt is er geen overschot en geen tekort.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de grafiek is het marktevenwicht het snijpunt van V en A. Hier lees je p* en Q* af. Dit is voorwaarde 1: Qv = Qa.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tweede voorwaarde is MO = MK. MO is de extra opbrengst van één extra eenheid, MK de extra kosten. Zolang MO &gt; MK loont het om meer te produceren. Pas bij MO = MK is de winst maximaal.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is de kernlogica. Als MO groter is dan MK, verdien je meer dan het kost: produceer meer. Als MO kleiner is, verlies je op de laatste eenheid: stop. Bij MO = MK is de winst maximaal. Dit geldt voor alle marktvormen.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Bij volledige mededinging is het bedrijf een prijsnemer. Het is zo klein ten opzichte van de markt dat het de prijs niet beïnvloedt. De marginale opbrengst is dus gelijk aan de marktprijs: MO = 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Bij monopolie en oligopolie is het bedrijf een prijszetter. Het moet de prijs verlagen om meer te verkopen, en die lagere prijs geldt ook voor alle eerdere eenheden. Daarom is MO altijd lager dan 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Links: prijsnemer. MO is horizontaal en gelijk aan de marktprijs. Rechts: prijszetter. MO daalt en ligt onder de vraaglijn. Let op: de prijs lees je af op de vraaglijn, niet op MK.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Deze vergelijkingstabel maakt het verschil helder. MO = MK is universeel. Het verschil is of MO gelijk is aan p (prijsnemer) of lager dan p (prijszetter).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arbeidsmarkt is een toepassing van het evenwichtsmodel. Het loon is de prijs van arbeid. Het aanbod stijgt als het loon stijgt. De vraag daalt als het loon stijgt.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Twee verstoringen: technologie en minimumloon. Bij technologische verandering verschuift de vraagcurve naar links. Bij een minimumloon boven het evenwichtsloon is het aanbod groter dan de vraag, wat leidt tot werkloosheid.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Robots nemen werk over. De vraag naar arbeid verschuift naar links: V1 naar V2. Het evenwichtsloon daalt van w1 naar w2 en de werkgelegenheid neemt af van L1 naar L2.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Twee soorten werkloosheid. Structurele werkloosheid is langdurig, door een mismatch van vaardigheden. Conjuncturele werkloosheid is tijdelijk en hangt samen met de conjunctuur.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Drie veelgemaakte fouten. Bespreek ze klassikaal: MO = MK is universeel, evenwicht is niet per se eerlijk, en MO = p geldt alleen bij volledige mededinging.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Loop deze zes punten na voordat leerlingen gaan oefenen. Controleer of ze de logica van MO = MK kunnen uitleggen en het verschil tussen prijsnemer en prijszetter begrijpen.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1A5276"/>
          </a:solidFill>
          <a:ln/>
        </p:spPr>
      </p:sp>
      <p:sp>
        <p:nvSpPr>
          <p:cNvPr id="3" name="Shape 1"/>
          <p:cNvSpPr/>
          <p:nvPr/>
        </p:nvSpPr>
        <p:spPr>
          <a:xfrm>
            <a:off x="0" y="4709160"/>
            <a:ext cx="9144000" cy="434340"/>
          </a:xfrm>
          <a:prstGeom prst="rect">
            <a:avLst/>
          </a:prstGeom>
          <a:solidFill>
            <a:srgbClr val="151D4A"/>
          </a:solid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1A5276"/>
          </a:solid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40080" y="1097280"/>
            <a:ext cx="7863840" cy="1828800"/>
          </a:xfrm>
          <a:prstGeom prst="rect">
            <a:avLst/>
          </a:prstGeom>
          <a:noFill/>
          <a:ln/>
        </p:spPr>
        <p:txBody>
          <a:bodyPr wrap="square" rtlCol="0" anchor="ctr"/>
          <a:lstStyle/>
          <a:p>
            <a:pPr indent="0" marL="0">
              <a:buNone/>
            </a:pPr>
            <a:r>
              <a:rPr lang="en-US" sz="4000" b="1" dirty="0">
                <a:solidFill>
                  <a:srgbClr val="FFFFFF"/>
                </a:solidFill>
                <a:latin typeface="Arial" pitchFamily="34" charset="0"/>
                <a:ea typeface="Arial" pitchFamily="34" charset="-122"/>
                <a:cs typeface="Arial" pitchFamily="34" charset="-120"/>
              </a:rPr>
              <a:t>Marktevenwicht</a:t>
            </a:r>
            <a:endParaRPr lang="en-US" sz="4000" dirty="0"/>
          </a:p>
        </p:txBody>
      </p:sp>
      <p:sp>
        <p:nvSpPr>
          <p:cNvPr id="3" name="Text 1"/>
          <p:cNvSpPr/>
          <p:nvPr/>
        </p:nvSpPr>
        <p:spPr>
          <a:xfrm>
            <a:off x="640080" y="2926080"/>
            <a:ext cx="7863840" cy="457200"/>
          </a:xfrm>
          <a:prstGeom prst="rect">
            <a:avLst/>
          </a:prstGeom>
          <a:noFill/>
          <a:ln/>
        </p:spPr>
        <p:txBody>
          <a:bodyPr wrap="square" rtlCol="0" anchor="ctr"/>
          <a:lstStyle/>
          <a:p>
            <a:pPr indent="0" marL="0">
              <a:buNone/>
            </a:pPr>
            <a:r>
              <a:rPr lang="en-US" sz="2000" dirty="0">
                <a:solidFill>
                  <a:srgbClr val="718096"/>
                </a:solidFill>
                <a:latin typeface="Arial" pitchFamily="34" charset="0"/>
                <a:ea typeface="Arial" pitchFamily="34" charset="-122"/>
                <a:cs typeface="Arial" pitchFamily="34" charset="-120"/>
              </a:rPr>
              <a:t>Paragraaf 3.2.1</a:t>
            </a:r>
            <a:endParaRPr lang="en-US" sz="2000" dirty="0"/>
          </a:p>
        </p:txBody>
      </p:sp>
      <p:sp>
        <p:nvSpPr>
          <p:cNvPr id="4" name="Text 2"/>
          <p:cNvSpPr/>
          <p:nvPr/>
        </p:nvSpPr>
        <p:spPr>
          <a:xfrm>
            <a:off x="640080" y="4709160"/>
            <a:ext cx="7863840" cy="434340"/>
          </a:xfrm>
          <a:prstGeom prst="rect">
            <a:avLst/>
          </a:prstGeom>
          <a:noFill/>
          <a:ln/>
        </p:spPr>
        <p:txBody>
          <a:bodyPr wrap="square" rtlCol="0" anchor="ctr"/>
          <a:lstStyle/>
          <a:p>
            <a:pPr indent="0" marL="0">
              <a:buNone/>
            </a:pPr>
            <a:r>
              <a:rPr lang="en-US" sz="1200" dirty="0">
                <a:solidFill>
                  <a:srgbClr val="718096"/>
                </a:solidFill>
                <a:latin typeface="Arial" pitchFamily="34" charset="0"/>
                <a:ea typeface="Arial" pitchFamily="34" charset="-122"/>
                <a:cs typeface="Arial" pitchFamily="34" charset="-120"/>
              </a:rPr>
              <a:t>Hoofdstuk 2: Marktvormen en hun marktevenwicht  |  Economie VWO</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0"/>
            <a:ext cx="8229600" cy="68580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Wat ga je leren?</a:t>
            </a:r>
            <a:endParaRPr lang="en-US" sz="2400" dirty="0"/>
          </a:p>
        </p:txBody>
      </p:sp>
      <p:sp>
        <p:nvSpPr>
          <p:cNvPr id="3" name="Text 1"/>
          <p:cNvSpPr/>
          <p:nvPr/>
        </p:nvSpPr>
        <p:spPr>
          <a:xfrm>
            <a:off x="640080" y="1097280"/>
            <a:ext cx="7863840" cy="3200400"/>
          </a:xfrm>
          <a:prstGeom prst="rect">
            <a:avLst/>
          </a:prstGeom>
          <a:noFill/>
          <a:ln/>
        </p:spPr>
        <p:txBody>
          <a:bodyPr wrap="square" rtlCol="0" anchor="t"/>
          <a:lstStyle/>
          <a:p>
            <a:pPr marL="342900" indent="-342900">
              <a:lnSpc>
                <a:spcPct val="150000"/>
              </a:lnSpc>
              <a:spcAft>
                <a:spcPts val="800"/>
              </a:spcAft>
              <a:buSzPct val="100000"/>
              <a:buChar char="•"/>
            </a:pPr>
            <a:r>
              <a:rPr lang="en-US" sz="1500" dirty="0">
                <a:solidFill>
                  <a:srgbClr val="2D3748"/>
                </a:solidFill>
                <a:latin typeface="Arial" pitchFamily="34" charset="0"/>
                <a:ea typeface="Arial" pitchFamily="34" charset="-122"/>
                <a:cs typeface="Arial" pitchFamily="34" charset="-120"/>
              </a:rPr>
              <a:t>De twee voorwaarden voor marktevenwicht benoemen (Qv = Qa en MO = MK)</a:t>
            </a:r>
            <a:endParaRPr lang="en-US" sz="1500" dirty="0"/>
          </a:p>
          <a:p>
            <a:pPr marL="342900" indent="-342900">
              <a:lnSpc>
                <a:spcPct val="150000"/>
              </a:lnSpc>
              <a:spcAft>
                <a:spcPts val="800"/>
              </a:spcAft>
              <a:buSzPct val="100000"/>
              <a:buChar char="•"/>
            </a:pPr>
            <a:r>
              <a:rPr lang="en-US" sz="1500" dirty="0">
                <a:solidFill>
                  <a:srgbClr val="2D3748"/>
                </a:solidFill>
                <a:latin typeface="Arial" pitchFamily="34" charset="0"/>
                <a:ea typeface="Arial" pitchFamily="34" charset="-122"/>
                <a:cs typeface="Arial" pitchFamily="34" charset="-120"/>
              </a:rPr>
              <a:t>Uitleggen waarom MO = MK geldt voor alle marktvormen</a:t>
            </a:r>
            <a:endParaRPr lang="en-US" sz="1500" dirty="0"/>
          </a:p>
          <a:p>
            <a:pPr marL="342900" indent="-342900">
              <a:lnSpc>
                <a:spcPct val="150000"/>
              </a:lnSpc>
              <a:spcAft>
                <a:spcPts val="800"/>
              </a:spcAft>
              <a:buSzPct val="100000"/>
              <a:buChar char="•"/>
            </a:pPr>
            <a:r>
              <a:rPr lang="en-US" sz="1500" dirty="0">
                <a:solidFill>
                  <a:srgbClr val="2D3748"/>
                </a:solidFill>
                <a:latin typeface="Arial" pitchFamily="34" charset="0"/>
                <a:ea typeface="Arial" pitchFamily="34" charset="-122"/>
                <a:cs typeface="Arial" pitchFamily="34" charset="-120"/>
              </a:rPr>
              <a:t>Het verschil tussen MO = p en MO &lt; p toepassen</a:t>
            </a:r>
            <a:endParaRPr lang="en-US" sz="1500" dirty="0"/>
          </a:p>
          <a:p>
            <a:pPr marL="342900" indent="-342900">
              <a:lnSpc>
                <a:spcPct val="150000"/>
              </a:lnSpc>
              <a:spcAft>
                <a:spcPts val="800"/>
              </a:spcAft>
              <a:buSzPct val="100000"/>
              <a:buChar char="•"/>
            </a:pPr>
            <a:r>
              <a:rPr lang="en-US" sz="1500" dirty="0">
                <a:solidFill>
                  <a:srgbClr val="2D3748"/>
                </a:solidFill>
                <a:latin typeface="Arial" pitchFamily="34" charset="0"/>
                <a:ea typeface="Arial" pitchFamily="34" charset="-122"/>
                <a:cs typeface="Arial" pitchFamily="34" charset="-120"/>
              </a:rPr>
              <a:t>Marktevenwicht toepassen op de arbeidsmarkt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0"/>
            <a:ext cx="8229600" cy="68580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Voorwaarde 1: Qv = Qa</a:t>
            </a:r>
            <a:endParaRPr lang="en-US" sz="2400" dirty="0"/>
          </a:p>
        </p:txBody>
      </p:sp>
      <p:sp>
        <p:nvSpPr>
          <p:cNvPr id="3" name="Text 1"/>
          <p:cNvSpPr/>
          <p:nvPr/>
        </p:nvSpPr>
        <p:spPr>
          <a:xfrm>
            <a:off x="640080" y="868680"/>
            <a:ext cx="7863840" cy="411480"/>
          </a:xfrm>
          <a:prstGeom prst="rect">
            <a:avLst/>
          </a:prstGeom>
          <a:noFill/>
          <a:ln/>
        </p:spPr>
        <p:txBody>
          <a:bodyPr wrap="square" rtlCol="0" anchor="ctr"/>
          <a:lstStyle/>
          <a:p>
            <a:pPr indent="0" marL="0">
              <a:buNone/>
            </a:pPr>
            <a:r>
              <a:rPr lang="en-US" sz="1800" b="1" dirty="0">
                <a:solidFill>
                  <a:srgbClr val="1A5276"/>
                </a:solidFill>
                <a:latin typeface="Arial" pitchFamily="34" charset="0"/>
                <a:ea typeface="Arial" pitchFamily="34" charset="-122"/>
                <a:cs typeface="Arial" pitchFamily="34" charset="-120"/>
              </a:rPr>
              <a:t>Hoeveelheid vraag = Hoeveelheid aanbod</a:t>
            </a:r>
            <a:endParaRPr lang="en-US" sz="1800" dirty="0"/>
          </a:p>
        </p:txBody>
      </p:sp>
      <p:sp>
        <p:nvSpPr>
          <p:cNvPr id="4" name="Shape 2"/>
          <p:cNvSpPr/>
          <p:nvPr/>
        </p:nvSpPr>
        <p:spPr>
          <a:xfrm>
            <a:off x="457200" y="1463040"/>
            <a:ext cx="8229600" cy="2560320"/>
          </a:xfrm>
          <a:prstGeom prst="rect">
            <a:avLst>
              <a:gd name="adj" fmla="val 1786"/>
            </a:avLst>
          </a:prstGeom>
          <a:solidFill>
            <a:srgbClr val="F9F6F1"/>
          </a:solidFill>
          <a:ln/>
          <a:effectLst>
            <a:outerShdw sx="100000" sy="100000" kx="0" ky="0" algn="bl" rotWithShape="0" blurRad="76200" dist="25400" dir="8100000">
              <a:srgbClr val="000000">
                <a:alpha val="10000"/>
              </a:srgbClr>
            </a:outerShdw>
          </a:effectLst>
        </p:spPr>
      </p:sp>
      <p:sp>
        <p:nvSpPr>
          <p:cNvPr id="5" name="Shape 3"/>
          <p:cNvSpPr/>
          <p:nvPr/>
        </p:nvSpPr>
        <p:spPr>
          <a:xfrm>
            <a:off x="457200" y="1463040"/>
            <a:ext cx="54864" cy="2560320"/>
          </a:xfrm>
          <a:prstGeom prst="rect">
            <a:avLst/>
          </a:prstGeom>
          <a:solidFill>
            <a:srgbClr val="1A5276"/>
          </a:solidFill>
          <a:ln/>
        </p:spPr>
      </p:sp>
      <p:sp>
        <p:nvSpPr>
          <p:cNvPr id="6" name="Text 4"/>
          <p:cNvSpPr/>
          <p:nvPr/>
        </p:nvSpPr>
        <p:spPr>
          <a:xfrm>
            <a:off x="640080" y="1600200"/>
            <a:ext cx="7909560" cy="365760"/>
          </a:xfrm>
          <a:prstGeom prst="rect">
            <a:avLst/>
          </a:prstGeom>
          <a:noFill/>
          <a:ln/>
        </p:spPr>
        <p:txBody>
          <a:bodyPr wrap="square" rtlCol="0" anchor="t"/>
          <a:lstStyle/>
          <a:p>
            <a:pPr indent="0" marL="0">
              <a:buNone/>
            </a:pPr>
            <a:r>
              <a:rPr lang="en-US" sz="2000" b="1" dirty="0">
                <a:solidFill>
                  <a:srgbClr val="1A5276"/>
                </a:solidFill>
                <a:latin typeface="Arial" pitchFamily="34" charset="0"/>
                <a:ea typeface="Arial" pitchFamily="34" charset="-122"/>
                <a:cs typeface="Arial" pitchFamily="34" charset="-120"/>
              </a:rPr>
              <a:t>Evenwicht</a:t>
            </a:r>
            <a:endParaRPr lang="en-US" sz="2000" dirty="0"/>
          </a:p>
        </p:txBody>
      </p:sp>
      <p:sp>
        <p:nvSpPr>
          <p:cNvPr id="7" name="Text 5"/>
          <p:cNvSpPr/>
          <p:nvPr/>
        </p:nvSpPr>
        <p:spPr>
          <a:xfrm>
            <a:off x="640080" y="2011680"/>
            <a:ext cx="7909560" cy="1874520"/>
          </a:xfrm>
          <a:prstGeom prst="rect">
            <a:avLst/>
          </a:prstGeom>
          <a:noFill/>
          <a:ln/>
        </p:spPr>
        <p:txBody>
          <a:bodyPr wrap="square" rtlCol="0" anchor="t"/>
          <a:lstStyle/>
          <a:p>
            <a:pPr algn="l" indent="0" marL="0">
              <a:lnSpc>
                <a:spcPct val="115000"/>
              </a:lnSpc>
              <a:buNone/>
            </a:pPr>
            <a:r>
              <a:rPr lang="en-US" sz="1400" dirty="0">
                <a:solidFill>
                  <a:srgbClr val="2D3748"/>
                </a:solidFill>
                <a:latin typeface="Arial" pitchFamily="34" charset="0"/>
                <a:ea typeface="Arial" pitchFamily="34" charset="-122"/>
                <a:cs typeface="Arial" pitchFamily="34" charset="-120"/>
              </a:rPr>
              <a:t>Op het evenwichtspunt zijn beide partijen tevreden: geen overschot, geen schaarste.
Dit is de eerste voorwaarde voor marktevenwicht.
</a:t>
            </a:r>
            <a:pPr algn="l" indent="0" marL="0">
              <a:lnSpc>
                <a:spcPct val="115000"/>
              </a:lnSpc>
              <a:buNone/>
            </a:pPr>
            <a:r>
              <a:rPr lang="en-US" sz="1400" i="1" dirty="0">
                <a:solidFill>
                  <a:srgbClr val="2D3748"/>
                </a:solidFill>
                <a:latin typeface="Arial" pitchFamily="34" charset="0"/>
                <a:ea typeface="Arial" pitchFamily="34" charset="-122"/>
                <a:cs typeface="Arial" pitchFamily="34" charset="-120"/>
              </a:rPr>
              <a:t>Het snijpunt van de vraag- en aanbodcurve bepaalt de evenwichtsprijs en -hoeveelheid.</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0"/>
            <a:ext cx="8229600" cy="68580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Marktevenwicht in de grafiek</a:t>
            </a:r>
            <a:endParaRPr lang="en-US" sz="2400" dirty="0"/>
          </a:p>
        </p:txBody>
      </p:sp>
      <p:pic>
        <p:nvPicPr>
          <p:cNvPr id="3" name="Image 0" descr="preencoded.png">    </p:cNvPr>
          <p:cNvPicPr>
            <a:picLocks noChangeAspect="1"/>
          </p:cNvPicPr>
          <p:nvPr/>
        </p:nvPicPr>
        <p:blipFill>
          <a:blip r:embed="rId1"/>
          <a:stretch>
            <a:fillRect/>
          </a:stretch>
        </p:blipFill>
        <p:spPr>
          <a:xfrm>
            <a:off x="685800" y="822960"/>
            <a:ext cx="7772400" cy="38862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0"/>
            <a:ext cx="8229600" cy="68580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Voorwaarde 2: MO = MK</a:t>
            </a:r>
            <a:endParaRPr lang="en-US" sz="2400" dirty="0"/>
          </a:p>
        </p:txBody>
      </p:sp>
      <p:sp>
        <p:nvSpPr>
          <p:cNvPr id="3" name="Text 1"/>
          <p:cNvSpPr/>
          <p:nvPr/>
        </p:nvSpPr>
        <p:spPr>
          <a:xfrm>
            <a:off x="640080" y="777240"/>
            <a:ext cx="7863840" cy="320040"/>
          </a:xfrm>
          <a:prstGeom prst="rect">
            <a:avLst/>
          </a:prstGeom>
          <a:noFill/>
          <a:ln/>
        </p:spPr>
        <p:txBody>
          <a:bodyPr wrap="square" rtlCol="0" anchor="ctr"/>
          <a:lstStyle/>
          <a:p>
            <a:pPr indent="0" marL="0">
              <a:buNone/>
            </a:pPr>
            <a:r>
              <a:rPr lang="en-US" sz="1600" i="1" dirty="0">
                <a:solidFill>
                  <a:srgbClr val="718096"/>
                </a:solidFill>
                <a:latin typeface="Arial" pitchFamily="34" charset="0"/>
                <a:ea typeface="Arial" pitchFamily="34" charset="-122"/>
                <a:cs typeface="Arial" pitchFamily="34" charset="-120"/>
              </a:rPr>
              <a:t>Marginale Opbrengst = Marginale Kosten</a:t>
            </a:r>
            <a:endParaRPr lang="en-US" sz="1600" dirty="0"/>
          </a:p>
        </p:txBody>
      </p:sp>
      <p:sp>
        <p:nvSpPr>
          <p:cNvPr id="4" name="Text 2"/>
          <p:cNvSpPr/>
          <p:nvPr/>
        </p:nvSpPr>
        <p:spPr>
          <a:xfrm>
            <a:off x="640080" y="1097280"/>
            <a:ext cx="7863840" cy="274320"/>
          </a:xfrm>
          <a:prstGeom prst="rect">
            <a:avLst/>
          </a:prstGeom>
          <a:noFill/>
          <a:ln/>
        </p:spPr>
        <p:txBody>
          <a:bodyPr wrap="square" rtlCol="0" anchor="ctr"/>
          <a:lstStyle/>
          <a:p>
            <a:pPr indent="0" marL="0">
              <a:buNone/>
            </a:pPr>
            <a:r>
              <a:rPr lang="en-US" sz="1400" dirty="0">
                <a:solidFill>
                  <a:srgbClr val="2D3748"/>
                </a:solidFill>
                <a:latin typeface="Arial" pitchFamily="34" charset="0"/>
                <a:ea typeface="Arial" pitchFamily="34" charset="-122"/>
                <a:cs typeface="Arial" pitchFamily="34" charset="-120"/>
              </a:rPr>
              <a:t>Dit is het winstmaximalisatiepunt voor een producent.</a:t>
            </a:r>
            <a:endParaRPr lang="en-US" sz="1400" dirty="0"/>
          </a:p>
        </p:txBody>
      </p:sp>
      <p:sp>
        <p:nvSpPr>
          <p:cNvPr id="5" name="Shape 3"/>
          <p:cNvSpPr/>
          <p:nvPr/>
        </p:nvSpPr>
        <p:spPr>
          <a:xfrm>
            <a:off x="365760" y="1554480"/>
            <a:ext cx="2606040" cy="2286000"/>
          </a:xfrm>
          <a:prstGeom prst="rect">
            <a:avLst>
              <a:gd name="adj" fmla="val 2000"/>
            </a:avLst>
          </a:prstGeom>
          <a:solidFill>
            <a:srgbClr val="F9F6F1"/>
          </a:solidFill>
          <a:ln/>
          <a:effectLst>
            <a:outerShdw sx="100000" sy="100000" kx="0" ky="0" algn="bl" rotWithShape="0" blurRad="76200" dist="25400" dir="8100000">
              <a:srgbClr val="000000">
                <a:alpha val="10000"/>
              </a:srgbClr>
            </a:outerShdw>
          </a:effectLst>
        </p:spPr>
      </p:sp>
      <p:sp>
        <p:nvSpPr>
          <p:cNvPr id="6" name="Shape 4"/>
          <p:cNvSpPr/>
          <p:nvPr/>
        </p:nvSpPr>
        <p:spPr>
          <a:xfrm>
            <a:off x="365760" y="1554480"/>
            <a:ext cx="54864" cy="2286000"/>
          </a:xfrm>
          <a:prstGeom prst="rect">
            <a:avLst/>
          </a:prstGeom>
          <a:solidFill>
            <a:srgbClr val="1A5276"/>
          </a:solidFill>
          <a:ln/>
        </p:spPr>
      </p:sp>
      <p:sp>
        <p:nvSpPr>
          <p:cNvPr id="7" name="Text 5"/>
          <p:cNvSpPr/>
          <p:nvPr/>
        </p:nvSpPr>
        <p:spPr>
          <a:xfrm>
            <a:off x="548640" y="1691640"/>
            <a:ext cx="2286000" cy="365760"/>
          </a:xfrm>
          <a:prstGeom prst="rect">
            <a:avLst/>
          </a:prstGeom>
          <a:noFill/>
          <a:ln/>
        </p:spPr>
        <p:txBody>
          <a:bodyPr wrap="square" rtlCol="0" anchor="t"/>
          <a:lstStyle/>
          <a:p>
            <a:pPr indent="0" marL="0">
              <a:buNone/>
            </a:pPr>
            <a:r>
              <a:rPr lang="en-US" sz="2000" b="1" dirty="0">
                <a:solidFill>
                  <a:srgbClr val="1A5276"/>
                </a:solidFill>
                <a:latin typeface="Arial" pitchFamily="34" charset="0"/>
                <a:ea typeface="Arial" pitchFamily="34" charset="-122"/>
                <a:cs typeface="Arial" pitchFamily="34" charset="-120"/>
              </a:rPr>
              <a:t>MO</a:t>
            </a:r>
            <a:endParaRPr lang="en-US" sz="2000" dirty="0"/>
          </a:p>
        </p:txBody>
      </p:sp>
      <p:sp>
        <p:nvSpPr>
          <p:cNvPr id="8" name="Text 6"/>
          <p:cNvSpPr/>
          <p:nvPr/>
        </p:nvSpPr>
        <p:spPr>
          <a:xfrm>
            <a:off x="548640" y="2103120"/>
            <a:ext cx="2286000" cy="1600200"/>
          </a:xfrm>
          <a:prstGeom prst="rect">
            <a:avLst/>
          </a:prstGeom>
          <a:noFill/>
          <a:ln/>
        </p:spPr>
        <p:txBody>
          <a:bodyPr wrap="square" rtlCol="0" anchor="t"/>
          <a:lstStyle/>
          <a:p>
            <a:pPr algn="l" indent="0" marL="0">
              <a:lnSpc>
                <a:spcPct val="115000"/>
              </a:lnSpc>
              <a:buNone/>
            </a:pPr>
            <a:r>
              <a:rPr lang="en-US" sz="1400" dirty="0">
                <a:solidFill>
                  <a:srgbClr val="2D3748"/>
                </a:solidFill>
                <a:latin typeface="Arial" pitchFamily="34" charset="0"/>
                <a:ea typeface="Arial" pitchFamily="34" charset="-122"/>
                <a:cs typeface="Arial" pitchFamily="34" charset="-120"/>
              </a:rPr>
              <a:t>Extra opbrengst per extra eenheid</a:t>
            </a:r>
            <a:endParaRPr lang="en-US" sz="1400" dirty="0"/>
          </a:p>
        </p:txBody>
      </p:sp>
      <p:sp>
        <p:nvSpPr>
          <p:cNvPr id="9" name="Shape 7"/>
          <p:cNvSpPr/>
          <p:nvPr/>
        </p:nvSpPr>
        <p:spPr>
          <a:xfrm>
            <a:off x="3246120" y="1554480"/>
            <a:ext cx="2606040" cy="2286000"/>
          </a:xfrm>
          <a:prstGeom prst="rect">
            <a:avLst>
              <a:gd name="adj" fmla="val 2000"/>
            </a:avLst>
          </a:prstGeom>
          <a:solidFill>
            <a:srgbClr val="F9F6F1"/>
          </a:solidFill>
          <a:ln/>
          <a:effectLst>
            <a:outerShdw sx="100000" sy="100000" kx="0" ky="0" algn="bl" rotWithShape="0" blurRad="76200" dist="25400" dir="8100000">
              <a:srgbClr val="000000">
                <a:alpha val="10000"/>
              </a:srgbClr>
            </a:outerShdw>
          </a:effectLst>
        </p:spPr>
      </p:sp>
      <p:sp>
        <p:nvSpPr>
          <p:cNvPr id="10" name="Shape 8"/>
          <p:cNvSpPr/>
          <p:nvPr/>
        </p:nvSpPr>
        <p:spPr>
          <a:xfrm>
            <a:off x="3246120" y="1554480"/>
            <a:ext cx="54864" cy="2286000"/>
          </a:xfrm>
          <a:prstGeom prst="rect">
            <a:avLst/>
          </a:prstGeom>
          <a:solidFill>
            <a:srgbClr val="E67E22"/>
          </a:solidFill>
          <a:ln/>
        </p:spPr>
      </p:sp>
      <p:sp>
        <p:nvSpPr>
          <p:cNvPr id="11" name="Text 9"/>
          <p:cNvSpPr/>
          <p:nvPr/>
        </p:nvSpPr>
        <p:spPr>
          <a:xfrm>
            <a:off x="3429000" y="1691640"/>
            <a:ext cx="2286000" cy="365760"/>
          </a:xfrm>
          <a:prstGeom prst="rect">
            <a:avLst/>
          </a:prstGeom>
          <a:noFill/>
          <a:ln/>
        </p:spPr>
        <p:txBody>
          <a:bodyPr wrap="square" rtlCol="0" anchor="t"/>
          <a:lstStyle/>
          <a:p>
            <a:pPr indent="0" marL="0">
              <a:buNone/>
            </a:pPr>
            <a:r>
              <a:rPr lang="en-US" sz="2000" b="1" dirty="0">
                <a:solidFill>
                  <a:srgbClr val="E67E22"/>
                </a:solidFill>
                <a:latin typeface="Arial" pitchFamily="34" charset="0"/>
                <a:ea typeface="Arial" pitchFamily="34" charset="-122"/>
                <a:cs typeface="Arial" pitchFamily="34" charset="-120"/>
              </a:rPr>
              <a:t>MK</a:t>
            </a:r>
            <a:endParaRPr lang="en-US" sz="2000" dirty="0"/>
          </a:p>
        </p:txBody>
      </p:sp>
      <p:sp>
        <p:nvSpPr>
          <p:cNvPr id="12" name="Text 10"/>
          <p:cNvSpPr/>
          <p:nvPr/>
        </p:nvSpPr>
        <p:spPr>
          <a:xfrm>
            <a:off x="3429000" y="2103120"/>
            <a:ext cx="2286000" cy="1600200"/>
          </a:xfrm>
          <a:prstGeom prst="rect">
            <a:avLst/>
          </a:prstGeom>
          <a:noFill/>
          <a:ln/>
        </p:spPr>
        <p:txBody>
          <a:bodyPr wrap="square" rtlCol="0" anchor="t"/>
          <a:lstStyle/>
          <a:p>
            <a:pPr algn="l" indent="0" marL="0">
              <a:lnSpc>
                <a:spcPct val="115000"/>
              </a:lnSpc>
              <a:buNone/>
            </a:pPr>
            <a:r>
              <a:rPr lang="en-US" sz="1400" dirty="0">
                <a:solidFill>
                  <a:srgbClr val="2D3748"/>
                </a:solidFill>
                <a:latin typeface="Arial" pitchFamily="34" charset="0"/>
                <a:ea typeface="Arial" pitchFamily="34" charset="-122"/>
                <a:cs typeface="Arial" pitchFamily="34" charset="-120"/>
              </a:rPr>
              <a:t>Extra kosten per extra eenheid</a:t>
            </a:r>
            <a:endParaRPr lang="en-US" sz="1400" dirty="0"/>
          </a:p>
        </p:txBody>
      </p:sp>
      <p:sp>
        <p:nvSpPr>
          <p:cNvPr id="13" name="Shape 11"/>
          <p:cNvSpPr/>
          <p:nvPr/>
        </p:nvSpPr>
        <p:spPr>
          <a:xfrm>
            <a:off x="6126480" y="1554480"/>
            <a:ext cx="2606040" cy="2286000"/>
          </a:xfrm>
          <a:prstGeom prst="rect">
            <a:avLst>
              <a:gd name="adj" fmla="val 2000"/>
            </a:avLst>
          </a:prstGeom>
          <a:solidFill>
            <a:srgbClr val="F9F6F1"/>
          </a:solidFill>
          <a:ln/>
          <a:effectLst>
            <a:outerShdw sx="100000" sy="100000" kx="0" ky="0" algn="bl" rotWithShape="0" blurRad="76200" dist="25400" dir="8100000">
              <a:srgbClr val="000000">
                <a:alpha val="10000"/>
              </a:srgbClr>
            </a:outerShdw>
          </a:effectLst>
        </p:spPr>
      </p:sp>
      <p:sp>
        <p:nvSpPr>
          <p:cNvPr id="14" name="Shape 12"/>
          <p:cNvSpPr/>
          <p:nvPr/>
        </p:nvSpPr>
        <p:spPr>
          <a:xfrm>
            <a:off x="6126480" y="1554480"/>
            <a:ext cx="54864" cy="2286000"/>
          </a:xfrm>
          <a:prstGeom prst="rect">
            <a:avLst/>
          </a:prstGeom>
          <a:solidFill>
            <a:srgbClr val="1E8449"/>
          </a:solidFill>
          <a:ln/>
        </p:spPr>
      </p:sp>
      <p:sp>
        <p:nvSpPr>
          <p:cNvPr id="15" name="Text 13"/>
          <p:cNvSpPr/>
          <p:nvPr/>
        </p:nvSpPr>
        <p:spPr>
          <a:xfrm>
            <a:off x="6309360" y="1691640"/>
            <a:ext cx="2286000" cy="365760"/>
          </a:xfrm>
          <a:prstGeom prst="rect">
            <a:avLst/>
          </a:prstGeom>
          <a:noFill/>
          <a:ln/>
        </p:spPr>
        <p:txBody>
          <a:bodyPr wrap="square" rtlCol="0" anchor="t"/>
          <a:lstStyle/>
          <a:p>
            <a:pPr indent="0" marL="0">
              <a:buNone/>
            </a:pPr>
            <a:r>
              <a:rPr lang="en-US" sz="2000" b="1" dirty="0">
                <a:solidFill>
                  <a:srgbClr val="1E8449"/>
                </a:solidFill>
                <a:latin typeface="Arial" pitchFamily="34" charset="0"/>
                <a:ea typeface="Arial" pitchFamily="34" charset="-122"/>
                <a:cs typeface="Arial" pitchFamily="34" charset="-120"/>
              </a:rPr>
              <a:t>Optimaal</a:t>
            </a:r>
            <a:endParaRPr lang="en-US" sz="2000" dirty="0"/>
          </a:p>
        </p:txBody>
      </p:sp>
      <p:sp>
        <p:nvSpPr>
          <p:cNvPr id="16" name="Text 14"/>
          <p:cNvSpPr/>
          <p:nvPr/>
        </p:nvSpPr>
        <p:spPr>
          <a:xfrm>
            <a:off x="6309360" y="2103120"/>
            <a:ext cx="2286000" cy="1600200"/>
          </a:xfrm>
          <a:prstGeom prst="rect">
            <a:avLst/>
          </a:prstGeom>
          <a:noFill/>
          <a:ln/>
        </p:spPr>
        <p:txBody>
          <a:bodyPr wrap="square" rtlCol="0" anchor="t"/>
          <a:lstStyle/>
          <a:p>
            <a:pPr algn="l" indent="0" marL="0">
              <a:lnSpc>
                <a:spcPct val="115000"/>
              </a:lnSpc>
              <a:buNone/>
            </a:pPr>
            <a:r>
              <a:rPr lang="en-US" sz="1400" b="1" dirty="0">
                <a:solidFill>
                  <a:srgbClr val="2D3748"/>
                </a:solidFill>
                <a:latin typeface="Arial" pitchFamily="34" charset="0"/>
                <a:ea typeface="Arial" pitchFamily="34" charset="-122"/>
                <a:cs typeface="Arial" pitchFamily="34" charset="-120"/>
              </a:rPr>
              <a:t>Winst is maximaal wanneer MO = MK</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0"/>
            <a:ext cx="8229600" cy="68580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Waarom MO = MK?</a:t>
            </a:r>
            <a:endParaRPr lang="en-US" sz="2400" dirty="0"/>
          </a:p>
        </p:txBody>
      </p:sp>
      <p:sp>
        <p:nvSpPr>
          <p:cNvPr id="3" name="Text 1"/>
          <p:cNvSpPr/>
          <p:nvPr/>
        </p:nvSpPr>
        <p:spPr>
          <a:xfrm>
            <a:off x="640080" y="822960"/>
            <a:ext cx="7863840" cy="320040"/>
          </a:xfrm>
          <a:prstGeom prst="rect">
            <a:avLst/>
          </a:prstGeom>
          <a:noFill/>
          <a:ln/>
        </p:spPr>
        <p:txBody>
          <a:bodyPr wrap="square" rtlCol="0" anchor="ctr"/>
          <a:lstStyle/>
          <a:p>
            <a:pPr indent="0" marL="0">
              <a:buNone/>
            </a:pPr>
            <a:r>
              <a:rPr lang="en-US" sz="1600" b="1" dirty="0">
                <a:solidFill>
                  <a:srgbClr val="2D3748"/>
                </a:solidFill>
                <a:latin typeface="Arial" pitchFamily="34" charset="0"/>
                <a:ea typeface="Arial" pitchFamily="34" charset="-122"/>
                <a:cs typeface="Arial" pitchFamily="34" charset="-120"/>
              </a:rPr>
              <a:t>Beslissingslogica van de producent:</a:t>
            </a:r>
            <a:endParaRPr lang="en-US" sz="1600" dirty="0"/>
          </a:p>
        </p:txBody>
      </p:sp>
      <p:sp>
        <p:nvSpPr>
          <p:cNvPr id="4" name="Shape 2"/>
          <p:cNvSpPr/>
          <p:nvPr/>
        </p:nvSpPr>
        <p:spPr>
          <a:xfrm>
            <a:off x="1371600" y="1463040"/>
            <a:ext cx="6400800" cy="594360"/>
          </a:xfrm>
          <a:prstGeom prst="rect">
            <a:avLst>
              <a:gd name="adj" fmla="val 7692"/>
            </a:avLst>
          </a:prstGeom>
          <a:solidFill>
            <a:srgbClr val="EBF5FB"/>
          </a:solidFill>
          <a:ln/>
          <a:effectLst>
            <a:outerShdw sx="100000" sy="100000" kx="0" ky="0" algn="bl" rotWithShape="0" blurRad="76200" dist="25400" dir="8100000">
              <a:srgbClr val="000000">
                <a:alpha val="10000"/>
              </a:srgbClr>
            </a:outerShdw>
          </a:effectLst>
        </p:spPr>
      </p:sp>
      <p:sp>
        <p:nvSpPr>
          <p:cNvPr id="5" name="Text 3"/>
          <p:cNvSpPr/>
          <p:nvPr/>
        </p:nvSpPr>
        <p:spPr>
          <a:xfrm>
            <a:off x="1645920" y="1463040"/>
            <a:ext cx="5852160" cy="594360"/>
          </a:xfrm>
          <a:prstGeom prst="rect">
            <a:avLst/>
          </a:prstGeom>
          <a:noFill/>
          <a:ln/>
        </p:spPr>
        <p:txBody>
          <a:bodyPr wrap="square" rtlCol="0" anchor="ctr"/>
          <a:lstStyle/>
          <a:p>
            <a:pPr indent="0" marL="0">
              <a:buNone/>
            </a:pPr>
            <a:r>
              <a:rPr lang="en-US" sz="1800" dirty="0">
                <a:solidFill>
                  <a:srgbClr val="2D3748"/>
                </a:solidFill>
                <a:latin typeface="Arial" pitchFamily="34" charset="0"/>
                <a:ea typeface="Arial" pitchFamily="34" charset="-122"/>
                <a:cs typeface="Arial" pitchFamily="34" charset="-120"/>
              </a:rPr>
              <a:t>MO &gt; MK  →  Produceer meer!</a:t>
            </a:r>
            <a:endParaRPr lang="en-US" sz="1800" dirty="0"/>
          </a:p>
        </p:txBody>
      </p:sp>
      <p:sp>
        <p:nvSpPr>
          <p:cNvPr id="6" name="Shape 4"/>
          <p:cNvSpPr/>
          <p:nvPr/>
        </p:nvSpPr>
        <p:spPr>
          <a:xfrm>
            <a:off x="1371600" y="2286000"/>
            <a:ext cx="6400800" cy="594360"/>
          </a:xfrm>
          <a:prstGeom prst="rect">
            <a:avLst>
              <a:gd name="adj" fmla="val 7692"/>
            </a:avLst>
          </a:prstGeom>
          <a:solidFill>
            <a:srgbClr val="FDE8E8"/>
          </a:solidFill>
          <a:ln/>
          <a:effectLst>
            <a:outerShdw sx="100000" sy="100000" kx="0" ky="0" algn="bl" rotWithShape="0" blurRad="76200" dist="25400" dir="8100000">
              <a:srgbClr val="000000">
                <a:alpha val="10000"/>
              </a:srgbClr>
            </a:outerShdw>
          </a:effectLst>
        </p:spPr>
      </p:sp>
      <p:sp>
        <p:nvSpPr>
          <p:cNvPr id="7" name="Text 5"/>
          <p:cNvSpPr/>
          <p:nvPr/>
        </p:nvSpPr>
        <p:spPr>
          <a:xfrm>
            <a:off x="1645920" y="2286000"/>
            <a:ext cx="5852160" cy="594360"/>
          </a:xfrm>
          <a:prstGeom prst="rect">
            <a:avLst/>
          </a:prstGeom>
          <a:noFill/>
          <a:ln/>
        </p:spPr>
        <p:txBody>
          <a:bodyPr wrap="square" rtlCol="0" anchor="ctr"/>
          <a:lstStyle/>
          <a:p>
            <a:pPr indent="0" marL="0">
              <a:buNone/>
            </a:pPr>
            <a:r>
              <a:rPr lang="en-US" sz="1800" dirty="0">
                <a:solidFill>
                  <a:srgbClr val="2D3748"/>
                </a:solidFill>
                <a:latin typeface="Arial" pitchFamily="34" charset="0"/>
                <a:ea typeface="Arial" pitchFamily="34" charset="-122"/>
                <a:cs typeface="Arial" pitchFamily="34" charset="-120"/>
              </a:rPr>
              <a:t>↓  MO &lt; MK  →  Stop met produceren!</a:t>
            </a:r>
            <a:endParaRPr lang="en-US" sz="1800" dirty="0"/>
          </a:p>
        </p:txBody>
      </p:sp>
      <p:sp>
        <p:nvSpPr>
          <p:cNvPr id="8" name="Shape 6"/>
          <p:cNvSpPr/>
          <p:nvPr/>
        </p:nvSpPr>
        <p:spPr>
          <a:xfrm>
            <a:off x="1371600" y="3108960"/>
            <a:ext cx="6400800" cy="594360"/>
          </a:xfrm>
          <a:prstGeom prst="rect">
            <a:avLst>
              <a:gd name="adj" fmla="val 7692"/>
            </a:avLst>
          </a:prstGeom>
          <a:solidFill>
            <a:srgbClr val="1A5276"/>
          </a:solidFill>
          <a:ln/>
          <a:effectLst>
            <a:outerShdw sx="100000" sy="100000" kx="0" ky="0" algn="bl" rotWithShape="0" blurRad="76200" dist="25400" dir="8100000">
              <a:srgbClr val="000000">
                <a:alpha val="10000"/>
              </a:srgbClr>
            </a:outerShdw>
          </a:effectLst>
        </p:spPr>
      </p:sp>
      <p:sp>
        <p:nvSpPr>
          <p:cNvPr id="9" name="Text 7"/>
          <p:cNvSpPr/>
          <p:nvPr/>
        </p:nvSpPr>
        <p:spPr>
          <a:xfrm>
            <a:off x="1645920" y="3108960"/>
            <a:ext cx="5852160" cy="594360"/>
          </a:xfrm>
          <a:prstGeom prst="rect">
            <a:avLst/>
          </a:prstGeom>
          <a:noFill/>
          <a:ln/>
        </p:spPr>
        <p:txBody>
          <a:bodyPr wrap="square" rtlCol="0" anchor="ctr"/>
          <a:lstStyle/>
          <a:p>
            <a:pPr indent="0" marL="0">
              <a:buNone/>
            </a:pPr>
            <a:r>
              <a:rPr lang="en-US" sz="1800" b="1" dirty="0">
                <a:solidFill>
                  <a:srgbClr val="FFFFFF"/>
                </a:solidFill>
                <a:latin typeface="Arial" pitchFamily="34" charset="0"/>
                <a:ea typeface="Arial" pitchFamily="34" charset="-122"/>
                <a:cs typeface="Arial" pitchFamily="34" charset="-120"/>
              </a:rPr>
              <a:t>↓  MO = MK  →  Optimaal! Winst is maximaal</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0"/>
            <a:ext cx="8229600" cy="68580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Volledige mededinging: MO = p</a:t>
            </a:r>
            <a:endParaRPr lang="en-US" sz="2400" dirty="0"/>
          </a:p>
        </p:txBody>
      </p:sp>
      <p:sp>
        <p:nvSpPr>
          <p:cNvPr id="3" name="Shape 1"/>
          <p:cNvSpPr/>
          <p:nvPr/>
        </p:nvSpPr>
        <p:spPr>
          <a:xfrm>
            <a:off x="457200" y="1005840"/>
            <a:ext cx="3931920" cy="3017520"/>
          </a:xfrm>
          <a:prstGeom prst="rect">
            <a:avLst>
              <a:gd name="adj" fmla="val 1515"/>
            </a:avLst>
          </a:prstGeom>
          <a:solidFill>
            <a:srgbClr val="F9F6F1"/>
          </a:solidFill>
          <a:ln/>
          <a:effectLst>
            <a:outerShdw sx="100000" sy="100000" kx="0" ky="0" algn="bl" rotWithShape="0" blurRad="76200" dist="25400" dir="8100000">
              <a:srgbClr val="000000">
                <a:alpha val="10000"/>
              </a:srgbClr>
            </a:outerShdw>
          </a:effectLst>
        </p:spPr>
      </p:sp>
      <p:sp>
        <p:nvSpPr>
          <p:cNvPr id="4" name="Shape 2"/>
          <p:cNvSpPr/>
          <p:nvPr/>
        </p:nvSpPr>
        <p:spPr>
          <a:xfrm>
            <a:off x="457200" y="1005840"/>
            <a:ext cx="54864" cy="3017520"/>
          </a:xfrm>
          <a:prstGeom prst="rect">
            <a:avLst/>
          </a:prstGeom>
          <a:solidFill>
            <a:srgbClr val="1A5276"/>
          </a:solidFill>
          <a:ln/>
        </p:spPr>
      </p:sp>
      <p:sp>
        <p:nvSpPr>
          <p:cNvPr id="5" name="Text 3"/>
          <p:cNvSpPr/>
          <p:nvPr/>
        </p:nvSpPr>
        <p:spPr>
          <a:xfrm>
            <a:off x="640080" y="1143000"/>
            <a:ext cx="3611880" cy="365760"/>
          </a:xfrm>
          <a:prstGeom prst="rect">
            <a:avLst/>
          </a:prstGeom>
          <a:noFill/>
          <a:ln/>
        </p:spPr>
        <p:txBody>
          <a:bodyPr wrap="square" rtlCol="0" anchor="t"/>
          <a:lstStyle/>
          <a:p>
            <a:pPr indent="0" marL="0">
              <a:buNone/>
            </a:pPr>
            <a:r>
              <a:rPr lang="en-US" sz="2000" b="1" dirty="0">
                <a:solidFill>
                  <a:srgbClr val="1A5276"/>
                </a:solidFill>
                <a:latin typeface="Arial" pitchFamily="34" charset="0"/>
                <a:ea typeface="Arial" pitchFamily="34" charset="-122"/>
                <a:cs typeface="Arial" pitchFamily="34" charset="-120"/>
              </a:rPr>
              <a:t>Prijsnemer (price taker)</a:t>
            </a:r>
            <a:endParaRPr lang="en-US" sz="2000" dirty="0"/>
          </a:p>
        </p:txBody>
      </p:sp>
      <p:sp>
        <p:nvSpPr>
          <p:cNvPr id="6" name="Text 4"/>
          <p:cNvSpPr/>
          <p:nvPr/>
        </p:nvSpPr>
        <p:spPr>
          <a:xfrm>
            <a:off x="640080" y="1554480"/>
            <a:ext cx="3611880" cy="2331720"/>
          </a:xfrm>
          <a:prstGeom prst="rect">
            <a:avLst/>
          </a:prstGeom>
          <a:noFill/>
          <a:ln/>
        </p:spPr>
        <p:txBody>
          <a:bodyPr wrap="square" rtlCol="0" anchor="t"/>
          <a:lstStyle/>
          <a:p>
            <a:pPr algn="l" indent="0" marL="0">
              <a:lnSpc>
                <a:spcPct val="115000"/>
              </a:lnSpc>
              <a:buNone/>
            </a:pPr>
            <a:r>
              <a:rPr lang="en-US" sz="1400" dirty="0">
                <a:solidFill>
                  <a:srgbClr val="2D3748"/>
                </a:solidFill>
                <a:latin typeface="Arial" pitchFamily="34" charset="0"/>
                <a:ea typeface="Arial" pitchFamily="34" charset="-122"/>
                <a:cs typeface="Arial" pitchFamily="34" charset="-120"/>
              </a:rPr>
              <a:t>Het bedrijf is zo klein dat het de prijs niet kan beïnvloeden.
</a:t>
            </a:r>
            <a:pPr algn="l" indent="0" marL="0">
              <a:lnSpc>
                <a:spcPct val="115000"/>
              </a:lnSpc>
              <a:buNone/>
            </a:pPr>
            <a:r>
              <a:rPr lang="en-US" sz="1400" b="1" dirty="0">
                <a:solidFill>
                  <a:srgbClr val="2D3748"/>
                </a:solidFill>
                <a:latin typeface="Arial" pitchFamily="34" charset="0"/>
                <a:ea typeface="Arial" pitchFamily="34" charset="-122"/>
                <a:cs typeface="Arial" pitchFamily="34" charset="-120"/>
              </a:rPr>
              <a:t>Marginale opbrengst = marktprijs
MO = p (horizontale MO-curve)
</a:t>
            </a:r>
            <a:pPr algn="l" indent="0" marL="0">
              <a:lnSpc>
                <a:spcPct val="115000"/>
              </a:lnSpc>
              <a:buNone/>
            </a:pPr>
            <a:r>
              <a:rPr lang="en-US" sz="1300" i="1" dirty="0">
                <a:solidFill>
                  <a:srgbClr val="718096"/>
                </a:solidFill>
                <a:latin typeface="Arial" pitchFamily="34" charset="0"/>
                <a:ea typeface="Arial" pitchFamily="34" charset="-122"/>
                <a:cs typeface="Arial" pitchFamily="34" charset="-120"/>
              </a:rPr>
              <a:t>Voorbeeld: boer op de groentemarkt</a:t>
            </a:r>
            <a:endParaRPr lang="en-US" sz="1400" dirty="0"/>
          </a:p>
        </p:txBody>
      </p:sp>
      <p:sp>
        <p:nvSpPr>
          <p:cNvPr id="7" name="Shape 5"/>
          <p:cNvSpPr/>
          <p:nvPr/>
        </p:nvSpPr>
        <p:spPr>
          <a:xfrm>
            <a:off x="4754880" y="1005840"/>
            <a:ext cx="3931920" cy="3017520"/>
          </a:xfrm>
          <a:prstGeom prst="rect">
            <a:avLst>
              <a:gd name="adj" fmla="val 1515"/>
            </a:avLst>
          </a:prstGeom>
          <a:solidFill>
            <a:srgbClr val="F9F6F1"/>
          </a:solidFill>
          <a:ln/>
          <a:effectLst>
            <a:outerShdw sx="100000" sy="100000" kx="0" ky="0" algn="bl" rotWithShape="0" blurRad="76200" dist="25400" dir="8100000">
              <a:srgbClr val="000000">
                <a:alpha val="10000"/>
              </a:srgbClr>
            </a:outerShdw>
          </a:effectLst>
        </p:spPr>
      </p:sp>
      <p:sp>
        <p:nvSpPr>
          <p:cNvPr id="8" name="Shape 6"/>
          <p:cNvSpPr/>
          <p:nvPr/>
        </p:nvSpPr>
        <p:spPr>
          <a:xfrm>
            <a:off x="4754880" y="1005840"/>
            <a:ext cx="54864" cy="3017520"/>
          </a:xfrm>
          <a:prstGeom prst="rect">
            <a:avLst/>
          </a:prstGeom>
          <a:solidFill>
            <a:srgbClr val="E67E22"/>
          </a:solidFill>
          <a:ln/>
        </p:spPr>
      </p:sp>
      <p:sp>
        <p:nvSpPr>
          <p:cNvPr id="9" name="Text 7"/>
          <p:cNvSpPr/>
          <p:nvPr/>
        </p:nvSpPr>
        <p:spPr>
          <a:xfrm>
            <a:off x="4937760" y="1143000"/>
            <a:ext cx="3611880" cy="365760"/>
          </a:xfrm>
          <a:prstGeom prst="rect">
            <a:avLst/>
          </a:prstGeom>
          <a:noFill/>
          <a:ln/>
        </p:spPr>
        <p:txBody>
          <a:bodyPr wrap="square" rtlCol="0" anchor="t"/>
          <a:lstStyle/>
          <a:p>
            <a:pPr indent="0" marL="0">
              <a:buNone/>
            </a:pPr>
            <a:r>
              <a:rPr lang="en-US" sz="2000" b="1" dirty="0">
                <a:solidFill>
                  <a:srgbClr val="E67E22"/>
                </a:solidFill>
                <a:latin typeface="Arial" pitchFamily="34" charset="0"/>
                <a:ea typeface="Arial" pitchFamily="34" charset="-122"/>
                <a:cs typeface="Arial" pitchFamily="34" charset="-120"/>
              </a:rPr>
              <a:t>Waarom?</a:t>
            </a:r>
            <a:endParaRPr lang="en-US" sz="2000" dirty="0"/>
          </a:p>
        </p:txBody>
      </p:sp>
      <p:sp>
        <p:nvSpPr>
          <p:cNvPr id="10" name="Text 8"/>
          <p:cNvSpPr/>
          <p:nvPr/>
        </p:nvSpPr>
        <p:spPr>
          <a:xfrm>
            <a:off x="4937760" y="1554480"/>
            <a:ext cx="3611880" cy="2331720"/>
          </a:xfrm>
          <a:prstGeom prst="rect">
            <a:avLst/>
          </a:prstGeom>
          <a:noFill/>
          <a:ln/>
        </p:spPr>
        <p:txBody>
          <a:bodyPr wrap="square" rtlCol="0" anchor="t"/>
          <a:lstStyle/>
          <a:p>
            <a:pPr algn="l" indent="0" marL="0">
              <a:lnSpc>
                <a:spcPct val="115000"/>
              </a:lnSpc>
              <a:buNone/>
            </a:pPr>
            <a:r>
              <a:rPr lang="en-US" sz="1400" dirty="0">
                <a:solidFill>
                  <a:srgbClr val="2D3748"/>
                </a:solidFill>
                <a:latin typeface="Arial" pitchFamily="34" charset="0"/>
                <a:ea typeface="Arial" pitchFamily="34" charset="-122"/>
                <a:cs typeface="Arial" pitchFamily="34" charset="-120"/>
              </a:rPr>
              <a:t>Eén boer verkoopt 100 kilo aardappelen.
</a:t>
            </a:r>
            <a:pPr algn="l" indent="0" marL="0">
              <a:lnSpc>
                <a:spcPct val="115000"/>
              </a:lnSpc>
              <a:buNone/>
            </a:pPr>
            <a:r>
              <a:rPr lang="en-US" sz="1400" dirty="0">
                <a:solidFill>
                  <a:srgbClr val="2D3748"/>
                </a:solidFill>
                <a:latin typeface="Arial" pitchFamily="34" charset="0"/>
                <a:ea typeface="Arial" pitchFamily="34" charset="-122"/>
                <a:cs typeface="Arial" pitchFamily="34" charset="-120"/>
              </a:rPr>
              <a:t>De marktprijs is €2 per kilo.
</a:t>
            </a:r>
            <a:pPr algn="l" indent="0" marL="0">
              <a:lnSpc>
                <a:spcPct val="115000"/>
              </a:lnSpc>
              <a:buNone/>
            </a:pPr>
            <a:r>
              <a:rPr lang="en-US" sz="1400" dirty="0">
                <a:solidFill>
                  <a:srgbClr val="2D3748"/>
                </a:solidFill>
                <a:latin typeface="Arial" pitchFamily="34" charset="0"/>
                <a:ea typeface="Arial" pitchFamily="34" charset="-122"/>
                <a:cs typeface="Arial" pitchFamily="34" charset="-120"/>
              </a:rPr>
              <a:t>Of hij nu 100 of 101 kilo verkoopt, de prijs blijft €2.
</a:t>
            </a:r>
            <a:pPr algn="l" indent="0" marL="0">
              <a:lnSpc>
                <a:spcPct val="115000"/>
              </a:lnSpc>
              <a:buNone/>
            </a:pPr>
            <a:r>
              <a:rPr lang="en-US" sz="1400" b="1" dirty="0">
                <a:solidFill>
                  <a:srgbClr val="2D3748"/>
                </a:solidFill>
                <a:latin typeface="Arial" pitchFamily="34" charset="0"/>
                <a:ea typeface="Arial" pitchFamily="34" charset="-122"/>
                <a:cs typeface="Arial" pitchFamily="34" charset="-120"/>
              </a:rPr>
              <a:t>Dus: MO = p = €2</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0"/>
            <a:ext cx="8229600" cy="68580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Monopolie/Oligopolie: MO &lt; p</a:t>
            </a:r>
            <a:endParaRPr lang="en-US" sz="2400" dirty="0"/>
          </a:p>
        </p:txBody>
      </p:sp>
      <p:sp>
        <p:nvSpPr>
          <p:cNvPr id="3" name="Shape 1"/>
          <p:cNvSpPr/>
          <p:nvPr/>
        </p:nvSpPr>
        <p:spPr>
          <a:xfrm>
            <a:off x="457200" y="1005840"/>
            <a:ext cx="3931920" cy="3017520"/>
          </a:xfrm>
          <a:prstGeom prst="rect">
            <a:avLst>
              <a:gd name="adj" fmla="val 1515"/>
            </a:avLst>
          </a:prstGeom>
          <a:solidFill>
            <a:srgbClr val="F9F6F1"/>
          </a:solidFill>
          <a:ln/>
          <a:effectLst>
            <a:outerShdw sx="100000" sy="100000" kx="0" ky="0" algn="bl" rotWithShape="0" blurRad="76200" dist="25400" dir="8100000">
              <a:srgbClr val="000000">
                <a:alpha val="10000"/>
              </a:srgbClr>
            </a:outerShdw>
          </a:effectLst>
        </p:spPr>
      </p:sp>
      <p:sp>
        <p:nvSpPr>
          <p:cNvPr id="4" name="Shape 2"/>
          <p:cNvSpPr/>
          <p:nvPr/>
        </p:nvSpPr>
        <p:spPr>
          <a:xfrm>
            <a:off x="457200" y="1005840"/>
            <a:ext cx="54864" cy="3017520"/>
          </a:xfrm>
          <a:prstGeom prst="rect">
            <a:avLst/>
          </a:prstGeom>
          <a:solidFill>
            <a:srgbClr val="7B2D8E"/>
          </a:solidFill>
          <a:ln/>
        </p:spPr>
      </p:sp>
      <p:sp>
        <p:nvSpPr>
          <p:cNvPr id="5" name="Text 3"/>
          <p:cNvSpPr/>
          <p:nvPr/>
        </p:nvSpPr>
        <p:spPr>
          <a:xfrm>
            <a:off x="640080" y="1143000"/>
            <a:ext cx="3611880" cy="365760"/>
          </a:xfrm>
          <a:prstGeom prst="rect">
            <a:avLst/>
          </a:prstGeom>
          <a:noFill/>
          <a:ln/>
        </p:spPr>
        <p:txBody>
          <a:bodyPr wrap="square" rtlCol="0" anchor="t"/>
          <a:lstStyle/>
          <a:p>
            <a:pPr indent="0" marL="0">
              <a:buNone/>
            </a:pPr>
            <a:r>
              <a:rPr lang="en-US" sz="2000" b="1" dirty="0">
                <a:solidFill>
                  <a:srgbClr val="7B2D8E"/>
                </a:solidFill>
                <a:latin typeface="Arial" pitchFamily="34" charset="0"/>
                <a:ea typeface="Arial" pitchFamily="34" charset="-122"/>
                <a:cs typeface="Arial" pitchFamily="34" charset="-120"/>
              </a:rPr>
              <a:t>Prijszetter (price maker)</a:t>
            </a:r>
            <a:endParaRPr lang="en-US" sz="2000" dirty="0"/>
          </a:p>
        </p:txBody>
      </p:sp>
      <p:sp>
        <p:nvSpPr>
          <p:cNvPr id="6" name="Text 4"/>
          <p:cNvSpPr/>
          <p:nvPr/>
        </p:nvSpPr>
        <p:spPr>
          <a:xfrm>
            <a:off x="640080" y="1554480"/>
            <a:ext cx="3611880" cy="2331720"/>
          </a:xfrm>
          <a:prstGeom prst="rect">
            <a:avLst/>
          </a:prstGeom>
          <a:noFill/>
          <a:ln/>
        </p:spPr>
        <p:txBody>
          <a:bodyPr wrap="square" rtlCol="0" anchor="t"/>
          <a:lstStyle/>
          <a:p>
            <a:pPr algn="l" indent="0" marL="0">
              <a:lnSpc>
                <a:spcPct val="115000"/>
              </a:lnSpc>
              <a:buNone/>
            </a:pPr>
            <a:r>
              <a:rPr lang="en-US" sz="1400" dirty="0">
                <a:solidFill>
                  <a:srgbClr val="2D3748"/>
                </a:solidFill>
                <a:latin typeface="Arial" pitchFamily="34" charset="0"/>
                <a:ea typeface="Arial" pitchFamily="34" charset="-122"/>
                <a:cs typeface="Arial" pitchFamily="34" charset="-120"/>
              </a:rPr>
              <a:t>Het bedrijf is groot genoeg om de prijs te beïnvloeden.
</a:t>
            </a:r>
            <a:pPr algn="l" indent="0" marL="0">
              <a:lnSpc>
                <a:spcPct val="115000"/>
              </a:lnSpc>
              <a:buNone/>
            </a:pPr>
            <a:r>
              <a:rPr lang="en-US" sz="1400" b="1" dirty="0">
                <a:solidFill>
                  <a:srgbClr val="2D3748"/>
                </a:solidFill>
                <a:latin typeface="Arial" pitchFamily="34" charset="0"/>
                <a:ea typeface="Arial" pitchFamily="34" charset="-122"/>
                <a:cs typeface="Arial" pitchFamily="34" charset="-120"/>
              </a:rPr>
              <a:t>Meer verkoop = lagere prijs
MO &lt; p (dalende MO-curve)
</a:t>
            </a:r>
            <a:pPr algn="l" indent="0" marL="0">
              <a:lnSpc>
                <a:spcPct val="115000"/>
              </a:lnSpc>
              <a:buNone/>
            </a:pPr>
            <a:r>
              <a:rPr lang="en-US" sz="1300" i="1" dirty="0">
                <a:solidFill>
                  <a:srgbClr val="718096"/>
                </a:solidFill>
                <a:latin typeface="Arial" pitchFamily="34" charset="0"/>
                <a:ea typeface="Arial" pitchFamily="34" charset="-122"/>
                <a:cs typeface="Arial" pitchFamily="34" charset="-120"/>
              </a:rPr>
              <a:t>Voorbeeld: telefoonprovider</a:t>
            </a:r>
            <a:endParaRPr lang="en-US" sz="1400" dirty="0"/>
          </a:p>
        </p:txBody>
      </p:sp>
      <p:sp>
        <p:nvSpPr>
          <p:cNvPr id="7" name="Shape 5"/>
          <p:cNvSpPr/>
          <p:nvPr/>
        </p:nvSpPr>
        <p:spPr>
          <a:xfrm>
            <a:off x="4754880" y="1005840"/>
            <a:ext cx="3931920" cy="3017520"/>
          </a:xfrm>
          <a:prstGeom prst="rect">
            <a:avLst>
              <a:gd name="adj" fmla="val 1515"/>
            </a:avLst>
          </a:prstGeom>
          <a:solidFill>
            <a:srgbClr val="F9F6F1"/>
          </a:solidFill>
          <a:ln/>
          <a:effectLst>
            <a:outerShdw sx="100000" sy="100000" kx="0" ky="0" algn="bl" rotWithShape="0" blurRad="76200" dist="25400" dir="8100000">
              <a:srgbClr val="000000">
                <a:alpha val="10000"/>
              </a:srgbClr>
            </a:outerShdw>
          </a:effectLst>
        </p:spPr>
      </p:sp>
      <p:sp>
        <p:nvSpPr>
          <p:cNvPr id="8" name="Shape 6"/>
          <p:cNvSpPr/>
          <p:nvPr/>
        </p:nvSpPr>
        <p:spPr>
          <a:xfrm>
            <a:off x="4754880" y="1005840"/>
            <a:ext cx="54864" cy="3017520"/>
          </a:xfrm>
          <a:prstGeom prst="rect">
            <a:avLst/>
          </a:prstGeom>
          <a:solidFill>
            <a:srgbClr val="E67E22"/>
          </a:solidFill>
          <a:ln/>
        </p:spPr>
      </p:sp>
      <p:sp>
        <p:nvSpPr>
          <p:cNvPr id="9" name="Text 7"/>
          <p:cNvSpPr/>
          <p:nvPr/>
        </p:nvSpPr>
        <p:spPr>
          <a:xfrm>
            <a:off x="4937760" y="1143000"/>
            <a:ext cx="3611880" cy="365760"/>
          </a:xfrm>
          <a:prstGeom prst="rect">
            <a:avLst/>
          </a:prstGeom>
          <a:noFill/>
          <a:ln/>
        </p:spPr>
        <p:txBody>
          <a:bodyPr wrap="square" rtlCol="0" anchor="t"/>
          <a:lstStyle/>
          <a:p>
            <a:pPr indent="0" marL="0">
              <a:buNone/>
            </a:pPr>
            <a:r>
              <a:rPr lang="en-US" sz="2000" b="1" dirty="0">
                <a:solidFill>
                  <a:srgbClr val="E67E22"/>
                </a:solidFill>
                <a:latin typeface="Arial" pitchFamily="34" charset="0"/>
                <a:ea typeface="Arial" pitchFamily="34" charset="-122"/>
                <a:cs typeface="Arial" pitchFamily="34" charset="-120"/>
              </a:rPr>
              <a:t>Waarom MO &lt; p?</a:t>
            </a:r>
            <a:endParaRPr lang="en-US" sz="2000" dirty="0"/>
          </a:p>
        </p:txBody>
      </p:sp>
      <p:sp>
        <p:nvSpPr>
          <p:cNvPr id="10" name="Text 8"/>
          <p:cNvSpPr/>
          <p:nvPr/>
        </p:nvSpPr>
        <p:spPr>
          <a:xfrm>
            <a:off x="4937760" y="1554480"/>
            <a:ext cx="3611880" cy="2331720"/>
          </a:xfrm>
          <a:prstGeom prst="rect">
            <a:avLst/>
          </a:prstGeom>
          <a:noFill/>
          <a:ln/>
        </p:spPr>
        <p:txBody>
          <a:bodyPr wrap="square" rtlCol="0" anchor="t"/>
          <a:lstStyle/>
          <a:p>
            <a:pPr algn="l" indent="0" marL="0">
              <a:lnSpc>
                <a:spcPct val="115000"/>
              </a:lnSpc>
              <a:buNone/>
            </a:pPr>
            <a:r>
              <a:rPr lang="en-US" sz="1400" dirty="0">
                <a:solidFill>
                  <a:srgbClr val="2D3748"/>
                </a:solidFill>
                <a:latin typeface="Arial" pitchFamily="34" charset="0"/>
                <a:ea typeface="Arial" pitchFamily="34" charset="-122"/>
                <a:cs typeface="Arial" pitchFamily="34" charset="-120"/>
              </a:rPr>
              <a:t>Om meer te verkopen moet de monopolist de prijs verlagen.
</a:t>
            </a:r>
            <a:pPr algn="l" indent="0" marL="0">
              <a:lnSpc>
                <a:spcPct val="115000"/>
              </a:lnSpc>
              <a:buNone/>
            </a:pPr>
            <a:r>
              <a:rPr lang="en-US" sz="1400" dirty="0">
                <a:solidFill>
                  <a:srgbClr val="2D3748"/>
                </a:solidFill>
                <a:latin typeface="Arial" pitchFamily="34" charset="0"/>
                <a:ea typeface="Arial" pitchFamily="34" charset="-122"/>
                <a:cs typeface="Arial" pitchFamily="34" charset="-120"/>
              </a:rPr>
              <a:t>Die lagere prijs geldt ook voor alle vorige eenheden.
</a:t>
            </a:r>
            <a:pPr algn="l" indent="0" marL="0">
              <a:lnSpc>
                <a:spcPct val="115000"/>
              </a:lnSpc>
              <a:buNone/>
            </a:pPr>
            <a:r>
              <a:rPr lang="en-US" sz="1400" b="1" dirty="0">
                <a:solidFill>
                  <a:srgbClr val="2D3748"/>
                </a:solidFill>
                <a:latin typeface="Arial" pitchFamily="34" charset="0"/>
                <a:ea typeface="Arial" pitchFamily="34" charset="-122"/>
                <a:cs typeface="Arial" pitchFamily="34" charset="-120"/>
              </a:rPr>
              <a:t>De extra opbrengst (MO) is dus lager dan de verkoopprijs (p).</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0"/>
            <a:ext cx="8229600" cy="68580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MO in de grafiek: prijsnemer vs. prijszetter</a:t>
            </a:r>
            <a:endParaRPr lang="en-US" sz="2400" dirty="0"/>
          </a:p>
        </p:txBody>
      </p:sp>
      <p:pic>
        <p:nvPicPr>
          <p:cNvPr id="3" name="Image 0" descr="preencoded.png">    </p:cNvPr>
          <p:cNvPicPr>
            <a:picLocks noChangeAspect="1"/>
          </p:cNvPicPr>
          <p:nvPr/>
        </p:nvPicPr>
        <p:blipFill>
          <a:blip r:embed="rId1"/>
          <a:stretch>
            <a:fillRect/>
          </a:stretch>
        </p:blipFill>
        <p:spPr>
          <a:xfrm>
            <a:off x="685800" y="822960"/>
            <a:ext cx="7772400" cy="38862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0"/>
            <a:ext cx="8229600" cy="68580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Vergelijking: MO = p vs MO &lt; p</a:t>
            </a:r>
            <a:endParaRPr lang="en-US" sz="2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2011680"/>
                <a:gridCol w="3108960"/>
                <a:gridCol w="3108960"/>
              </a:tblGrid>
              <a:tr h="411480">
                <a:tc>
                  <a:txBody>
                    <a:bodyPr/>
                    <a:lstStyle/>
                    <a:p>
                      <a:pPr indent="0" marL="0">
                        <a:buNone/>
                      </a:pPr>
                      <a:endParaRPr lang="en-US" sz="1400" dirty="0">
                        <a:latin typeface="Arial" charset="0"/>
                        <a:ea typeface="Arial" charset="0"/>
                        <a:cs typeface="Arial" charset="0"/>
                      </a:endParaRPr>
                    </a:p>
                  </a:txBody>
                  <a:tcPr marL="91440" marR="91440" marT="45720" marB="45720"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Volledige mededinging</a:t>
                      </a:r>
                      <a:endParaRPr lang="en-US" sz="1400" dirty="0">
                        <a:latin typeface="Arial" charset="0"/>
                        <a:ea typeface="Arial" charset="0"/>
                        <a:cs typeface="Arial" charset="0"/>
                      </a:endParaRPr>
                    </a:p>
                  </a:txBody>
                  <a:tcPr marL="91440" marR="91440" marT="45720" marB="45720"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Monopolie / Oligopolie</a:t>
                      </a:r>
                      <a:endParaRPr lang="en-US" sz="1400" dirty="0">
                        <a:latin typeface="Arial" charset="0"/>
                        <a:ea typeface="Arial" charset="0"/>
                        <a:cs typeface="Arial" charset="0"/>
                      </a:endParaRPr>
                    </a:p>
                  </a:txBody>
                  <a:tcPr marL="91440" marR="91440" marT="45720" marB="45720"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1E2761"/>
                    </a:solidFill>
                  </a:tcPr>
                </a:tc>
              </a:tr>
              <a:tr h="457200">
                <a:tc>
                  <a:txBody>
                    <a:bodyPr/>
                    <a:lstStyle/>
                    <a:p>
                      <a:pPr indent="0" marL="0">
                        <a:buNone/>
                      </a:pPr>
                      <a:r>
                        <a:rPr lang="en-US" sz="1300" b="1" dirty="0">
                          <a:solidFill>
                            <a:srgbClr val="000000"/>
                          </a:solidFill>
                          <a:latin typeface="Arial" pitchFamily="34" charset="0"/>
                          <a:ea typeface="Arial" pitchFamily="34" charset="-122"/>
                          <a:cs typeface="Arial" pitchFamily="34" charset="-120"/>
                        </a:rPr>
                        <a:t>Prijsgedrag</a:t>
                      </a:r>
                      <a:endParaRPr lang="en-US" sz="1300" dirty="0">
                        <a:latin typeface="Arial" charset="0"/>
                        <a:ea typeface="Arial" charset="0"/>
                        <a:cs typeface="Arial" charset="0"/>
                      </a:endParaRPr>
                    </a:p>
                  </a:txBody>
                  <a:tcPr marL="91440" marR="91440" marT="45720" marB="45720"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F7FAFC"/>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Prijsnemer</a:t>
                      </a:r>
                      <a:endParaRPr lang="en-US" sz="1300" dirty="0">
                        <a:latin typeface="Arial" charset="0"/>
                        <a:ea typeface="Arial" charset="0"/>
                        <a:cs typeface="Arial" charset="0"/>
                      </a:endParaRPr>
                    </a:p>
                  </a:txBody>
                  <a:tcPr marL="91440" marR="91440" marT="45720" marB="45720"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F7FAFC"/>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Prijszetter</a:t>
                      </a:r>
                      <a:endParaRPr lang="en-US" sz="1300" dirty="0">
                        <a:latin typeface="Arial" charset="0"/>
                        <a:ea typeface="Arial" charset="0"/>
                        <a:cs typeface="Arial" charset="0"/>
                      </a:endParaRPr>
                    </a:p>
                  </a:txBody>
                  <a:tcPr marL="91440" marR="91440" marT="45720" marB="45720"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F7FAFC"/>
                    </a:solidFill>
                  </a:tcPr>
                </a:tc>
              </a:tr>
              <a:tr h="457200">
                <a:tc>
                  <a:txBody>
                    <a:bodyPr/>
                    <a:lstStyle/>
                    <a:p>
                      <a:pPr indent="0" marL="0">
                        <a:buNone/>
                      </a:pPr>
                      <a:r>
                        <a:rPr lang="en-US" sz="1300" b="1" dirty="0">
                          <a:solidFill>
                            <a:srgbClr val="000000"/>
                          </a:solidFill>
                          <a:latin typeface="Arial" pitchFamily="34" charset="0"/>
                          <a:ea typeface="Arial" pitchFamily="34" charset="-122"/>
                          <a:cs typeface="Arial" pitchFamily="34" charset="-120"/>
                        </a:rPr>
                        <a:t>MO-curve</a:t>
                      </a:r>
                      <a:endParaRPr lang="en-US" sz="1300" dirty="0">
                        <a:latin typeface="Arial" charset="0"/>
                        <a:ea typeface="Arial" charset="0"/>
                        <a:cs typeface="Arial" charset="0"/>
                      </a:endParaRPr>
                    </a:p>
                  </a:txBody>
                  <a:tcPr marL="91440" marR="91440" marT="45720" marB="45720"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FFFFFF"/>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Horizontaal (MO = p)</a:t>
                      </a:r>
                      <a:endParaRPr lang="en-US" sz="1300" dirty="0">
                        <a:latin typeface="Arial" charset="0"/>
                        <a:ea typeface="Arial" charset="0"/>
                        <a:cs typeface="Arial" charset="0"/>
                      </a:endParaRPr>
                    </a:p>
                  </a:txBody>
                  <a:tcPr marL="91440" marR="91440" marT="45720" marB="45720"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FFFFFF"/>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Dalend (MO &lt; p)</a:t>
                      </a:r>
                      <a:endParaRPr lang="en-US" sz="1300" dirty="0">
                        <a:latin typeface="Arial" charset="0"/>
                        <a:ea typeface="Arial" charset="0"/>
                        <a:cs typeface="Arial" charset="0"/>
                      </a:endParaRPr>
                    </a:p>
                  </a:txBody>
                  <a:tcPr marL="91440" marR="91440" marT="45720" marB="45720"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00000"/>
                          </a:solidFill>
                          <a:latin typeface="Arial" pitchFamily="34" charset="0"/>
                          <a:ea typeface="Arial" pitchFamily="34" charset="-122"/>
                          <a:cs typeface="Arial" pitchFamily="34" charset="-120"/>
                        </a:rPr>
                        <a:t>Winstmax</a:t>
                      </a:r>
                      <a:endParaRPr lang="en-US" sz="1300" dirty="0">
                        <a:latin typeface="Arial" charset="0"/>
                        <a:ea typeface="Arial" charset="0"/>
                        <a:cs typeface="Arial" charset="0"/>
                      </a:endParaRPr>
                    </a:p>
                  </a:txBody>
                  <a:tcPr marL="91440" marR="91440" marT="45720" marB="45720"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F7FAFC"/>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MO = MK (= p)</a:t>
                      </a:r>
                      <a:endParaRPr lang="en-US" sz="1300" dirty="0">
                        <a:latin typeface="Arial" charset="0"/>
                        <a:ea typeface="Arial" charset="0"/>
                        <a:cs typeface="Arial" charset="0"/>
                      </a:endParaRPr>
                    </a:p>
                  </a:txBody>
                  <a:tcPr marL="91440" marR="91440" marT="45720" marB="45720"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F7FAFC"/>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MO = MK (≠ p)</a:t>
                      </a:r>
                      <a:endParaRPr lang="en-US" sz="1300" dirty="0">
                        <a:latin typeface="Arial" charset="0"/>
                        <a:ea typeface="Arial" charset="0"/>
                        <a:cs typeface="Arial" charset="0"/>
                      </a:endParaRPr>
                    </a:p>
                  </a:txBody>
                  <a:tcPr marL="91440" marR="91440" marT="45720" marB="45720"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F7FAFC"/>
                    </a:solidFill>
                  </a:tcPr>
                </a:tc>
              </a:tr>
              <a:tr h="457200">
                <a:tc>
                  <a:txBody>
                    <a:bodyPr/>
                    <a:lstStyle/>
                    <a:p>
                      <a:pPr indent="0" marL="0">
                        <a:buNone/>
                      </a:pPr>
                      <a:r>
                        <a:rPr lang="en-US" sz="1300" b="1" dirty="0">
                          <a:solidFill>
                            <a:srgbClr val="000000"/>
                          </a:solidFill>
                          <a:latin typeface="Arial" pitchFamily="34" charset="0"/>
                          <a:ea typeface="Arial" pitchFamily="34" charset="-122"/>
                          <a:cs typeface="Arial" pitchFamily="34" charset="-120"/>
                        </a:rPr>
                        <a:t>Voorbeeld</a:t>
                      </a:r>
                      <a:endParaRPr lang="en-US" sz="1300" dirty="0">
                        <a:latin typeface="Arial" charset="0"/>
                        <a:ea typeface="Arial" charset="0"/>
                        <a:cs typeface="Arial" charset="0"/>
                      </a:endParaRPr>
                    </a:p>
                  </a:txBody>
                  <a:tcPr marL="91440" marR="91440" marT="45720" marB="45720"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FFFFFF"/>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Boer, groentemarkt</a:t>
                      </a:r>
                      <a:endParaRPr lang="en-US" sz="1300" dirty="0">
                        <a:latin typeface="Arial" charset="0"/>
                        <a:ea typeface="Arial" charset="0"/>
                        <a:cs typeface="Arial" charset="0"/>
                      </a:endParaRPr>
                    </a:p>
                  </a:txBody>
                  <a:tcPr marL="91440" marR="91440" marT="45720" marB="45720"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FFFFFF"/>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Telecomprovider, NS</a:t>
                      </a:r>
                      <a:endParaRPr lang="en-US" sz="1300" dirty="0">
                        <a:latin typeface="Arial" charset="0"/>
                        <a:ea typeface="Arial" charset="0"/>
                        <a:cs typeface="Arial" charset="0"/>
                      </a:endParaRPr>
                    </a:p>
                  </a:txBody>
                  <a:tcPr marL="91440" marR="91440" marT="45720" marB="45720"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FFFFFF"/>
                    </a:solidFill>
                  </a:tcPr>
                </a:tc>
              </a:tr>
            </a:tbl>
          </a:graphicData>
        </a:graphic>
      </p:graphicFrame>
      <p:sp>
        <p:nvSpPr>
          <p:cNvPr id="4" name="Text 1"/>
          <p:cNvSpPr/>
          <p:nvPr/>
        </p:nvSpPr>
        <p:spPr>
          <a:xfrm>
            <a:off x="457200" y="3474720"/>
            <a:ext cx="8229600" cy="457200"/>
          </a:xfrm>
          <a:prstGeom prst="rect">
            <a:avLst/>
          </a:prstGeom>
          <a:noFill/>
          <a:ln/>
        </p:spPr>
        <p:txBody>
          <a:bodyPr wrap="square" rtlCol="0" anchor="ctr"/>
          <a:lstStyle/>
          <a:p>
            <a:pPr indent="0" marL="0">
              <a:buNone/>
            </a:pPr>
            <a:r>
              <a:rPr lang="en-US" sz="1400" b="1" dirty="0">
                <a:solidFill>
                  <a:srgbClr val="2D3748"/>
                </a:solidFill>
                <a:latin typeface="Arial" pitchFamily="34" charset="0"/>
                <a:ea typeface="Arial" pitchFamily="34" charset="-122"/>
                <a:cs typeface="Arial" pitchFamily="34" charset="-120"/>
              </a:rPr>
              <a:t>Kernpunt: MO = MK geldt in BEIDE gevallen! Het verschil zit in de relatie tussen MO en p.</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0"/>
            <a:ext cx="8229600" cy="68580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Toepassing: de arbeidsmarkt</a:t>
            </a:r>
            <a:endParaRPr lang="en-US" sz="2400" dirty="0"/>
          </a:p>
        </p:txBody>
      </p:sp>
      <p:sp>
        <p:nvSpPr>
          <p:cNvPr id="3" name="Text 1"/>
          <p:cNvSpPr/>
          <p:nvPr/>
        </p:nvSpPr>
        <p:spPr>
          <a:xfrm>
            <a:off x="640080" y="777240"/>
            <a:ext cx="7863840" cy="320040"/>
          </a:xfrm>
          <a:prstGeom prst="rect">
            <a:avLst/>
          </a:prstGeom>
          <a:noFill/>
          <a:ln/>
        </p:spPr>
        <p:txBody>
          <a:bodyPr wrap="square" rtlCol="0" anchor="ctr"/>
          <a:lstStyle/>
          <a:p>
            <a:pPr indent="0" marL="0">
              <a:buNone/>
            </a:pPr>
            <a:r>
              <a:rPr lang="en-US" sz="1600" i="1" dirty="0">
                <a:solidFill>
                  <a:srgbClr val="718096"/>
                </a:solidFill>
                <a:latin typeface="Arial" pitchFamily="34" charset="0"/>
                <a:ea typeface="Arial" pitchFamily="34" charset="-122"/>
                <a:cs typeface="Arial" pitchFamily="34" charset="-120"/>
              </a:rPr>
              <a:t>Loon = prijs van arbeid</a:t>
            </a:r>
            <a:endParaRPr lang="en-US" sz="1600" dirty="0"/>
          </a:p>
        </p:txBody>
      </p:sp>
      <p:sp>
        <p:nvSpPr>
          <p:cNvPr id="4" name="Text 2"/>
          <p:cNvSpPr/>
          <p:nvPr/>
        </p:nvSpPr>
        <p:spPr>
          <a:xfrm>
            <a:off x="640080" y="1097280"/>
            <a:ext cx="7863840" cy="320040"/>
          </a:xfrm>
          <a:prstGeom prst="rect">
            <a:avLst/>
          </a:prstGeom>
          <a:noFill/>
          <a:ln/>
        </p:spPr>
        <p:txBody>
          <a:bodyPr wrap="square" rtlCol="0" anchor="ctr"/>
          <a:lstStyle/>
          <a:p>
            <a:pPr indent="0" marL="0">
              <a:buNone/>
            </a:pPr>
            <a:r>
              <a:rPr lang="en-US" sz="1400" dirty="0">
                <a:solidFill>
                  <a:srgbClr val="2D3748"/>
                </a:solidFill>
                <a:latin typeface="Arial" pitchFamily="34" charset="0"/>
                <a:ea typeface="Arial" pitchFamily="34" charset="-122"/>
                <a:cs typeface="Arial" pitchFamily="34" charset="-120"/>
              </a:rPr>
              <a:t>Op de arbeidsmarkt werkt hetzelfde mechanisme: vraag en aanbod bepalen het evenwichtsloon.</a:t>
            </a:r>
            <a:endParaRPr lang="en-US" sz="1400" dirty="0"/>
          </a:p>
        </p:txBody>
      </p:sp>
      <p:sp>
        <p:nvSpPr>
          <p:cNvPr id="5" name="Shape 3"/>
          <p:cNvSpPr/>
          <p:nvPr/>
        </p:nvSpPr>
        <p:spPr>
          <a:xfrm>
            <a:off x="457200" y="1645920"/>
            <a:ext cx="3931920" cy="2286000"/>
          </a:xfrm>
          <a:prstGeom prst="rect">
            <a:avLst>
              <a:gd name="adj" fmla="val 2000"/>
            </a:avLst>
          </a:prstGeom>
          <a:solidFill>
            <a:srgbClr val="F9F6F1"/>
          </a:solidFill>
          <a:ln/>
          <a:effectLst>
            <a:outerShdw sx="100000" sy="100000" kx="0" ky="0" algn="bl" rotWithShape="0" blurRad="76200" dist="25400" dir="8100000">
              <a:srgbClr val="000000">
                <a:alpha val="10000"/>
              </a:srgbClr>
            </a:outerShdw>
          </a:effectLst>
        </p:spPr>
      </p:sp>
      <p:sp>
        <p:nvSpPr>
          <p:cNvPr id="6" name="Shape 4"/>
          <p:cNvSpPr/>
          <p:nvPr/>
        </p:nvSpPr>
        <p:spPr>
          <a:xfrm>
            <a:off x="457200" y="1645920"/>
            <a:ext cx="54864" cy="2286000"/>
          </a:xfrm>
          <a:prstGeom prst="rect">
            <a:avLst/>
          </a:prstGeom>
          <a:solidFill>
            <a:srgbClr val="1E8449"/>
          </a:solidFill>
          <a:ln/>
        </p:spPr>
      </p:sp>
      <p:sp>
        <p:nvSpPr>
          <p:cNvPr id="7" name="Text 5"/>
          <p:cNvSpPr/>
          <p:nvPr/>
        </p:nvSpPr>
        <p:spPr>
          <a:xfrm>
            <a:off x="640080" y="1783080"/>
            <a:ext cx="3611880" cy="365760"/>
          </a:xfrm>
          <a:prstGeom prst="rect">
            <a:avLst/>
          </a:prstGeom>
          <a:noFill/>
          <a:ln/>
        </p:spPr>
        <p:txBody>
          <a:bodyPr wrap="square" rtlCol="0" anchor="t"/>
          <a:lstStyle/>
          <a:p>
            <a:pPr indent="0" marL="0">
              <a:buNone/>
            </a:pPr>
            <a:r>
              <a:rPr lang="en-US" sz="2000" b="1" dirty="0">
                <a:solidFill>
                  <a:srgbClr val="1E8449"/>
                </a:solidFill>
                <a:latin typeface="Arial" pitchFamily="34" charset="0"/>
                <a:ea typeface="Arial" pitchFamily="34" charset="-122"/>
                <a:cs typeface="Arial" pitchFamily="34" charset="-120"/>
              </a:rPr>
              <a:t>Aanbodcurve</a:t>
            </a:r>
            <a:endParaRPr lang="en-US" sz="2000" dirty="0"/>
          </a:p>
        </p:txBody>
      </p:sp>
      <p:sp>
        <p:nvSpPr>
          <p:cNvPr id="8" name="Text 6"/>
          <p:cNvSpPr/>
          <p:nvPr/>
        </p:nvSpPr>
        <p:spPr>
          <a:xfrm>
            <a:off x="640080" y="2194560"/>
            <a:ext cx="3611880" cy="1600200"/>
          </a:xfrm>
          <a:prstGeom prst="rect">
            <a:avLst/>
          </a:prstGeom>
          <a:noFill/>
          <a:ln/>
        </p:spPr>
        <p:txBody>
          <a:bodyPr wrap="square" rtlCol="0" anchor="t"/>
          <a:lstStyle/>
          <a:p>
            <a:pPr algn="l" indent="0" marL="0">
              <a:lnSpc>
                <a:spcPct val="115000"/>
              </a:lnSpc>
              <a:buNone/>
            </a:pPr>
            <a:r>
              <a:rPr lang="en-US" sz="1400" dirty="0">
                <a:solidFill>
                  <a:srgbClr val="2D3748"/>
                </a:solidFill>
                <a:latin typeface="Arial" pitchFamily="34" charset="0"/>
                <a:ea typeface="Arial" pitchFamily="34" charset="-122"/>
                <a:cs typeface="Arial" pitchFamily="34" charset="-120"/>
              </a:rPr>
              <a:t>Meer loon → meer mensen willen werken</a:t>
            </a:r>
            <a:endParaRPr lang="en-US" sz="1400" dirty="0"/>
          </a:p>
        </p:txBody>
      </p:sp>
      <p:sp>
        <p:nvSpPr>
          <p:cNvPr id="9" name="Shape 7"/>
          <p:cNvSpPr/>
          <p:nvPr/>
        </p:nvSpPr>
        <p:spPr>
          <a:xfrm>
            <a:off x="4754880" y="1645920"/>
            <a:ext cx="3931920" cy="2286000"/>
          </a:xfrm>
          <a:prstGeom prst="rect">
            <a:avLst>
              <a:gd name="adj" fmla="val 2000"/>
            </a:avLst>
          </a:prstGeom>
          <a:solidFill>
            <a:srgbClr val="F9F6F1"/>
          </a:solidFill>
          <a:ln/>
          <a:effectLst>
            <a:outerShdw sx="100000" sy="100000" kx="0" ky="0" algn="bl" rotWithShape="0" blurRad="76200" dist="25400" dir="8100000">
              <a:srgbClr val="000000">
                <a:alpha val="10000"/>
              </a:srgbClr>
            </a:outerShdw>
          </a:effectLst>
        </p:spPr>
      </p:sp>
      <p:sp>
        <p:nvSpPr>
          <p:cNvPr id="10" name="Shape 8"/>
          <p:cNvSpPr/>
          <p:nvPr/>
        </p:nvSpPr>
        <p:spPr>
          <a:xfrm>
            <a:off x="4754880" y="1645920"/>
            <a:ext cx="54864" cy="2286000"/>
          </a:xfrm>
          <a:prstGeom prst="rect">
            <a:avLst/>
          </a:prstGeom>
          <a:solidFill>
            <a:srgbClr val="1A5276"/>
          </a:solidFill>
          <a:ln/>
        </p:spPr>
      </p:sp>
      <p:sp>
        <p:nvSpPr>
          <p:cNvPr id="11" name="Text 9"/>
          <p:cNvSpPr/>
          <p:nvPr/>
        </p:nvSpPr>
        <p:spPr>
          <a:xfrm>
            <a:off x="4937760" y="1783080"/>
            <a:ext cx="3611880" cy="365760"/>
          </a:xfrm>
          <a:prstGeom prst="rect">
            <a:avLst/>
          </a:prstGeom>
          <a:noFill/>
          <a:ln/>
        </p:spPr>
        <p:txBody>
          <a:bodyPr wrap="square" rtlCol="0" anchor="t"/>
          <a:lstStyle/>
          <a:p>
            <a:pPr indent="0" marL="0">
              <a:buNone/>
            </a:pPr>
            <a:r>
              <a:rPr lang="en-US" sz="2000" b="1" dirty="0">
                <a:solidFill>
                  <a:srgbClr val="1A5276"/>
                </a:solidFill>
                <a:latin typeface="Arial" pitchFamily="34" charset="0"/>
                <a:ea typeface="Arial" pitchFamily="34" charset="-122"/>
                <a:cs typeface="Arial" pitchFamily="34" charset="-120"/>
              </a:rPr>
              <a:t>Vraagcurve</a:t>
            </a:r>
            <a:endParaRPr lang="en-US" sz="2000" dirty="0"/>
          </a:p>
        </p:txBody>
      </p:sp>
      <p:sp>
        <p:nvSpPr>
          <p:cNvPr id="12" name="Text 10"/>
          <p:cNvSpPr/>
          <p:nvPr/>
        </p:nvSpPr>
        <p:spPr>
          <a:xfrm>
            <a:off x="4937760" y="2194560"/>
            <a:ext cx="3611880" cy="1600200"/>
          </a:xfrm>
          <a:prstGeom prst="rect">
            <a:avLst/>
          </a:prstGeom>
          <a:noFill/>
          <a:ln/>
        </p:spPr>
        <p:txBody>
          <a:bodyPr wrap="square" rtlCol="0" anchor="t"/>
          <a:lstStyle/>
          <a:p>
            <a:pPr algn="l" indent="0" marL="0">
              <a:lnSpc>
                <a:spcPct val="115000"/>
              </a:lnSpc>
              <a:buNone/>
            </a:pPr>
            <a:r>
              <a:rPr lang="en-US" sz="1400" dirty="0">
                <a:solidFill>
                  <a:srgbClr val="2D3748"/>
                </a:solidFill>
                <a:latin typeface="Arial" pitchFamily="34" charset="0"/>
                <a:ea typeface="Arial" pitchFamily="34" charset="-122"/>
                <a:cs typeface="Arial" pitchFamily="34" charset="-120"/>
              </a:rPr>
              <a:t>Meer loon → bedrijven willen minder mensen</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0"/>
            <a:ext cx="8229600" cy="68580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Verstoringen van het evenwicht</a:t>
            </a:r>
            <a:endParaRPr lang="en-US" sz="2400" dirty="0"/>
          </a:p>
        </p:txBody>
      </p:sp>
      <p:sp>
        <p:nvSpPr>
          <p:cNvPr id="3" name="Shape 1"/>
          <p:cNvSpPr/>
          <p:nvPr/>
        </p:nvSpPr>
        <p:spPr>
          <a:xfrm>
            <a:off x="457200" y="1005840"/>
            <a:ext cx="3931920" cy="3108960"/>
          </a:xfrm>
          <a:prstGeom prst="rect">
            <a:avLst>
              <a:gd name="adj" fmla="val 1471"/>
            </a:avLst>
          </a:prstGeom>
          <a:solidFill>
            <a:srgbClr val="F9F6F1"/>
          </a:solidFill>
          <a:ln/>
          <a:effectLst>
            <a:outerShdw sx="100000" sy="100000" kx="0" ky="0" algn="bl" rotWithShape="0" blurRad="76200" dist="25400" dir="8100000">
              <a:srgbClr val="000000">
                <a:alpha val="10000"/>
              </a:srgbClr>
            </a:outerShdw>
          </a:effectLst>
        </p:spPr>
      </p:sp>
      <p:sp>
        <p:nvSpPr>
          <p:cNvPr id="4" name="Shape 2"/>
          <p:cNvSpPr/>
          <p:nvPr/>
        </p:nvSpPr>
        <p:spPr>
          <a:xfrm>
            <a:off x="457200" y="1005840"/>
            <a:ext cx="54864" cy="3108960"/>
          </a:xfrm>
          <a:prstGeom prst="rect">
            <a:avLst/>
          </a:prstGeom>
          <a:solidFill>
            <a:srgbClr val="E67E22"/>
          </a:solidFill>
          <a:ln/>
        </p:spPr>
      </p:sp>
      <p:sp>
        <p:nvSpPr>
          <p:cNvPr id="5" name="Text 3"/>
          <p:cNvSpPr/>
          <p:nvPr/>
        </p:nvSpPr>
        <p:spPr>
          <a:xfrm>
            <a:off x="640080" y="1143000"/>
            <a:ext cx="3611880" cy="365760"/>
          </a:xfrm>
          <a:prstGeom prst="rect">
            <a:avLst/>
          </a:prstGeom>
          <a:noFill/>
          <a:ln/>
        </p:spPr>
        <p:txBody>
          <a:bodyPr wrap="square" rtlCol="0" anchor="t"/>
          <a:lstStyle/>
          <a:p>
            <a:pPr indent="0" marL="0">
              <a:buNone/>
            </a:pPr>
            <a:r>
              <a:rPr lang="en-US" sz="2000" b="1" dirty="0">
                <a:solidFill>
                  <a:srgbClr val="E67E22"/>
                </a:solidFill>
                <a:latin typeface="Arial" pitchFamily="34" charset="0"/>
                <a:ea typeface="Arial" pitchFamily="34" charset="-122"/>
                <a:cs typeface="Arial" pitchFamily="34" charset="-120"/>
              </a:rPr>
              <a:t>Technologische verandering</a:t>
            </a:r>
            <a:endParaRPr lang="en-US" sz="2000" dirty="0"/>
          </a:p>
        </p:txBody>
      </p:sp>
      <p:sp>
        <p:nvSpPr>
          <p:cNvPr id="6" name="Text 4"/>
          <p:cNvSpPr/>
          <p:nvPr/>
        </p:nvSpPr>
        <p:spPr>
          <a:xfrm>
            <a:off x="640080" y="1554480"/>
            <a:ext cx="3611880" cy="2423160"/>
          </a:xfrm>
          <a:prstGeom prst="rect">
            <a:avLst/>
          </a:prstGeom>
          <a:noFill/>
          <a:ln/>
        </p:spPr>
        <p:txBody>
          <a:bodyPr wrap="square" rtlCol="0" anchor="t"/>
          <a:lstStyle/>
          <a:p>
            <a:pPr algn="l" indent="0" marL="0">
              <a:lnSpc>
                <a:spcPct val="115000"/>
              </a:lnSpc>
              <a:buNone/>
            </a:pPr>
            <a:r>
              <a:rPr lang="en-US" sz="1400" b="1" dirty="0">
                <a:solidFill>
                  <a:srgbClr val="2D3748"/>
                </a:solidFill>
                <a:latin typeface="Arial" pitchFamily="34" charset="0"/>
                <a:ea typeface="Arial" pitchFamily="34" charset="-122"/>
                <a:cs typeface="Arial" pitchFamily="34" charset="-120"/>
              </a:rPr>
              <a:t>Robots → vraag naar arbeid verschuift naar links
</a:t>
            </a:r>
            <a:pPr algn="l" indent="0" marL="0">
              <a:lnSpc>
                <a:spcPct val="115000"/>
              </a:lnSpc>
              <a:buNone/>
            </a:pPr>
            <a:r>
              <a:rPr lang="en-US" sz="1300" dirty="0">
                <a:solidFill>
                  <a:srgbClr val="2D3748"/>
                </a:solidFill>
                <a:latin typeface="Arial" pitchFamily="34" charset="0"/>
                <a:ea typeface="Arial" pitchFamily="34" charset="-122"/>
                <a:cs typeface="Arial" pitchFamily="34" charset="-120"/>
              </a:rPr>
              <a:t>• Bedrijven hebben minder arbeiders nodig</a:t>
            </a:r>
            <a:endParaRPr lang="en-US" sz="1400" dirty="0"/>
          </a:p>
          <a:p>
            <a:pPr algn="l" indent="0" marL="0">
              <a:lnSpc>
                <a:spcPct val="115000"/>
              </a:lnSpc>
              <a:buNone/>
            </a:pPr>
            <a:r>
              <a:rPr lang="en-US" sz="1300" dirty="0">
                <a:solidFill>
                  <a:srgbClr val="2D3748"/>
                </a:solidFill>
                <a:latin typeface="Arial" pitchFamily="34" charset="0"/>
                <a:ea typeface="Arial" pitchFamily="34" charset="-122"/>
                <a:cs typeface="Arial" pitchFamily="34" charset="-120"/>
              </a:rPr>
              <a:t>• Evenwichtsloon daalt</a:t>
            </a:r>
            <a:endParaRPr lang="en-US" sz="1400" dirty="0"/>
          </a:p>
          <a:p>
            <a:pPr algn="l" indent="0" marL="0">
              <a:lnSpc>
                <a:spcPct val="115000"/>
              </a:lnSpc>
              <a:buNone/>
            </a:pPr>
            <a:r>
              <a:rPr lang="en-US" sz="1300" dirty="0">
                <a:solidFill>
                  <a:srgbClr val="2D3748"/>
                </a:solidFill>
                <a:latin typeface="Arial" pitchFamily="34" charset="0"/>
                <a:ea typeface="Arial" pitchFamily="34" charset="-122"/>
                <a:cs typeface="Arial" pitchFamily="34" charset="-120"/>
              </a:rPr>
              <a:t>• Sommige arbeiders raken zonder werk</a:t>
            </a:r>
            <a:endParaRPr lang="en-US" sz="1400" dirty="0"/>
          </a:p>
        </p:txBody>
      </p:sp>
      <p:sp>
        <p:nvSpPr>
          <p:cNvPr id="7" name="Shape 5"/>
          <p:cNvSpPr/>
          <p:nvPr/>
        </p:nvSpPr>
        <p:spPr>
          <a:xfrm>
            <a:off x="4754880" y="1005840"/>
            <a:ext cx="3931920" cy="3108960"/>
          </a:xfrm>
          <a:prstGeom prst="rect">
            <a:avLst>
              <a:gd name="adj" fmla="val 1471"/>
            </a:avLst>
          </a:prstGeom>
          <a:solidFill>
            <a:srgbClr val="F9F6F1"/>
          </a:solidFill>
          <a:ln/>
          <a:effectLst>
            <a:outerShdw sx="100000" sy="100000" kx="0" ky="0" algn="bl" rotWithShape="0" blurRad="76200" dist="25400" dir="8100000">
              <a:srgbClr val="000000">
                <a:alpha val="10000"/>
              </a:srgbClr>
            </a:outerShdw>
          </a:effectLst>
        </p:spPr>
      </p:sp>
      <p:sp>
        <p:nvSpPr>
          <p:cNvPr id="8" name="Shape 6"/>
          <p:cNvSpPr/>
          <p:nvPr/>
        </p:nvSpPr>
        <p:spPr>
          <a:xfrm>
            <a:off x="4754880" y="1005840"/>
            <a:ext cx="54864" cy="3108960"/>
          </a:xfrm>
          <a:prstGeom prst="rect">
            <a:avLst/>
          </a:prstGeom>
          <a:solidFill>
            <a:srgbClr val="D9534F"/>
          </a:solidFill>
          <a:ln/>
        </p:spPr>
      </p:sp>
      <p:sp>
        <p:nvSpPr>
          <p:cNvPr id="9" name="Text 7"/>
          <p:cNvSpPr/>
          <p:nvPr/>
        </p:nvSpPr>
        <p:spPr>
          <a:xfrm>
            <a:off x="4937760" y="1143000"/>
            <a:ext cx="3611880" cy="365760"/>
          </a:xfrm>
          <a:prstGeom prst="rect">
            <a:avLst/>
          </a:prstGeom>
          <a:noFill/>
          <a:ln/>
        </p:spPr>
        <p:txBody>
          <a:bodyPr wrap="square" rtlCol="0" anchor="t"/>
          <a:lstStyle/>
          <a:p>
            <a:pPr indent="0" marL="0">
              <a:buNone/>
            </a:pPr>
            <a:r>
              <a:rPr lang="en-US" sz="2000" b="1" dirty="0">
                <a:solidFill>
                  <a:srgbClr val="D9534F"/>
                </a:solidFill>
                <a:latin typeface="Arial" pitchFamily="34" charset="0"/>
                <a:ea typeface="Arial" pitchFamily="34" charset="-122"/>
                <a:cs typeface="Arial" pitchFamily="34" charset="-120"/>
              </a:rPr>
              <a:t>Wettelijk minimumloon</a:t>
            </a:r>
            <a:endParaRPr lang="en-US" sz="2000" dirty="0"/>
          </a:p>
        </p:txBody>
      </p:sp>
      <p:sp>
        <p:nvSpPr>
          <p:cNvPr id="10" name="Text 8"/>
          <p:cNvSpPr/>
          <p:nvPr/>
        </p:nvSpPr>
        <p:spPr>
          <a:xfrm>
            <a:off x="4937760" y="1554480"/>
            <a:ext cx="3611880" cy="2423160"/>
          </a:xfrm>
          <a:prstGeom prst="rect">
            <a:avLst/>
          </a:prstGeom>
          <a:noFill/>
          <a:ln/>
        </p:spPr>
        <p:txBody>
          <a:bodyPr wrap="square" rtlCol="0" anchor="t"/>
          <a:lstStyle/>
          <a:p>
            <a:pPr algn="l" indent="0" marL="0">
              <a:lnSpc>
                <a:spcPct val="115000"/>
              </a:lnSpc>
              <a:buNone/>
            </a:pPr>
            <a:r>
              <a:rPr lang="en-US" sz="1400" b="1" dirty="0">
                <a:solidFill>
                  <a:srgbClr val="2D3748"/>
                </a:solidFill>
                <a:latin typeface="Arial" pitchFamily="34" charset="0"/>
                <a:ea typeface="Arial" pitchFamily="34" charset="-122"/>
                <a:cs typeface="Arial" pitchFamily="34" charset="-120"/>
              </a:rPr>
              <a:t>Minimumloon boven evenwicht → werkloosheid
</a:t>
            </a:r>
            <a:pPr algn="l" indent="0" marL="0">
              <a:lnSpc>
                <a:spcPct val="115000"/>
              </a:lnSpc>
              <a:buNone/>
            </a:pPr>
            <a:r>
              <a:rPr lang="en-US" sz="1300" dirty="0">
                <a:solidFill>
                  <a:srgbClr val="2D3748"/>
                </a:solidFill>
                <a:latin typeface="Arial" pitchFamily="34" charset="0"/>
                <a:ea typeface="Arial" pitchFamily="34" charset="-122"/>
                <a:cs typeface="Arial" pitchFamily="34" charset="-120"/>
              </a:rPr>
              <a:t>• Aanbod: meer mensen willen werken (hoger loon)</a:t>
            </a:r>
            <a:endParaRPr lang="en-US" sz="1400" dirty="0"/>
          </a:p>
          <a:p>
            <a:pPr algn="l" indent="0" marL="0">
              <a:lnSpc>
                <a:spcPct val="115000"/>
              </a:lnSpc>
              <a:buNone/>
            </a:pPr>
            <a:r>
              <a:rPr lang="en-US" sz="1300" dirty="0">
                <a:solidFill>
                  <a:srgbClr val="2D3748"/>
                </a:solidFill>
                <a:latin typeface="Arial" pitchFamily="34" charset="0"/>
                <a:ea typeface="Arial" pitchFamily="34" charset="-122"/>
                <a:cs typeface="Arial" pitchFamily="34" charset="-120"/>
              </a:rPr>
              <a:t>• Vraag: bedrijven willen minder (hoger loon)</a:t>
            </a:r>
            <a:endParaRPr lang="en-US" sz="1400" dirty="0"/>
          </a:p>
          <a:p>
            <a:pPr algn="l" indent="0" marL="0">
              <a:lnSpc>
                <a:spcPct val="115000"/>
              </a:lnSpc>
              <a:buNone/>
            </a:pPr>
            <a:r>
              <a:rPr lang="en-US" sz="1300" dirty="0">
                <a:solidFill>
                  <a:srgbClr val="2D3748"/>
                </a:solidFill>
                <a:latin typeface="Arial" pitchFamily="34" charset="0"/>
                <a:ea typeface="Arial" pitchFamily="34" charset="-122"/>
                <a:cs typeface="Arial" pitchFamily="34" charset="-120"/>
              </a:rPr>
              <a:t>• Verschil = werkloosheid</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0"/>
            <a:ext cx="8229600" cy="68580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Arbeidsmarkt: verschuiving vraaglijn</a:t>
            </a:r>
            <a:endParaRPr lang="en-US" sz="2400" dirty="0"/>
          </a:p>
        </p:txBody>
      </p:sp>
      <p:pic>
        <p:nvPicPr>
          <p:cNvPr id="3" name="Image 0" descr="preencoded.png">    </p:cNvPr>
          <p:cNvPicPr>
            <a:picLocks noChangeAspect="1"/>
          </p:cNvPicPr>
          <p:nvPr/>
        </p:nvPicPr>
        <p:blipFill>
          <a:blip r:embed="rId1"/>
          <a:stretch>
            <a:fillRect/>
          </a:stretch>
        </p:blipFill>
        <p:spPr>
          <a:xfrm>
            <a:off x="685800" y="822960"/>
            <a:ext cx="7772400" cy="38862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0"/>
            <a:ext cx="8229600" cy="68580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Soorten werkloosheid</a:t>
            </a:r>
            <a:endParaRPr lang="en-US" sz="2400" dirty="0"/>
          </a:p>
        </p:txBody>
      </p:sp>
      <p:sp>
        <p:nvSpPr>
          <p:cNvPr id="3" name="Shape 1"/>
          <p:cNvSpPr/>
          <p:nvPr/>
        </p:nvSpPr>
        <p:spPr>
          <a:xfrm>
            <a:off x="457200" y="1005840"/>
            <a:ext cx="3931920" cy="3017520"/>
          </a:xfrm>
          <a:prstGeom prst="rect">
            <a:avLst>
              <a:gd name="adj" fmla="val 1515"/>
            </a:avLst>
          </a:prstGeom>
          <a:solidFill>
            <a:srgbClr val="F9F6F1"/>
          </a:solidFill>
          <a:ln/>
          <a:effectLst>
            <a:outerShdw sx="100000" sy="100000" kx="0" ky="0" algn="bl" rotWithShape="0" blurRad="76200" dist="25400" dir="8100000">
              <a:srgbClr val="000000">
                <a:alpha val="10000"/>
              </a:srgbClr>
            </a:outerShdw>
          </a:effectLst>
        </p:spPr>
      </p:sp>
      <p:sp>
        <p:nvSpPr>
          <p:cNvPr id="4" name="Shape 2"/>
          <p:cNvSpPr/>
          <p:nvPr/>
        </p:nvSpPr>
        <p:spPr>
          <a:xfrm>
            <a:off x="457200" y="1005840"/>
            <a:ext cx="54864" cy="3017520"/>
          </a:xfrm>
          <a:prstGeom prst="rect">
            <a:avLst/>
          </a:prstGeom>
          <a:solidFill>
            <a:srgbClr val="E67E22"/>
          </a:solidFill>
          <a:ln/>
        </p:spPr>
      </p:sp>
      <p:sp>
        <p:nvSpPr>
          <p:cNvPr id="5" name="Text 3"/>
          <p:cNvSpPr/>
          <p:nvPr/>
        </p:nvSpPr>
        <p:spPr>
          <a:xfrm>
            <a:off x="640080" y="1143000"/>
            <a:ext cx="3611880" cy="365760"/>
          </a:xfrm>
          <a:prstGeom prst="rect">
            <a:avLst/>
          </a:prstGeom>
          <a:noFill/>
          <a:ln/>
        </p:spPr>
        <p:txBody>
          <a:bodyPr wrap="square" rtlCol="0" anchor="t"/>
          <a:lstStyle/>
          <a:p>
            <a:pPr indent="0" marL="0">
              <a:buNone/>
            </a:pPr>
            <a:r>
              <a:rPr lang="en-US" sz="2000" b="1" dirty="0">
                <a:solidFill>
                  <a:srgbClr val="E67E22"/>
                </a:solidFill>
                <a:latin typeface="Arial" pitchFamily="34" charset="0"/>
                <a:ea typeface="Arial" pitchFamily="34" charset="-122"/>
                <a:cs typeface="Arial" pitchFamily="34" charset="-120"/>
              </a:rPr>
              <a:t>Structurele werkloosheid</a:t>
            </a:r>
            <a:endParaRPr lang="en-US" sz="2000" dirty="0"/>
          </a:p>
        </p:txBody>
      </p:sp>
      <p:sp>
        <p:nvSpPr>
          <p:cNvPr id="6" name="Text 4"/>
          <p:cNvSpPr/>
          <p:nvPr/>
        </p:nvSpPr>
        <p:spPr>
          <a:xfrm>
            <a:off x="640080" y="1554480"/>
            <a:ext cx="3611880" cy="2331720"/>
          </a:xfrm>
          <a:prstGeom prst="rect">
            <a:avLst/>
          </a:prstGeom>
          <a:noFill/>
          <a:ln/>
        </p:spPr>
        <p:txBody>
          <a:bodyPr wrap="square" rtlCol="0" anchor="t"/>
          <a:lstStyle/>
          <a:p>
            <a:pPr algn="l" indent="0" marL="0">
              <a:lnSpc>
                <a:spcPct val="115000"/>
              </a:lnSpc>
              <a:buNone/>
            </a:pPr>
            <a:r>
              <a:rPr lang="en-US" sz="1400" b="1" dirty="0">
                <a:solidFill>
                  <a:srgbClr val="2D3748"/>
                </a:solidFill>
                <a:latin typeface="Arial" pitchFamily="34" charset="0"/>
                <a:ea typeface="Arial" pitchFamily="34" charset="-122"/>
                <a:cs typeface="Arial" pitchFamily="34" charset="-120"/>
              </a:rPr>
              <a:t>Vaardigheden matchen niet met de vraag.
</a:t>
            </a:r>
            <a:pPr algn="l" indent="0" marL="0">
              <a:lnSpc>
                <a:spcPct val="115000"/>
              </a:lnSpc>
              <a:buNone/>
            </a:pPr>
            <a:r>
              <a:rPr lang="en-US" sz="1300" dirty="0">
                <a:solidFill>
                  <a:srgbClr val="2D3748"/>
                </a:solidFill>
                <a:latin typeface="Arial" pitchFamily="34" charset="0"/>
                <a:ea typeface="Arial" pitchFamily="34" charset="-122"/>
                <a:cs typeface="Arial" pitchFamily="34" charset="-120"/>
              </a:rPr>
              <a:t>• Duurt lang</a:t>
            </a:r>
            <a:endParaRPr lang="en-US" sz="1400" dirty="0"/>
          </a:p>
          <a:p>
            <a:pPr algn="l" indent="0" marL="0">
              <a:lnSpc>
                <a:spcPct val="115000"/>
              </a:lnSpc>
              <a:buNone/>
            </a:pPr>
            <a:r>
              <a:rPr lang="en-US" sz="1300" dirty="0">
                <a:solidFill>
                  <a:srgbClr val="2D3748"/>
                </a:solidFill>
                <a:latin typeface="Arial" pitchFamily="34" charset="0"/>
                <a:ea typeface="Arial" pitchFamily="34" charset="-122"/>
                <a:cs typeface="Arial" pitchFamily="34" charset="-120"/>
              </a:rPr>
              <a:t>• Oorzaak: technologische verandering</a:t>
            </a:r>
            <a:endParaRPr lang="en-US" sz="1400" dirty="0"/>
          </a:p>
          <a:p>
            <a:pPr algn="l" indent="0" marL="0">
              <a:lnSpc>
                <a:spcPct val="115000"/>
              </a:lnSpc>
              <a:buNone/>
            </a:pPr>
            <a:r>
              <a:rPr lang="en-US" sz="1300" dirty="0">
                <a:solidFill>
                  <a:srgbClr val="2D3748"/>
                </a:solidFill>
                <a:latin typeface="Arial" pitchFamily="34" charset="0"/>
                <a:ea typeface="Arial" pitchFamily="34" charset="-122"/>
                <a:cs typeface="Arial" pitchFamily="34" charset="-120"/>
              </a:rPr>
              <a:t>• Oplossing: omscholing, onderwijs</a:t>
            </a:r>
            <a:endParaRPr lang="en-US" sz="1400" dirty="0"/>
          </a:p>
        </p:txBody>
      </p:sp>
      <p:sp>
        <p:nvSpPr>
          <p:cNvPr id="7" name="Shape 5"/>
          <p:cNvSpPr/>
          <p:nvPr/>
        </p:nvSpPr>
        <p:spPr>
          <a:xfrm>
            <a:off x="4754880" y="1005840"/>
            <a:ext cx="3931920" cy="3017520"/>
          </a:xfrm>
          <a:prstGeom prst="rect">
            <a:avLst>
              <a:gd name="adj" fmla="val 1515"/>
            </a:avLst>
          </a:prstGeom>
          <a:solidFill>
            <a:srgbClr val="F9F6F1"/>
          </a:solidFill>
          <a:ln/>
          <a:effectLst>
            <a:outerShdw sx="100000" sy="100000" kx="0" ky="0" algn="bl" rotWithShape="0" blurRad="76200" dist="25400" dir="8100000">
              <a:srgbClr val="000000">
                <a:alpha val="10000"/>
              </a:srgbClr>
            </a:outerShdw>
          </a:effectLst>
        </p:spPr>
      </p:sp>
      <p:sp>
        <p:nvSpPr>
          <p:cNvPr id="8" name="Shape 6"/>
          <p:cNvSpPr/>
          <p:nvPr/>
        </p:nvSpPr>
        <p:spPr>
          <a:xfrm>
            <a:off x="4754880" y="1005840"/>
            <a:ext cx="54864" cy="3017520"/>
          </a:xfrm>
          <a:prstGeom prst="rect">
            <a:avLst/>
          </a:prstGeom>
          <a:solidFill>
            <a:srgbClr val="1A5276"/>
          </a:solidFill>
          <a:ln/>
        </p:spPr>
      </p:sp>
      <p:sp>
        <p:nvSpPr>
          <p:cNvPr id="9" name="Text 7"/>
          <p:cNvSpPr/>
          <p:nvPr/>
        </p:nvSpPr>
        <p:spPr>
          <a:xfrm>
            <a:off x="4937760" y="1143000"/>
            <a:ext cx="3611880" cy="365760"/>
          </a:xfrm>
          <a:prstGeom prst="rect">
            <a:avLst/>
          </a:prstGeom>
          <a:noFill/>
          <a:ln/>
        </p:spPr>
        <p:txBody>
          <a:bodyPr wrap="square" rtlCol="0" anchor="t"/>
          <a:lstStyle/>
          <a:p>
            <a:pPr indent="0" marL="0">
              <a:buNone/>
            </a:pPr>
            <a:r>
              <a:rPr lang="en-US" sz="2000" b="1" dirty="0">
                <a:solidFill>
                  <a:srgbClr val="1A5276"/>
                </a:solidFill>
                <a:latin typeface="Arial" pitchFamily="34" charset="0"/>
                <a:ea typeface="Arial" pitchFamily="34" charset="-122"/>
                <a:cs typeface="Arial" pitchFamily="34" charset="-120"/>
              </a:rPr>
              <a:t>Conjuncturele werkloosheid</a:t>
            </a:r>
            <a:endParaRPr lang="en-US" sz="2000" dirty="0"/>
          </a:p>
        </p:txBody>
      </p:sp>
      <p:sp>
        <p:nvSpPr>
          <p:cNvPr id="10" name="Text 8"/>
          <p:cNvSpPr/>
          <p:nvPr/>
        </p:nvSpPr>
        <p:spPr>
          <a:xfrm>
            <a:off x="4937760" y="1554480"/>
            <a:ext cx="3611880" cy="2331720"/>
          </a:xfrm>
          <a:prstGeom prst="rect">
            <a:avLst/>
          </a:prstGeom>
          <a:noFill/>
          <a:ln/>
        </p:spPr>
        <p:txBody>
          <a:bodyPr wrap="square" rtlCol="0" anchor="t"/>
          <a:lstStyle/>
          <a:p>
            <a:pPr algn="l" indent="0" marL="0">
              <a:lnSpc>
                <a:spcPct val="115000"/>
              </a:lnSpc>
              <a:buNone/>
            </a:pPr>
            <a:r>
              <a:rPr lang="en-US" sz="1400" b="1" dirty="0">
                <a:solidFill>
                  <a:srgbClr val="2D3748"/>
                </a:solidFill>
                <a:latin typeface="Arial" pitchFamily="34" charset="0"/>
                <a:ea typeface="Arial" pitchFamily="34" charset="-122"/>
                <a:cs typeface="Arial" pitchFamily="34" charset="-120"/>
              </a:rPr>
              <a:t>Economie draait slecht → veel ontslagen.
</a:t>
            </a:r>
            <a:pPr algn="l" indent="0" marL="0">
              <a:lnSpc>
                <a:spcPct val="115000"/>
              </a:lnSpc>
              <a:buNone/>
            </a:pPr>
            <a:r>
              <a:rPr lang="en-US" sz="1300" dirty="0">
                <a:solidFill>
                  <a:srgbClr val="2D3748"/>
                </a:solidFill>
                <a:latin typeface="Arial" pitchFamily="34" charset="0"/>
                <a:ea typeface="Arial" pitchFamily="34" charset="-122"/>
                <a:cs typeface="Arial" pitchFamily="34" charset="-120"/>
              </a:rPr>
              <a:t>• Tijdelijk</a:t>
            </a:r>
            <a:endParaRPr lang="en-US" sz="1400" dirty="0"/>
          </a:p>
          <a:p>
            <a:pPr algn="l" indent="0" marL="0">
              <a:lnSpc>
                <a:spcPct val="115000"/>
              </a:lnSpc>
              <a:buNone/>
            </a:pPr>
            <a:r>
              <a:rPr lang="en-US" sz="1300" dirty="0">
                <a:solidFill>
                  <a:srgbClr val="2D3748"/>
                </a:solidFill>
                <a:latin typeface="Arial" pitchFamily="34" charset="0"/>
                <a:ea typeface="Arial" pitchFamily="34" charset="-122"/>
                <a:cs typeface="Arial" pitchFamily="34" charset="-120"/>
              </a:rPr>
              <a:t>• Oorzaak: recessie, dalende bestedingen</a:t>
            </a:r>
            <a:endParaRPr lang="en-US" sz="1400" dirty="0"/>
          </a:p>
          <a:p>
            <a:pPr algn="l" indent="0" marL="0">
              <a:lnSpc>
                <a:spcPct val="115000"/>
              </a:lnSpc>
              <a:buNone/>
            </a:pPr>
            <a:r>
              <a:rPr lang="en-US" sz="1300" dirty="0">
                <a:solidFill>
                  <a:srgbClr val="2D3748"/>
                </a:solidFill>
                <a:latin typeface="Arial" pitchFamily="34" charset="0"/>
                <a:ea typeface="Arial" pitchFamily="34" charset="-122"/>
                <a:cs typeface="Arial" pitchFamily="34" charset="-120"/>
              </a:rPr>
              <a:t>• Verdwijnt als economie aantrekt</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0"/>
            <a:ext cx="8229600" cy="68580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Veelgemaakte fouten</a:t>
            </a:r>
            <a:endParaRPr lang="en-US" sz="2400" dirty="0"/>
          </a:p>
        </p:txBody>
      </p:sp>
      <p:sp>
        <p:nvSpPr>
          <p:cNvPr id="3" name="Shape 1"/>
          <p:cNvSpPr/>
          <p:nvPr/>
        </p:nvSpPr>
        <p:spPr>
          <a:xfrm>
            <a:off x="457200" y="960120"/>
            <a:ext cx="8229600" cy="960120"/>
          </a:xfrm>
          <a:prstGeom prst="rect">
            <a:avLst>
              <a:gd name="adj" fmla="val 4762"/>
            </a:avLst>
          </a:prstGeom>
          <a:solidFill>
            <a:srgbClr val="FDE8E8"/>
          </a:solidFill>
          <a:ln/>
          <a:effectLst>
            <a:outerShdw sx="100000" sy="100000" kx="0" ky="0" algn="bl" rotWithShape="0" blurRad="76200" dist="25400" dir="8100000">
              <a:srgbClr val="000000">
                <a:alpha val="10000"/>
              </a:srgbClr>
            </a:outerShdw>
          </a:effectLst>
        </p:spPr>
      </p:sp>
      <p:sp>
        <p:nvSpPr>
          <p:cNvPr id="4" name="Shape 2"/>
          <p:cNvSpPr/>
          <p:nvPr/>
        </p:nvSpPr>
        <p:spPr>
          <a:xfrm>
            <a:off x="457200" y="960120"/>
            <a:ext cx="54864" cy="960120"/>
          </a:xfrm>
          <a:prstGeom prst="rect">
            <a:avLst/>
          </a:prstGeom>
          <a:solidFill>
            <a:srgbClr val="D9534F"/>
          </a:solidFill>
          <a:ln/>
        </p:spPr>
      </p:sp>
      <p:sp>
        <p:nvSpPr>
          <p:cNvPr id="5" name="Text 3"/>
          <p:cNvSpPr/>
          <p:nvPr/>
        </p:nvSpPr>
        <p:spPr>
          <a:xfrm>
            <a:off x="658368" y="1033272"/>
            <a:ext cx="7863840" cy="320040"/>
          </a:xfrm>
          <a:prstGeom prst="rect">
            <a:avLst/>
          </a:prstGeom>
          <a:noFill/>
          <a:ln/>
        </p:spPr>
        <p:txBody>
          <a:bodyPr wrap="square" rtlCol="0" anchor="t"/>
          <a:lstStyle/>
          <a:p>
            <a:pPr indent="0" marL="0">
              <a:buNone/>
            </a:pPr>
            <a:r>
              <a:rPr lang="en-US" sz="1400" b="1" dirty="0">
                <a:solidFill>
                  <a:srgbClr val="D9534F"/>
                </a:solidFill>
                <a:latin typeface="Arial" pitchFamily="34" charset="0"/>
                <a:ea typeface="Arial" pitchFamily="34" charset="-122"/>
                <a:cs typeface="Arial" pitchFamily="34" charset="-120"/>
              </a:rPr>
              <a:t>"MO = MK geldt alleen bij volledige mededinging"</a:t>
            </a:r>
            <a:endParaRPr lang="en-US" sz="1400" dirty="0"/>
          </a:p>
        </p:txBody>
      </p:sp>
      <p:sp>
        <p:nvSpPr>
          <p:cNvPr id="6" name="Text 4"/>
          <p:cNvSpPr/>
          <p:nvPr/>
        </p:nvSpPr>
        <p:spPr>
          <a:xfrm>
            <a:off x="658368" y="1344168"/>
            <a:ext cx="7863840" cy="502920"/>
          </a:xfrm>
          <a:prstGeom prst="rect">
            <a:avLst/>
          </a:prstGeom>
          <a:noFill/>
          <a:ln/>
        </p:spPr>
        <p:txBody>
          <a:bodyPr wrap="square" rtlCol="0" anchor="t"/>
          <a:lstStyle/>
          <a:p>
            <a:pPr indent="0" marL="0">
              <a:buNone/>
            </a:pPr>
            <a:r>
              <a:rPr lang="en-US" sz="1300" dirty="0">
                <a:solidFill>
                  <a:srgbClr val="2D3748"/>
                </a:solidFill>
                <a:latin typeface="Arial" pitchFamily="34" charset="0"/>
                <a:ea typeface="Arial" pitchFamily="34" charset="-122"/>
                <a:cs typeface="Arial" pitchFamily="34" charset="-120"/>
              </a:rPr>
              <a:t>Onjuist! MO = MK geldt voor alle marktvormen. Het is altijd het winstmaximalisatiepunt.</a:t>
            </a:r>
            <a:endParaRPr lang="en-US" sz="1300" dirty="0"/>
          </a:p>
        </p:txBody>
      </p:sp>
      <p:sp>
        <p:nvSpPr>
          <p:cNvPr id="7" name="Shape 5"/>
          <p:cNvSpPr/>
          <p:nvPr/>
        </p:nvSpPr>
        <p:spPr>
          <a:xfrm>
            <a:off x="457200" y="2057400"/>
            <a:ext cx="8229600" cy="960120"/>
          </a:xfrm>
          <a:prstGeom prst="rect">
            <a:avLst>
              <a:gd name="adj" fmla="val 4762"/>
            </a:avLst>
          </a:prstGeom>
          <a:solidFill>
            <a:srgbClr val="FDE8E8"/>
          </a:solidFill>
          <a:ln/>
          <a:effectLst>
            <a:outerShdw sx="100000" sy="100000" kx="0" ky="0" algn="bl" rotWithShape="0" blurRad="76200" dist="25400" dir="8100000">
              <a:srgbClr val="000000">
                <a:alpha val="10000"/>
              </a:srgbClr>
            </a:outerShdw>
          </a:effectLst>
        </p:spPr>
      </p:sp>
      <p:sp>
        <p:nvSpPr>
          <p:cNvPr id="8" name="Shape 6"/>
          <p:cNvSpPr/>
          <p:nvPr/>
        </p:nvSpPr>
        <p:spPr>
          <a:xfrm>
            <a:off x="457200" y="2057400"/>
            <a:ext cx="54864" cy="960120"/>
          </a:xfrm>
          <a:prstGeom prst="rect">
            <a:avLst/>
          </a:prstGeom>
          <a:solidFill>
            <a:srgbClr val="D9534F"/>
          </a:solidFill>
          <a:ln/>
        </p:spPr>
      </p:sp>
      <p:sp>
        <p:nvSpPr>
          <p:cNvPr id="9" name="Text 7"/>
          <p:cNvSpPr/>
          <p:nvPr/>
        </p:nvSpPr>
        <p:spPr>
          <a:xfrm>
            <a:off x="658368" y="2130552"/>
            <a:ext cx="7863840" cy="320040"/>
          </a:xfrm>
          <a:prstGeom prst="rect">
            <a:avLst/>
          </a:prstGeom>
          <a:noFill/>
          <a:ln/>
        </p:spPr>
        <p:txBody>
          <a:bodyPr wrap="square" rtlCol="0" anchor="t"/>
          <a:lstStyle/>
          <a:p>
            <a:pPr indent="0" marL="0">
              <a:buNone/>
            </a:pPr>
            <a:r>
              <a:rPr lang="en-US" sz="1400" b="1" dirty="0">
                <a:solidFill>
                  <a:srgbClr val="D9534F"/>
                </a:solidFill>
                <a:latin typeface="Arial" pitchFamily="34" charset="0"/>
                <a:ea typeface="Arial" pitchFamily="34" charset="-122"/>
                <a:cs typeface="Arial" pitchFamily="34" charset="-120"/>
              </a:rPr>
              <a:t>"Evenwicht = eerlijk of optimaal"</a:t>
            </a:r>
            <a:endParaRPr lang="en-US" sz="1400" dirty="0"/>
          </a:p>
        </p:txBody>
      </p:sp>
      <p:sp>
        <p:nvSpPr>
          <p:cNvPr id="10" name="Text 8"/>
          <p:cNvSpPr/>
          <p:nvPr/>
        </p:nvSpPr>
        <p:spPr>
          <a:xfrm>
            <a:off x="658368" y="2441448"/>
            <a:ext cx="7863840" cy="502920"/>
          </a:xfrm>
          <a:prstGeom prst="rect">
            <a:avLst/>
          </a:prstGeom>
          <a:noFill/>
          <a:ln/>
        </p:spPr>
        <p:txBody>
          <a:bodyPr wrap="square" rtlCol="0" anchor="t"/>
          <a:lstStyle/>
          <a:p>
            <a:pPr indent="0" marL="0">
              <a:buNone/>
            </a:pPr>
            <a:r>
              <a:rPr lang="en-US" sz="1300" dirty="0">
                <a:solidFill>
                  <a:srgbClr val="2D3748"/>
                </a:solidFill>
                <a:latin typeface="Arial" pitchFamily="34" charset="0"/>
                <a:ea typeface="Arial" pitchFamily="34" charset="-122"/>
                <a:cs typeface="Arial" pitchFamily="34" charset="-120"/>
              </a:rPr>
              <a:t>Nee, evenwicht is economisch neutraal — het zegt niets over rechtvaardigheid.</a:t>
            </a:r>
            <a:endParaRPr lang="en-US" sz="1300" dirty="0"/>
          </a:p>
        </p:txBody>
      </p:sp>
      <p:sp>
        <p:nvSpPr>
          <p:cNvPr id="11" name="Shape 9"/>
          <p:cNvSpPr/>
          <p:nvPr/>
        </p:nvSpPr>
        <p:spPr>
          <a:xfrm>
            <a:off x="457200" y="3154680"/>
            <a:ext cx="8229600" cy="960120"/>
          </a:xfrm>
          <a:prstGeom prst="rect">
            <a:avLst>
              <a:gd name="adj" fmla="val 4762"/>
            </a:avLst>
          </a:prstGeom>
          <a:solidFill>
            <a:srgbClr val="FDE8E8"/>
          </a:solidFill>
          <a:ln/>
          <a:effectLst>
            <a:outerShdw sx="100000" sy="100000" kx="0" ky="0" algn="bl" rotWithShape="0" blurRad="76200" dist="25400" dir="8100000">
              <a:srgbClr val="000000">
                <a:alpha val="10000"/>
              </a:srgbClr>
            </a:outerShdw>
          </a:effectLst>
        </p:spPr>
      </p:sp>
      <p:sp>
        <p:nvSpPr>
          <p:cNvPr id="12" name="Shape 10"/>
          <p:cNvSpPr/>
          <p:nvPr/>
        </p:nvSpPr>
        <p:spPr>
          <a:xfrm>
            <a:off x="457200" y="3154680"/>
            <a:ext cx="54864" cy="960120"/>
          </a:xfrm>
          <a:prstGeom prst="rect">
            <a:avLst/>
          </a:prstGeom>
          <a:solidFill>
            <a:srgbClr val="D9534F"/>
          </a:solidFill>
          <a:ln/>
        </p:spPr>
      </p:sp>
      <p:sp>
        <p:nvSpPr>
          <p:cNvPr id="13" name="Text 11"/>
          <p:cNvSpPr/>
          <p:nvPr/>
        </p:nvSpPr>
        <p:spPr>
          <a:xfrm>
            <a:off x="658368" y="3227832"/>
            <a:ext cx="7863840" cy="320040"/>
          </a:xfrm>
          <a:prstGeom prst="rect">
            <a:avLst/>
          </a:prstGeom>
          <a:noFill/>
          <a:ln/>
        </p:spPr>
        <p:txBody>
          <a:bodyPr wrap="square" rtlCol="0" anchor="t"/>
          <a:lstStyle/>
          <a:p>
            <a:pPr indent="0" marL="0">
              <a:buNone/>
            </a:pPr>
            <a:r>
              <a:rPr lang="en-US" sz="1400" b="1" dirty="0">
                <a:solidFill>
                  <a:srgbClr val="D9534F"/>
                </a:solidFill>
                <a:latin typeface="Arial" pitchFamily="34" charset="0"/>
                <a:ea typeface="Arial" pitchFamily="34" charset="-122"/>
                <a:cs typeface="Arial" pitchFamily="34" charset="-120"/>
              </a:rPr>
              <a:t>"MO = p in alle marktvormen"</a:t>
            </a:r>
            <a:endParaRPr lang="en-US" sz="1400" dirty="0"/>
          </a:p>
        </p:txBody>
      </p:sp>
      <p:sp>
        <p:nvSpPr>
          <p:cNvPr id="14" name="Text 12"/>
          <p:cNvSpPr/>
          <p:nvPr/>
        </p:nvSpPr>
        <p:spPr>
          <a:xfrm>
            <a:off x="658368" y="3538728"/>
            <a:ext cx="7863840" cy="502920"/>
          </a:xfrm>
          <a:prstGeom prst="rect">
            <a:avLst/>
          </a:prstGeom>
          <a:noFill/>
          <a:ln/>
        </p:spPr>
        <p:txBody>
          <a:bodyPr wrap="square" rtlCol="0" anchor="t"/>
          <a:lstStyle/>
          <a:p>
            <a:pPr indent="0" marL="0">
              <a:buNone/>
            </a:pPr>
            <a:r>
              <a:rPr lang="en-US" sz="1300" dirty="0">
                <a:solidFill>
                  <a:srgbClr val="2D3748"/>
                </a:solidFill>
                <a:latin typeface="Arial" pitchFamily="34" charset="0"/>
                <a:ea typeface="Arial" pitchFamily="34" charset="-122"/>
                <a:cs typeface="Arial" pitchFamily="34" charset="-120"/>
              </a:rPr>
              <a:t>Nee, alleen bij volledige mededinging. Bij monopolie/oligopolie: MO &lt; p.</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40080" y="457200"/>
            <a:ext cx="7863840" cy="640080"/>
          </a:xfrm>
          <a:prstGeom prst="rect">
            <a:avLst/>
          </a:prstGeom>
          <a:noFill/>
          <a:ln/>
        </p:spPr>
        <p:txBody>
          <a:bodyPr wrap="square" rtlCol="0" anchor="ctr"/>
          <a:lstStyle/>
          <a:p>
            <a:pPr indent="0" marL="0">
              <a:buNone/>
            </a:pPr>
            <a:r>
              <a:rPr lang="en-US" sz="2800" b="1" dirty="0">
                <a:solidFill>
                  <a:srgbClr val="FFFFFF"/>
                </a:solidFill>
                <a:latin typeface="Arial" pitchFamily="34" charset="0"/>
                <a:ea typeface="Arial" pitchFamily="34" charset="-122"/>
                <a:cs typeface="Arial" pitchFamily="34" charset="-120"/>
              </a:rPr>
              <a:t>Samenvatting</a:t>
            </a:r>
            <a:endParaRPr lang="en-US" sz="2800" dirty="0"/>
          </a:p>
        </p:txBody>
      </p:sp>
      <p:sp>
        <p:nvSpPr>
          <p:cNvPr id="3" name="Text 1"/>
          <p:cNvSpPr/>
          <p:nvPr/>
        </p:nvSpPr>
        <p:spPr>
          <a:xfrm>
            <a:off x="640080" y="1051560"/>
            <a:ext cx="7863840" cy="365760"/>
          </a:xfrm>
          <a:prstGeom prst="rect">
            <a:avLst/>
          </a:prstGeom>
          <a:noFill/>
          <a:ln/>
        </p:spPr>
        <p:txBody>
          <a:bodyPr wrap="square" rtlCol="0" anchor="ctr"/>
          <a:lstStyle/>
          <a:p>
            <a:pPr indent="0" marL="0">
              <a:buNone/>
            </a:pPr>
            <a:r>
              <a:rPr lang="en-US" sz="1400" i="1" dirty="0">
                <a:solidFill>
                  <a:srgbClr val="718096"/>
                </a:solidFill>
                <a:latin typeface="Arial" pitchFamily="34" charset="0"/>
                <a:ea typeface="Arial" pitchFamily="34" charset="-122"/>
                <a:cs typeface="Arial" pitchFamily="34" charset="-120"/>
              </a:rPr>
              <a:t>Beheers je dit voordat je gaat oefenen?</a:t>
            </a:r>
            <a:endParaRPr lang="en-US" sz="1400" dirty="0"/>
          </a:p>
        </p:txBody>
      </p:sp>
      <p:sp>
        <p:nvSpPr>
          <p:cNvPr id="4" name="Text 2"/>
          <p:cNvSpPr/>
          <p:nvPr/>
        </p:nvSpPr>
        <p:spPr>
          <a:xfrm>
            <a:off x="640080" y="1554480"/>
            <a:ext cx="7863840" cy="2926080"/>
          </a:xfrm>
          <a:prstGeom prst="rect">
            <a:avLst/>
          </a:prstGeom>
          <a:noFill/>
          <a:ln/>
        </p:spPr>
        <p:txBody>
          <a:bodyPr wrap="square" rtlCol="0" anchor="t"/>
          <a:lstStyle/>
          <a:p>
            <a:pPr marL="342900" indent="-342900">
              <a:lnSpc>
                <a:spcPct val="160000"/>
              </a:lnSpc>
              <a:spcAft>
                <a:spcPts val="600"/>
              </a:spcAft>
              <a:buSzPct val="100000"/>
              <a:buChar char="•"/>
            </a:pPr>
            <a:r>
              <a:rPr lang="en-US" sz="1500" dirty="0">
                <a:solidFill>
                  <a:srgbClr val="FFFFFF"/>
                </a:solidFill>
                <a:latin typeface="Arial" pitchFamily="34" charset="0"/>
                <a:ea typeface="Arial" pitchFamily="34" charset="-122"/>
                <a:cs typeface="Arial" pitchFamily="34" charset="-120"/>
              </a:rPr>
              <a:t>Marktevenwicht: Qv = Qa én MO = MK</a:t>
            </a:r>
            <a:endParaRPr lang="en-US" sz="1500" dirty="0"/>
          </a:p>
          <a:p>
            <a:pPr marL="342900" indent="-342900">
              <a:lnSpc>
                <a:spcPct val="160000"/>
              </a:lnSpc>
              <a:spcAft>
                <a:spcPts val="600"/>
              </a:spcAft>
              <a:buSzPct val="100000"/>
              <a:buChar char="•"/>
            </a:pPr>
            <a:r>
              <a:rPr lang="en-US" sz="1500" dirty="0">
                <a:solidFill>
                  <a:srgbClr val="FFFFFF"/>
                </a:solidFill>
                <a:latin typeface="Arial" pitchFamily="34" charset="0"/>
                <a:ea typeface="Arial" pitchFamily="34" charset="-122"/>
                <a:cs typeface="Arial" pitchFamily="34" charset="-120"/>
              </a:rPr>
              <a:t>MO = MK is winstmaximalisatie (alle marktvormen)</a:t>
            </a:r>
            <a:endParaRPr lang="en-US" sz="1500" dirty="0"/>
          </a:p>
          <a:p>
            <a:pPr marL="342900" indent="-342900">
              <a:lnSpc>
                <a:spcPct val="160000"/>
              </a:lnSpc>
              <a:spcAft>
                <a:spcPts val="600"/>
              </a:spcAft>
              <a:buSzPct val="100000"/>
              <a:buChar char="•"/>
            </a:pPr>
            <a:r>
              <a:rPr lang="en-US" sz="1500" dirty="0">
                <a:solidFill>
                  <a:srgbClr val="FFFFFF"/>
                </a:solidFill>
                <a:latin typeface="Arial" pitchFamily="34" charset="0"/>
                <a:ea typeface="Arial" pitchFamily="34" charset="-122"/>
                <a:cs typeface="Arial" pitchFamily="34" charset="-120"/>
              </a:rPr>
              <a:t>Volledige mededinging: MO = p (prijsnemer)</a:t>
            </a:r>
            <a:endParaRPr lang="en-US" sz="1500" dirty="0"/>
          </a:p>
          <a:p>
            <a:pPr marL="342900" indent="-342900">
              <a:lnSpc>
                <a:spcPct val="160000"/>
              </a:lnSpc>
              <a:spcAft>
                <a:spcPts val="600"/>
              </a:spcAft>
              <a:buSzPct val="100000"/>
              <a:buChar char="•"/>
            </a:pPr>
            <a:r>
              <a:rPr lang="en-US" sz="1500" dirty="0">
                <a:solidFill>
                  <a:srgbClr val="FFFFFF"/>
                </a:solidFill>
                <a:latin typeface="Arial" pitchFamily="34" charset="0"/>
                <a:ea typeface="Arial" pitchFamily="34" charset="-122"/>
                <a:cs typeface="Arial" pitchFamily="34" charset="-120"/>
              </a:rPr>
              <a:t>Monopolie/Oligopolie: MO &lt; p (prijszetter)</a:t>
            </a:r>
            <a:endParaRPr lang="en-US" sz="1500" dirty="0"/>
          </a:p>
          <a:p>
            <a:pPr marL="342900" indent="-342900">
              <a:lnSpc>
                <a:spcPct val="160000"/>
              </a:lnSpc>
              <a:spcAft>
                <a:spcPts val="600"/>
              </a:spcAft>
              <a:buSzPct val="100000"/>
              <a:buChar char="•"/>
            </a:pPr>
            <a:r>
              <a:rPr lang="en-US" sz="1500" dirty="0">
                <a:solidFill>
                  <a:srgbClr val="FFFFFF"/>
                </a:solidFill>
                <a:latin typeface="Arial" pitchFamily="34" charset="0"/>
                <a:ea typeface="Arial" pitchFamily="34" charset="-122"/>
                <a:cs typeface="Arial" pitchFamily="34" charset="-120"/>
              </a:rPr>
              <a:t>Arbeidsmarkt: loon regelt vraag en aanbod</a:t>
            </a:r>
            <a:endParaRPr lang="en-US" sz="1500" dirty="0"/>
          </a:p>
          <a:p>
            <a:pPr marL="342900" indent="-342900">
              <a:lnSpc>
                <a:spcPct val="160000"/>
              </a:lnSpc>
              <a:spcAft>
                <a:spcPts val="600"/>
              </a:spcAft>
              <a:buSzPct val="100000"/>
              <a:buChar char="•"/>
            </a:pPr>
            <a:r>
              <a:rPr lang="en-US" sz="1500" dirty="0">
                <a:solidFill>
                  <a:srgbClr val="FFFFFF"/>
                </a:solidFill>
                <a:latin typeface="Arial" pitchFamily="34" charset="0"/>
                <a:ea typeface="Arial" pitchFamily="34" charset="-122"/>
                <a:cs typeface="Arial" pitchFamily="34" charset="-120"/>
              </a:rPr>
              <a:t>Verstoringen (minimumloon, robots) → werkloosheid</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3.2.1 Marktevenwicht</dc:title>
  <dc:subject>PptxGenJS Presentation</dc:subject>
  <dc:creator>Economie VWO</dc:creator>
  <cp:lastModifiedBy>Economie VWO</cp:lastModifiedBy>
  <cp:revision>1</cp:revision>
  <dcterms:created xsi:type="dcterms:W3CDTF">2026-04-01T17:52:23Z</dcterms:created>
  <dcterms:modified xsi:type="dcterms:W3CDTF">2026-04-01T17:52:23Z</dcterms:modified>
</cp:coreProperties>
</file>