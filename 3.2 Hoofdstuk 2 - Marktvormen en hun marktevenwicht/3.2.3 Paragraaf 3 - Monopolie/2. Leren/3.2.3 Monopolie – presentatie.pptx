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Welkom bij paragraaf 3.2.3 over monopolie. We behandelen de monopolist als prijszetter, het afleiden van MO en MK, winstmaximalisatie, de grafiek, en prijsdiscriminatie.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Zes leerdoelen. Van herkennen tot berekenen. We eindigen met prijsdiscriminatie als extra toepassing.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monopolist is een prijszetter: hij kiest zijn eigen prijs op de vraaglijn. Omdat hij de enige aanbieder is, bepaalt de marktvraag hoeveel hij kan verkopen bij elke prijs. Cruciaal: MO &lt;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formuleafleiding. Start met de vraaglijn, bereken TO door p maal Q, leid af naar MO. Let op: MO heeft dubbele helling van de vraaglijn maar hetzelfde startpunt. De kosten worden apart afgeleid.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winstmaximalisatie in vier stappen. Belangrijk: na het berekenen van Q* lees je de prijs af op de VRAAGLIJN, niet op de MK-lijn. Dit is een veelgemaakte fout. GTK bij Q=20 is 0,25 maal 20 =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monopolist produceert waar MO = MK (bij Q* = 20). De prijs leest hij af op de vraaglijn: p* = 30. LET OP: de prijs is 30, niet 10! De meestgemaakte fout is de prijs aflezen op de MK-lijn.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winst is TO minus TK = 500 euro. Het consumentensurplus is de driehoek boven de prijs en onder de vraaglijn = 200 euro. Vergelijk dit met volkomen concurrentie: de monopolist maakt meer winst, maar het CS is kleiner.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groene rechthoek is de winst van de monopolist: (p* − GTK*) × Q* = (30 − 5) × 20 = 500. De blauwe driehoek is het consumentensurplus: ½ × 20 × (50 − 30) = 200. Vergelijk: bij volkomen concurrentie was CS = 2.000.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Prijsdiscriminatie is een strategie die monopolisten gebruiken om meer winst te maken. Ze vragen verschillende prijzen aan verschillende groepen. Twee voorwaarden: groepen moeten te onderscheiden zijn en doorverkoop moet onmogelijk zijn.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logica: door een lagere prijs te vragen aan groepen met een lagere betalingsbereidheid, krijg je extra klanten. Zolang de prijs boven de marginale kosten ligt, is elke extra verkoop winstgevend.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Vijf kernpunten. Controleer of leerlingen de prijs op de vraaglijn aflezen, de MO-formule kennen, en begrijpen waarom prijsdiscriminatie winstgevend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Paragraaf 3.2.3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2: Marktvormen en hun marktevenwicht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ga je leren?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monopolist als prijszetter herkennen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MO, MK en GTK afleiden uit V en TK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Winstmaximalisatie toepassen: MO = MK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monopoliegrafiek tekenen en lezen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en CS bij monopolie berekenen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Prijsdiscriminatie herkennen en toepassen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Monopolist = prijszetter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828800"/>
          </a:xfrm>
          <a:prstGeom prst="rect">
            <a:avLst>
              <a:gd name="adj" fmla="val 25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aanbieder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monopolist is de enige aanbieder. Hij kiest zelf de prijs op de vraaglijn.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828800"/>
          </a:xfrm>
          <a:prstGeom prst="rect">
            <a:avLst>
              <a:gd name="adj" fmla="val 25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828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Vraaglijn = prijsafzetlijn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vraaglijn bepaalt welke prijs de monopolist kan vragen bij elke hoeveelheid.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Kernpunt: Bij monopolie geldt MO &lt; p (de MO daalt sneller dan de prijs)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Formules afleiden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868680"/>
            <a:ext cx="7315200" cy="292608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868680"/>
            <a:ext cx="54864" cy="292608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960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Vraaglijn:  </a:t>
            </a:r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V: p = −Q + 50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 </a:t>
            </a:r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= p × Q = (−Q + 50) × Q = −Q² + 50Q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874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MO:  </a:t>
            </a:r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= TO′ = −2Q + 50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TK:  </a:t>
            </a:r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 = 0,25Q²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MK:  </a:t>
            </a:r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 = TK′ = 0,5Q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246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GTK:  </a:t>
            </a:r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GTK = TK/Q = 0,25Q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Winstmax: MO = MK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43000" y="1005840"/>
            <a:ext cx="6858000" cy="2377440"/>
          </a:xfrm>
          <a:prstGeom prst="rect">
            <a:avLst/>
          </a:prstGeom>
          <a:solidFill>
            <a:srgbClr val="F7F8FA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005840"/>
            <a:ext cx="54864" cy="237744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1: MO = MK:  </a:t>
            </a:r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−2Q + 50 = 0,5Q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2: Oplossen:  </a:t>
            </a:r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2,5Q = 50  →  Q* = 20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3: Prijs:  </a:t>
            </a:r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p* = −20 + 50 = €30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4: Winst:  </a:t>
            </a:r>
            <a:pPr indent="0" marL="0">
              <a:buNone/>
            </a:pPr>
            <a:r>
              <a:rPr lang="en-US" sz="17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(30 − 5) × 20 = €500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" y="3520440"/>
            <a:ext cx="6858000" cy="502920"/>
          </a:xfrm>
          <a:prstGeom prst="rect">
            <a:avLst>
              <a:gd name="adj" fmla="val 9091"/>
            </a:avLst>
          </a:prstGeom>
          <a:solidFill>
            <a:srgbClr val="FDE8E8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3520440"/>
            <a:ext cx="54864" cy="50292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520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Lees de prijs af op de VRAAGLIJN, niet op de MK-lijn!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Monopolie: winstmaximalisatie in de grafiek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en CS berekenen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017520"/>
          </a:xfrm>
          <a:prstGeom prst="rect">
            <a:avLst>
              <a:gd name="adj" fmla="val 151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01752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Maximale winst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TO − TK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= 30 × 20 = €600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 = 0,25 × 400 = €100
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€500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017520"/>
          </a:xfrm>
          <a:prstGeom prst="rect">
            <a:avLst>
              <a:gd name="adj" fmla="val 1515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0175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Consumentensurplus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= ½ × Q* × (p_max − p*)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= ½ × 20 × (50 − 30)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= ½ × 20 × 20
</a:t>
            </a:r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= €200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en CS bij monopolie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Prijsdiscriminatie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371600"/>
          </a:xfrm>
          <a:prstGeom prst="rect">
            <a:avLst>
              <a:gd name="adj" fmla="val 333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37160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is het?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Verschillende prijzen vragen aan verschillende groepen voor hetzelfde product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371600"/>
          </a:xfrm>
          <a:prstGeom prst="rect">
            <a:avLst>
              <a:gd name="adj" fmla="val 333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1371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winst: ook consumenten met lagere betalingsbereidheid kopen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931920" cy="1188720"/>
          </a:xfrm>
          <a:prstGeom prst="rect">
            <a:avLst>
              <a:gd name="adj" fmla="val 384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51760"/>
            <a:ext cx="54864" cy="1188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Voorwaarde 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Marktsegmenten zijn te onderscheiden (bijv. jongeren vs. ouderen)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651760"/>
            <a:ext cx="3931920" cy="1188720"/>
          </a:xfrm>
          <a:prstGeom prst="rect">
            <a:avLst>
              <a:gd name="adj" fmla="val 384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651760"/>
            <a:ext cx="54864" cy="1188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7889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Voorwaarde 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37760" y="320040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Doorverkoop is niet mogelijk (kaart op naam, digitaal product)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levert prijsdiscriminatie meer winst?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548640"/>
          </a:xfrm>
          <a:prstGeom prst="rect">
            <a:avLst>
              <a:gd name="adj" fmla="val 833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645920" y="10972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groepen onderscheiden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1874520"/>
            <a:ext cx="6400800" cy="548640"/>
          </a:xfrm>
          <a:prstGeom prst="rect">
            <a:avLst>
              <a:gd name="adj" fmla="val 833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18745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prijs voor groep met lagere betalingsbereidheid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423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651760"/>
            <a:ext cx="6400800" cy="548640"/>
          </a:xfrm>
          <a:prstGeom prst="rect">
            <a:avLst>
              <a:gd name="adj" fmla="val 8333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45920" y="26517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klanten (extra omzet)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3429000"/>
            <a:ext cx="6400800" cy="548640"/>
          </a:xfrm>
          <a:prstGeom prst="rect">
            <a:avLst>
              <a:gd name="adj" fmla="val 8333"/>
            </a:avLst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34290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stijgt (zolang p &gt; MK)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Jongeren betalen minder, maar nog boven de MK → winstgevend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monopolist kiest zijn prijs op de vraaglijn (MO &lt; p)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heeft dubbele helling van V, zelfde startpunt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Winstmax: MO = MK → Q*, dan prijs aflezen op V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= (p* − GTK) × Q*, CS = driehoek boven p*</a:t>
            </a:r>
            <a:endParaRPr lang="en-US" sz="1500" dirty="0"/>
          </a:p>
          <a:p>
            <a:pPr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Prijsdiscriminatie verhoogt de winst als p &gt; MK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3.2.3 Monopolie</dc:title>
  <dc:subject>PptxGenJS Presentation</dc:subject>
  <dc:creator>Economie VWO</dc:creator>
  <cp:lastModifiedBy>Economie VWO</cp:lastModifiedBy>
  <cp:revision>1</cp:revision>
  <dcterms:created xsi:type="dcterms:W3CDTF">2026-04-01T17:58:56Z</dcterms:created>
  <dcterms:modified xsi:type="dcterms:W3CDTF">2026-04-01T17:58:56Z</dcterms:modified>
</cp:coreProperties>
</file>