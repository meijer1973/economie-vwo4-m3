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3.2.3 over monopolie. We behandelen de monopolist als prijszetter, het afleiden van MO en MK, winstmaximalisatie, de grafiek, en prijsdiscriminatie.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Zes leerdoelen. Van herkennen tot berekenen. We eindigen met prijsdiscriminatie als extra toepassing.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monopolist is een prijszetter: hij kiest zijn eigen prijs op de vraaglijn. Omdat hij de enige aanbieder is, bepaalt de marktvraag hoeveel hij kan verkopen bij elke prijs. Cruciaal: MO &lt; 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formuleafleiding. Start met de vraaglijn, bereken TO door p maal Q, leid af naar MO. Let op: MO heeft dubbele helling van de vraaglijn maar hetzelfde startpunt. De kosten worden apart afgeleid.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winstmaximalisatie in vier stappen. Belangrijk: na het berekenen van Q* lees je de prijs af op de VRAAGLIJN, niet op de MK-lijn. Dit is een veelgemaakte fout. GTK bij Q=20 is 0,25 maal 20 =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winst is TO minus TK = 500 euro. Het consumentensurplus is de driehoek boven de prijs en onder de vraaglijn = 200 euro. Vergelijk dit met volkomen concurrentie: de monopolist maakt meer winst, maar het CS is kleiner.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Prijsdiscriminatie is een strategie die monopolisten gebruiken om meer winst te maken. Ze vragen verschillende prijzen aan verschillende groepen. Twee voorwaarden: groepen moeten te onderscheiden zijn en doorverkoop moet onmogelijk zijn.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logica: door een lagere prijs te vragen aan groepen met een lagere betalingsbereidheid, krijg je extra klanten. Zolang de prijs boven de marginale kosten ligt, is elke extra verkoop winstgevend.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Vijf kernpunten. Controleer of leerlingen de prijs op de vraaglijn aflezen, de MO-formule kennen, en begrijpen waarom prijsdiscriminatie winstgevend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3.2.3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2: Marktvormen en hun marktevenwicht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monopolist als prijszetter herkennen</a:t>
            </a:r>
            <a:endParaRPr lang="en-US" sz="1600" dirty="0"/>
          </a:p>
          <a:p>
            <a:pPr marL="342900" indent="-342900">
              <a:lnSpc>
                <a:spcPct val="14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MO, MK en GTK afleiden uit V en TK</a:t>
            </a:r>
            <a:endParaRPr lang="en-US" sz="1600" dirty="0"/>
          </a:p>
          <a:p>
            <a:pPr marL="342900" indent="-342900">
              <a:lnSpc>
                <a:spcPct val="14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Winstmaximalisatie toepassen: MO = MK</a:t>
            </a:r>
            <a:endParaRPr lang="en-US" sz="1600" dirty="0"/>
          </a:p>
          <a:p>
            <a:pPr marL="342900" indent="-342900">
              <a:lnSpc>
                <a:spcPct val="14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monopoliegrafiek tekenen en lezen</a:t>
            </a:r>
            <a:endParaRPr lang="en-US" sz="1600" dirty="0"/>
          </a:p>
          <a:p>
            <a:pPr marL="342900" indent="-342900">
              <a:lnSpc>
                <a:spcPct val="14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en CS bij monopolie berekenen</a:t>
            </a:r>
            <a:endParaRPr lang="en-US" sz="1600" dirty="0"/>
          </a:p>
          <a:p>
            <a:pPr marL="342900" indent="-342900">
              <a:lnSpc>
                <a:spcPct val="14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Prijsdiscriminatie herkennen en toepassen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 = prijszetter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078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aanbieder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463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monopolist is de enige aanbieder. Hij kiest zelf de prijs op de vraaglijn.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22960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9456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226771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Vraaglijn = prijsafzetlijn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vraaglijn bepaalt welke prijs de monopolist kan vragen bij elke hoeveelheid.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8229600" cy="640080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566160"/>
            <a:ext cx="54864" cy="640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35661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Kernpunt: </a:t>
            </a:r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monopolie geldt MO &lt; p (de MO daalt sneller dan de prijs)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Formules afleiden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8686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Vraaglijn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86868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V: p = −Q + 50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786384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150876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= p × Q = (−Q + 50) × Q = −Q² + 50Q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7863840" cy="502920"/>
          </a:xfrm>
          <a:prstGeom prst="rect">
            <a:avLst/>
          </a:prstGeom>
          <a:solidFill>
            <a:srgbClr val="EBF5FB"/>
          </a:solidFill>
          <a:ln w="6350">
            <a:solidFill>
              <a:srgbClr val="1A527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148840"/>
            <a:ext cx="54864" cy="5029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1488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214884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 = TO′ = −2Q + 50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2788920"/>
            <a:ext cx="786384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7889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60320" y="278892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 = 0,25Q²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786384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4290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560320" y="342900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 = TK′ = 0,5Q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0690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560320" y="406908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GTK = TK/Q = 0,25Q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Winstmax: MO = MK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188720"/>
          </a:xfrm>
          <a:prstGeom prst="rect">
            <a:avLst>
              <a:gd name="adj" fmla="val 384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188720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1: MO = MK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−2Q + 50 = 0,5Q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1188720"/>
          </a:xfrm>
          <a:prstGeom prst="rect">
            <a:avLst>
              <a:gd name="adj" fmla="val 384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1188720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97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2: Oplossen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150876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2,5Q = 50  →  Q* = 20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3931920" cy="1188720"/>
          </a:xfrm>
          <a:prstGeom prst="rect">
            <a:avLst>
              <a:gd name="adj" fmla="val 3846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68880"/>
            <a:ext cx="54864" cy="11887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60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3: Prijs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29718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p* = −20 + 50 = €30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754880" y="2468880"/>
            <a:ext cx="3931920" cy="1188720"/>
          </a:xfrm>
          <a:prstGeom prst="rect">
            <a:avLst>
              <a:gd name="adj" fmla="val 3846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468880"/>
            <a:ext cx="54864" cy="11887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560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4: Winst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37760" y="29718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(30 − 5) × 20 = €500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594360"/>
          </a:xfrm>
          <a:prstGeom prst="rect">
            <a:avLst>
              <a:gd name="adj" fmla="val 7692"/>
            </a:avLst>
          </a:prstGeom>
          <a:solidFill>
            <a:srgbClr val="FDE8E8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931920"/>
            <a:ext cx="54864" cy="59436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393192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Lees de prijs af op de VRAAGLIJN, niet op de MK-lijn!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en CS berekenen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017520"/>
          </a:xfrm>
          <a:prstGeom prst="rect">
            <a:avLst>
              <a:gd name="adj" fmla="val 151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0175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Maximale winst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= TO − TK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= 30 × 20 = €600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TK = 0,25 × 400 = €100
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52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€500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017520"/>
          </a:xfrm>
          <a:prstGeom prst="rect">
            <a:avLst>
              <a:gd name="adj" fmla="val 151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0175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Consumentensurplus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½ × Q* × (p_max − p*)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 = ½ × 20 × (50 − 30)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 = ½ × 20 × 20
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 = €200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Prijsdiscriminatie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49808"/>
          </a:xfrm>
          <a:prstGeom prst="rect">
            <a:avLst>
              <a:gd name="adj" fmla="val 6098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74980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96012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het?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126187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Verschillende prijzen vragen aan verschillende groepen voor hetzelfde product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749808"/>
          </a:xfrm>
          <a:prstGeom prst="rect">
            <a:avLst>
              <a:gd name="adj" fmla="val 6098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28800"/>
            <a:ext cx="54864" cy="74980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7452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Voorwaarde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8368" y="217627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Marktsegmenten zijn te onderscheiden (bijv. jongeren vs. ouderen)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49808"/>
          </a:xfrm>
          <a:prstGeom prst="rect">
            <a:avLst>
              <a:gd name="adj" fmla="val 6098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743200"/>
            <a:ext cx="54864" cy="74980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78892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Voorwaarde 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" y="309067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Doorverkoop is niet mogelijk (kaart op naam, digitaal product)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8229600" cy="749808"/>
          </a:xfrm>
          <a:prstGeom prst="rect">
            <a:avLst>
              <a:gd name="adj" fmla="val 6098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657600"/>
            <a:ext cx="54864" cy="74980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70332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8368" y="400507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winst: ook consumenten met lagere betalingsbereidheid kopen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 levert prijsdiscriminatie meer winst?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94360"/>
          </a:xfrm>
          <a:prstGeom prst="rect">
            <a:avLst>
              <a:gd name="adj" fmla="val 7692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554480" y="109728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groepen onderscheiden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1691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965960"/>
            <a:ext cx="6400800" cy="594360"/>
          </a:xfrm>
          <a:prstGeom prst="rect">
            <a:avLst>
              <a:gd name="adj" fmla="val 7692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54480" y="196596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prijs voor groep met lagere betalingsbereidheid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5603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2834640"/>
            <a:ext cx="6400800" cy="594360"/>
          </a:xfrm>
          <a:prstGeom prst="rect">
            <a:avLst>
              <a:gd name="adj" fmla="val 7692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54480" y="283464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klanten (extra omzet)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34290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71600" y="3703320"/>
            <a:ext cx="6400800" cy="594360"/>
          </a:xfrm>
          <a:prstGeom prst="rect">
            <a:avLst>
              <a:gd name="adj" fmla="val 7692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554480" y="370332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stijgt (zolang p &gt; MK)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Jongeren betalen minder, maar nog boven de MK → winstgevend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monopolist kiest zijn prijs op de vraaglijn (MO &lt; p)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 heeft dubbele helling van V, zelfde startpunt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Winstmax: MO = MK → Q*, dan prijs aflezen op V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= (p* − GTK) × Q*, CS = driehoek boven p*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Prijsdiscriminatie verhoogt de winst als p &gt; MK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Monopolie</dc:title>
  <dc:subject>PptxGenJS Presentation</dc:subject>
  <dc:creator>Economie VWO</dc:creator>
  <cp:lastModifiedBy>Economie VWO</cp:lastModifiedBy>
  <cp:revision>1</cp:revision>
  <dcterms:created xsi:type="dcterms:W3CDTF">2026-03-23T10:11:43Z</dcterms:created>
  <dcterms:modified xsi:type="dcterms:W3CDTF">2026-03-23T10:11:43Z</dcterms:modified>
</cp:coreProperties>
</file>