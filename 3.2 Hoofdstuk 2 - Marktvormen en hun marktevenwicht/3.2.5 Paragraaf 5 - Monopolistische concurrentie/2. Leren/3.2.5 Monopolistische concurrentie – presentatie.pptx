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Paragraaf 3.2.5: monopolistische concurrentie. Een marktvorm met veel aanbieders die heterogene producten verkopen. Denk aan restaurants, kappers, kledingmerken.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Zes leerdoelen: kenmerken begrijpen, winst berekenen op korte en lange termijn, vergelijken met volkomen concurrentie, marktaandeel berekenen.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kenmerken: veel aanbieders, heterogeen product (merken, varianten), lage toetredingsdrempels. Elke aanbieder heeft zijn eigen vraaglijn doordat het product net anders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Heterogeen product = eigen vraaglijn. De aanbieder heeft enige marktmacht: hij kan de prijs iets verhogen zonder alle klanten te verliezen. Maar de marktmacht is beperkt door concurrenten. Bij toetreding verschuift de individuele vraaglijn naar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Korte termijn: de aanbieder kan winst maken, net als een monopolist. MO = MK geeft de optimale hoeveelheid Q*. De prijs lees je af op de vraaglijn. Winst = (p* - GTK) maal Q*.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Stap voor stap: 1) Stel MO = MK, 2) Vind Q*, 3) Lees p* af op vraaglijn, 4) Bereken GTK bij Q*, 5) Winst = (p* - GTK) maal Q*. Dit is dezelfde methode als bij monopolie.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Lange termijn: winst trekt nieuwe aanbieders aan. Meer aanbieders = minder vraag per aanbieder. De individuele vraaglijn verschuift naar links totdat winst = 0. Omgekeerd: bij verlies treden aanbieders 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Break-even: op lange termijn raakt de vraaglijn de GTK-curve. p = GTK, winst = 0. Maar de prijs is HOGER dan bij volkomen concurrentie, want er is overcapaciteit.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Vergelijking met volkomen concurrentie: beide hebben winst = 0 op de lange termijn, maar bij MC is p &gt; MK (welvaartsverlies) en wordt er minder geproduceerd dan bij het GTK-minimum.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Marktaandeel berekenen: individuele productie of afzet gedeeld door totale marktproductie, maal 100%. Simpele formule maar komt regelmatig voor in opgaven.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veelgemaakte fouten: MC is geen monopolie, op lange termijn verdwijnt winst maar niet concurrentie, en overcapaciteit is een afweging tegen productdifferentiatie.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Samenvatting: MC combineert elementen van monopolie (eigen vraaglijn) en volkomen concurrentie (vrije toetreding, winst 0 op lange termijn). Overcapaciteit is het gevolg.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Monopolistische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concurrentie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Paragraaf 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2: Marktvormen en hun marktevenwicht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ga je leren?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Kenmerken van monopolistische concurrentie herkennen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van toetreding op de vraaglijn uitleggen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bepalen via MO = MK en vergelijken met GTK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Uitleggen waarom winst op lange termijn verdwijnt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Verschil met volkomen concurrentie benoemen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Marktaandeel berekenen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Kenmerken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0292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960120"/>
            <a:ext cx="7132320" cy="1005840"/>
          </a:xfrm>
          <a:prstGeom prst="rect">
            <a:avLst>
              <a:gd name="adj" fmla="val 454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371600" y="960120"/>
            <a:ext cx="54864" cy="10058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600200" y="10515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Heterogeen product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43560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Producten lijken op elkaar maar zijn net anders (merk, locatie, stijl)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71600" y="2194560"/>
            <a:ext cx="7132320" cy="1005840"/>
          </a:xfrm>
          <a:prstGeom prst="rect">
            <a:avLst>
              <a:gd name="adj" fmla="val 454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371600" y="2194560"/>
            <a:ext cx="54864" cy="10058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600200" y="22860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aanbieders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267004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Niemand kan de markt alleen bepalen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371600" y="3429000"/>
            <a:ext cx="7132320" cy="1005840"/>
          </a:xfrm>
          <a:prstGeom prst="rect">
            <a:avLst>
              <a:gd name="adj" fmla="val 454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371600" y="3429000"/>
            <a:ext cx="54864" cy="10058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00200" y="35204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toetredingsdrempels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390448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Nieuwe aanbieders kunnen relatief makkelijk toetreden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Heterogeen = eigen vraaglijn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 product is uniek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aanbieder heeft een eigen, dalende vraaglijn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Beperkte prijszettingsmacht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Voorbeelden: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restaurants, kappers, kledingmerken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0" y="1005840"/>
            <a:ext cx="54864" cy="32004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toetreding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Marktvraag verschuift rechts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(meer keuze trekt meer vragers)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Residuele vraag verschuift links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(minder klanten per aanbieder)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Korte termijn: winst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3657600"/>
          </a:xfrm>
          <a:prstGeom prst="rect">
            <a:avLst>
              <a:gd name="adj" fmla="val 1250"/>
            </a:avLst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Grafiek: MO = MK, winst als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gearceerd vlak (p* &gt; GTK)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005840"/>
            <a:ext cx="2926080" cy="3657600"/>
          </a:xfrm>
          <a:prstGeom prst="rect">
            <a:avLst>
              <a:gd name="adj" fmla="val 156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760720" y="1005840"/>
            <a:ext cx="54864" cy="36576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0" y="1143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Korte termijn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6060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= MK geeft Q*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 aflezen op vraaglijn bij Q*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p* &gt; GTK: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= (p* − GTK) × Q*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Winstbepaling: stap voor stap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051560"/>
            <a:ext cx="6400800" cy="502920"/>
          </a:xfrm>
          <a:prstGeom prst="rect">
            <a:avLst>
              <a:gd name="adj" fmla="val 909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08760" y="1051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74520" y="10515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 MO = MK op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1719072"/>
            <a:ext cx="6400800" cy="502920"/>
          </a:xfrm>
          <a:prstGeom prst="rect">
            <a:avLst>
              <a:gd name="adj" fmla="val 909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08760" y="171907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4520" y="171907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Q* op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22199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386584"/>
            <a:ext cx="6400800" cy="502920"/>
          </a:xfrm>
          <a:prstGeom prst="rect">
            <a:avLst>
              <a:gd name="adj" fmla="val 909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508760" y="238658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74520" y="238658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Lees p* af op de vraaglijn (V) bij Q*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889504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3054096"/>
            <a:ext cx="6400800" cy="502920"/>
          </a:xfrm>
          <a:prstGeom prst="rect">
            <a:avLst>
              <a:gd name="adj" fmla="val 909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508760" y="30540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74520" y="305409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Lees GTK af bij Q*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557016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71600" y="3721608"/>
            <a:ext cx="6400800" cy="502920"/>
          </a:xfrm>
          <a:prstGeom prst="rect">
            <a:avLst>
              <a:gd name="adj" fmla="val 9091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508760" y="372160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74520" y="372160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= (p* − GTK) × Q*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Lange termijn: winst verdwijnt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0" y="1051560"/>
            <a:ext cx="5486400" cy="548640"/>
          </a:xfrm>
          <a:prstGeom prst="rect">
            <a:avLst>
              <a:gd name="adj" fmla="val 8333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57400" y="1051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op korte termijn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16002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1783080"/>
            <a:ext cx="5486400" cy="548640"/>
          </a:xfrm>
          <a:prstGeom prst="rect">
            <a:avLst>
              <a:gd name="adj" fmla="val 8333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57400" y="1783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Toetreding nieuwe aanbieders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3317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0" y="2514600"/>
            <a:ext cx="5486400" cy="548640"/>
          </a:xfrm>
          <a:prstGeom prst="rect">
            <a:avLst>
              <a:gd name="adj" fmla="val 8333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57400" y="2514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Vraaglijn schuift naar links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30632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828800" y="3246120"/>
            <a:ext cx="5486400" cy="548640"/>
          </a:xfrm>
          <a:prstGeom prst="rect">
            <a:avLst>
              <a:gd name="adj" fmla="val 833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057400" y="3246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= 0 (V raakt GTK)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Omgekeerd: bij verlies treden aanbieders uit → vraaglijn schuift rechts → verlies verdwijnt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Lange termijn: break-even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3657600"/>
          </a:xfrm>
          <a:prstGeom prst="rect">
            <a:avLst>
              <a:gd name="adj" fmla="val 1250"/>
            </a:avLst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Grafiek: V raakt GTK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GTK, winst = 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005840"/>
            <a:ext cx="2926080" cy="3657600"/>
          </a:xfrm>
          <a:prstGeom prst="rect">
            <a:avLst>
              <a:gd name="adj" fmla="val 156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760720" y="1005840"/>
            <a:ext cx="54864" cy="36576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0" y="1143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6060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vraaglijn raakt de GTK-curve
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GTK
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= 0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Maar: prijs is HOGER dan bij volkomen concurrentie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 vs. volkomen concurrentie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91840"/>
          </a:xfrm>
          <a:prstGeom prst="rect">
            <a:avLst>
              <a:gd name="adj" fmla="val 1389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329184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Volkomen concurrentie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Horizontale vraaglijn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 bij GTK-minimum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Laagste prijs voor consument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overcapaciteit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91840"/>
          </a:xfrm>
          <a:prstGeom prst="rect">
            <a:avLst>
              <a:gd name="adj" fmla="val 1389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0" y="1005840"/>
            <a:ext cx="54864" cy="32918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Monopolistische concurrentie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Dalende vraaglijn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 links van GTK-min.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prijs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Overcapaciteit (= inefficiëntie)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Beide: op lange termijn geen winst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Marktaandeel berekenen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59436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1051560"/>
            <a:ext cx="54864" cy="5943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05156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Marktaandeel = (eigen afzet / totale marktafzet) × 100%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7863840" cy="2560320"/>
          </a:xfrm>
          <a:prstGeom prst="rect">
            <a:avLst>
              <a:gd name="adj" fmla="val 1786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2011680"/>
            <a:ext cx="54864" cy="2560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148840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7543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2009 zijn er 573 eetcafés in Limburg.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komen 276 eetcafés bij → 573 + 276 = 849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Totaal horecazaken: 4.000
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Marktaandeel = 849 / 4.000 × 100% = 21,2%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Valkuilen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005840"/>
          </a:xfrm>
          <a:prstGeom prst="rect">
            <a:avLst>
              <a:gd name="adj" fmla="val 4545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60120"/>
            <a:ext cx="54864" cy="100584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1033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"MC = monopolie"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3441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Onjuist: bij MC is er juist veel concurrentie. De 'monopolistische' verwijst naar de dalende vraaglijn, niet naar marktmacht.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1005840"/>
          </a:xfrm>
          <a:prstGeom prst="rect">
            <a:avLst>
              <a:gd name="adj" fmla="val 4545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148840"/>
            <a:ext cx="54864" cy="100584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22219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 lange termijn verdwijnt alle concurrentie"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5328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Onjuist: er verdwijnt winst, niet concurrentie. Er zijn nog steeds veel aanbieders.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1005840"/>
          </a:xfrm>
          <a:prstGeom prst="rect">
            <a:avLst>
              <a:gd name="adj" fmla="val 4545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337560"/>
            <a:ext cx="54864" cy="100584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" y="34107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"Overcapaciteit = slecht voor iedereen"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72160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Nuance: overcapaciteit is inefficiënt, maar consumenten profiteren van meer keuzevrijheid (variatie in producten).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Heterogeen product, veel aanbieders, lage drempels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aanbieder heeft een dalende vraaglijn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Korte termijn: winst mogelijk (MO = MK, p &gt; GTK)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Lange termijn: toetreding → winst verdwijnt (V raakt GTK)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 links van GTK-minimum → overcapaciteit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Marktaandeel = eigen afzet / totale afzet × 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3.2.5 Monopolistische concurrentie</dc:title>
  <dc:subject>PptxGenJS Presentation</dc:subject>
  <dc:creator>Economie VWO</dc:creator>
  <cp:lastModifiedBy>Economie VWO</cp:lastModifiedBy>
  <cp:revision>1</cp:revision>
  <dcterms:created xsi:type="dcterms:W3CDTF">2026-03-23T10:05:53Z</dcterms:created>
  <dcterms:modified xsi:type="dcterms:W3CDTF">2026-03-23T10:05:53Z</dcterms:modified>
</cp:coreProperties>
</file>