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Paragraaf 3.2.6: economische doelmatigheid. Wanneer is een markt efficiënt? We meten dit met surplus en leren het concept Pareto-efficiëntie.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Surplus = maat voor welvaart. CS is het verschil tussen betalingsbereidheid en werkelijke prijs. PS is het verschil tussen ontvangen prijs en minimale prijs. TS = CS + PS. Hoe hoger het totaal surplus, hoe doelmatiger de markt.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Bij volkomen concurrentie is het totale surplus maximaal. Er is geen welvaartsverlies. De prijs is gelijk aan MK. Dit is de benchmark waartegen we andere marktvormen vergelijken.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Bij monopolie produceert de monopolist minder en vraagt een hogere prijs. Het totale surplus daalt. CS daalt fors, PS stijgt wat maar netto is er welvaartsverlies.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 Harbergerdriehoek: het driehoekige gebied dat het welvaartsverlies door monopolie weergeeft. Dit zijn transacties die voordelig zouden zijn voor beide partijen maar niet plaatsvinden door de hogere monopolieprijs.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Waarom daalt het totaal surplus? De monopolist produceert minder dan het efficiënte niveau. Transacties die voor zowel koper als verkoper voordelig zouden zijn, vinden niet plaats. Rekenvoorbeeld: TS daalt van 900 naar 800, welvaartsverlies = 100.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Een markt is efficiënt als: p = MK, geen welvaartsverlies, totaal surplus is maximaal. Dit is alleen het geval bij volkomen concurrentie. Bij alle andere marktvormen is er een mate van inefficiëntie.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Toetredingsdrempels zijn de sleutel: als er geen drempels zijn, treden aanbieders toe totdat winst = 0 en de markt efficiënt is. Hoge drempels houden de inefficiëntie in stand.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Pareto-efficiëntie: een situatie waarin je niemand beter af kunt maken zonder iemand anders slechter af te maken. Het marktevenwicht bij volkomen concurrentie is Pareto-efficiënt.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Voorbeeld stoelruil: als twee leerlingen allebei liever op elkaars stoel zitten (of het niet erg vinden), is ruilen een Pareto-verbetering. Als niemand meer wil ruilen, is de situatie Pareto-efficiënt.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Drie veelgemaakte fouten: meer PS bij monopolie betekent niet meer welvaart, Pareto-efficiëntie zegt niets over eerlijkheid, en de Harbergerdriehoek is alleen het allocatieve verlies.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Samenvatting: volkomen concurrentie is het meest doelmatig (maximaal TS), monopolie het minst (Harbergerdriehoek). Toetredingsdrempels zijn de oorzaak van het verschil. Pareto-efficiëntie is het criterium.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51D4A"/>
          </a:solidFill>
          <a:ln/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5276"/>
          </a:solidFill>
          <a:ln/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914400"/>
            <a:ext cx="78638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Economische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doelmatigheid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274320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Surplus, efficiëntie en Pareto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4709160"/>
            <a:ext cx="7863840" cy="4343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Hoofdstuk 2: Marktvormen en hun marktevenwicht  |  Economie VWO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is surplus?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2560320" cy="3108960"/>
          </a:xfrm>
          <a:prstGeom prst="rect">
            <a:avLst>
              <a:gd name="adj" fmla="val 1786"/>
            </a:avLst>
          </a:prstGeom>
          <a:solidFill>
            <a:srgbClr val="EBF5FB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05840"/>
            <a:ext cx="54864" cy="3108960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43000"/>
            <a:ext cx="22402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1645920"/>
            <a:ext cx="224028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Consumentensurplus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2057400"/>
            <a:ext cx="22402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Verschil tussen wat consumenten willen betalen en wat ze daadwerkelijk betalen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91840" y="1005840"/>
            <a:ext cx="2560320" cy="3108960"/>
          </a:xfrm>
          <a:prstGeom prst="rect">
            <a:avLst>
              <a:gd name="adj" fmla="val 1786"/>
            </a:avLst>
          </a:prstGeom>
          <a:solidFill>
            <a:srgbClr val="FEF5E7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91840" y="1005840"/>
            <a:ext cx="54864" cy="3108960"/>
          </a:xfrm>
          <a:prstGeom prst="rect">
            <a:avLst/>
          </a:prstGeom>
          <a:solidFill>
            <a:srgbClr val="E67E22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1143000"/>
            <a:ext cx="22402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3474720" y="1645920"/>
            <a:ext cx="224028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Producentensurplus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474720" y="2057400"/>
            <a:ext cx="22402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Verschil tussen de ontvangen prijs en de minimale prijs waarvoor men wil produceren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126480" y="1005840"/>
            <a:ext cx="2560320" cy="3108960"/>
          </a:xfrm>
          <a:prstGeom prst="rect">
            <a:avLst>
              <a:gd name="adj" fmla="val 1786"/>
            </a:avLst>
          </a:prstGeom>
          <a:solidFill>
            <a:srgbClr val="E8F8F0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126480" y="1005840"/>
            <a:ext cx="54864" cy="3108960"/>
          </a:xfrm>
          <a:prstGeom prst="rect">
            <a:avLst/>
          </a:prstGeom>
          <a:solidFill>
            <a:srgbClr val="1E8449"/>
          </a:solidFill>
          <a:ln/>
        </p:spPr>
      </p:sp>
      <p:sp>
        <p:nvSpPr>
          <p:cNvPr id="15" name="Text 13"/>
          <p:cNvSpPr/>
          <p:nvPr/>
        </p:nvSpPr>
        <p:spPr>
          <a:xfrm>
            <a:off x="6309360" y="1143000"/>
            <a:ext cx="22402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E84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6309360" y="1645920"/>
            <a:ext cx="224028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Totaal surplus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309360" y="2057400"/>
            <a:ext cx="22402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 = CS + PS</a:t>
            </a:r>
            <a:endParaRPr lang="en-US" sz="13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Maatstaf voor de totale welvaart op een markt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57200" y="42976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Hoe groter het totaal surplus, hoe efficiënter de markt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Surplus: volkomen concurrentie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5029200" cy="3657600"/>
          </a:xfrm>
          <a:prstGeom prst="rect">
            <a:avLst>
              <a:gd name="adj" fmla="val 1250"/>
            </a:avLst>
          </a:prstGeom>
          <a:solidFill>
            <a:srgbClr val="F7F8FA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011680"/>
            <a:ext cx="50292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Grafiek: V/A-diagram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i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 = bovenste driehoek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i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= onderste driehoek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i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Q* = 30, P* = €30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760720" y="1005840"/>
            <a:ext cx="2926080" cy="3657600"/>
          </a:xfrm>
          <a:prstGeom prst="rect">
            <a:avLst>
              <a:gd name="adj" fmla="val 1563"/>
            </a:avLst>
          </a:prstGeom>
          <a:solidFill>
            <a:srgbClr val="E8F8F0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760720" y="1005840"/>
            <a:ext cx="54864" cy="3657600"/>
          </a:xfrm>
          <a:prstGeom prst="rect">
            <a:avLst/>
          </a:prstGeom>
          <a:solidFill>
            <a:srgbClr val="1E8449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0" y="114300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E84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Efficiënt!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943600" y="1554480"/>
            <a:ext cx="260604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Bij volkomen concurrentie:
</a:t>
            </a:r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84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 = MK
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 is maximaal
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welvaartsverlies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Monopolie: wat verandert er?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931920" cy="3474720"/>
          </a:xfrm>
          <a:prstGeom prst="rect">
            <a:avLst>
              <a:gd name="adj" fmla="val 1316"/>
            </a:avLst>
          </a:prstGeom>
          <a:solidFill>
            <a:srgbClr val="E8F8F0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05840"/>
            <a:ext cx="54864" cy="3474720"/>
          </a:xfrm>
          <a:prstGeom prst="rect">
            <a:avLst/>
          </a:prstGeom>
          <a:solidFill>
            <a:srgbClr val="1E8449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43000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E84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Volkomen concurrentie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1554480"/>
            <a:ext cx="36118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 = MK (= aanbodlijn)
</a:t>
            </a:r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Maximaal totaal surplus
</a:t>
            </a:r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 = driehoek boven P*
</a:t>
            </a:r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= driehoek onder P*
</a:t>
            </a:r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b="1" dirty="0">
                <a:solidFill>
                  <a:srgbClr val="1E84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Efficiënte uitkomst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754880" y="1005840"/>
            <a:ext cx="3931920" cy="3474720"/>
          </a:xfrm>
          <a:prstGeom prst="rect">
            <a:avLst>
              <a:gd name="adj" fmla="val 1316"/>
            </a:avLst>
          </a:prstGeom>
          <a:solidFill>
            <a:srgbClr val="FDE8E8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754880" y="1005840"/>
            <a:ext cx="54864" cy="3474720"/>
          </a:xfrm>
          <a:prstGeom prst="rect">
            <a:avLst/>
          </a:prstGeom>
          <a:solidFill>
            <a:srgbClr val="D9534F"/>
          </a:solidFill>
          <a:ln/>
        </p:spPr>
      </p:sp>
      <p:sp>
        <p:nvSpPr>
          <p:cNvPr id="9" name="Text 7"/>
          <p:cNvSpPr/>
          <p:nvPr/>
        </p:nvSpPr>
        <p:spPr>
          <a:xfrm>
            <a:off x="4937760" y="1143000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D95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Monopolie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937760" y="1554480"/>
            <a:ext cx="36118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 = MK (winstmaximalisatie)
</a:t>
            </a:r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Lagere Q, hogere P
</a:t>
            </a:r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 daalt (kleiner!)
</a:t>
            </a:r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stijgt door hogere prijs
</a:t>
            </a:r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b="1" dirty="0">
                <a:solidFill>
                  <a:srgbClr val="D95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 daalt → efficiëntieverlies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CS, PS en Harbergerdriehoek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5029200" cy="3657600"/>
          </a:xfrm>
          <a:prstGeom prst="rect">
            <a:avLst>
              <a:gd name="adj" fmla="val 1250"/>
            </a:avLst>
          </a:prstGeom>
          <a:solidFill>
            <a:srgbClr val="F7F8FA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103120"/>
            <a:ext cx="5029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Grafiek: V/A-diagram met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i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CS, PS en Harbergerdriehoek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i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(gearceerd welvaartsverlies)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760720" y="1005840"/>
            <a:ext cx="2926080" cy="3657600"/>
          </a:xfrm>
          <a:prstGeom prst="rect">
            <a:avLst>
              <a:gd name="adj" fmla="val 1563"/>
            </a:avLst>
          </a:prstGeom>
          <a:solidFill>
            <a:srgbClr val="FDE8E8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760720" y="1005840"/>
            <a:ext cx="54864" cy="3657600"/>
          </a:xfrm>
          <a:prstGeom prst="rect">
            <a:avLst/>
          </a:prstGeom>
          <a:solidFill>
            <a:srgbClr val="D9534F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0" y="114300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D95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Harbergerdriehoek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943600" y="1554480"/>
            <a:ext cx="260604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driehoekige welvaartsverlies
</a:t>
            </a:r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Transacties die niet plaatsvinden terwijl ze voor koper én verkoper voordelig zouden zijn
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D95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deadweight loss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Waarom daalt het totaal surplus?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4114800" cy="457200"/>
          </a:xfrm>
          <a:prstGeom prst="rect">
            <a:avLst>
              <a:gd name="adj" fmla="val 10000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100584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Monopolist kiest MO = MK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411480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600200"/>
            <a:ext cx="4114800" cy="457200"/>
          </a:xfrm>
          <a:prstGeom prst="rect">
            <a:avLst>
              <a:gd name="adj" fmla="val 10000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60020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Lagere Q, hogere P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2057400"/>
            <a:ext cx="411480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194560"/>
            <a:ext cx="4114800" cy="457200"/>
          </a:xfrm>
          <a:prstGeom prst="rect">
            <a:avLst>
              <a:gd name="adj" fmla="val 10000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19456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 daalt, PS stijgt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2651760"/>
            <a:ext cx="411480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2788920"/>
            <a:ext cx="4114800" cy="457200"/>
          </a:xfrm>
          <a:prstGeom prst="rect">
            <a:avLst>
              <a:gd name="adj" fmla="val 10000"/>
            </a:avLst>
          </a:prstGeom>
          <a:solidFill>
            <a:srgbClr val="D9534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40080" y="278892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 daalt → welvaartsverlies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937760" y="1005840"/>
            <a:ext cx="3749040" cy="3474720"/>
          </a:xfrm>
          <a:prstGeom prst="rect">
            <a:avLst>
              <a:gd name="adj" fmla="val 1316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937760" y="1005840"/>
            <a:ext cx="54864" cy="3474720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16" name="Text 14"/>
          <p:cNvSpPr/>
          <p:nvPr/>
        </p:nvSpPr>
        <p:spPr>
          <a:xfrm>
            <a:off x="5120640" y="1143000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Rekenvoorbeeld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5120640" y="1554480"/>
            <a:ext cx="342900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Volkomen concurrentie:
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 = 450 + PS = 450 = TS = 900
</a:t>
            </a:r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Monopolie:
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 = 200 + PS = 600 = TS = 800
</a:t>
            </a:r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D95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Harbergerdriehoek:
</a:t>
            </a:r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D95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900 − 800 = 100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daling van het CS is groter dan de stijging van het PS → netto welvaartsverlies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Wanneer is een markt efficiënt?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931920" cy="2926080"/>
          </a:xfrm>
          <a:prstGeom prst="rect">
            <a:avLst>
              <a:gd name="adj" fmla="val 1563"/>
            </a:avLst>
          </a:prstGeom>
          <a:solidFill>
            <a:srgbClr val="E8F8F0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05840"/>
            <a:ext cx="54864" cy="2926080"/>
          </a:xfrm>
          <a:prstGeom prst="rect">
            <a:avLst/>
          </a:prstGeom>
          <a:solidFill>
            <a:srgbClr val="1E8449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43000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E84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Efficiënt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1554480"/>
            <a:ext cx="3611880" cy="2240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 is maximaal
</a:t>
            </a:r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 = MK
</a:t>
            </a:r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welvaartsverlies
</a:t>
            </a:r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b="1" dirty="0">
                <a:solidFill>
                  <a:srgbClr val="1E84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Volkomen concurrentie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754880" y="1005840"/>
            <a:ext cx="3931920" cy="2926080"/>
          </a:xfrm>
          <a:prstGeom prst="rect">
            <a:avLst>
              <a:gd name="adj" fmla="val 1563"/>
            </a:avLst>
          </a:prstGeom>
          <a:solidFill>
            <a:srgbClr val="FDE8E8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754880" y="1005840"/>
            <a:ext cx="54864" cy="2926080"/>
          </a:xfrm>
          <a:prstGeom prst="rect">
            <a:avLst/>
          </a:prstGeom>
          <a:solidFill>
            <a:srgbClr val="D9534F"/>
          </a:solidFill>
          <a:ln/>
        </p:spPr>
      </p:sp>
      <p:sp>
        <p:nvSpPr>
          <p:cNvPr id="9" name="Text 7"/>
          <p:cNvSpPr/>
          <p:nvPr/>
        </p:nvSpPr>
        <p:spPr>
          <a:xfrm>
            <a:off x="4937760" y="1143000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D95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Inefficiënt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937760" y="1554480"/>
            <a:ext cx="3611880" cy="2240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 is niet maximaal
</a:t>
            </a:r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 &gt; MK (monopolist)
</a:t>
            </a:r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Harbergerdriehoek &gt; 0
</a:t>
            </a:r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b="1" dirty="0">
                <a:solidFill>
                  <a:srgbClr val="D95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Monopolie / oligopolie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41605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Toets: vergelijk het TS met dat bij volkomen concurrentie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 van toetredingsdrempels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914400" y="960120"/>
            <a:ext cx="7315200" cy="411480"/>
          </a:xfrm>
          <a:prstGeom prst="rect">
            <a:avLst>
              <a:gd name="adj" fmla="val 11111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1097280" y="960120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Hoge toetredingsdrempels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914400" y="1371600"/>
            <a:ext cx="7315200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914400" y="1481328"/>
            <a:ext cx="7315200" cy="411480"/>
          </a:xfrm>
          <a:prstGeom prst="rect">
            <a:avLst>
              <a:gd name="adj" fmla="val 11111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097280" y="1481328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Weinig of geen nieuwe aanbieders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1892808"/>
            <a:ext cx="7315200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14400" y="2002536"/>
            <a:ext cx="7315200" cy="411480"/>
          </a:xfrm>
          <a:prstGeom prst="rect">
            <a:avLst>
              <a:gd name="adj" fmla="val 11111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097280" y="2002536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Monopolist/oligopolist behoudt marktmacht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14400" y="2414016"/>
            <a:ext cx="7315200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14400" y="2523744"/>
            <a:ext cx="7315200" cy="411480"/>
          </a:xfrm>
          <a:prstGeom prst="rect">
            <a:avLst>
              <a:gd name="adj" fmla="val 11111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1097280" y="2523744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 &gt; MK blijft bestaan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914400" y="2935224"/>
            <a:ext cx="7315200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14400" y="3044952"/>
            <a:ext cx="7315200" cy="411480"/>
          </a:xfrm>
          <a:prstGeom prst="rect">
            <a:avLst>
              <a:gd name="adj" fmla="val 11111"/>
            </a:avLst>
          </a:prstGeom>
          <a:solidFill>
            <a:srgbClr val="D9534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1097280" y="3044952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Efficiëntieverlies blijft → Harbergerdriehoek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" y="44805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Voorbeeld: </a:t>
            </a:r>
            <a:pPr algn="l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elektriciteitsmarkt — hoge kosten om toe te treden, P 25% boven GTK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Pareto-efficiëntie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931920" cy="3291840"/>
          </a:xfrm>
          <a:prstGeom prst="rect">
            <a:avLst>
              <a:gd name="adj" fmla="val 1389"/>
            </a:avLst>
          </a:prstGeom>
          <a:solidFill>
            <a:srgbClr val="F3E8F9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05840"/>
            <a:ext cx="54864" cy="3291840"/>
          </a:xfrm>
          <a:prstGeom prst="rect">
            <a:avLst/>
          </a:prstGeom>
          <a:solidFill>
            <a:srgbClr val="7B2D8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43000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7B2D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Pareto-efficiënt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1554480"/>
            <a:ext cx="3611880" cy="2606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situatie is Pareto-efficiënt als het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7B2D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niet mogelijk is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om iemand erop vooruit te laten gaan zonder dat iemand anders erop achteruitgaat.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754880" y="1005840"/>
            <a:ext cx="3931920" cy="3291840"/>
          </a:xfrm>
          <a:prstGeom prst="rect">
            <a:avLst>
              <a:gd name="adj" fmla="val 1389"/>
            </a:avLst>
          </a:prstGeom>
          <a:solidFill>
            <a:srgbClr val="E8F8F0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754880" y="1005840"/>
            <a:ext cx="54864" cy="3291840"/>
          </a:xfrm>
          <a:prstGeom prst="rect">
            <a:avLst/>
          </a:prstGeom>
          <a:solidFill>
            <a:srgbClr val="1E8449"/>
          </a:solidFill>
          <a:ln/>
        </p:spPr>
      </p:sp>
      <p:sp>
        <p:nvSpPr>
          <p:cNvPr id="9" name="Text 7"/>
          <p:cNvSpPr/>
          <p:nvPr/>
        </p:nvSpPr>
        <p:spPr>
          <a:xfrm>
            <a:off x="4937760" y="1143000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E84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Pareto-verbetering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937760" y="1554480"/>
            <a:ext cx="3611880" cy="2606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verandering waarbij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84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minstens één persoon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erop vooruitgaat en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84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niemand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erop achteruitgaat.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44805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Als er géén Pareto-verbetering meer mogelijk is → de situatie is Pareto-efficiënt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Voorbeeld: stoelruil in de klas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640080" y="1115568"/>
            <a:ext cx="457200" cy="457200"/>
          </a:xfrm>
          <a:prstGeom prst="ellipse">
            <a:avLst/>
          </a:prstGeom>
          <a:solidFill>
            <a:srgbClr val="1A5276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1155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325880" y="1005840"/>
            <a:ext cx="7360920" cy="685800"/>
          </a:xfrm>
          <a:prstGeom prst="rect">
            <a:avLst>
              <a:gd name="adj" fmla="val 6667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508760" y="1005840"/>
            <a:ext cx="69494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Esther zit vooraan, Mieke achteraan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1984248"/>
            <a:ext cx="457200" cy="457200"/>
          </a:xfrm>
          <a:prstGeom prst="ellipse">
            <a:avLst/>
          </a:prstGeom>
          <a:solidFill>
            <a:srgbClr val="1A5276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98424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325880" y="1874520"/>
            <a:ext cx="7360920" cy="685800"/>
          </a:xfrm>
          <a:prstGeom prst="rect">
            <a:avLst>
              <a:gd name="adj" fmla="val 6667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508760" y="1874520"/>
            <a:ext cx="69494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Mieke wil graag vooraan — Esther maakt het niet uit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2852928"/>
            <a:ext cx="457200" cy="457200"/>
          </a:xfrm>
          <a:prstGeom prst="ellipse">
            <a:avLst/>
          </a:prstGeom>
          <a:solidFill>
            <a:srgbClr val="1A5276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28529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1325880" y="2743200"/>
            <a:ext cx="7360920" cy="685800"/>
          </a:xfrm>
          <a:prstGeom prst="rect">
            <a:avLst>
              <a:gd name="adj" fmla="val 6667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1508760" y="2743200"/>
            <a:ext cx="69494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 wisselen: Mieke blij, Esther niet slechter af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40080" y="3657600"/>
            <a:ext cx="7863840" cy="777240"/>
          </a:xfrm>
          <a:prstGeom prst="rect">
            <a:avLst>
              <a:gd name="adj" fmla="val 5882"/>
            </a:avLst>
          </a:prstGeom>
          <a:solidFill>
            <a:srgbClr val="E8F8F0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40080" y="3657600"/>
            <a:ext cx="54864" cy="777240"/>
          </a:xfrm>
          <a:prstGeom prst="rect">
            <a:avLst/>
          </a:prstGeom>
          <a:solidFill>
            <a:srgbClr val="1E8449"/>
          </a:solidFill>
          <a:ln/>
        </p:spPr>
      </p:sp>
      <p:sp>
        <p:nvSpPr>
          <p:cNvPr id="17" name="Text 15"/>
          <p:cNvSpPr/>
          <p:nvPr/>
        </p:nvSpPr>
        <p:spPr>
          <a:xfrm>
            <a:off x="868680" y="3657600"/>
            <a:ext cx="74066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84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Dit is een Pareto-verbetering!
</a:t>
            </a:r>
            <a:pPr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 als niemand meer wil ruilen zonder dat iemand erop achteruitgaat → Pareto-efficiënt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Valkuilen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8229600" cy="1005840"/>
          </a:xfrm>
          <a:prstGeom prst="rect">
            <a:avLst>
              <a:gd name="adj" fmla="val 4545"/>
            </a:avLst>
          </a:prstGeom>
          <a:solidFill>
            <a:srgbClr val="FDE8E8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960120"/>
            <a:ext cx="54864" cy="1005840"/>
          </a:xfrm>
          <a:prstGeom prst="rect">
            <a:avLst/>
          </a:prstGeom>
          <a:solidFill>
            <a:srgbClr val="D9534F"/>
          </a:solidFill>
          <a:ln/>
        </p:spPr>
      </p:sp>
      <p:sp>
        <p:nvSpPr>
          <p:cNvPr id="5" name="Text 3"/>
          <p:cNvSpPr/>
          <p:nvPr/>
        </p:nvSpPr>
        <p:spPr>
          <a:xfrm>
            <a:off x="658368" y="1033272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95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"Meer PS bij monopolie = beter voor de markt"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58368" y="1344168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Onjuist: PS stijgt, maar CS daalt meer. Het totaal surplus (TS) daalt altijd bij monopolie.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148840"/>
            <a:ext cx="8229600" cy="1005840"/>
          </a:xfrm>
          <a:prstGeom prst="rect">
            <a:avLst>
              <a:gd name="adj" fmla="val 4545"/>
            </a:avLst>
          </a:prstGeom>
          <a:solidFill>
            <a:srgbClr val="FDE8E8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2148840"/>
            <a:ext cx="54864" cy="1005840"/>
          </a:xfrm>
          <a:prstGeom prst="rect">
            <a:avLst/>
          </a:prstGeom>
          <a:solidFill>
            <a:srgbClr val="D9534F"/>
          </a:solidFill>
          <a:ln/>
        </p:spPr>
      </p:sp>
      <p:sp>
        <p:nvSpPr>
          <p:cNvPr id="9" name="Text 7"/>
          <p:cNvSpPr/>
          <p:nvPr/>
        </p:nvSpPr>
        <p:spPr>
          <a:xfrm>
            <a:off x="658368" y="2221992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95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"Pareto-efficiënt = eerlijk"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58368" y="2532888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Onjuist: Pareto zegt niets over verdeling. Een situatie kan Pareto-efficiënt zijn terwijl één persoon alles heeft.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3337560"/>
            <a:ext cx="8229600" cy="1005840"/>
          </a:xfrm>
          <a:prstGeom prst="rect">
            <a:avLst>
              <a:gd name="adj" fmla="val 4545"/>
            </a:avLst>
          </a:prstGeom>
          <a:solidFill>
            <a:srgbClr val="FDE8E8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" y="3337560"/>
            <a:ext cx="54864" cy="1005840"/>
          </a:xfrm>
          <a:prstGeom prst="rect">
            <a:avLst/>
          </a:prstGeom>
          <a:solidFill>
            <a:srgbClr val="D9534F"/>
          </a:solidFill>
          <a:ln/>
        </p:spPr>
      </p:sp>
      <p:sp>
        <p:nvSpPr>
          <p:cNvPr id="13" name="Text 11"/>
          <p:cNvSpPr/>
          <p:nvPr/>
        </p:nvSpPr>
        <p:spPr>
          <a:xfrm>
            <a:off x="658368" y="3410712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95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"Harbergerdriehoek = het hele welvaartsverlies"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58368" y="3721608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Harbergerdriehoek meet het allocatieve verlies. Er kan ook dynamisch verlies zijn (minder innovatie).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Beheers je dit voordat je gaat oefenen?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78638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60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Totaal surplus (TS) = CS + PS → maatstaf voor efficiëntie</a:t>
            </a:r>
            <a:pPr algn="l" marL="342900" indent="-342900">
              <a:lnSpc>
                <a:spcPct val="160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Bij volkomen concurrentie is TS maximaal (P = MK)</a:t>
            </a:r>
            <a:pPr algn="l" marL="342900" indent="-342900">
              <a:lnSpc>
                <a:spcPct val="160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Monopolie: lagere Q, hogere P → Harbergerdriehoek = welvaartsverlies</a:t>
            </a:r>
            <a:pPr algn="l" marL="342900" indent="-342900">
              <a:lnSpc>
                <a:spcPct val="160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Hoge toetredingsdrempels houden inefficiëntie in stand</a:t>
            </a:r>
            <a:pPr algn="l" marL="342900" indent="-342900">
              <a:lnSpc>
                <a:spcPct val="160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Pareto-efficiënt: niemand erop vooruit zonder dat iemand erop achteruitgaat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3.2.6 Economische doelmatigheid</dc:title>
  <dc:subject>PptxGenJS Presentation</dc:subject>
  <dc:creator>Economie VWO</dc:creator>
  <cp:lastModifiedBy>Economie VWO</cp:lastModifiedBy>
  <cp:revision>1</cp:revision>
  <dcterms:created xsi:type="dcterms:W3CDTF">2026-03-23T10:08:20Z</dcterms:created>
  <dcterms:modified xsi:type="dcterms:W3CDTF">2026-03-23T10:08:20Z</dcterms:modified>
</cp:coreProperties>
</file>