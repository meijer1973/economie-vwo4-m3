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Paragraaf 3.2.6: economische doelmatigheid. Wanneer is een markt efficiënt? We meten dit met surplus en leren het concept Pareto-efficiëntie.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Surplus = maat voor welvaart. CS is het verschil tussen betalingsbereidheid en werkelijke prijs. PS is het verschil tussen ontvangen prijs en minimale prijs. TS = CS + PS. Hoe hoger het totaal surplus, hoe doelmatiger de markt.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Bij volkomen concurrentie is het totale surplus maximaal. Er is geen welvaartsverlies. De prijs is gelijk aan MK. Dit is de benchmark waartegen we andere marktvormen vergelijken.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Bij monopolie produceert de monopolist minder en vraagt een hogere prijs. Het totale surplus daalt. CS daalt fors, PS stijgt wat maar netto is er welvaartsverlies.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Harbergerdriehoek: het driehoekige gebied dat het welvaartsverlies door monopolie weergeeft. Dit zijn transacties die voordelig zouden zijn voor beide partijen maar niet plaatsvinden door de hogere monopolieprijs.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Waarom daalt het totaal surplus? De monopolist produceert minder dan het efficiënte niveau. Transacties die voor zowel koper als verkoper voordelig zouden zijn, vinden niet plaats. Rekenvoorbeeld: TS daalt van 900 naar 800, welvaartsverlies =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Een markt is efficiënt als: p = MK, geen welvaartsverlies, totaal surplus is maximaal. Dit is alleen het geval bij volkomen concurrentie. Bij alle andere marktvormen is er een mate van inefficiëntie.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Toetredingsdrempels zijn de sleutel: als er geen drempels zijn, treden aanbieders toe totdat winst = 0 en de markt efficiënt is. Hoge drempels houden de inefficiëntie in 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Pareto-efficiëntie: een situatie waarin je niemand beter af kunt maken zonder iemand anders slechter af te maken. Het marktevenwicht bij volkomen concurrentie is Pareto-efficiënt.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Voorbeeld stoelruil: als twee leerlingen allebei liever op elkaars stoel zitten (of het niet erg vinden), is ruilen een Pareto-verbetering. Als niemand meer wil ruilen, is de situatie Pareto-efficiënt.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veelgemaakte fouten: meer PS bij monopolie betekent niet meer welvaart, Pareto-efficiëntie zegt niets over eerlijkheid, en de Harbergerdriehoek is alleen het allocatieve verlies.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volkomen concurrentie is het meest doelmatig (maximaal TS), monopolie het minst (Harbergerdriehoek). Toetredingsdrempels zijn de oorzaak van het verschil. Pareto-efficiëntie is het criterium.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Economische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doelmatigheid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Surplus, efficiëntie en Pareto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2: Marktvormen en hun marktevenwicht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is surplus?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3108960"/>
          </a:xfrm>
          <a:prstGeom prst="rect">
            <a:avLst>
              <a:gd name="adj" fmla="val 1786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10896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Consumentensurplus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 tussen wat consumenten willen betalen en wat ze daadwerkelijk betalen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560320" cy="3108960"/>
          </a:xfrm>
          <a:prstGeom prst="rect">
            <a:avLst>
              <a:gd name="adj" fmla="val 1786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91840" y="1005840"/>
            <a:ext cx="54864" cy="310896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114300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74720" y="164592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Producentensurplus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05740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 tussen de ontvangen prijs en de minimale prijs waarvoor men wil produceren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005840"/>
            <a:ext cx="2560320" cy="3108960"/>
          </a:xfrm>
          <a:prstGeom prst="rect">
            <a:avLst>
              <a:gd name="adj" fmla="val 1786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54864" cy="310896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09360" y="114300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309360" y="164592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Totaal surplus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205740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= CS + PS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Maatstaf voor de totale welvaart op een markt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groter het totaal surplus, hoe efficiënter de markt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Surplus: volkomen concurrentie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3657600"/>
          </a:xfrm>
          <a:prstGeom prst="rect">
            <a:avLst>
              <a:gd name="adj" fmla="val 1250"/>
            </a:avLst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01168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Grafiek: V/A-diagram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bovenste driehoek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= onderste driehoek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Q* = 30, P* = €30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005840"/>
            <a:ext cx="2926080" cy="3657600"/>
          </a:xfrm>
          <a:prstGeom prst="rect">
            <a:avLst>
              <a:gd name="adj" fmla="val 1563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760720" y="1005840"/>
            <a:ext cx="54864" cy="365760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0" y="11430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Efficiënt!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0" y="1554480"/>
            <a:ext cx="260604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volkomen concurrentie:
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MK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is maximaal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welvaartsverlies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Monopolie: wat verandert er?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474720"/>
          </a:xfrm>
          <a:prstGeom prst="rect">
            <a:avLst>
              <a:gd name="adj" fmla="val 1316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47472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MK (= aanbodlijn)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Maximaal totaal surplus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driehoek boven P*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= driehoek onder P*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Efficiënte uitkomst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474720"/>
          </a:xfrm>
          <a:prstGeom prst="rect">
            <a:avLst>
              <a:gd name="adj" fmla="val 1316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347472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 = MK (winstmaximalisatie)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Q, hogere P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daalt (kleiner!)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stijgt door hogere prijs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daalt → efficiëntieverlies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CS, PS en Harbergerdriehoek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3657600"/>
          </a:xfrm>
          <a:prstGeom prst="rect">
            <a:avLst>
              <a:gd name="adj" fmla="val 1250"/>
            </a:avLst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1031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Grafiek: V/A-diagram met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CS, PS en Harbergerdriehoek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(gearceerd welvaartsverlies)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005840"/>
            <a:ext cx="2926080" cy="3657600"/>
          </a:xfrm>
          <a:prstGeom prst="rect">
            <a:avLst>
              <a:gd name="adj" fmla="val 1563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760720" y="1005840"/>
            <a:ext cx="54864" cy="365760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0" y="11430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0" y="1554480"/>
            <a:ext cx="260604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driehoekige welvaartsverlies
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Transacties die niet plaatsvinden terwijl ze voor koper én verkoper voordelig zouden zijn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deadweight loss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Waarom daalt het totaal surplus?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Monopolist kiest MO = MK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1148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6002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Q, hogere 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41148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41148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1945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daalt, PS stijgt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651760"/>
            <a:ext cx="41148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4114800" cy="457200"/>
          </a:xfrm>
          <a:prstGeom prst="rect">
            <a:avLst>
              <a:gd name="adj" fmla="val 10000"/>
            </a:avLst>
          </a:prstGeom>
          <a:solidFill>
            <a:srgbClr val="D9534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27889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daalt → welvaartsverlies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937760" y="1005840"/>
            <a:ext cx="3749040" cy="3474720"/>
          </a:xfrm>
          <a:prstGeom prst="rect">
            <a:avLst>
              <a:gd name="adj" fmla="val 131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937760" y="1005840"/>
            <a:ext cx="54864" cy="34747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120640" y="11430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Rekenvoorbeeld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120640" y="1554480"/>
            <a:ext cx="342900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concurrentie: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450 + PS = 450 = TS = 900
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Monopolie: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200 + PS = 600 = TS = 800
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Harbergerdriehoek:
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900 − 800 = 100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daling van het CS is groter dan de stijging van het PS → netto welvaartsverlies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Wanneer is een markt efficiënt?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92608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Efficiënt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is maximaal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MK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welvaartsverlies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Inefficiënt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is niet maximaal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&gt; MK (monopolist)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 &gt; 0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 / oligopolie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Toets: vergelijk het TS met dat bij volkomen concurrentie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 van toetredingsdrempels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960120"/>
            <a:ext cx="73152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96012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 toetredingsdrempels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1481328"/>
            <a:ext cx="73152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48132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Weinig of geen nieuwe aanbieders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7315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002536"/>
            <a:ext cx="73152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200253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Monopolist/oligopolist behoudt marktmacht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414016"/>
            <a:ext cx="7315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523744"/>
            <a:ext cx="73152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2523744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&gt; MK blijft bestaan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935224"/>
            <a:ext cx="7315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3044952"/>
            <a:ext cx="7315200" cy="411480"/>
          </a:xfrm>
          <a:prstGeom prst="rect">
            <a:avLst>
              <a:gd name="adj" fmla="val 11111"/>
            </a:avLst>
          </a:prstGeom>
          <a:solidFill>
            <a:srgbClr val="D9534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97280" y="3044952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Efficiëntieverlies blijft → Harbergerdriehoek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</a:t>
            </a:r>
            <a:pPr algn="l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elektriciteitsmarkt — hoge kosten om toe te treden, P 25% boven GTK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Pareto-efficiëntie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3E8F9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7B2D8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Pareto-efficiënt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situatie is Pareto-efficiënt als het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 mogelijk is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om iemand erop vooruit te laten gaan zonder dat iemand anders erop achteruitgaat.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Pareto-verbetering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verandering waarbij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minstens één persoon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erop vooruitgaat en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erop achteruitgaat.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er géén Pareto-verbetering meer mogelijk is → de situatie is Pareto-efficiënt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stoelruil in de klas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115568"/>
            <a:ext cx="457200" cy="457200"/>
          </a:xfrm>
          <a:prstGeom prst="ellipse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115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25880" y="1005840"/>
            <a:ext cx="7360920" cy="68580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508760" y="1005840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Esther zit vooraan, Mieke achteraan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984248"/>
            <a:ext cx="457200" cy="457200"/>
          </a:xfrm>
          <a:prstGeom prst="ellipse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25880" y="1874520"/>
            <a:ext cx="7360920" cy="68580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508760" y="1874520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Mieke wil graag vooraan — Esther maakt het niet uit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852928"/>
            <a:ext cx="457200" cy="457200"/>
          </a:xfrm>
          <a:prstGeom prst="ellipse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2852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25880" y="2743200"/>
            <a:ext cx="7360920" cy="68580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508760" y="2743200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 wisselen: Mieke blij, Esther niet slechter af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7863840" cy="777240"/>
          </a:xfrm>
          <a:prstGeom prst="rect">
            <a:avLst>
              <a:gd name="adj" fmla="val 5882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4864" cy="77724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3657600"/>
            <a:ext cx="7406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Dit is een Pareto-verbetering!
</a:t>
            </a:r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als niemand meer wil ruilen zonder dat iemand erop achteruitgaat → Pareto-efficiënt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ect">
            <a:avLst>
              <a:gd name="adj" fmla="val 4545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96012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1033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"Meer PS bij monopolie = beter voor de markt"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3441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PS stijgt, maar CS daalt meer. Het totaal surplus (TS) daalt altijd bij monopolie.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8229600" cy="1005840"/>
          </a:xfrm>
          <a:prstGeom prst="rect">
            <a:avLst>
              <a:gd name="adj" fmla="val 4545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214884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8368" y="222199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"Pareto-efficiënt = eerlijk"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253288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Pareto zegt niets over verdeling. Een situatie kan Pareto-efficiënt zijn terwijl één persoon alles heeft.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8229600" cy="1005840"/>
          </a:xfrm>
          <a:prstGeom prst="rect">
            <a:avLst>
              <a:gd name="adj" fmla="val 4545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333756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8368" y="341071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"Harbergerdriehoek = het hele welvaartsverlies"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72160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Harbergerdriehoek meet het allocatieve verlies. Er kan ook dynamisch verlies zijn (minder innovatie).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Totaal surplus (TS) = CS + PS → maatstaf voor efficiëntie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volkomen concurrentie is TS maximaal (P = MK)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Monopolie: lagere Q, hogere P → Harbergerdriehoek = welvaartsverlies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 toetredingsdrempels houden inefficiëntie in stand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Pareto-efficiënt: niemand erop vooruit zonder dat iemand erop achteruitgaat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3.2.6 Economische doelmatigheid</dc:title>
  <dc:subject>PptxGenJS Presentation</dc:subject>
  <dc:creator>Economie VWO</dc:creator>
  <cp:lastModifiedBy>Economie VWO</cp:lastModifiedBy>
  <cp:revision>1</cp:revision>
  <dcterms:created xsi:type="dcterms:W3CDTF">2026-03-23T10:08:20Z</dcterms:created>
  <dcterms:modified xsi:type="dcterms:W3CDTF">2026-03-23T10:08:20Z</dcterms:modified>
</cp:coreProperties>
</file>