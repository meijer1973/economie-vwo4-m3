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 bij paragraaf 3.2.6 over economische doelmatigheid. We behandelen surplus (CS, PS, TS), de Harbergerdriehoek, efficiëntie en Pareto.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Drie vormen van surplus. CS is het voordeel voor consumenten, PS voor producenten. Samen vormen ze het TS — de maatstaf voor totale welvaart.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blauwe driehoek is het CS (boven P*, onder V). De groene driehoek is het PS (onder P*, boven MK). Samen is het TS = 900. Punt B is het evenwicht waar V = MK. Bij VC geldt P = MK, het TS is maximaal.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Bij VC is P = MK en het TS maximaal. Bij monopolie kiest de monopolist MO = MK, wat leidt tot een lagere Q en hogere P. Het CS daalt meer dan het PS stijgt — er is netto welvaartsverlies.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 B (30,30) is het VC-evenwicht. Punt A (20,20) is waar MO = MK. Punt C (20,40) is de monopolieprijs op de vraaglijn. De rode driehoek C-B-A is het welvaartsverlies = ½ × 10 × 20 = 100. Het lichtblauwe vlak is CS dat PS wordt — dat is geen verlies, alleen herverdeling. De driehoek is wat écht weg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verschil: CS daalt van 450 naar 200 (−250), PS stijgt van 450 naar 600 (+150). Netto: −100. Die 100 is de Harbergerdriehoek — surplus dat niemand krijgt.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markt is efficiënt als het TS maximaal is (P = MK). Bij monopolie geldt P &gt; MK, waardoor er een Harbergerdriehoek ontstaat.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Hoge toetredingsdrempels houden de inefficiëntie in stand. Zolang er geen concurrenten toetreden, kan de monopolist P &gt; MK blijven vragen.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Pareto-efficiëntie kijkt niet naar totaal surplus maar naar individuele voor- en nadelen. Een Pareto-verbetering is als iemand erop vooruitgaat en niemand erop achteruitgaat. Pas als er geen verbetering meer mogelijk is, is de situatie Pareto-efficiënt.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Drie veelgemaakte fouten. Let op: de Harbergerdriehoek meet alleen het allocatieve verlies — er is ook de herverdeling van CS naar PS (geen verlies, wel verschuiving) en eventueel dynamisch verlies door minder innovatie.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Zes kernpunten. De Harbergerdriehoek-formule is nieuw: ½ × ΔQ × (P_m − MK_m). Benadruk dat het surplus dat verdwijnt nergens heen gaat — het is gewoon weg.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Economische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doelmatigheid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Surplus, efficiëntie en Pareto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 2: Marktvormen en hun marktevenwicht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is surplus?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743200" cy="1828800"/>
          </a:xfrm>
          <a:prstGeom prst="rect">
            <a:avLst>
              <a:gd name="adj" fmla="val 25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54864" cy="1828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Consumentensurplus</a:t>
            </a:r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Verschil tussen wat consumenten willen betalen en wat ze daadwerkelijk betalen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743200" cy="1828800"/>
          </a:xfrm>
          <a:prstGeom prst="rect">
            <a:avLst>
              <a:gd name="adj" fmla="val 25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914400"/>
            <a:ext cx="54864" cy="18288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51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46304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Producentensurplus</a:t>
            </a:r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Verschil tussen de ontvangen prijs en de minimale prijs waarvoor men wil produceren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743200" cy="1828800"/>
          </a:xfrm>
          <a:prstGeom prst="rect">
            <a:avLst>
              <a:gd name="adj" fmla="val 25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914400"/>
            <a:ext cx="54864" cy="18288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051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09360" y="1463040"/>
            <a:ext cx="2423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Totaal surplus</a:t>
            </a:r>
            <a:pPr algn="l" indent="0" marL="0">
              <a:lnSpc>
                <a:spcPct val="115000"/>
              </a:lnSpc>
              <a:buNone/>
            </a:pP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= CS + PS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Maatstaf voor de totale welvaart op een markt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groter het totaal surplus, hoe efficiënter de markt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 bij volkomen concurrentie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303520" cy="2651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822960"/>
            <a:ext cx="3200400" cy="2560320"/>
          </a:xfrm>
          <a:prstGeom prst="rect">
            <a:avLst>
              <a:gd name="adj" fmla="val 1786"/>
            </a:avLst>
          </a:prstGeom>
          <a:solidFill>
            <a:srgbClr val="F7F8FA"/>
          </a:solidFill>
          <a:ln/>
        </p:spPr>
      </p:sp>
      <p:sp>
        <p:nvSpPr>
          <p:cNvPr id="5" name="Shape 2"/>
          <p:cNvSpPr/>
          <p:nvPr/>
        </p:nvSpPr>
        <p:spPr>
          <a:xfrm>
            <a:off x="5760720" y="822960"/>
            <a:ext cx="45720" cy="2560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3"/>
          <p:cNvSpPr/>
          <p:nvPr/>
        </p:nvSpPr>
        <p:spPr>
          <a:xfrm>
            <a:off x="589788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60 − Q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97880" y="1188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MK: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Q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5087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Evenwicht: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Q* = 30, P* = 30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2148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=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½ × 30 × 30 = 450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=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½ × 30 × 30 = 450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= </a:t>
            </a:r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450 + 450 = 900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3703320"/>
            <a:ext cx="8595360" cy="457200"/>
          </a:xfrm>
          <a:prstGeom prst="rect">
            <a:avLst>
              <a:gd name="adj" fmla="val 10000"/>
            </a:avLst>
          </a:prstGeom>
          <a:solidFill>
            <a:srgbClr val="E8F8F0"/>
          </a:solidFill>
          <a:ln/>
        </p:spPr>
      </p:sp>
      <p:sp>
        <p:nvSpPr>
          <p:cNvPr id="13" name="Shape 10"/>
          <p:cNvSpPr/>
          <p:nvPr/>
        </p:nvSpPr>
        <p:spPr>
          <a:xfrm>
            <a:off x="274320" y="3703320"/>
            <a:ext cx="45720" cy="4572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VC is P = MK → TS is maximaal → efficiënt, geen welvaartsverlies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Monopolie: wat verandert er?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3017520"/>
          </a:xfrm>
          <a:prstGeom prst="rect">
            <a:avLst>
              <a:gd name="adj" fmla="val 151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54864" cy="30175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Volkomen concurrentie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947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MK (= aanbodlijn)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Maximaal totaal surplus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= driehoek boven P*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= driehoek onder P*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Efficiënte uitkomst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3017520"/>
          </a:xfrm>
          <a:prstGeom prst="rect">
            <a:avLst>
              <a:gd name="adj" fmla="val 151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54864" cy="301752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515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79476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= MK (winstmaximalisatie)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Q, hogere P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daalt (kleiner!)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stijgt door hogere prijs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daalt → welvaartsverlies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Harbergerdriehoek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303520" cy="2651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822960"/>
            <a:ext cx="3200400" cy="2560320"/>
          </a:xfrm>
          <a:prstGeom prst="rect">
            <a:avLst>
              <a:gd name="adj" fmla="val 1786"/>
            </a:avLst>
          </a:prstGeom>
          <a:solidFill>
            <a:srgbClr val="F7F8FA"/>
          </a:solidFill>
          <a:ln/>
        </p:spPr>
      </p:sp>
      <p:sp>
        <p:nvSpPr>
          <p:cNvPr id="5" name="Shape 2"/>
          <p:cNvSpPr/>
          <p:nvPr/>
        </p:nvSpPr>
        <p:spPr>
          <a:xfrm>
            <a:off x="5760720" y="822960"/>
            <a:ext cx="45720" cy="256032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6" name="Text 3"/>
          <p:cNvSpPr/>
          <p:nvPr/>
        </p:nvSpPr>
        <p:spPr>
          <a:xfrm>
            <a:off x="5897880" y="8686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= MK: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Qₘ = 20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897880" y="11247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Pₘ: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60 − 20 = 40 (van V)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97880" y="13807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MKₘ: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8928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(20, 40) monopolieprijs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97880" y="21488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(30, 30) VC-evenwicht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97880" y="24048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(20, 20) MO = MK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97880" y="291693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DWL = 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½ × 10 × 20 = </a:t>
            </a:r>
            <a:pPr indent="0" marL="0">
              <a:buNone/>
            </a:pPr>
            <a:r>
              <a:rPr lang="en-US" sz="1100" b="1" dirty="0">
                <a:solidFill>
                  <a:srgbClr val="D9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3703320"/>
            <a:ext cx="8595360" cy="457200"/>
          </a:xfrm>
          <a:prstGeom prst="rect">
            <a:avLst>
              <a:gd name="adj" fmla="val 10000"/>
            </a:avLst>
          </a:prstGeom>
          <a:solidFill>
            <a:srgbClr val="FDE8E8"/>
          </a:solidFill>
          <a:ln/>
        </p:spPr>
      </p:sp>
      <p:sp>
        <p:nvSpPr>
          <p:cNvPr id="14" name="Shape 11"/>
          <p:cNvSpPr/>
          <p:nvPr/>
        </p:nvSpPr>
        <p:spPr>
          <a:xfrm>
            <a:off x="274320" y="3703320"/>
            <a:ext cx="45720" cy="4572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34F"/>
                </a:solidFill>
              </a:rPr>
              <a:t>De driehoek C-B-A is surplus dat verdwijnt</a:t>
            </a:r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 — niemand krijgt het. Het blauwe vlak is herverdeling (CS → PS), géén verlies.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daalt het totaal surplus?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65760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51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Monopolist kiest MO = MK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5760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Q, hogere 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5760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daalt, PS stijgt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657600" cy="457200"/>
          </a:xfrm>
          <a:prstGeom prst="rect">
            <a:avLst>
              <a:gd name="adj" fmla="val 10000"/>
            </a:avLst>
          </a:prstGeom>
          <a:solidFill>
            <a:srgbClr val="D9534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daalt → welvaartsverlies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114800" cy="3108960"/>
          </a:xfrm>
          <a:prstGeom prst="rect">
            <a:avLst>
              <a:gd name="adj" fmla="val 1471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14400"/>
            <a:ext cx="54864" cy="3108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515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Rekenvoorbeeld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37760" y="1463040"/>
            <a:ext cx="379476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Volkomen concurrentie: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= 450 + PS = 450 = TS = 900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Monopolie: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= 200 + PS = 600 = TS = 800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Harbergerdriehoek:
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953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900 − 800 = 100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daling van het CS is groter dan de stijging van het PS → netto welvaartsverlies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Wanneer is een markt efficiënt?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2377440"/>
          </a:xfrm>
          <a:prstGeom prst="rect">
            <a:avLst>
              <a:gd name="adj" fmla="val 192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54864" cy="23774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Efficiënt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94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is maximaal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MK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welvaartsverlies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Volkomen concurrentie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2377440"/>
          </a:xfrm>
          <a:prstGeom prst="rect">
            <a:avLst>
              <a:gd name="adj" fmla="val 192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54864" cy="237744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515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Inefficiënt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794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 is niet maximaal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&gt; MK (monopolist)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Harbergerdriehoek &gt; 0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 / oligopolie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Toets: vergelijk het TS met dat bij volkomen concurrentie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van toetredingsdrempels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45920" y="100584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 toetredingsdrempels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627632"/>
            <a:ext cx="640080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162763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Weinig of geen nieuwe aanbieders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084832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249424"/>
            <a:ext cx="640080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224942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Monopolist/oligopolist behoudt marktmacht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706624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2871216"/>
            <a:ext cx="6400800" cy="457200"/>
          </a:xfrm>
          <a:prstGeom prst="rect">
            <a:avLst>
              <a:gd name="adj" fmla="val 100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0" y="287121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&gt; MK blijft bestaan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328416"/>
            <a:ext cx="6400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3493008"/>
            <a:ext cx="6400800" cy="457200"/>
          </a:xfrm>
          <a:prstGeom prst="rect">
            <a:avLst>
              <a:gd name="adj" fmla="val 10000"/>
            </a:avLst>
          </a:prstGeom>
          <a:solidFill>
            <a:srgbClr val="D9534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45920" y="349300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Efficiëntieverlies blijft → Harbergerdriehoek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Voorbeeld: elektriciteitsmarkt — hoge kosten om toe te treden, P 25% boven GTK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Pareto-efficiëntie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1828800"/>
          </a:xfrm>
          <a:prstGeom prst="rect">
            <a:avLst>
              <a:gd name="adj" fmla="val 25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914400"/>
            <a:ext cx="54864" cy="1828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Pareto-efficiënt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situatie is Pareto-efficiënt als het niet mogelijk is om iemand erop vooruit te laten gaan zonder dat iemand anders erop achteruitgaat.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114800" cy="1828800"/>
          </a:xfrm>
          <a:prstGeom prst="rect">
            <a:avLst>
              <a:gd name="adj" fmla="val 25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54864" cy="18288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0515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Pareto-verbetering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verandering waarbij minstens één persoon erop vooruitgaat en niemand erop achteruitgaat.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er géén Pareto-verbetering meer mogelijk is → de situatie is Pareto-efficiënt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3657600"/>
            <a:ext cx="6400800" cy="1097280"/>
          </a:xfrm>
          <a:prstGeom prst="rect">
            <a:avLst>
              <a:gd name="adj" fmla="val 4167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71600" y="3657600"/>
            <a:ext cx="54864" cy="10972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379476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Voorbeeld: stoelruil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4206240"/>
            <a:ext cx="6080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Esther zit vooraan, Mieke achteraan. Mieke wil graag vooraan, Esther maakt het niet uit. Ze wisselen: Mieke blij, Esther niet slechter af → Pareto-verbetering!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Valkuilen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>
              <a:gd name="adj" fmla="val 4167"/>
            </a:avLst>
          </a:prstGeom>
          <a:solidFill>
            <a:srgbClr val="FDE8E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10972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60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„Meer PS bij monopolie = beter voor de markt”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Onjuist: PS stijgt, maar CS daalt meer. Het totaal surplus (TS) daalt altijd bij monopolie.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097280"/>
          </a:xfrm>
          <a:prstGeom prst="rect">
            <a:avLst>
              <a:gd name="adj" fmla="val 4167"/>
            </a:avLst>
          </a:prstGeom>
          <a:solidFill>
            <a:srgbClr val="FDE8E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194560"/>
            <a:ext cx="54864" cy="10972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40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„Pareto-efficiënt = eerlijk”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Onjuist: Pareto zegt niets over verdeling. Een situatie kan Pareto-efficiënt zijn terwijl één persoon alles heeft.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97280"/>
          </a:xfrm>
          <a:prstGeom prst="rect">
            <a:avLst>
              <a:gd name="adj" fmla="val 4167"/>
            </a:avLst>
          </a:prstGeom>
          <a:solidFill>
            <a:srgbClr val="FDE8E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474720"/>
            <a:ext cx="54864" cy="10972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„Harbergerdriehoek = het hele welvaartsverlies”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Harbergerdriehoek meet het allocatieve verlies. Er kan ook dynamisch verlies zijn (minder innovatie).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Totaal surplus (TS) = CS + PS → maatstaf voor efficiëntie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volkomen concurrentie is TS maximaal (P = MK)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Monopolie: lagere Q, hogere P → Harbergerdriehoek = welvaartsverlies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Harbergerdriehoek = ½ × ΔQ × (Pₘ − MKₘ) — surplus dat niemand krijgt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 toetredingsdrempels houden inefficiëntie in stand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Pareto-efficiënt: niemand erop vooruit zonder dat iemand erop achteruitgaat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3.2.6 Economische doelmatigheid</dc:title>
  <dc:subject>PptxGenJS Presentation</dc:subject>
  <dc:creator>Economie VWO</dc:creator>
  <cp:lastModifiedBy>Economie VWO</cp:lastModifiedBy>
  <cp:revision>1</cp:revision>
  <dcterms:created xsi:type="dcterms:W3CDTF">2026-04-08T20:07:59Z</dcterms:created>
  <dcterms:modified xsi:type="dcterms:W3CDTF">2026-04-08T20:07:59Z</dcterms:modified>
</cp:coreProperties>
</file>