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Openingsslide. Dit is de examenvoorbereiding: we behandelen de vier vraagtypen, laten zien hoe je ze aanpakt, en lopen de belangrijkste rekenroutes door met voorbeelden.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Overzicht van het CE economie. Module 3 is een zwaar onderdeel: markt, overheid en internationale handel vormen samen circa 40% van het examen.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vier hoofdvraagtypen op het examen. Elk type vereist een andere aanpak. Bereken-vragen leveren de meeste punten op als je de stappen goed doet. Toon aan is tricky: het antwoord staat er al, jij moet laten zien hoe je er komt.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Bereken-vragen: altijd de volledige berekening opschrijven. Tussenstappen leveren punten op, zelfs als het eindantwoord fout is. Vergeet de eenheid niet!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V/A-diagram met de uitgewerkte berekening. De vraaglijn (V) is dalend, de aanbodlijn (A) stijgend. Het snijpunt geeft het evenwicht: Q*=40, P*=40. Let op: de aanbodlijn begint pas bij Q=20 (daar wordt de prijs positief). CS en PS zijn de gekleurde gebieden.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Verklaar-vragen: altijd de keten oorzaak → mechanisme → gevolg. Gebruik economische begrippen (aanbodlijn, evenwicht, surplus). Zonder begrippen krijg je geen punten, ook als de redenering klopt.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Monopolie-grafiek met MO=MK-regel. Let op de drie cruciale stappen: (1) vind Q* waar MO=MK, (2) ga omhoog naar de vraaglijn voor P*, (3) winst = (P* − MK) × Q*. De DWL-driehoek toont het welvaartsverlies ten opzichte van volkomen concurrentie.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Toon aan: het antwoord staat er al! Je moet de volledige berekening opschrijven zodat de uitkomst klopt met het gegeven getal. Tip: werk altijd toe naar het getal dat in de vraag staat.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Belasting verschuift A omhoog naar A+t. Consument betaalt meer (P2=40), producent ontvangt minder (P3=30). De overheid int de belastingopbrengst (gele vlak). Het rode driehoekje (DWL) is welvaartsverlies: transacties die niet meer plaatsvinden.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Grafiekvragen: de examinator let op nauwkeurigheid. Assen benoemen, lijnen labelen, waarden aangeven. Vergeet niet te arceren en te benoemen wat elk gebied voorstelt.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Vergelijking VC en monopolie. Links: bij VC is het totale surplus (CS+PS) maximaal. Rechts: bij monopolie is er minder CS, de monopolist pakt winst, en er ontstaat DWL. Dit is een klassieke examenvraag: teken en benoem de surplusgebieden.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Volledig uitgewerkt voorbeeld van een monopolie-berekening. Vijf stappen: MO afleiden, MO=MK oplossen, prijs van vraaglijn, MK bij Q*, dan winst berekenen.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Modelantwoord bij een verklaar-vraag. Drie punten, drie stappen: (1) positie monopolist, (2) MO=MK mechanisme, (3) gevolg voor prijs. Gebruik altijd economische begrippen.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Tijdmanagement: de vuistregel is 1,5 minuut per punt. Bij 100 punten en 180 minuten houd je dan 30 minuten over voor lezen en controleren.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vijf meest voorkomende examenfouten. Elke fout kost punten die je makkelijk kunt voorkomen.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formules die je moet kennen voor Module 3. Op het examen staan de formules NIET in een bijlage — je moet ze zelf kennen.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Praktische checklist voor de examendag. Links: wat je meeneemt. Rechts: de zes onderwerpen die je nog even moet doornemen.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Sluitdia. Eindig de les positief. De leerlingen hebben alle theorie behandeld, de rekenroutes geoefend, en weten welke fouten ze moeten vermijden.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D3C9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het examen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Examenvoorbereiding economie — strategieën en rekenroutes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3.5.2 Naar het examen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centraal examen economie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4EC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Opbouw 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Tijdsduur: 180 minuten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Totaal: ±100 punten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van korte en lange vragen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Contextrijk: teksten, tabellen, grafieken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domeinen komen aan bod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4EC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Domeinen Module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Vaardigheden (altijd)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 Markt (H1 + H2)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 Overheid (H3)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 Internationale handel (H4)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≈ 40% van het examen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examenvraagtypen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920240" cy="3291840"/>
          </a:xfrm>
          <a:prstGeom prst="rect">
            <a:avLst>
              <a:gd name="adj" fmla="val 2381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192024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5544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 uit met formules.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Toon altijd je berekening.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Eenheid + afronden!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005840"/>
            <a:ext cx="1920240" cy="3291840"/>
          </a:xfrm>
          <a:prstGeom prst="rect">
            <a:avLst>
              <a:gd name="adj" fmla="val 2381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0584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Verklaar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1783080"/>
            <a:ext cx="15544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87452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oorzaak-gevolg uit.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economische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begrippen in je redenering.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3291840"/>
          </a:xfrm>
          <a:prstGeom prst="rect">
            <a:avLst>
              <a:gd name="adj" fmla="val 2381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192024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Toon aan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15544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87452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Bewijs met cijfers dat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iets klopt. Het antwoord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 gegeven!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20240" cy="3291840"/>
          </a:xfrm>
          <a:prstGeom prst="rect">
            <a:avLst>
              <a:gd name="adj" fmla="val 2381"/>
            </a:avLst>
          </a:prstGeom>
          <a:solidFill>
            <a:srgbClr val="E8F6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05840"/>
            <a:ext cx="1920240" cy="54864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0972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uit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49440" y="1783080"/>
            <a:ext cx="155448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874520"/>
            <a:ext cx="1645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Beschrijf het mechanisme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voor stap.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Grafiek als dat helpt.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Bereken-vragen: de aanpak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371600"/>
          </a:xfrm>
          <a:prstGeom prst="rect">
            <a:avLst>
              <a:gd name="adj" fmla="val 3333"/>
            </a:avLst>
          </a:prstGeom>
          <a:solidFill>
            <a:srgbClr val="EBF5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Stappenplan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909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Schrijf de juiste formule op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 de getallen in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Reken stap voor stap uit (toon tussenstappen)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Noteer het antwoord met eenheid en juiste afronding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51760"/>
            <a:ext cx="54864" cy="18288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evenwichtsprijs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7909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Gegeven: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Qv = −P + 80  en  Qa = 2P − 40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Stap 1: Qv = Qa → −P + 80 = 2P − 40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Stap 2: 3P = 120 → P* = 40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Stap 3: Q* = −40 + 80 = 40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Antwoord: De evenwichtsprijs is €40 bij een hoeveelheid van 40 stuks.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Grafiek: marktevenwicht berekenen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Verklaar-vragen: oorzaak-gevolg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188720"/>
          </a:xfrm>
          <a:prstGeom prst="rect">
            <a:avLst>
              <a:gd name="adj" fmla="val 3846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structuur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verklaar-vraag verwacht een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causale redenering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oorzaak → economisch mechanisme → gevolg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Voorbeeld: “Verklaar waarom een subsidie op zonnepanelen leidt tot een lagere prijs.”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0" y="2834640"/>
            <a:ext cx="457200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2834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Subsidie verlaagt productiekosten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324612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286000" y="3410712"/>
            <a:ext cx="457200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341071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Aanbodlijn verschuift naar rechts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82219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0" y="3986784"/>
            <a:ext cx="4572000" cy="411480"/>
          </a:xfrm>
          <a:prstGeom prst="rect">
            <a:avLst>
              <a:gd name="adj" fmla="val 11111"/>
            </a:avLst>
          </a:prstGeom>
          <a:solidFill>
            <a:srgbClr val="F9F6F1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86000" y="39867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zelfde vraag: meer aanbod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439826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286000" y="4562856"/>
            <a:ext cx="4572000" cy="411480"/>
          </a:xfrm>
          <a:prstGeom prst="rect">
            <a:avLst>
              <a:gd name="adj" fmla="val 1111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286000" y="45628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Evenwichtsprijs daalt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Grafiek: monopolie winstmaximalisatie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Toon aan-vragen: bewijs het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371600"/>
          </a:xfrm>
          <a:prstGeom prst="rect">
            <a:avLst>
              <a:gd name="adj" fmla="val 3333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is anders?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7909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‘toon aan’ is het antwoord al gegeven.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Jij moet laten zien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je daar komt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 betekent: volledige berekening, alle tussenstappen, uitkomst = het gegeven getal.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1828800"/>
          </a:xfrm>
          <a:prstGeom prst="rect">
            <a:avLst>
              <a:gd name="adj" fmla="val 25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51760"/>
            <a:ext cx="54864" cy="1828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6148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Voorbeeld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79095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“Toon aan dat het consumentensurplus 800 bedraagt.”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½ × basis × hoogte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½ × 40 × (80 − 40)
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 = ½ × 40 × 40 = 800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Conclusie: het CS bedraagt inderdaad 800. ✓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Grafiek: belastingeffect op de markt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Grafiekvragen: wat verwacht de examinator?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4EC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tekenen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 benoemen (P en Q)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Lijnen benoemen (V, A, MO, MK)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Snijpunten en waarden aangeven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Gebieden arceren en benoemen
  (CS, PS, DWL, winst)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Verschuivingen met pijl</a:t>
            </a:r>
            <a:endParaRPr lang="en-US" sz="14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en oorzaak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F4EC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Bij aflezen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Lees af op de juiste as
  (prijs = Y-as, hoeveelheid = X-as)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Gebruik stippellijnen naar
  het evenwichtspunt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op schaalverdeling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Benoem altijd wat je</a:t>
            </a:r>
            <a:endParaRPr lang="en-US" sz="14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afleest: “Uit de grafiek</a:t>
            </a:r>
            <a:endParaRPr lang="en-US" sz="1400" dirty="0"/>
          </a:p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volgt dat P* = ...”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Surplus: VC versus monopolie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82296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Uitgewerkt voorbeeld: monopoliewinst berekenen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0"/>
          </a:xfrm>
          <a:prstGeom prst="rect">
            <a:avLst>
              <a:gd name="adj" fmla="val 125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36576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2412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Examenopgave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79095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Gegeven: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V: p = −0,5Q + 50   MK: p = 0,5Q + 10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1: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afleiden → MO: p = −Q + 50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2: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= MK → −Q + 50 = 0,5Q + 10 → 1,5Q = 40 → Q* ≈ 26,7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3: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Prijs van V: p* = −0,5(26,7) + 50 = €36,65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4: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 bij Q*: 0,5(26,7) + 10 = €23,35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5: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Winst = (P* − MK*) × Q* = (36,65 − 23,35) × 26,7 = €355,11
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monopoliewinst bedraagt circa €355.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Uitgewerkt voorbeeld: verklaar-vraag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ect">
            <a:avLst>
              <a:gd name="adj" fmla="val 4167"/>
            </a:avLst>
          </a:prstGeom>
          <a:solidFill>
            <a:srgbClr val="FEF5E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54864" cy="10972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2412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7909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“Verklaar waarom een monopolist een hogere prijs vraagt dan bij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volkomen concurrentie het geval zou zijn.”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2286000"/>
          </a:xfrm>
          <a:prstGeom prst="rect">
            <a:avLst>
              <a:gd name="adj" fmla="val 2000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54864" cy="22860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95728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Modelantwoord (3 punten)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61488"/>
            <a:ext cx="79095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monopolist is prijszetter: er zijn geen concurrenten.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monopolist maximaliseert winst bij MO = MK. Omdat de MO-lijn
   sneller daalt dan de vraaglijn, is de optimale Q lager dan bij VC.
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lagere Q betekent (bij dalende vraaglijn) een hogere P.</a:t>
            </a:r>
            <a:endParaRPr lang="en-US" sz="1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 monopolist produceert dus minder en vraagt meer.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Tijdmanagement op het examen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1645920" cy="4572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1005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Vraagtype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1005840"/>
            <a:ext cx="1371600" cy="4572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005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1828800" cy="4572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005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 (richtlijn)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1005840"/>
            <a:ext cx="3840480" cy="45720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1508760"/>
            <a:ext cx="164592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20240" y="1508760"/>
            <a:ext cx="13716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150876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pt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508760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50876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12080" y="1508760"/>
            <a:ext cx="384048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 → invullen → uitwerken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121408"/>
            <a:ext cx="1645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2121408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Verklaar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920240" y="2121408"/>
            <a:ext cx="1371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920240" y="212140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37560" y="2121408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min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12080" y="2121408"/>
            <a:ext cx="3840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21214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Oorzaak → mechanisme → gevolg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2734056"/>
            <a:ext cx="164592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2734056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Toon aan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920240" y="2734056"/>
            <a:ext cx="13716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1920240" y="2734056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pt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2734056"/>
            <a:ext cx="18288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27340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12080" y="2734056"/>
            <a:ext cx="384048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5212080" y="273405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Berekening tonen, uitkomst = gegeven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3346704"/>
            <a:ext cx="16459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3346704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 uit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920240" y="3346704"/>
            <a:ext cx="13716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920240" y="3346704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pt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37560" y="3346704"/>
            <a:ext cx="182880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337560" y="33467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min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212080" y="3346704"/>
            <a:ext cx="38404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212080" y="33467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voor stap mechanisme beschrijven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096512"/>
            <a:ext cx="8229600" cy="731520"/>
          </a:xfrm>
          <a:prstGeom prst="rect">
            <a:avLst>
              <a:gd name="adj" fmla="val 6250"/>
            </a:avLst>
          </a:prstGeom>
          <a:solidFill>
            <a:srgbClr val="F4ECF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" y="4096512"/>
            <a:ext cx="54864" cy="73152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206240"/>
            <a:ext cx="79095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Vuistregel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640080" y="4572000"/>
            <a:ext cx="7909560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punt ≈ 1,5 minuut. Houd 10 minuten over voor controle.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examenfouten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" cy="685800"/>
          </a:xfrm>
          <a:prstGeom prst="rect">
            <a:avLst>
              <a:gd name="adj" fmla="val 6000"/>
            </a:avLst>
          </a:prstGeom>
          <a:solidFill>
            <a:srgbClr val="FDE8E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0120" y="960120"/>
            <a:ext cx="3840480" cy="685800"/>
          </a:xfrm>
          <a:prstGeom prst="rect">
            <a:avLst>
              <a:gd name="adj" fmla="val 4000"/>
            </a:avLst>
          </a:prstGeom>
          <a:solidFill>
            <a:srgbClr val="FDE8E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960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eenheid bij het antwoord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3840480" cy="685800"/>
          </a:xfrm>
          <a:prstGeom prst="rect">
            <a:avLst>
              <a:gd name="adj" fmla="val 4000"/>
            </a:avLst>
          </a:prstGeom>
          <a:solidFill>
            <a:srgbClr val="E8F8F0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9601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Altijd €, stuks, % of andere eenheid noteren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457200" cy="685800"/>
          </a:xfrm>
          <a:prstGeom prst="rect">
            <a:avLst>
              <a:gd name="adj" fmla="val 6000"/>
            </a:avLst>
          </a:prstGeom>
          <a:solidFill>
            <a:srgbClr val="FDE8E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19072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1719072"/>
            <a:ext cx="3840480" cy="685800"/>
          </a:xfrm>
          <a:prstGeom prst="rect">
            <a:avLst>
              <a:gd name="adj" fmla="val 4000"/>
            </a:avLst>
          </a:prstGeom>
          <a:solidFill>
            <a:srgbClr val="FDE8E8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71907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Beweging lángs vs verschuiving ván de lijn verwarren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719072"/>
            <a:ext cx="3840480" cy="685800"/>
          </a:xfrm>
          <a:prstGeom prst="rect">
            <a:avLst>
              <a:gd name="adj" fmla="val 4000"/>
            </a:avLst>
          </a:prstGeom>
          <a:solidFill>
            <a:srgbClr val="E8F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71907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Prijsverandering = langs; andere factoren = verschuiving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78024"/>
            <a:ext cx="457200" cy="685800"/>
          </a:xfrm>
          <a:prstGeom prst="rect">
            <a:avLst>
              <a:gd name="adj" fmla="val 6000"/>
            </a:avLst>
          </a:prstGeom>
          <a:solidFill>
            <a:srgbClr val="FDE8E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78024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" y="2478024"/>
            <a:ext cx="3840480" cy="685800"/>
          </a:xfrm>
          <a:prstGeom prst="rect">
            <a:avLst>
              <a:gd name="adj" fmla="val 4000"/>
            </a:avLst>
          </a:prstGeom>
          <a:solidFill>
            <a:srgbClr val="FD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4780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niet afleiden bij monopolie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478024"/>
            <a:ext cx="3840480" cy="685800"/>
          </a:xfrm>
          <a:prstGeom prst="rect">
            <a:avLst>
              <a:gd name="adj" fmla="val 4000"/>
            </a:avLst>
          </a:prstGeom>
          <a:solidFill>
            <a:srgbClr val="E8F8F0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478024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heeft dubbele helling van de vraaglijn (lineair geval)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236976"/>
            <a:ext cx="457200" cy="685800"/>
          </a:xfrm>
          <a:prstGeom prst="rect">
            <a:avLst>
              <a:gd name="adj" fmla="val 6000"/>
            </a:avLst>
          </a:prstGeom>
          <a:solidFill>
            <a:srgbClr val="FDE8E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36976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120" y="3236976"/>
            <a:ext cx="3840480" cy="685800"/>
          </a:xfrm>
          <a:prstGeom prst="rect">
            <a:avLst>
              <a:gd name="adj" fmla="val 4000"/>
            </a:avLst>
          </a:prstGeom>
          <a:solidFill>
            <a:srgbClr val="FDE8E8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23697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Tussenstappen overslaan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236976"/>
            <a:ext cx="3840480" cy="685800"/>
          </a:xfrm>
          <a:prstGeom prst="rect">
            <a:avLst>
              <a:gd name="adj" fmla="val 4000"/>
            </a:avLst>
          </a:prstGeom>
          <a:solidFill>
            <a:srgbClr val="E8F8F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236976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tussenstap kan een punt opleveren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995928"/>
            <a:ext cx="457200" cy="685800"/>
          </a:xfrm>
          <a:prstGeom prst="rect">
            <a:avLst>
              <a:gd name="adj" fmla="val 6000"/>
            </a:avLst>
          </a:prstGeom>
          <a:solidFill>
            <a:srgbClr val="FDE8E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95928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60120" y="3995928"/>
            <a:ext cx="3840480" cy="685800"/>
          </a:xfrm>
          <a:prstGeom prst="rect">
            <a:avLst>
              <a:gd name="adj" fmla="val 4000"/>
            </a:avLst>
          </a:prstGeom>
          <a:solidFill>
            <a:srgbClr val="FDE8E8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39959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Grafiek niet volledig labelen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46320" y="3995928"/>
            <a:ext cx="3840480" cy="685800"/>
          </a:xfrm>
          <a:prstGeom prst="rect">
            <a:avLst>
              <a:gd name="adj" fmla="val 4000"/>
            </a:avLst>
          </a:prstGeom>
          <a:solidFill>
            <a:srgbClr val="E8F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9959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Assen, lijnen, snijpunten, gebieden altijd benoemen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Formule-overzicht Module 3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926080" cy="3657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0" y="914400"/>
            <a:ext cx="5760720" cy="365760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914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Formule / Regel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325880"/>
            <a:ext cx="292608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Evenwicht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576072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2588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Qv = Qa  (of: Pv = Pa)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682496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682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682496"/>
            <a:ext cx="5760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68249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× Q* × (Pmax − P*)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2039112"/>
            <a:ext cx="292608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039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2039112"/>
            <a:ext cx="576072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203911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½ × Q* × (P* − Pmin)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2395728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3957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 (monopolie)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395728"/>
            <a:ext cx="5760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39572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(P* − GK) × Q*  of  TO − TK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2752344"/>
            <a:ext cx="292608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7523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2752344"/>
            <a:ext cx="576072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275234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× Q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" y="3108960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3108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 (lineair)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5760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291840" y="310896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Dubbele helling van V-lijn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3465576"/>
            <a:ext cx="292608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34655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Winstmax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0" y="3465576"/>
            <a:ext cx="576072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46557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 = MK  → Q*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3822192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38221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Alternatieve kosten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0" y="3822192"/>
            <a:ext cx="5760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0" y="382219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 = wat je opgeeft / wat je krijgt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28600" y="4178808"/>
            <a:ext cx="292608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178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Ruilvoet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0" y="4178808"/>
            <a:ext cx="5760720" cy="34747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3291840" y="417880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AK(land 1) &lt; ruilvoet &lt; AK(land 2)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28600" y="4535424"/>
            <a:ext cx="29260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" y="45354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Belastingdruk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0" y="4535424"/>
            <a:ext cx="57607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291840" y="453542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Verschil Pconsument − Pproducent = t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Examen-checklist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E8F8F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32004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Meenemen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Rekenmachine (toegestaan type)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Pen (blauw of zwart)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Potlood + gum (voor grafieken)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Liniaal (voor grafieken)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Legitimatiebewijs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Oproepbrief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0"/>
          </a:xfrm>
          <a:prstGeom prst="rect">
            <a:avLst>
              <a:gd name="adj" fmla="val 1429"/>
            </a:avLst>
          </a:prstGeom>
          <a:solidFill>
            <a:srgbClr val="E8F6F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3200400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Nog even herhalen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481328"/>
            <a:ext cx="3611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Formules uit het hoofd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Vier marktvormen + kenmerken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MO = MK rekenroute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Surplus berekenen + tekenen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Belasting- en subsidie-effecten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Comparatief voordeel berekenen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bent er klaar voor!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Kennis × strategie × oefening = succes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Lees de vraag twee keer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Schrijf altijd iets op (ook als je twijfelt)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Controleer eenheden en afrondingen
</a:t>
            </a:r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Vertrouw op je voorbereiding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3.5.2 Naar het examen  |  Succes!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3.5.2 Naar het examen</dc:title>
  <dc:subject>PptxGenJS Presentation</dc:subject>
  <dc:creator>Economie VWO</dc:creator>
  <cp:lastModifiedBy>Economie VWO</cp:lastModifiedBy>
  <cp:revision>1</cp:revision>
  <dcterms:created xsi:type="dcterms:W3CDTF">2026-04-06T08:08:22Z</dcterms:created>
  <dcterms:modified xsi:type="dcterms:W3CDTF">2026-04-06T08:08:22Z</dcterms:modified>
</cp:coreProperties>
</file>