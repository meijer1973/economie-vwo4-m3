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 bij de afsluitende les van Module 3. We lopen alle hoofdstukken door en zetten de belangrijkste theorie en grafieken op een rij. Geen oefeningen vandaag — puur herhaling van concepten.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zijn de zeven kernvaardigheden van de hele module. Gebruik dit als checklist: beheers je elk punt? Zo niet, ga terug naar het betreffende hoofdstuk.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Hoofdstuk 1 introduceert de bouwstenen: wat is een markt, welke soorten zijn er, en hoe bepalen drempels het aantal aanbieders en de prijs?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Basiswetten van vraag en aanbod. Het cruciale onderscheid: beweging langs de lijn (prijseffect) versus verschuiving van de lijn (andere factoren). Dit onderscheid is een klassieke examenvraag.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V/A-diagram met surplus. CS (blauw) = driehoek boven de prijs, onder de vraaglijn. PS (groen) = driehoek onder de prijs, boven de aanbodlijn. Bij volkomen concurrentie is het totale surplus (CS + PS) maximaal.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vier marktvormen op een rij. Van links naar rechts neemt de marktmacht toe. De kernvraag: hoeveel aanbieders, welk product, welke drempels?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 = MK is de universele regel. Het verschil: bij volkomen concurrentie is MO gelijk aan de prijs. Bij monopolie/oligopolie is MO lager dan de prijs, want extra verkoop verlaagt de prijs op alle eenheden.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 volkomen concurrentie met maximaal surplus (CS+PS). Rechts: monopolie produceert minder (Q*) tegen hogere prijs (P*). Gevolg: kleiner CS, winstrechthoek voor monopolist, en deadweight loss (DWL) — welvaartsverlies door niet-gerealiseerde transacties.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Surplus = het extra voordeel boven wat je minimaal nodig hebt. Samen vormen CS en PS het totale welvaartssurplus. Bij volkomen concurrentie is dit maximaal.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vier vormen van marktfalen: externe effecten, collectieve goederen, informatiegebreken en marktmacht. Bij elk type grijpt de overheid op een andere manier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Vijf instrumenten die de overheid kan inzetten. Het kernidee: de overheid corrigeert de markt waar deze faalt. Belastingen en subsidies werken via de V/A-grafiek.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Belasting verschuift de aanbodlijn omhoog (A → A+t). Gevolgen: hogere consumentenprijs (P2), lagere producentenprijs (P3), minder transacties (Q2 &lt; Q1). De overheid int belastingopbrengst (gele rechthoek). Het rode driehoekje (DWL) = welvaartsverlies door niet-gerealiseerde transacties.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Comparatief voordeel is het kernargument voor internationale handel. Belangrijk: het gaat om alternatieve kosten, NIET om absolute productiviteit.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Twee PPF-diagrammen. Nederland: steil (veel kaas, weinig wijn) → lage AK kaas (0,5 wijn). Spanje: vlak (weinig kaas, veel wijn) → lage AK wijn. Elk land specialiseert in het product met de laagste alternatieve kosten.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debat vrijhandel vs protectionisme. Vrijhandel maximalisert welvaart maar kan sectoren schaden. Protectionisme beschermt, maar tegen een prijs.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Eerste deel vergelijkingstabel: structuurkenmerken. Dit is examenstof — je moet elke marktvorm snel kunnen herkennen aan deze vier kenmerken.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Tweede deel: uitkomsten en efficiëntie. Let op MO vs P — dit bepaalt of een bedrijf prijsnemer of prijszetter is. Onthoud: alleen bij volkomen concurrentie geldt MO = 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Sluitdia. Laat leerlingen deze checklist zelf invullen. Alles aangevinkt? Dan beheers je de theorie. Open vakjes? Ga die onderwerpen opnieuw bestuderen.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D3C9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Afsluiting Module 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 en overheid — alle theorie op een rij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Hoofdstuk 5: Afsluiting  |  Economie VWO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je kennen en kunnen?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Leerdoelen Module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 en aanbod: evenwichtsprijs en -hoeveelheid bepalen</a:t>
            </a:r>
            <a:endParaRPr lang="en-US" sz="1500" dirty="0"/>
          </a:p>
          <a:p>
            <a:pPr marL="342900" indent="-342900">
              <a:lnSpc>
                <a:spcPct val="14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Consumentensurplus en producentensurplus berekenen en grafisch tonen</a:t>
            </a:r>
            <a:endParaRPr lang="en-US" sz="1500" dirty="0"/>
          </a:p>
          <a:p>
            <a:pPr marL="342900" indent="-342900">
              <a:lnSpc>
                <a:spcPct val="14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vier marktvormen herkennen en hun kenmerken vergelijken</a:t>
            </a:r>
            <a:endParaRPr lang="en-US" sz="1500" dirty="0"/>
          </a:p>
          <a:p>
            <a:pPr marL="342900" indent="-342900">
              <a:lnSpc>
                <a:spcPct val="14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= MK als winstmaximalisatieregel toepassen</a:t>
            </a:r>
            <a:endParaRPr lang="en-US" sz="1500" dirty="0"/>
          </a:p>
          <a:p>
            <a:pPr marL="342900" indent="-342900">
              <a:lnSpc>
                <a:spcPct val="14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Marktfalen verklaren en overheidsingrijpen beoordelen</a:t>
            </a:r>
            <a:endParaRPr lang="en-US" sz="1500" dirty="0"/>
          </a:p>
          <a:p>
            <a:pPr marL="342900" indent="-342900">
              <a:lnSpc>
                <a:spcPct val="14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Belastingeffecten grafisch analyseren (incl. deadweight loss)</a:t>
            </a:r>
            <a:endParaRPr lang="en-US" sz="1500" dirty="0"/>
          </a:p>
          <a:p>
            <a:pPr marL="342900" indent="-342900">
              <a:lnSpc>
                <a:spcPct val="14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Comparatief voordeel berekenen en handelspolitiek analyseren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— Markten: kernconcepten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2004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Marktstructuur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Concreet vs abstract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Homogeen vs heterogeen product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Toetredingsdrempels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Netwerksectoren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Redeneerketen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1371600"/>
            <a:ext cx="3383280" cy="411480"/>
          </a:xfrm>
          <a:prstGeom prst="rect">
            <a:avLst>
              <a:gd name="adj" fmla="val 1111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71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Toetredingsdrempels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1947672"/>
            <a:ext cx="3383280" cy="411480"/>
          </a:xfrm>
          <a:prstGeom prst="rect">
            <a:avLst>
              <a:gd name="adj" fmla="val 1111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94767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Aantal aanbieders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35915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2523744"/>
            <a:ext cx="3383280" cy="411480"/>
          </a:xfrm>
          <a:prstGeom prst="rect">
            <a:avLst>
              <a:gd name="adj" fmla="val 11111"/>
            </a:avLst>
          </a:prstGeom>
          <a:solidFill>
            <a:srgbClr val="F9F6F1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252374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 van concurrentie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93522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0" y="3099816"/>
            <a:ext cx="3383280" cy="411480"/>
          </a:xfrm>
          <a:prstGeom prst="rect">
            <a:avLst>
              <a:gd name="adj" fmla="val 11111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309981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Prijsniveau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— Vraag en aanbod: theorie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2004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Vraaglijn (V)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Dalend verloop: P↑ → Qv↓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Beweging lángs de lijn:
  prijsverandering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Verschuiving ván de lijn:</a:t>
            </a:r>
            <a:endParaRPr lang="en-US" sz="140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inkomen, voorkeur, prijs</a:t>
            </a:r>
            <a:endParaRPr lang="en-US" sz="140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substituten/complementen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2004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15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Aanbodlijn (A)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481328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Stijgend verloop: P↑ → Qa↑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Beweging lángs de lijn:
  prijsverandering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Verschuiving ván de lijn:</a:t>
            </a:r>
            <a:endParaRPr lang="en-US" sz="140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technologie, kosten,</a:t>
            </a:r>
            <a:endParaRPr lang="en-US" sz="140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aantal aanbieders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— Marktevenwicht met surplus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2296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— De vier marktvormen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3291840"/>
          </a:xfrm>
          <a:prstGeom prst="rect">
            <a:avLst>
              <a:gd name="adj" fmla="val 2381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192024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Volkomen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concurrentie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55448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5740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aanbieders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Homogeen product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drempels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1920240" cy="3291840"/>
          </a:xfrm>
          <a:prstGeom prst="rect">
            <a:avLst>
              <a:gd name="adj" fmla="val 2381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05840"/>
            <a:ext cx="192024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Monopolistische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concurrentie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1965960"/>
            <a:ext cx="155448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05740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aanbieders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Heterogeen product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drempels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20240" cy="3291840"/>
          </a:xfrm>
          <a:prstGeom prst="rect">
            <a:avLst>
              <a:gd name="adj" fmla="val 2381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192024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Oligopolie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965960"/>
            <a:ext cx="155448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05740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Weinig aanbieders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Homogeen/heterogeen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 drempels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005840"/>
            <a:ext cx="1920240" cy="3291840"/>
          </a:xfrm>
          <a:prstGeom prst="rect">
            <a:avLst>
              <a:gd name="adj" fmla="val 2381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005840"/>
            <a:ext cx="192024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1965960"/>
            <a:ext cx="155448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057400"/>
            <a:ext cx="1645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aanbieder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Uniek product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Onoverkomelijke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drempels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— Winstmaximalisatie: MO = MK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463040"/>
          </a:xfrm>
          <a:prstGeom prst="rect">
            <a:avLst>
              <a:gd name="adj" fmla="val 3125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463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gouden regel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7909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Maximale winst bij 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= MK</a:t>
            </a:r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Marginale opbrengst = marginale kosten → optimale hoeveelheid Q*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931920" cy="1645920"/>
          </a:xfrm>
          <a:prstGeom prst="rect">
            <a:avLst>
              <a:gd name="adj" fmla="val 2778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743200"/>
            <a:ext cx="54864" cy="1645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529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Volkomen concurrentie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218688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= prijs (prijsnemer)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Horizontale prijslijn = MO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= 0 op lange termijn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743200"/>
            <a:ext cx="3931920" cy="1645920"/>
          </a:xfrm>
          <a:prstGeom prst="rect">
            <a:avLst>
              <a:gd name="adj" fmla="val 2778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743200"/>
            <a:ext cx="54864" cy="1645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8529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 / oligopolie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3218688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&lt; prijs (prijszetter)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daalt sneller dan V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&gt; 0 mogelijk op LT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— Grafiek: VC vs monopolie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2296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— Surplus: theorie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200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Consumentensurplus (CS)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Verschil tussen wat consumenten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willen betalen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de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marktprijs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Driehoek boven P*, onder V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 = ½ × Q* × (Pmax − P*)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200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15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Producentensurplus (PS)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481328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Verschil tussen de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marktprijs</a:t>
            </a:r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de 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minimale prijs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waarvoor
aanbieders willen verkopen.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Driehoek onder P*, boven A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= ½ × Q* × (P* − Pmin)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— Marktfalen: vier vormen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1371600"/>
          </a:xfrm>
          <a:prstGeom prst="rect">
            <a:avLst>
              <a:gd name="adj" fmla="val 3333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54864" cy="13716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6984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effecten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3560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Kosten/baten buiten de marktprijs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(vervuiling, vaccinatie)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931920" cy="1371600"/>
          </a:xfrm>
          <a:prstGeom prst="rect">
            <a:avLst>
              <a:gd name="adj" fmla="val 3333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13716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6984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Collectieve goederen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43560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Niet-uitsluitbaar, niet-rivaliserend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(defensie, dijken)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3931920" cy="1371600"/>
          </a:xfrm>
          <a:prstGeom prst="rect">
            <a:avLst>
              <a:gd name="adj" fmla="val 3333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14600"/>
            <a:ext cx="54864" cy="13716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243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Informatiegebreken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Ongelijke informatie tussen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koper en verkoper (asymmetrie)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514600"/>
            <a:ext cx="3931920" cy="1371600"/>
          </a:xfrm>
          <a:prstGeom prst="rect">
            <a:avLst>
              <a:gd name="adj" fmla="val 3333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514600"/>
            <a:ext cx="54864" cy="13716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6243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Marktmacht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299008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Monopolie/oligopolie leidt tot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hogere prijzen, minder welvaart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— Overheidsingrijpen: theorie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640080"/>
          </a:xfrm>
          <a:prstGeom prst="rect">
            <a:avLst>
              <a:gd name="adj" fmla="val 4286"/>
            </a:avLst>
          </a:prstGeom>
          <a:solidFill>
            <a:srgbClr val="E8F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960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Belastingen / heffingen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960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Negatieve externe effecten beprijzen → aanbodlijn omhoog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8229600" cy="64008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09928"/>
            <a:ext cx="54864" cy="6400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099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70992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Positieve externe effecten stimuleren → aanbodlijn omlaag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59736"/>
            <a:ext cx="8229600" cy="640080"/>
          </a:xfrm>
          <a:prstGeom prst="rect">
            <a:avLst>
              <a:gd name="adj" fmla="val 4286"/>
            </a:avLst>
          </a:prstGeom>
          <a:solidFill>
            <a:srgbClr val="E8F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59736"/>
            <a:ext cx="54864" cy="6400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45973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459736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Regels, vergunningen, mededingingsrecht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09544"/>
            <a:ext cx="8229600" cy="640080"/>
          </a:xfrm>
          <a:prstGeom prst="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209544"/>
            <a:ext cx="54864" cy="6400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20954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Overheidsproductie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320954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Zelf aanbieden van collectieve goederen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59352"/>
            <a:ext cx="8229600" cy="640080"/>
          </a:xfrm>
          <a:prstGeom prst="rect">
            <a:avLst>
              <a:gd name="adj" fmla="val 4286"/>
            </a:avLst>
          </a:prstGeom>
          <a:solidFill>
            <a:srgbClr val="E8F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959352"/>
            <a:ext cx="54864" cy="6400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95935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Minimum-/maximumprijzen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395935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prijsinterventie op de markt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— Grafiek: belastingeffect op de markt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2296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 — Comparatief voordeel: theorie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463040"/>
          </a:xfrm>
          <a:prstGeom prst="rect">
            <a:avLst>
              <a:gd name="adj" fmla="val 3125"/>
            </a:avLst>
          </a:prstGeom>
          <a:solidFill>
            <a:srgbClr val="E8F6F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46304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Kernprincipe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7909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land specialiseert in het product met de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laagste alternatieve kosten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Ook als het in alles slechter is → handel is altijd voordelig.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Rekenstappen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Bereken de alternatieve kosten per product per land
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Vergelijk: laagste AK → comparatief voordeel
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Elk land specialiseert in zijn voordeel-product
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Ruilvoet ligt tussen beide alternatieve kosten
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 — Grafiek: transformatiecurves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2296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 — Vrijhandel vs protectionisme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E8F6F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20040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Vrijhandel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handelsbelemmeringen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Maximale welvaart (theorie)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interne markt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WTO bevordert vrijhandel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E8F6F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20040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15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Protectionisme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481328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Invoertarieven / quota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Bescherming eigen industrie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Hogere prijzen consument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Welvaartsverlies (deadweight loss)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Vergelijkingstabel marktvormen (1/2)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" y="960120"/>
            <a:ext cx="1645920" cy="50292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" y="960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83080" y="960120"/>
            <a:ext cx="1828800" cy="50292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960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Volkomen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concurrentie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0" y="960120"/>
            <a:ext cx="1828800" cy="50292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960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Monopolistische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concurrentie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32120" y="960120"/>
            <a:ext cx="1828800" cy="50292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960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Oligopolie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960120"/>
            <a:ext cx="1828800" cy="50292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960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" y="1508760"/>
            <a:ext cx="1645920" cy="594360"/>
          </a:xfrm>
          <a:prstGeom prst="rect">
            <a:avLst/>
          </a:prstGeom>
          <a:solidFill>
            <a:srgbClr val="F4EC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Aanbieders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83080" y="1508760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1783080" y="1508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Zeer veel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1508760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1508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1508760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1508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Weinig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1508760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1508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" y="2121408"/>
            <a:ext cx="1645920" cy="594360"/>
          </a:xfrm>
          <a:prstGeom prst="rect">
            <a:avLst/>
          </a:prstGeom>
          <a:solidFill>
            <a:srgbClr val="F4ECF7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" y="212140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83080" y="2121408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783080" y="2121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Homogeen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0" y="2121408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2121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32120" y="2121408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532120" y="2121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Hom./het.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06640" y="2121408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2121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Uniek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" y="2734056"/>
            <a:ext cx="1645920" cy="594360"/>
          </a:xfrm>
          <a:prstGeom prst="rect">
            <a:avLst/>
          </a:prstGeom>
          <a:solidFill>
            <a:srgbClr val="F4ECF7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" y="273405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Drempels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783080" y="2734056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1783080" y="27340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0" y="2734056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0" y="27340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32120" y="2734056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5532120" y="27340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06640" y="2734056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27340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Absoluut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1440" y="3346704"/>
            <a:ext cx="1645920" cy="594360"/>
          </a:xfrm>
          <a:prstGeom prst="rect">
            <a:avLst/>
          </a:prstGeom>
          <a:solidFill>
            <a:srgbClr val="F4ECF7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" y="334670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Prijszetting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783080" y="3346704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783080" y="334670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Prijsnemer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0" y="3346704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0" y="334670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Beperkte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532120" y="3346704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532120" y="334670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Strategisch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06640" y="3346704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7406640" y="334670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Prijszetter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Vergelijkingstabel marktvormen (2/2)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" y="960120"/>
            <a:ext cx="1645920" cy="50292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" y="960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83080" y="960120"/>
            <a:ext cx="1828800" cy="50292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960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Volkomen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concurrentie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0" y="960120"/>
            <a:ext cx="1828800" cy="50292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960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Monopolistische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concurrentie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32120" y="960120"/>
            <a:ext cx="1828800" cy="50292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960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Oligopolie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960120"/>
            <a:ext cx="1828800" cy="50292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960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" y="1508760"/>
            <a:ext cx="1645920" cy="594360"/>
          </a:xfrm>
          <a:prstGeom prst="rect">
            <a:avLst/>
          </a:prstGeom>
          <a:solidFill>
            <a:srgbClr val="F4EC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83080" y="1508760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1783080" y="1508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Normaal (0)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1508760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1508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Normaal (0)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1508760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1508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0 mogelijk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1508760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1508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0 mogelijk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" y="2121408"/>
            <a:ext cx="1645920" cy="594360"/>
          </a:xfrm>
          <a:prstGeom prst="rect">
            <a:avLst/>
          </a:prstGeom>
          <a:solidFill>
            <a:srgbClr val="F4ECF7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" y="212140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vs 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83080" y="2121408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783080" y="2121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= 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0" y="2121408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2121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&lt; 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32120" y="2121408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532120" y="2121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&lt; 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06640" y="2121408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2121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&lt; 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" y="2734056"/>
            <a:ext cx="1645920" cy="594360"/>
          </a:xfrm>
          <a:prstGeom prst="rect">
            <a:avLst/>
          </a:prstGeom>
          <a:solidFill>
            <a:srgbClr val="F4ECF7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" y="273405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783080" y="2734056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1783080" y="27340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Groentemarkt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0" y="2734056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0" y="27340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32120" y="2734056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5532120" y="27340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06640" y="2734056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27340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 (spoor)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1440" y="3346704"/>
            <a:ext cx="1645920" cy="594360"/>
          </a:xfrm>
          <a:prstGeom prst="rect">
            <a:avLst/>
          </a:prstGeom>
          <a:solidFill>
            <a:srgbClr val="F4ECF7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" y="334670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Efficiëntie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783080" y="3346704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783080" y="334670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Maximaal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0" y="3346704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0" y="334670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Bijna max.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532120" y="3346704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532120" y="334670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Beperkt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06640" y="3346704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7406640" y="334670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Minimaal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Checklist: beheers je alles?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V/A-diagram tekenen met evenwicht, CS en PS
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Vier marktvormen herkennen en kenmerken noemen
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MO = MK toepassen bij prijsnemer én prijszetter
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Surplus berekenen (driehoeksformule)
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Monopoliewinst en deadweight loss in grafiek aanwijzen
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Vier vormen van marktfalen uitleggen
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Belastingeffect grafisch tonen (verschuiving + DWL)
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Comparatief voordeel berekenen en ruilvoet bepalen
</a:t>
            </a:r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Vrijhandel vs protectionisme afwegen met argumenten
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3.5.1 Afsluiting</dc:title>
  <dc:subject>PptxGenJS Presentation</dc:subject>
  <dc:creator>Economie VWO</dc:creator>
  <cp:lastModifiedBy>Economie VWO</cp:lastModifiedBy>
  <cp:revision>1</cp:revision>
  <dcterms:created xsi:type="dcterms:W3CDTF">2026-04-06T07:17:34Z</dcterms:created>
  <dcterms:modified xsi:type="dcterms:W3CDTF">2026-04-06T07:17:34Z</dcterms:modified>
</cp:coreProperties>
</file>